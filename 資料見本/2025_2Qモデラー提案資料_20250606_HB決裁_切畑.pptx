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595" r:id="rId5"/>
    <p:sldId id="639" r:id="rId6"/>
    <p:sldId id="640" r:id="rId7"/>
    <p:sldId id="615" r:id="rId8"/>
    <p:sldId id="642" r:id="rId9"/>
    <p:sldId id="603" r:id="rId10"/>
    <p:sldId id="643" r:id="rId11"/>
    <p:sldId id="644" r:id="rId12"/>
    <p:sldId id="645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F2500A8-96AC-4EA3-85EA-549466964578}">
          <p14:sldIdLst>
            <p14:sldId id="595"/>
            <p14:sldId id="639"/>
            <p14:sldId id="640"/>
            <p14:sldId id="615"/>
            <p14:sldId id="642"/>
            <p14:sldId id="603"/>
            <p14:sldId id="643"/>
            <p14:sldId id="644"/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21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438" userDrawn="1">
          <p15:clr>
            <a:srgbClr val="A4A3A4"/>
          </p15:clr>
        </p15:guide>
        <p15:guide id="8" pos="7242" userDrawn="1">
          <p15:clr>
            <a:srgbClr val="A4A3A4"/>
          </p15:clr>
        </p15:guide>
        <p15:guide id="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FFFFFF"/>
    <a:srgbClr val="FCD5B5"/>
    <a:srgbClr val="F79646"/>
    <a:srgbClr val="000000"/>
    <a:srgbClr val="FFFFCC"/>
    <a:srgbClr val="C5BCB8"/>
    <a:srgbClr val="0000FF"/>
    <a:srgbClr val="FFFF00"/>
    <a:srgbClr val="FD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6804" autoAdjust="0"/>
  </p:normalViewPr>
  <p:slideViewPr>
    <p:cSldViewPr snapToGrid="0" snapToObjects="1">
      <p:cViewPr varScale="1">
        <p:scale>
          <a:sx n="67" d="100"/>
          <a:sy n="67" d="100"/>
        </p:scale>
        <p:origin x="764" y="40"/>
      </p:cViewPr>
      <p:guideLst>
        <p:guide orient="horz" pos="2160"/>
        <p:guide orient="horz" pos="4088"/>
        <p:guide pos="3840"/>
        <p:guide pos="211"/>
        <p:guide pos="7469"/>
        <p:guide pos="438"/>
        <p:guide pos="7242"/>
        <p:guide orient="horz" pos="6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231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000A-6728-4A8A-96BA-48D2535C4FBB}" type="datetimeFigureOut">
              <a:rPr kumimoji="1" lang="ja-JP" altLang="en-US" smtClean="0"/>
              <a:t>2025/6/9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E49D2-32B0-4F92-B108-A43C78797A3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1556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250C3-1511-4902-9BC0-C2159514F24E}" type="datetimeFigureOut">
              <a:rPr kumimoji="1" lang="ja-JP" altLang="en-US" smtClean="0"/>
              <a:t>2025/6/9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36E96-BB51-43E6-AE46-0F5F31CE680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2232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11687908" y="6512081"/>
            <a:ext cx="504092" cy="347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135286" y="145142"/>
            <a:ext cx="11916000" cy="6596226"/>
          </a:xfrm>
          <a:prstGeom prst="rect">
            <a:avLst/>
          </a:prstGeom>
          <a:noFill/>
          <a:ln w="190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pic>
        <p:nvPicPr>
          <p:cNvPr id="17" name="Picture 10" descr="https://deshare.d-cruise.tns.ne.jp/sites/tdctemp/99Temporary/【仮置】総務部_3社統合関係（D社会）_社内限/会社ロゴ（素材）/09_MARK_PatternD/JPG/4C/MARK_PatternD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38800" y="360000"/>
            <a:ext cx="1005507" cy="124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3300" y="2283170"/>
            <a:ext cx="6777746" cy="2307881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395413" y="2369150"/>
            <a:ext cx="0" cy="2119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756" y="240214"/>
            <a:ext cx="871855" cy="853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08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6408000" cy="900000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162000" y="165599"/>
            <a:ext cx="0" cy="61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288000" y="118800"/>
            <a:ext cx="5954551" cy="3128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  <a:ea typeface="Meiryo UI" panose="020B0604030504040204" pitchFamily="50" charset="-128"/>
                <a:cs typeface="Helvetica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288000" y="511200"/>
            <a:ext cx="5954551" cy="29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1" baseline="0">
                <a:solidFill>
                  <a:schemeClr val="bg1"/>
                </a:solidFill>
                <a:latin typeface="+mj-lt"/>
                <a:cs typeface="Helvetica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The subheading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121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予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2565104"/>
            <a:ext cx="11519877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 baseline="0">
                <a:solidFill>
                  <a:srgbClr val="FE56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予告タイトル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94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 userDrawn="1"/>
        </p:nvSpPr>
        <p:spPr>
          <a:xfrm>
            <a:off x="142906" y="6512082"/>
            <a:ext cx="3821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ⒸTOYOTA SYSTEMS CORPORATION All Rights Reserved.</a:t>
            </a:r>
            <a:endParaRPr kumimoji="1" lang="ja-JP" altLang="en-US" sz="90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6408000" cy="900000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162000" y="165599"/>
            <a:ext cx="0" cy="612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288000" y="260909"/>
            <a:ext cx="5954551" cy="3834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  <a:ea typeface="Meiryo UI" panose="020B0604030504040204" pitchFamily="50" charset="-128"/>
                <a:cs typeface="Helvetica" panose="020B0604020202020204" pitchFamily="34" charset="0"/>
              </a:defRPr>
            </a:lvl1pPr>
          </a:lstStyle>
          <a:p>
            <a:pPr lvl="0"/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313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142906" y="145142"/>
            <a:ext cx="11906188" cy="6596226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11616471" y="6499018"/>
            <a:ext cx="576000" cy="360000"/>
          </a:xfrm>
          <a:prstGeom prst="rect">
            <a:avLst/>
          </a:prstGeom>
          <a:solidFill>
            <a:srgbClr val="EA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172C9ED8-B6F1-4FB4-AA39-F51246905724}" type="slidenum">
              <a:rPr kumimoji="1" lang="en-US" altLang="ja-JP" sz="1400" b="1" smtClean="0">
                <a:latin typeface="+mj-ea"/>
                <a:ea typeface="+mj-ea"/>
              </a:rPr>
              <a:t>‹#›</a:t>
            </a:fld>
            <a:endParaRPr kumimoji="1" lang="ja-JP" altLang="en-US" sz="1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6870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08558" y="3076695"/>
            <a:ext cx="6201470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Capital</a:t>
            </a:r>
            <a:r>
              <a:rPr lang="ja-JP" altLang="en-US" sz="2000" b="1" dirty="0">
                <a:solidFill>
                  <a:schemeClr val="bg1"/>
                </a:solidFill>
                <a:latin typeface="+mj-ea"/>
              </a:rPr>
              <a:t> サポート窓口作業</a:t>
            </a:r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(25</a:t>
            </a:r>
            <a:r>
              <a:rPr lang="ja-JP" altLang="en-US" sz="2000" b="1" dirty="0">
                <a:solidFill>
                  <a:schemeClr val="bg1"/>
                </a:solidFill>
                <a:latin typeface="+mj-ea"/>
              </a:rPr>
              <a:t>年</a:t>
            </a:r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7</a:t>
            </a:r>
            <a:r>
              <a:rPr lang="ja-JP" altLang="en-US" sz="2000" b="1" dirty="0">
                <a:solidFill>
                  <a:schemeClr val="bg1"/>
                </a:solidFill>
                <a:latin typeface="+mj-ea"/>
              </a:rPr>
              <a:t>月</a:t>
            </a:r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–25</a:t>
            </a:r>
            <a:r>
              <a:rPr lang="ja-JP" altLang="en-US" sz="2000" b="1" dirty="0">
                <a:solidFill>
                  <a:schemeClr val="bg1"/>
                </a:solidFill>
                <a:latin typeface="+mj-ea"/>
              </a:rPr>
              <a:t>年</a:t>
            </a:r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9</a:t>
            </a:r>
            <a:r>
              <a:rPr lang="ja-JP" altLang="en-US" sz="2000" b="1" dirty="0">
                <a:solidFill>
                  <a:schemeClr val="bg1"/>
                </a:solidFill>
                <a:latin typeface="+mj-ea"/>
              </a:rPr>
              <a:t>月</a:t>
            </a:r>
            <a:r>
              <a:rPr lang="en-US" altLang="ja-JP" sz="2000" b="1" dirty="0">
                <a:solidFill>
                  <a:schemeClr val="bg1"/>
                </a:solidFill>
                <a:latin typeface="+mj-ea"/>
              </a:rPr>
              <a:t>)</a:t>
            </a:r>
          </a:p>
          <a:p>
            <a:r>
              <a:rPr lang="ja-JP" altLang="en-US" sz="2000" b="1" dirty="0">
                <a:solidFill>
                  <a:schemeClr val="bg1"/>
                </a:solidFill>
                <a:latin typeface="+mj-ea"/>
                <a:ea typeface="+mj-ea"/>
              </a:rPr>
              <a:t>受注決裁</a:t>
            </a:r>
            <a:endParaRPr lang="en-US" altLang="ja-JP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459165" y="5669152"/>
            <a:ext cx="53062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2025/6/</a:t>
            </a:r>
            <a:r>
              <a:rPr lang="en-US" altLang="ja-JP" sz="2800" b="1" dirty="0"/>
              <a:t>10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電技改革支援部 </a:t>
            </a:r>
            <a:r>
              <a:rPr lang="ja-JP" altLang="en-US" sz="2800" b="1" dirty="0"/>
              <a:t>展開推進</a:t>
            </a:r>
            <a:r>
              <a:rPr lang="en-US" altLang="ja-JP" sz="2800" b="1" dirty="0"/>
              <a:t>G </a:t>
            </a:r>
            <a:r>
              <a:rPr kumimoji="1" lang="ja-JP" altLang="en-US" sz="2800" b="1" dirty="0"/>
              <a:t>切畑</a:t>
            </a:r>
          </a:p>
        </p:txBody>
      </p:sp>
    </p:spTree>
    <p:extLst>
      <p:ext uri="{BB962C8B-B14F-4D97-AF65-F5344CB8AC3E}">
        <p14:creationId xmlns:p14="http://schemas.microsoft.com/office/powerpoint/2010/main" val="276411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sz="3600" dirty="0"/>
              <a:t>プロジェクト概要（おさらい）</a:t>
            </a:r>
            <a:endParaRPr lang="en-US" altLang="ja-JP" sz="3600" dirty="0"/>
          </a:p>
        </p:txBody>
      </p:sp>
      <p:sp>
        <p:nvSpPr>
          <p:cNvPr id="17" name="正方形/長方形 16"/>
          <p:cNvSpPr/>
          <p:nvPr/>
        </p:nvSpPr>
        <p:spPr>
          <a:xfrm>
            <a:off x="321587" y="964853"/>
            <a:ext cx="8404866" cy="972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</a:rPr>
              <a:t>・</a:t>
            </a:r>
            <a:r>
              <a:rPr lang="en-US" altLang="ja-JP" dirty="0">
                <a:solidFill>
                  <a:schemeClr val="tx1"/>
                </a:solidFill>
              </a:rPr>
              <a:t>Capital</a:t>
            </a:r>
            <a:r>
              <a:rPr lang="ja-JP" altLang="en-US" dirty="0">
                <a:solidFill>
                  <a:schemeClr val="tx1"/>
                </a:solidFill>
              </a:rPr>
              <a:t>定着化</a:t>
            </a:r>
            <a:r>
              <a:rPr lang="en-US" altLang="ja-JP" dirty="0">
                <a:solidFill>
                  <a:schemeClr val="tx1"/>
                </a:solidFill>
              </a:rPr>
              <a:t>/</a:t>
            </a:r>
            <a:r>
              <a:rPr lang="ja-JP" altLang="en-US" dirty="0">
                <a:solidFill>
                  <a:schemeClr val="tx1"/>
                </a:solidFill>
              </a:rPr>
              <a:t>号口化に向け、現場支援を主眼に</a:t>
            </a:r>
            <a:r>
              <a:rPr lang="en-US" altLang="ja-JP" dirty="0">
                <a:solidFill>
                  <a:schemeClr val="tx1"/>
                </a:solidFill>
              </a:rPr>
              <a:t>TS</a:t>
            </a:r>
            <a:r>
              <a:rPr lang="ja-JP" altLang="en-US" dirty="0">
                <a:solidFill>
                  <a:schemeClr val="tx1"/>
                </a:solidFill>
              </a:rPr>
              <a:t>で以下の体制でプロジェクト推進。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・</a:t>
            </a:r>
            <a:r>
              <a:rPr kumimoji="1" lang="ja-JP" altLang="en-US" dirty="0">
                <a:solidFill>
                  <a:schemeClr val="tx1"/>
                </a:solidFill>
              </a:rPr>
              <a:t>下記体制のサポート窓口を担い、各種問合せ対応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一次受け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</a:rPr>
              <a:t>、作業支援、ユーザ</a:t>
            </a:r>
            <a:r>
              <a:rPr kumimoji="1" lang="en-US" altLang="ja-JP" dirty="0">
                <a:solidFill>
                  <a:schemeClr val="tx1"/>
                </a:solidFill>
              </a:rPr>
              <a:t>OJT</a:t>
            </a:r>
            <a:r>
              <a:rPr kumimoji="1" lang="ja-JP" altLang="en-US" dirty="0">
                <a:solidFill>
                  <a:schemeClr val="tx1"/>
                </a:solidFill>
              </a:rPr>
              <a:t>等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　円滑なプロジェクト運営ができるよう窓口業務を実施中。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325984" y="1955676"/>
            <a:ext cx="11549024" cy="4672673"/>
          </a:xfrm>
          <a:prstGeom prst="rect">
            <a:avLst/>
          </a:prstGeom>
          <a:ln w="5715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400" b="1" u="sng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体制概略図</a:t>
            </a:r>
            <a:endParaRPr lang="en-US" altLang="ja-JP" sz="2400" b="1" u="sng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6934699" y="2680737"/>
            <a:ext cx="3489976" cy="408211"/>
          </a:xfrm>
          <a:prstGeom prst="rect">
            <a:avLst/>
          </a:prstGeom>
          <a:solidFill>
            <a:schemeClr val="bg2">
              <a:lumMod val="75000"/>
              <a:alpha val="50196"/>
            </a:schemeClr>
          </a:solidFill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L 字 112"/>
          <p:cNvSpPr/>
          <p:nvPr/>
        </p:nvSpPr>
        <p:spPr>
          <a:xfrm>
            <a:off x="4142190" y="2680738"/>
            <a:ext cx="6282485" cy="3179262"/>
          </a:xfrm>
          <a:custGeom>
            <a:avLst/>
            <a:gdLst>
              <a:gd name="connsiteX0" fmla="*/ 0 w 7106454"/>
              <a:gd name="connsiteY0" fmla="*/ 0 h 5570009"/>
              <a:gd name="connsiteX1" fmla="*/ 3074366 w 7106454"/>
              <a:gd name="connsiteY1" fmla="*/ 0 h 5570009"/>
              <a:gd name="connsiteX2" fmla="*/ 3074366 w 7106454"/>
              <a:gd name="connsiteY2" fmla="*/ 1789588 h 5570009"/>
              <a:gd name="connsiteX3" fmla="*/ 7106454 w 7106454"/>
              <a:gd name="connsiteY3" fmla="*/ 1789588 h 5570009"/>
              <a:gd name="connsiteX4" fmla="*/ 7106454 w 7106454"/>
              <a:gd name="connsiteY4" fmla="*/ 5570009 h 5570009"/>
              <a:gd name="connsiteX5" fmla="*/ 0 w 7106454"/>
              <a:gd name="connsiteY5" fmla="*/ 5570009 h 5570009"/>
              <a:gd name="connsiteX6" fmla="*/ 0 w 7106454"/>
              <a:gd name="connsiteY6" fmla="*/ 0 h 5570009"/>
              <a:gd name="connsiteX0" fmla="*/ 0 w 7106454"/>
              <a:gd name="connsiteY0" fmla="*/ 0 h 5570009"/>
              <a:gd name="connsiteX1" fmla="*/ 3074366 w 7106454"/>
              <a:gd name="connsiteY1" fmla="*/ 0 h 5570009"/>
              <a:gd name="connsiteX2" fmla="*/ 3074366 w 7106454"/>
              <a:gd name="connsiteY2" fmla="*/ 895508 h 5570009"/>
              <a:gd name="connsiteX3" fmla="*/ 7106454 w 7106454"/>
              <a:gd name="connsiteY3" fmla="*/ 1789588 h 5570009"/>
              <a:gd name="connsiteX4" fmla="*/ 7106454 w 7106454"/>
              <a:gd name="connsiteY4" fmla="*/ 5570009 h 5570009"/>
              <a:gd name="connsiteX5" fmla="*/ 0 w 7106454"/>
              <a:gd name="connsiteY5" fmla="*/ 5570009 h 5570009"/>
              <a:gd name="connsiteX6" fmla="*/ 0 w 7106454"/>
              <a:gd name="connsiteY6" fmla="*/ 0 h 5570009"/>
              <a:gd name="connsiteX0" fmla="*/ 0 w 7106454"/>
              <a:gd name="connsiteY0" fmla="*/ 0 h 5570009"/>
              <a:gd name="connsiteX1" fmla="*/ 3074366 w 7106454"/>
              <a:gd name="connsiteY1" fmla="*/ 0 h 5570009"/>
              <a:gd name="connsiteX2" fmla="*/ 3074366 w 7106454"/>
              <a:gd name="connsiteY2" fmla="*/ 895508 h 5570009"/>
              <a:gd name="connsiteX3" fmla="*/ 7096294 w 7106454"/>
              <a:gd name="connsiteY3" fmla="*/ 925988 h 5570009"/>
              <a:gd name="connsiteX4" fmla="*/ 7106454 w 7106454"/>
              <a:gd name="connsiteY4" fmla="*/ 5570009 h 5570009"/>
              <a:gd name="connsiteX5" fmla="*/ 0 w 7106454"/>
              <a:gd name="connsiteY5" fmla="*/ 5570009 h 5570009"/>
              <a:gd name="connsiteX6" fmla="*/ 0 w 7106454"/>
              <a:gd name="connsiteY6" fmla="*/ 0 h 5570009"/>
              <a:gd name="connsiteX0" fmla="*/ 0 w 7106454"/>
              <a:gd name="connsiteY0" fmla="*/ 0 h 5570009"/>
              <a:gd name="connsiteX1" fmla="*/ 3074366 w 7106454"/>
              <a:gd name="connsiteY1" fmla="*/ 0 h 5570009"/>
              <a:gd name="connsiteX2" fmla="*/ 3074366 w 7106454"/>
              <a:gd name="connsiteY2" fmla="*/ 895508 h 5570009"/>
              <a:gd name="connsiteX3" fmla="*/ 7086134 w 7106454"/>
              <a:gd name="connsiteY3" fmla="*/ 915828 h 5570009"/>
              <a:gd name="connsiteX4" fmla="*/ 7106454 w 7106454"/>
              <a:gd name="connsiteY4" fmla="*/ 5570009 h 5570009"/>
              <a:gd name="connsiteX5" fmla="*/ 0 w 7106454"/>
              <a:gd name="connsiteY5" fmla="*/ 5570009 h 5570009"/>
              <a:gd name="connsiteX6" fmla="*/ 0 w 7106454"/>
              <a:gd name="connsiteY6" fmla="*/ 0 h 557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6454" h="5570009">
                <a:moveTo>
                  <a:pt x="0" y="0"/>
                </a:moveTo>
                <a:lnTo>
                  <a:pt x="3074366" y="0"/>
                </a:lnTo>
                <a:lnTo>
                  <a:pt x="3074366" y="895508"/>
                </a:lnTo>
                <a:lnTo>
                  <a:pt x="7086134" y="915828"/>
                </a:lnTo>
                <a:cubicBezTo>
                  <a:pt x="7089521" y="2463835"/>
                  <a:pt x="7103067" y="4022002"/>
                  <a:pt x="7106454" y="5570009"/>
                </a:cubicBezTo>
                <a:lnTo>
                  <a:pt x="0" y="55700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50196"/>
            </a:schemeClr>
          </a:solidFill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1187887" y="2675564"/>
            <a:ext cx="1354497" cy="531138"/>
          </a:xfrm>
          <a:prstGeom prst="rect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設計者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（ユーザー）</a:t>
            </a:r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1194626" y="3338888"/>
            <a:ext cx="1354497" cy="531138"/>
          </a:xfrm>
          <a:prstGeom prst="rect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トレーサ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（ユーザー）</a:t>
            </a:r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4623225" y="2845455"/>
            <a:ext cx="1374585" cy="2122539"/>
          </a:xfrm>
          <a:prstGeom prst="rect">
            <a:avLst/>
          </a:prstGeom>
          <a:solidFill>
            <a:srgbClr val="F79646"/>
          </a:solidFill>
          <a:ln w="57150">
            <a:solidFill>
              <a:srgbClr val="FF0000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窓口</a:t>
            </a:r>
            <a:endParaRPr kumimoji="1" lang="en-US" altLang="ja-JP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直線矢印コネクタ 30"/>
          <p:cNvCxnSpPr>
            <a:cxnSpLocks/>
            <a:stCxn id="27" idx="3"/>
            <a:endCxn id="30" idx="1"/>
          </p:cNvCxnSpPr>
          <p:nvPr/>
        </p:nvCxnSpPr>
        <p:spPr>
          <a:xfrm>
            <a:off x="2542384" y="2941133"/>
            <a:ext cx="2080841" cy="965592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>
            <a:cxnSpLocks/>
            <a:stCxn id="28" idx="3"/>
            <a:endCxn id="30" idx="1"/>
          </p:cNvCxnSpPr>
          <p:nvPr/>
        </p:nvCxnSpPr>
        <p:spPr>
          <a:xfrm>
            <a:off x="2549123" y="3604457"/>
            <a:ext cx="2074102" cy="302268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>
            <a:cxnSpLocks/>
            <a:stCxn id="30" idx="3"/>
          </p:cNvCxnSpPr>
          <p:nvPr/>
        </p:nvCxnSpPr>
        <p:spPr>
          <a:xfrm flipV="1">
            <a:off x="5997810" y="3416556"/>
            <a:ext cx="1305985" cy="490169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/>
          <p:cNvCxnSpPr>
            <a:cxnSpLocks/>
            <a:stCxn id="30" idx="3"/>
            <a:endCxn id="41" idx="1"/>
          </p:cNvCxnSpPr>
          <p:nvPr/>
        </p:nvCxnSpPr>
        <p:spPr>
          <a:xfrm flipV="1">
            <a:off x="5997810" y="3564010"/>
            <a:ext cx="1305985" cy="34271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>
            <a:cxnSpLocks/>
            <a:stCxn id="30" idx="3"/>
            <a:endCxn id="42" idx="1"/>
          </p:cNvCxnSpPr>
          <p:nvPr/>
        </p:nvCxnSpPr>
        <p:spPr>
          <a:xfrm flipV="1">
            <a:off x="5997810" y="2883370"/>
            <a:ext cx="1305985" cy="102335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8820054" y="2722097"/>
            <a:ext cx="301076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ツール挙動確認、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Capital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使い方提案</a:t>
            </a:r>
          </a:p>
        </p:txBody>
      </p:sp>
      <p:cxnSp>
        <p:nvCxnSpPr>
          <p:cNvPr id="38" name="直線矢印コネクタ 37"/>
          <p:cNvCxnSpPr>
            <a:cxnSpLocks/>
            <a:stCxn id="30" idx="3"/>
            <a:endCxn id="43" idx="1"/>
          </p:cNvCxnSpPr>
          <p:nvPr/>
        </p:nvCxnSpPr>
        <p:spPr>
          <a:xfrm>
            <a:off x="5997810" y="3906725"/>
            <a:ext cx="1305985" cy="287998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>
            <a:cxnSpLocks/>
            <a:stCxn id="30" idx="3"/>
            <a:endCxn id="44" idx="1"/>
          </p:cNvCxnSpPr>
          <p:nvPr/>
        </p:nvCxnSpPr>
        <p:spPr>
          <a:xfrm>
            <a:off x="5997810" y="3906725"/>
            <a:ext cx="1305985" cy="1549423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正方形/長方形 40"/>
          <p:cNvSpPr/>
          <p:nvPr/>
        </p:nvSpPr>
        <p:spPr>
          <a:xfrm>
            <a:off x="7303795" y="3366837"/>
            <a:ext cx="1486261" cy="394346"/>
          </a:xfrm>
          <a:prstGeom prst="rect">
            <a:avLst/>
          </a:prstGeom>
          <a:solidFill>
            <a:srgbClr val="F79646"/>
          </a:solidFill>
          <a:ln>
            <a:solidFill>
              <a:schemeClr val="accent6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開発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7303795" y="2686197"/>
            <a:ext cx="1486261" cy="3943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ツール開発</a:t>
            </a:r>
          </a:p>
        </p:txBody>
      </p:sp>
      <p:sp>
        <p:nvSpPr>
          <p:cNvPr id="43" name="正方形/長方形 42"/>
          <p:cNvSpPr/>
          <p:nvPr/>
        </p:nvSpPr>
        <p:spPr>
          <a:xfrm>
            <a:off x="7303795" y="3997550"/>
            <a:ext cx="1486261" cy="394346"/>
          </a:xfrm>
          <a:prstGeom prst="rect">
            <a:avLst/>
          </a:prstGeom>
          <a:solidFill>
            <a:srgbClr val="F79646"/>
          </a:solidFill>
          <a:ln w="38100">
            <a:solidFill>
              <a:srgbClr val="FF000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テクニカルサポート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7303795" y="5258975"/>
            <a:ext cx="1486261" cy="394346"/>
          </a:xfrm>
          <a:prstGeom prst="rect">
            <a:avLst/>
          </a:prstGeom>
          <a:solidFill>
            <a:srgbClr val="F79646"/>
          </a:solidFill>
          <a:ln>
            <a:solidFill>
              <a:schemeClr val="accent6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他ツールサポ窓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その他チーム</a:t>
            </a:r>
          </a:p>
        </p:txBody>
      </p:sp>
      <p:sp>
        <p:nvSpPr>
          <p:cNvPr id="45" name="正方形/長方形 44"/>
          <p:cNvSpPr/>
          <p:nvPr/>
        </p:nvSpPr>
        <p:spPr>
          <a:xfrm>
            <a:off x="7303795" y="4628263"/>
            <a:ext cx="1486261" cy="394346"/>
          </a:xfrm>
          <a:prstGeom prst="rect">
            <a:avLst/>
          </a:prstGeom>
          <a:solidFill>
            <a:srgbClr val="F79646"/>
          </a:solidFill>
          <a:ln w="38100">
            <a:solidFill>
              <a:srgbClr val="FF000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マニュアル、教育</a:t>
            </a:r>
            <a:endParaRPr lang="en-US" altLang="ja-JP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6" name="直線矢印コネクタ 45"/>
          <p:cNvCxnSpPr>
            <a:cxnSpLocks/>
            <a:stCxn id="30" idx="3"/>
            <a:endCxn id="45" idx="1"/>
          </p:cNvCxnSpPr>
          <p:nvPr/>
        </p:nvCxnSpPr>
        <p:spPr>
          <a:xfrm>
            <a:off x="5997810" y="3906725"/>
            <a:ext cx="1305985" cy="918711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正方形/長方形 46"/>
          <p:cNvSpPr/>
          <p:nvPr/>
        </p:nvSpPr>
        <p:spPr>
          <a:xfrm>
            <a:off x="1187888" y="4002212"/>
            <a:ext cx="1354497" cy="53113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APOLLO</a:t>
            </a:r>
          </a:p>
        </p:txBody>
      </p:sp>
      <p:sp>
        <p:nvSpPr>
          <p:cNvPr id="48" name="正方形/長方形 47"/>
          <p:cNvSpPr/>
          <p:nvPr/>
        </p:nvSpPr>
        <p:spPr>
          <a:xfrm>
            <a:off x="4142189" y="2072646"/>
            <a:ext cx="6282486" cy="376656"/>
          </a:xfrm>
          <a:prstGeom prst="rect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ユーザー主管部署　</a:t>
            </a:r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14MV</a:t>
            </a:r>
          </a:p>
        </p:txBody>
      </p:sp>
      <p:sp>
        <p:nvSpPr>
          <p:cNvPr id="49" name="下矢印 48"/>
          <p:cNvSpPr/>
          <p:nvPr/>
        </p:nvSpPr>
        <p:spPr>
          <a:xfrm>
            <a:off x="6255995" y="2495529"/>
            <a:ext cx="667345" cy="136391"/>
          </a:xfrm>
          <a:prstGeom prst="downArrow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下矢印 49"/>
          <p:cNvSpPr/>
          <p:nvPr/>
        </p:nvSpPr>
        <p:spPr>
          <a:xfrm flipV="1">
            <a:off x="5132831" y="2495529"/>
            <a:ext cx="667345" cy="136391"/>
          </a:xfrm>
          <a:prstGeom prst="downArrow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5470834" y="2421914"/>
            <a:ext cx="113364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プロセス確認</a:t>
            </a:r>
          </a:p>
        </p:txBody>
      </p:sp>
      <p:cxnSp>
        <p:nvCxnSpPr>
          <p:cNvPr id="52" name="直線矢印コネクタ 51"/>
          <p:cNvCxnSpPr>
            <a:cxnSpLocks/>
            <a:stCxn id="47" idx="3"/>
            <a:endCxn id="30" idx="1"/>
          </p:cNvCxnSpPr>
          <p:nvPr/>
        </p:nvCxnSpPr>
        <p:spPr>
          <a:xfrm flipV="1">
            <a:off x="2542385" y="3906725"/>
            <a:ext cx="2080840" cy="361056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下カーブ矢印 52"/>
          <p:cNvSpPr/>
          <p:nvPr/>
        </p:nvSpPr>
        <p:spPr>
          <a:xfrm>
            <a:off x="5504424" y="3672689"/>
            <a:ext cx="2437269" cy="386024"/>
          </a:xfrm>
          <a:prstGeom prst="curvedDownArrow">
            <a:avLst>
              <a:gd name="adj1" fmla="val 99219"/>
              <a:gd name="adj2" fmla="val 188702"/>
              <a:gd name="adj3" fmla="val 25000"/>
            </a:avLst>
          </a:prstGeom>
          <a:solidFill>
            <a:schemeClr val="accent2">
              <a:lumMod val="75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下カーブ矢印 53"/>
          <p:cNvSpPr/>
          <p:nvPr/>
        </p:nvSpPr>
        <p:spPr>
          <a:xfrm rot="10800000">
            <a:off x="5359912" y="4382838"/>
            <a:ext cx="2437269" cy="386024"/>
          </a:xfrm>
          <a:prstGeom prst="curvedDownArrow">
            <a:avLst>
              <a:gd name="adj1" fmla="val 99219"/>
              <a:gd name="adj2" fmla="val 188702"/>
              <a:gd name="adj3" fmla="val 25000"/>
            </a:avLst>
          </a:prstGeom>
          <a:solidFill>
            <a:schemeClr val="accent2">
              <a:lumMod val="75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086779" y="2615032"/>
            <a:ext cx="48846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TS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945073" y="3785916"/>
            <a:ext cx="1487228" cy="95410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TS ALL</a:t>
            </a:r>
          </a:p>
          <a:p>
            <a:pPr algn="ctr"/>
            <a:r>
              <a:rPr kumimoji="1" lang="ja-JP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で推進</a:t>
            </a:r>
            <a:endParaRPr kumimoji="1" lang="en-US" altLang="ja-JP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8829447" y="3410809"/>
            <a:ext cx="191590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プラグイン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挙動、使い方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8829447" y="4023393"/>
            <a:ext cx="113364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操作サポート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8820054" y="5204140"/>
            <a:ext cx="279322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ライブラリ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QA</a:t>
            </a:r>
            <a:r>
              <a:rPr kumimoji="1" lang="ja-JP" altLang="en-US" sz="1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S4</a:t>
            </a:r>
            <a:r>
              <a:rPr kumimoji="1" lang="ja-JP" altLang="en-US" sz="1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CD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等他ツール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APOLLO, 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インフラ等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8797999" y="4665536"/>
            <a:ext cx="232671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手順確認、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マニュアル追加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正方形/長方形 63"/>
          <p:cNvSpPr/>
          <p:nvPr/>
        </p:nvSpPr>
        <p:spPr>
          <a:xfrm>
            <a:off x="8951507" y="1445456"/>
            <a:ext cx="687924" cy="305136"/>
          </a:xfrm>
          <a:prstGeom prst="rect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TMC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10442753" y="1431064"/>
            <a:ext cx="687278" cy="305136"/>
          </a:xfrm>
          <a:prstGeom prst="rect">
            <a:avLst/>
          </a:prstGeom>
          <a:solidFill>
            <a:srgbClr val="F79646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TS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9021949" y="115734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凡例：</a:t>
            </a:r>
          </a:p>
        </p:txBody>
      </p:sp>
      <p:sp>
        <p:nvSpPr>
          <p:cNvPr id="68" name="正方形/長方形 67"/>
          <p:cNvSpPr/>
          <p:nvPr/>
        </p:nvSpPr>
        <p:spPr>
          <a:xfrm>
            <a:off x="1311572" y="5988027"/>
            <a:ext cx="9577848" cy="480113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TS</a:t>
            </a:r>
            <a:r>
              <a:rPr kumimoji="1" lang="ja-JP" altLang="en-US" sz="2800" b="1" dirty="0">
                <a:solidFill>
                  <a:schemeClr val="tx1"/>
                </a:solidFill>
              </a:rPr>
              <a:t>内で知見を溜め、他のメンバとも連携して推進する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3EC22118-3EEB-4396-8C8F-59F2F685CD24}"/>
              </a:ext>
            </a:extLst>
          </p:cNvPr>
          <p:cNvSpPr/>
          <p:nvPr/>
        </p:nvSpPr>
        <p:spPr>
          <a:xfrm>
            <a:off x="1187888" y="4665536"/>
            <a:ext cx="1354497" cy="53113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サプライヤ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38B55D7-593D-4CA2-85C9-CCF1BE40914E}"/>
              </a:ext>
            </a:extLst>
          </p:cNvPr>
          <p:cNvSpPr/>
          <p:nvPr/>
        </p:nvSpPr>
        <p:spPr>
          <a:xfrm>
            <a:off x="1187888" y="5328862"/>
            <a:ext cx="1354497" cy="53113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Capital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チーム内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各関係者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7349CA9B-0800-49D1-87F7-5922B3B4AF0F}"/>
              </a:ext>
            </a:extLst>
          </p:cNvPr>
          <p:cNvCxnSpPr>
            <a:cxnSpLocks/>
            <a:stCxn id="70" idx="3"/>
            <a:endCxn id="30" idx="1"/>
          </p:cNvCxnSpPr>
          <p:nvPr/>
        </p:nvCxnSpPr>
        <p:spPr>
          <a:xfrm flipV="1">
            <a:off x="2542385" y="3906725"/>
            <a:ext cx="2080840" cy="1024380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D83F6138-8D10-4DF7-9F39-D5F187744BB4}"/>
              </a:ext>
            </a:extLst>
          </p:cNvPr>
          <p:cNvCxnSpPr>
            <a:cxnSpLocks/>
            <a:stCxn id="71" idx="3"/>
            <a:endCxn id="30" idx="1"/>
          </p:cNvCxnSpPr>
          <p:nvPr/>
        </p:nvCxnSpPr>
        <p:spPr>
          <a:xfrm flipV="1">
            <a:off x="2542385" y="3906725"/>
            <a:ext cx="2080840" cy="1687706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797AC9F0-B86E-4644-9C53-62E9B1135709}"/>
              </a:ext>
            </a:extLst>
          </p:cNvPr>
          <p:cNvSpPr/>
          <p:nvPr/>
        </p:nvSpPr>
        <p:spPr>
          <a:xfrm>
            <a:off x="4623225" y="5237133"/>
            <a:ext cx="1374585" cy="438031"/>
          </a:xfrm>
          <a:prstGeom prst="rect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DIT</a:t>
            </a:r>
          </a:p>
        </p:txBody>
      </p:sp>
      <p:sp>
        <p:nvSpPr>
          <p:cNvPr id="97" name="下矢印 49">
            <a:extLst>
              <a:ext uri="{FF2B5EF4-FFF2-40B4-BE49-F238E27FC236}">
                <a16:creationId xmlns:a16="http://schemas.microsoft.com/office/drawing/2014/main" id="{0678F70A-8EB1-4851-88E2-55B19925B937}"/>
              </a:ext>
            </a:extLst>
          </p:cNvPr>
          <p:cNvSpPr/>
          <p:nvPr/>
        </p:nvSpPr>
        <p:spPr>
          <a:xfrm flipV="1">
            <a:off x="4976845" y="5040910"/>
            <a:ext cx="667345" cy="136391"/>
          </a:xfrm>
          <a:prstGeom prst="downArrow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F8E2DEA6-923D-409E-AEA5-A22C2D7E84EF}"/>
              </a:ext>
            </a:extLst>
          </p:cNvPr>
          <p:cNvSpPr txBox="1"/>
          <p:nvPr/>
        </p:nvSpPr>
        <p:spPr>
          <a:xfrm>
            <a:off x="5525525" y="4967995"/>
            <a:ext cx="110799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アドバイザー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DD9EA6AF-8917-480E-9299-3731E8D8C6E2}"/>
              </a:ext>
            </a:extLst>
          </p:cNvPr>
          <p:cNvSpPr/>
          <p:nvPr/>
        </p:nvSpPr>
        <p:spPr>
          <a:xfrm>
            <a:off x="11187730" y="1431064"/>
            <a:ext cx="687278" cy="30513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他</a:t>
            </a:r>
          </a:p>
        </p:txBody>
      </p:sp>
      <p:sp>
        <p:nvSpPr>
          <p:cNvPr id="65" name="正方形/長方形 64"/>
          <p:cNvSpPr/>
          <p:nvPr/>
        </p:nvSpPr>
        <p:spPr>
          <a:xfrm>
            <a:off x="9697130" y="1441478"/>
            <a:ext cx="687924" cy="30513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SIEMENS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2859539" y="3690360"/>
            <a:ext cx="118013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各種問合せ</a:t>
            </a:r>
          </a:p>
        </p:txBody>
      </p:sp>
    </p:spTree>
    <p:extLst>
      <p:ext uri="{BB962C8B-B14F-4D97-AF65-F5344CB8AC3E}">
        <p14:creationId xmlns:p14="http://schemas.microsoft.com/office/powerpoint/2010/main" val="124495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FEF5CA0-5936-4344-816D-AD7CD5CE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" y="1381470"/>
            <a:ext cx="11246428" cy="45976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テキスト プレースホルダー 1"/>
          <p:cNvSpPr>
            <a:spLocks noGrp="1"/>
          </p:cNvSpPr>
          <p:nvPr>
            <p:ph type="body" sz="quarter" idx="14"/>
          </p:nvPr>
        </p:nvSpPr>
        <p:spPr>
          <a:xfrm>
            <a:off x="288000" y="118800"/>
            <a:ext cx="5954551" cy="312868"/>
          </a:xfrm>
        </p:spPr>
        <p:txBody>
          <a:bodyPr/>
          <a:lstStyle/>
          <a:p>
            <a:r>
              <a:rPr lang="ja-JP" altLang="en-US" sz="3600" dirty="0"/>
              <a:t>大日程</a:t>
            </a:r>
            <a:endParaRPr kumimoji="1" lang="en-US" altLang="ja-JP" sz="36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D82218-9608-4624-87E7-AB07172E01D2}"/>
              </a:ext>
            </a:extLst>
          </p:cNvPr>
          <p:cNvSpPr/>
          <p:nvPr/>
        </p:nvSpPr>
        <p:spPr>
          <a:xfrm flipV="1">
            <a:off x="6463519" y="4005149"/>
            <a:ext cx="3149017" cy="1973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386ED85D-8209-4C62-8F6E-76D4D5FB580A}"/>
              </a:ext>
            </a:extLst>
          </p:cNvPr>
          <p:cNvSpPr/>
          <p:nvPr/>
        </p:nvSpPr>
        <p:spPr>
          <a:xfrm>
            <a:off x="8509209" y="2230911"/>
            <a:ext cx="2206653" cy="1300972"/>
          </a:xfrm>
          <a:prstGeom prst="wedgeRectCallout">
            <a:avLst>
              <a:gd name="adj1" fmla="val -37790"/>
              <a:gd name="adj2" fmla="val 87389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 b="1" u="sng" dirty="0">
                <a:solidFill>
                  <a:schemeClr val="tx1"/>
                </a:solidFill>
              </a:rPr>
              <a:t>サポ窓対応範囲</a:t>
            </a:r>
            <a:endParaRPr lang="en-US" altLang="ja-JP" b="1" u="sng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・</a:t>
            </a:r>
            <a:r>
              <a:rPr lang="en-US" altLang="ja-JP" dirty="0">
                <a:solidFill>
                  <a:schemeClr val="tx1"/>
                </a:solidFill>
              </a:rPr>
              <a:t>UD2504</a:t>
            </a:r>
            <a:r>
              <a:rPr lang="ja-JP" altLang="en-US" dirty="0">
                <a:solidFill>
                  <a:schemeClr val="tx1"/>
                </a:solidFill>
              </a:rPr>
              <a:t>トライ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・</a:t>
            </a:r>
            <a:r>
              <a:rPr lang="en-US" altLang="ja-JP" dirty="0">
                <a:solidFill>
                  <a:schemeClr val="tx1"/>
                </a:solidFill>
              </a:rPr>
              <a:t>710D_FR</a:t>
            </a:r>
            <a:r>
              <a:rPr lang="ja-JP" altLang="en-US" dirty="0">
                <a:solidFill>
                  <a:schemeClr val="tx1"/>
                </a:solidFill>
              </a:rPr>
              <a:t>化トライ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3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5FE269AB-2C87-41BE-B1CD-A4B68C0CD22B}"/>
              </a:ext>
            </a:extLst>
          </p:cNvPr>
          <p:cNvSpPr/>
          <p:nvPr/>
        </p:nvSpPr>
        <p:spPr>
          <a:xfrm>
            <a:off x="1938705" y="3311137"/>
            <a:ext cx="5230982" cy="27751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3E7681E2-3C2D-4D4F-BF3F-F15240BCF1FF}"/>
              </a:ext>
            </a:extLst>
          </p:cNvPr>
          <p:cNvSpPr/>
          <p:nvPr/>
        </p:nvSpPr>
        <p:spPr>
          <a:xfrm>
            <a:off x="1970926" y="4346791"/>
            <a:ext cx="3670880" cy="160634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BC9DF250-5634-471B-ADEB-76CFF01D2958}"/>
              </a:ext>
            </a:extLst>
          </p:cNvPr>
          <p:cNvSpPr/>
          <p:nvPr/>
        </p:nvSpPr>
        <p:spPr>
          <a:xfrm>
            <a:off x="3797967" y="5282900"/>
            <a:ext cx="792233" cy="383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SRK</a:t>
            </a:r>
            <a:endParaRPr kumimoji="1" lang="ja-JP" altLang="en-US" sz="1600" dirty="0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6D60DA4F-A0F3-4330-9C6F-8584A89B2768}"/>
              </a:ext>
            </a:extLst>
          </p:cNvPr>
          <p:cNvSpPr/>
          <p:nvPr/>
        </p:nvSpPr>
        <p:spPr>
          <a:xfrm>
            <a:off x="5849930" y="4100815"/>
            <a:ext cx="1173700" cy="185232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580A6C7-AE2E-4746-939E-FC5590E08304}"/>
              </a:ext>
            </a:extLst>
          </p:cNvPr>
          <p:cNvSpPr/>
          <p:nvPr/>
        </p:nvSpPr>
        <p:spPr>
          <a:xfrm>
            <a:off x="3039362" y="1354224"/>
            <a:ext cx="4087031" cy="85102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1F4A6F8-21DF-45D5-9F2A-E34CC13AAB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sz="3600" dirty="0"/>
              <a:t>体制図</a:t>
            </a:r>
            <a:endParaRPr kumimoji="1" lang="ja-JP" altLang="en-US" sz="4400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8471237-CB36-4D49-B45D-9D65527BD213}"/>
              </a:ext>
            </a:extLst>
          </p:cNvPr>
          <p:cNvSpPr/>
          <p:nvPr/>
        </p:nvSpPr>
        <p:spPr>
          <a:xfrm>
            <a:off x="705034" y="1080882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AC5A4254-0961-4A51-8EB3-E49023CF5C00}"/>
              </a:ext>
            </a:extLst>
          </p:cNvPr>
          <p:cNvSpPr/>
          <p:nvPr/>
        </p:nvSpPr>
        <p:spPr>
          <a:xfrm>
            <a:off x="7660213" y="267577"/>
            <a:ext cx="635806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TS</a:t>
            </a:r>
            <a:endParaRPr kumimoji="1" lang="ja-JP" altLang="en-US" sz="1600" dirty="0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C4FB2251-39D8-4756-86E8-164ABBF48754}"/>
              </a:ext>
            </a:extLst>
          </p:cNvPr>
          <p:cNvSpPr/>
          <p:nvPr/>
        </p:nvSpPr>
        <p:spPr>
          <a:xfrm>
            <a:off x="9103405" y="267577"/>
            <a:ext cx="635806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TISA</a:t>
            </a:r>
            <a:endParaRPr kumimoji="1" lang="ja-JP" altLang="en-US" sz="1600" dirty="0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62393960-0DB0-48C7-BAB4-4B99C2021305}"/>
              </a:ext>
            </a:extLst>
          </p:cNvPr>
          <p:cNvSpPr/>
          <p:nvPr/>
        </p:nvSpPr>
        <p:spPr>
          <a:xfrm>
            <a:off x="8381809" y="267577"/>
            <a:ext cx="635806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JAS</a:t>
            </a:r>
            <a:endParaRPr kumimoji="1" lang="ja-JP" altLang="en-US" sz="1600" dirty="0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F78806CB-9374-433A-9B00-E3C8123EE4B5}"/>
              </a:ext>
            </a:extLst>
          </p:cNvPr>
          <p:cNvSpPr/>
          <p:nvPr/>
        </p:nvSpPr>
        <p:spPr>
          <a:xfrm>
            <a:off x="9825001" y="267577"/>
            <a:ext cx="635806" cy="383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SRK</a:t>
            </a:r>
            <a:endParaRPr kumimoji="1" lang="ja-JP" altLang="en-US" sz="1600" dirty="0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F7CD102D-9164-448B-A608-6D1BCE0C6B25}"/>
              </a:ext>
            </a:extLst>
          </p:cNvPr>
          <p:cNvSpPr/>
          <p:nvPr/>
        </p:nvSpPr>
        <p:spPr>
          <a:xfrm>
            <a:off x="10546597" y="267577"/>
            <a:ext cx="635806" cy="3835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TKD</a:t>
            </a:r>
            <a:endParaRPr kumimoji="1" lang="ja-JP" altLang="en-US" sz="1600" dirty="0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5969E8BC-7E6F-4294-9237-9C85D389692B}"/>
              </a:ext>
            </a:extLst>
          </p:cNvPr>
          <p:cNvSpPr/>
          <p:nvPr/>
        </p:nvSpPr>
        <p:spPr>
          <a:xfrm>
            <a:off x="11268194" y="267577"/>
            <a:ext cx="635806" cy="3835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セムス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B260DCCE-A6E6-4FC7-AE38-3B6D5F0D475A}"/>
              </a:ext>
            </a:extLst>
          </p:cNvPr>
          <p:cNvSpPr txBox="1"/>
          <p:nvPr/>
        </p:nvSpPr>
        <p:spPr>
          <a:xfrm>
            <a:off x="337955" y="1135297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 dirty="0"/>
              <a:t>TL</a:t>
            </a:r>
            <a:endParaRPr kumimoji="1" lang="ja-JP" altLang="en-US" sz="1200" b="1" dirty="0"/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46ABF2C-437E-451A-AA5A-A6840F56F600}"/>
              </a:ext>
            </a:extLst>
          </p:cNvPr>
          <p:cNvSpPr txBox="1"/>
          <p:nvPr/>
        </p:nvSpPr>
        <p:spPr>
          <a:xfrm>
            <a:off x="1511364" y="1135297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全体管理</a:t>
            </a:r>
            <a:r>
              <a:rPr kumimoji="1" lang="en-US" altLang="ja-JP" sz="1200" b="1" dirty="0"/>
              <a:t>/PMO</a:t>
            </a:r>
            <a:endParaRPr kumimoji="1" lang="ja-JP" altLang="en-US" sz="1200" b="1" dirty="0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3A3B1408-0A82-4EA9-94E2-C8EF93071CC8}"/>
              </a:ext>
            </a:extLst>
          </p:cNvPr>
          <p:cNvSpPr/>
          <p:nvPr/>
        </p:nvSpPr>
        <p:spPr>
          <a:xfrm>
            <a:off x="2039212" y="3599372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CDF14CD6-E5DC-4B2F-B274-597FA6D07477}"/>
              </a:ext>
            </a:extLst>
          </p:cNvPr>
          <p:cNvSpPr/>
          <p:nvPr/>
        </p:nvSpPr>
        <p:spPr>
          <a:xfrm>
            <a:off x="3009686" y="3711267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小引</a:t>
            </a:r>
          </a:p>
        </p:txBody>
      </p: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E4D3117B-36F2-44FF-8EB5-99B51AFF5D08}"/>
              </a:ext>
            </a:extLst>
          </p:cNvPr>
          <p:cNvCxnSpPr>
            <a:cxnSpLocks/>
            <a:stCxn id="125" idx="3"/>
            <a:endCxn id="133" idx="1"/>
          </p:cNvCxnSpPr>
          <p:nvPr/>
        </p:nvCxnSpPr>
        <p:spPr>
          <a:xfrm>
            <a:off x="2831445" y="3791160"/>
            <a:ext cx="178241" cy="11189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4AF35D91-E535-4A8C-88CA-27181D445E11}"/>
              </a:ext>
            </a:extLst>
          </p:cNvPr>
          <p:cNvSpPr txBox="1"/>
          <p:nvPr/>
        </p:nvSpPr>
        <p:spPr>
          <a:xfrm>
            <a:off x="2775986" y="3461071"/>
            <a:ext cx="109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サポ窓リーダー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B79FBE1E-19DE-41D6-91DC-B2B4BE233AB2}"/>
              </a:ext>
            </a:extLst>
          </p:cNvPr>
          <p:cNvSpPr txBox="1"/>
          <p:nvPr/>
        </p:nvSpPr>
        <p:spPr>
          <a:xfrm>
            <a:off x="1907254" y="40948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実務担当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9D6BB6C9-F0F0-40AB-BF57-877F401E1C72}"/>
              </a:ext>
            </a:extLst>
          </p:cNvPr>
          <p:cNvSpPr txBox="1"/>
          <p:nvPr/>
        </p:nvSpPr>
        <p:spPr>
          <a:xfrm>
            <a:off x="5958123" y="3820887"/>
            <a:ext cx="957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アドバイザー</a:t>
            </a:r>
            <a:endParaRPr kumimoji="1" lang="ja-JP" altLang="en-US" sz="1200" b="1" dirty="0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C1813A96-2894-41C7-82E2-D8390C764E9A}"/>
              </a:ext>
            </a:extLst>
          </p:cNvPr>
          <p:cNvGrpSpPr/>
          <p:nvPr/>
        </p:nvGrpSpPr>
        <p:grpSpPr>
          <a:xfrm>
            <a:off x="3210169" y="1411912"/>
            <a:ext cx="814647" cy="656175"/>
            <a:chOff x="3285243" y="1758970"/>
            <a:chExt cx="814647" cy="656175"/>
          </a:xfrm>
        </p:grpSpPr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1F4A77BA-E9D2-4705-85AC-2044BE66A1E3}"/>
                </a:ext>
              </a:extLst>
            </p:cNvPr>
            <p:cNvSpPr/>
            <p:nvPr/>
          </p:nvSpPr>
          <p:spPr>
            <a:xfrm>
              <a:off x="3296450" y="2031570"/>
              <a:ext cx="792233" cy="38357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600" dirty="0"/>
                <a:t>岩田</a:t>
              </a:r>
            </a:p>
          </p:txBody>
        </p:sp>
        <p:sp>
          <p:nvSpPr>
            <p:cNvPr id="179" name="テキスト ボックス 178">
              <a:extLst>
                <a:ext uri="{FF2B5EF4-FFF2-40B4-BE49-F238E27FC236}">
                  <a16:creationId xmlns:a16="http://schemas.microsoft.com/office/drawing/2014/main" id="{84AF55A2-96E7-46DC-A77C-ABF1FB2AFE20}"/>
                </a:ext>
              </a:extLst>
            </p:cNvPr>
            <p:cNvSpPr txBox="1"/>
            <p:nvPr/>
          </p:nvSpPr>
          <p:spPr>
            <a:xfrm>
              <a:off x="3285243" y="1758970"/>
              <a:ext cx="8146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b="1" dirty="0"/>
                <a:t>後工程</a:t>
              </a:r>
              <a:r>
                <a:rPr kumimoji="1" lang="en-US" altLang="ja-JP" sz="1200" b="1" dirty="0"/>
                <a:t>TL</a:t>
              </a:r>
              <a:endParaRPr kumimoji="1" lang="ja-JP" altLang="en-US" sz="1200" b="1" dirty="0"/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12129692-4477-416D-B72F-B4FF1F294F00}"/>
              </a:ext>
            </a:extLst>
          </p:cNvPr>
          <p:cNvGrpSpPr/>
          <p:nvPr/>
        </p:nvGrpSpPr>
        <p:grpSpPr>
          <a:xfrm>
            <a:off x="4161436" y="1411912"/>
            <a:ext cx="792233" cy="656175"/>
            <a:chOff x="4240467" y="1758970"/>
            <a:chExt cx="792233" cy="656175"/>
          </a:xfrm>
        </p:grpSpPr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08E758CA-A597-4E05-B447-0171353E2E3B}"/>
                </a:ext>
              </a:extLst>
            </p:cNvPr>
            <p:cNvSpPr/>
            <p:nvPr/>
          </p:nvSpPr>
          <p:spPr>
            <a:xfrm>
              <a:off x="4240467" y="2031570"/>
              <a:ext cx="792233" cy="38357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600" dirty="0"/>
                <a:t>近藤</a:t>
              </a:r>
            </a:p>
          </p:txBody>
        </p:sp>
        <p:sp>
          <p:nvSpPr>
            <p:cNvPr id="180" name="テキスト ボックス 179">
              <a:extLst>
                <a:ext uri="{FF2B5EF4-FFF2-40B4-BE49-F238E27FC236}">
                  <a16:creationId xmlns:a16="http://schemas.microsoft.com/office/drawing/2014/main" id="{791ADDF9-A411-4950-9555-D329DB34CC63}"/>
                </a:ext>
              </a:extLst>
            </p:cNvPr>
            <p:cNvSpPr txBox="1"/>
            <p:nvPr/>
          </p:nvSpPr>
          <p:spPr>
            <a:xfrm>
              <a:off x="4306204" y="1758970"/>
              <a:ext cx="6607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b="1" dirty="0"/>
                <a:t>開発</a:t>
              </a:r>
              <a:r>
                <a:rPr kumimoji="1" lang="en-US" altLang="ja-JP" sz="1200" b="1" dirty="0"/>
                <a:t>TL</a:t>
              </a:r>
              <a:endParaRPr kumimoji="1" lang="ja-JP" altLang="en-US" sz="1200" b="1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FB4F44BD-A917-4981-91E1-033AF0B3B329}"/>
              </a:ext>
            </a:extLst>
          </p:cNvPr>
          <p:cNvGrpSpPr/>
          <p:nvPr/>
        </p:nvGrpSpPr>
        <p:grpSpPr>
          <a:xfrm>
            <a:off x="5090289" y="1411912"/>
            <a:ext cx="864339" cy="656175"/>
            <a:chOff x="5148429" y="1758970"/>
            <a:chExt cx="864339" cy="656175"/>
          </a:xfrm>
        </p:grpSpPr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9548A3E6-492F-4547-8479-05448A2328F5}"/>
                </a:ext>
              </a:extLst>
            </p:cNvPr>
            <p:cNvSpPr/>
            <p:nvPr/>
          </p:nvSpPr>
          <p:spPr>
            <a:xfrm>
              <a:off x="5184482" y="2031570"/>
              <a:ext cx="792233" cy="3835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600" dirty="0"/>
                <a:t>友渕</a:t>
              </a:r>
            </a:p>
          </p:txBody>
        </p:sp>
        <p:sp>
          <p:nvSpPr>
            <p:cNvPr id="181" name="テキスト ボックス 180">
              <a:extLst>
                <a:ext uri="{FF2B5EF4-FFF2-40B4-BE49-F238E27FC236}">
                  <a16:creationId xmlns:a16="http://schemas.microsoft.com/office/drawing/2014/main" id="{3FD8C2FE-1F7A-4081-821C-AF0521F61D86}"/>
                </a:ext>
              </a:extLst>
            </p:cNvPr>
            <p:cNvSpPr txBox="1"/>
            <p:nvPr/>
          </p:nvSpPr>
          <p:spPr>
            <a:xfrm>
              <a:off x="5148429" y="1758970"/>
              <a:ext cx="8643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200" b="1" dirty="0"/>
                <a:t>14MV</a:t>
              </a:r>
              <a:r>
                <a:rPr lang="ja-JP" altLang="en-US" sz="1200" b="1" dirty="0"/>
                <a:t>サポ</a:t>
              </a:r>
              <a:endParaRPr kumimoji="1" lang="ja-JP" altLang="en-US" sz="1200" b="1" dirty="0"/>
            </a:p>
          </p:txBody>
        </p:sp>
      </p:grp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5B961D52-6284-44D0-8964-9D9FC6AA5017}"/>
              </a:ext>
            </a:extLst>
          </p:cNvPr>
          <p:cNvGrpSpPr/>
          <p:nvPr/>
        </p:nvGrpSpPr>
        <p:grpSpPr>
          <a:xfrm>
            <a:off x="6091247" y="1411912"/>
            <a:ext cx="864339" cy="656175"/>
            <a:chOff x="6166321" y="1758970"/>
            <a:chExt cx="864339" cy="656175"/>
          </a:xfrm>
        </p:grpSpPr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52493719-D7F5-4235-9507-0FBDD9DEE201}"/>
                </a:ext>
              </a:extLst>
            </p:cNvPr>
            <p:cNvSpPr/>
            <p:nvPr/>
          </p:nvSpPr>
          <p:spPr>
            <a:xfrm>
              <a:off x="6202374" y="2031570"/>
              <a:ext cx="792233" cy="38357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600" dirty="0"/>
                <a:t>亀川</a:t>
              </a:r>
            </a:p>
          </p:txBody>
        </p:sp>
        <p:sp>
          <p:nvSpPr>
            <p:cNvPr id="182" name="テキスト ボックス 181">
              <a:extLst>
                <a:ext uri="{FF2B5EF4-FFF2-40B4-BE49-F238E27FC236}">
                  <a16:creationId xmlns:a16="http://schemas.microsoft.com/office/drawing/2014/main" id="{B4E8E19D-BA25-47B5-B65B-F098CA5E4368}"/>
                </a:ext>
              </a:extLst>
            </p:cNvPr>
            <p:cNvSpPr txBox="1"/>
            <p:nvPr/>
          </p:nvSpPr>
          <p:spPr>
            <a:xfrm>
              <a:off x="6166321" y="1758970"/>
              <a:ext cx="8643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200" b="1" dirty="0"/>
                <a:t>14MV</a:t>
              </a:r>
              <a:r>
                <a:rPr lang="ja-JP" altLang="en-US" sz="1200" b="1" dirty="0"/>
                <a:t>サポ</a:t>
              </a:r>
              <a:endParaRPr kumimoji="1" lang="ja-JP" altLang="en-US" sz="1200" b="1" dirty="0"/>
            </a:p>
          </p:txBody>
        </p:sp>
      </p:grp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242FCB41-EF08-4F0A-98A6-82697A0A9918}"/>
              </a:ext>
            </a:extLst>
          </p:cNvPr>
          <p:cNvCxnSpPr>
            <a:cxnSpLocks/>
            <a:stCxn id="43" idx="2"/>
            <a:endCxn id="27" idx="1"/>
          </p:cNvCxnSpPr>
          <p:nvPr/>
        </p:nvCxnSpPr>
        <p:spPr>
          <a:xfrm rot="16200000" flipH="1">
            <a:off x="1912616" y="652991"/>
            <a:ext cx="315280" cy="1938211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4058F91-D00F-4038-A360-FB25BA9749A2}"/>
              </a:ext>
            </a:extLst>
          </p:cNvPr>
          <p:cNvSpPr/>
          <p:nvPr/>
        </p:nvSpPr>
        <p:spPr>
          <a:xfrm>
            <a:off x="2051593" y="4538195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JAS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48FF53D-998A-455F-874A-FE4BF97B2FD9}"/>
              </a:ext>
            </a:extLst>
          </p:cNvPr>
          <p:cNvSpPr/>
          <p:nvPr/>
        </p:nvSpPr>
        <p:spPr>
          <a:xfrm>
            <a:off x="2051593" y="5282900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JAS</a:t>
            </a:r>
            <a:endParaRPr kumimoji="1" lang="ja-JP" altLang="en-US" sz="1600" dirty="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FFAC61A6-A01C-40A9-8F7C-B7FD0DE07C4D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>
            <a:off x="2447710" y="4921770"/>
            <a:ext cx="0" cy="361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D7F14D1-1066-46A8-858F-AA384A57AE15}"/>
              </a:ext>
            </a:extLst>
          </p:cNvPr>
          <p:cNvSpPr/>
          <p:nvPr/>
        </p:nvSpPr>
        <p:spPr>
          <a:xfrm>
            <a:off x="3797967" y="4538195"/>
            <a:ext cx="792233" cy="383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SRK</a:t>
            </a: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FEB247AA-7D7B-4534-85F3-572819380B63}"/>
              </a:ext>
            </a:extLst>
          </p:cNvPr>
          <p:cNvCxnSpPr>
            <a:cxnSpLocks/>
            <a:stCxn id="49" idx="2"/>
            <a:endCxn id="116" idx="0"/>
          </p:cNvCxnSpPr>
          <p:nvPr/>
        </p:nvCxnSpPr>
        <p:spPr>
          <a:xfrm>
            <a:off x="4194084" y="4921770"/>
            <a:ext cx="0" cy="361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20D29DB-0745-445B-B900-44B04EE4D928}"/>
              </a:ext>
            </a:extLst>
          </p:cNvPr>
          <p:cNvSpPr/>
          <p:nvPr/>
        </p:nvSpPr>
        <p:spPr>
          <a:xfrm>
            <a:off x="2924780" y="4538195"/>
            <a:ext cx="792233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TISA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A6CB270-05B2-4D95-8771-901087BC7BC0}"/>
              </a:ext>
            </a:extLst>
          </p:cNvPr>
          <p:cNvSpPr/>
          <p:nvPr/>
        </p:nvSpPr>
        <p:spPr>
          <a:xfrm>
            <a:off x="2924780" y="5282900"/>
            <a:ext cx="792233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TISA</a:t>
            </a:r>
            <a:endParaRPr kumimoji="1" lang="ja-JP" altLang="en-US" sz="1600" dirty="0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037C1810-B2F5-4DCC-BAD8-2FBD90A82D03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>
            <a:off x="3320897" y="4921770"/>
            <a:ext cx="0" cy="361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2ED4643B-EA15-4504-920C-8017B1F0BABB}"/>
              </a:ext>
            </a:extLst>
          </p:cNvPr>
          <p:cNvSpPr/>
          <p:nvPr/>
        </p:nvSpPr>
        <p:spPr>
          <a:xfrm rot="16200000">
            <a:off x="5383742" y="5042534"/>
            <a:ext cx="696087" cy="101999"/>
          </a:xfrm>
          <a:prstGeom prst="triangl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69B45E7E-EDC1-45BE-8518-6A5376430846}"/>
              </a:ext>
            </a:extLst>
          </p:cNvPr>
          <p:cNvCxnSpPr>
            <a:cxnSpLocks/>
            <a:stCxn id="125" idx="2"/>
            <a:endCxn id="56" idx="0"/>
          </p:cNvCxnSpPr>
          <p:nvPr/>
        </p:nvCxnSpPr>
        <p:spPr>
          <a:xfrm rot="16200000" flipH="1">
            <a:off x="2938925" y="3479350"/>
            <a:ext cx="363844" cy="137103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202DB7B-9C27-4911-B12D-97BB749FCBB4}"/>
              </a:ext>
            </a:extLst>
          </p:cNvPr>
          <p:cNvSpPr txBox="1"/>
          <p:nvPr/>
        </p:nvSpPr>
        <p:spPr>
          <a:xfrm>
            <a:off x="3614224" y="5620827"/>
            <a:ext cx="2113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b="1" dirty="0"/>
              <a:t>310D_UD2504</a:t>
            </a:r>
            <a:r>
              <a:rPr lang="ja-JP" altLang="en-US" sz="1100" b="1" dirty="0"/>
              <a:t>トライ</a:t>
            </a:r>
            <a:endParaRPr lang="en-US" altLang="ja-JP" sz="1100" b="1" dirty="0"/>
          </a:p>
          <a:p>
            <a:pPr algn="ctr"/>
            <a:r>
              <a:rPr lang="en-US" altLang="ja-JP" sz="1100" b="1" dirty="0"/>
              <a:t>+</a:t>
            </a:r>
            <a:r>
              <a:rPr kumimoji="1" lang="ja-JP" altLang="en-US" sz="1100" b="1" dirty="0"/>
              <a:t>その他問合せ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BABE90FA-8E86-4EBF-BF95-84603D7C09F9}"/>
              </a:ext>
            </a:extLst>
          </p:cNvPr>
          <p:cNvSpPr txBox="1"/>
          <p:nvPr/>
        </p:nvSpPr>
        <p:spPr>
          <a:xfrm>
            <a:off x="2866993" y="5620827"/>
            <a:ext cx="8996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100" b="1" dirty="0"/>
              <a:t>710D_FR</a:t>
            </a:r>
            <a:r>
              <a:rPr lang="ja-JP" altLang="en-US" sz="1100" b="1" dirty="0"/>
              <a:t>化</a:t>
            </a:r>
            <a:endParaRPr lang="en-US" altLang="ja-JP" sz="1100" b="1" dirty="0"/>
          </a:p>
          <a:p>
            <a:pPr algn="ctr"/>
            <a:r>
              <a:rPr lang="ja-JP" altLang="en-US" sz="1100" b="1" dirty="0"/>
              <a:t>トライ</a:t>
            </a:r>
            <a:endParaRPr kumimoji="1" lang="ja-JP" altLang="en-US" sz="1100" b="1" dirty="0"/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6B535A79-1426-4C16-874E-E3D23C4C6859}"/>
              </a:ext>
            </a:extLst>
          </p:cNvPr>
          <p:cNvSpPr/>
          <p:nvPr/>
        </p:nvSpPr>
        <p:spPr>
          <a:xfrm>
            <a:off x="7297651" y="3317534"/>
            <a:ext cx="996120" cy="276872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78D30CDE-0E9E-4951-86D5-866EE79881DA}"/>
              </a:ext>
            </a:extLst>
          </p:cNvPr>
          <p:cNvCxnSpPr>
            <a:cxnSpLocks/>
            <a:stCxn id="43" idx="2"/>
            <a:endCxn id="74" idx="0"/>
          </p:cNvCxnSpPr>
          <p:nvPr/>
        </p:nvCxnSpPr>
        <p:spPr>
          <a:xfrm rot="16200000" flipH="1">
            <a:off x="3521893" y="-956285"/>
            <a:ext cx="1853077" cy="669456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623C26BE-8BF8-4E53-A506-747BDC7047AB}"/>
              </a:ext>
            </a:extLst>
          </p:cNvPr>
          <p:cNvSpPr/>
          <p:nvPr/>
        </p:nvSpPr>
        <p:spPr>
          <a:xfrm>
            <a:off x="7399594" y="3607024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8BEC84D-CE8C-4C56-8105-D0BB39D31EB2}"/>
              </a:ext>
            </a:extLst>
          </p:cNvPr>
          <p:cNvSpPr/>
          <p:nvPr/>
        </p:nvSpPr>
        <p:spPr>
          <a:xfrm>
            <a:off x="7399594" y="5360621"/>
            <a:ext cx="792233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TISA</a:t>
            </a:r>
            <a:endParaRPr kumimoji="1" lang="ja-JP" altLang="en-US" sz="1600" dirty="0"/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08113A13-0871-4288-B370-ECEB99259467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7795711" y="3990599"/>
            <a:ext cx="0" cy="1370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2EF719E3-4508-431D-AB51-DFEB79C4B372}"/>
              </a:ext>
            </a:extLst>
          </p:cNvPr>
          <p:cNvSpPr/>
          <p:nvPr/>
        </p:nvSpPr>
        <p:spPr>
          <a:xfrm>
            <a:off x="7399594" y="4483823"/>
            <a:ext cx="792233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鬼頭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31126B6-CBF1-442C-8E0A-2CBB163190E8}"/>
              </a:ext>
            </a:extLst>
          </p:cNvPr>
          <p:cNvSpPr txBox="1"/>
          <p:nvPr/>
        </p:nvSpPr>
        <p:spPr>
          <a:xfrm>
            <a:off x="6963343" y="3034138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マニュアル</a:t>
            </a:r>
            <a:endParaRPr kumimoji="1" lang="en-US" altLang="ja-JP" sz="1200" b="1" dirty="0"/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4328683D-D575-4D64-93A6-E98F339ADCFB}"/>
              </a:ext>
            </a:extLst>
          </p:cNvPr>
          <p:cNvSpPr/>
          <p:nvPr/>
        </p:nvSpPr>
        <p:spPr>
          <a:xfrm>
            <a:off x="8419894" y="3317534"/>
            <a:ext cx="996120" cy="276872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F313C4D8-8721-433C-897B-EE68113B86C7}"/>
              </a:ext>
            </a:extLst>
          </p:cNvPr>
          <p:cNvSpPr txBox="1"/>
          <p:nvPr/>
        </p:nvSpPr>
        <p:spPr>
          <a:xfrm>
            <a:off x="8003935" y="2506515"/>
            <a:ext cx="994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 dirty="0"/>
              <a:t>HP/</a:t>
            </a:r>
            <a:r>
              <a:rPr kumimoji="1" lang="ja-JP" altLang="en-US" sz="1200" b="1" dirty="0"/>
              <a:t>要件</a:t>
            </a:r>
            <a:r>
              <a:rPr kumimoji="1" lang="en-US" altLang="ja-JP" sz="1200" b="1" dirty="0"/>
              <a:t>UT</a:t>
            </a:r>
          </a:p>
          <a:p>
            <a:pPr algn="ctr"/>
            <a:r>
              <a:rPr lang="en-US" altLang="ja-JP" sz="1200" b="1" dirty="0"/>
              <a:t>/</a:t>
            </a:r>
            <a:r>
              <a:rPr kumimoji="1" lang="ja-JP" altLang="en-US" sz="1200" b="1" dirty="0"/>
              <a:t>ライブラリ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/</a:t>
            </a:r>
            <a:r>
              <a:rPr kumimoji="1" lang="ja-JP" altLang="en-US" sz="1200" b="1" dirty="0"/>
              <a:t>カリキュラム</a:t>
            </a:r>
            <a:endParaRPr kumimoji="1" lang="en-US" altLang="ja-JP" sz="1200" b="1" dirty="0"/>
          </a:p>
          <a:p>
            <a:pPr algn="ctr"/>
            <a:r>
              <a:rPr lang="en-US" altLang="ja-JP" sz="1200" b="1" dirty="0"/>
              <a:t>/</a:t>
            </a:r>
            <a:r>
              <a:rPr lang="ja-JP" altLang="en-US" sz="1200" b="1" dirty="0"/>
              <a:t>ユーザ教育</a:t>
            </a:r>
            <a:endParaRPr kumimoji="1" lang="en-US" altLang="ja-JP" sz="1200" b="1" dirty="0"/>
          </a:p>
        </p:txBody>
      </p: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5B427F84-D658-4914-9FD2-9982AE0289BC}"/>
              </a:ext>
            </a:extLst>
          </p:cNvPr>
          <p:cNvCxnSpPr>
            <a:cxnSpLocks/>
            <a:stCxn id="43" idx="2"/>
            <a:endCxn id="94" idx="0"/>
          </p:cNvCxnSpPr>
          <p:nvPr/>
        </p:nvCxnSpPr>
        <p:spPr>
          <a:xfrm rot="16200000" flipH="1">
            <a:off x="4083014" y="-1517407"/>
            <a:ext cx="1853077" cy="781680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6A486021-6C08-49EA-8533-D793B1720DE1}"/>
              </a:ext>
            </a:extLst>
          </p:cNvPr>
          <p:cNvSpPr/>
          <p:nvPr/>
        </p:nvSpPr>
        <p:spPr>
          <a:xfrm>
            <a:off x="9543978" y="3317534"/>
            <a:ext cx="996120" cy="276872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1492A0C2-D61B-4DBE-953C-15E419FD2E98}"/>
              </a:ext>
            </a:extLst>
          </p:cNvPr>
          <p:cNvSpPr/>
          <p:nvPr/>
        </p:nvSpPr>
        <p:spPr>
          <a:xfrm>
            <a:off x="9645922" y="3607024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7151635A-48C5-4D28-BCD9-6C02B4EACBAB}"/>
              </a:ext>
            </a:extLst>
          </p:cNvPr>
          <p:cNvSpPr/>
          <p:nvPr/>
        </p:nvSpPr>
        <p:spPr>
          <a:xfrm>
            <a:off x="9645922" y="5360621"/>
            <a:ext cx="792233" cy="3835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TKD</a:t>
            </a:r>
            <a:endParaRPr kumimoji="1" lang="ja-JP" altLang="en-US" sz="1600" dirty="0"/>
          </a:p>
        </p:txBody>
      </p: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CF97EB57-E575-476E-9407-CA9199725E07}"/>
              </a:ext>
            </a:extLst>
          </p:cNvPr>
          <p:cNvCxnSpPr>
            <a:cxnSpLocks/>
          </p:cNvCxnSpPr>
          <p:nvPr/>
        </p:nvCxnSpPr>
        <p:spPr>
          <a:xfrm>
            <a:off x="10042038" y="3990599"/>
            <a:ext cx="0" cy="1370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3F73368D-12BA-43E0-BF6A-7769FA514AF2}"/>
              </a:ext>
            </a:extLst>
          </p:cNvPr>
          <p:cNvSpPr txBox="1"/>
          <p:nvPr/>
        </p:nvSpPr>
        <p:spPr>
          <a:xfrm>
            <a:off x="9289624" y="285294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 dirty="0"/>
              <a:t>CATIA</a:t>
            </a:r>
          </a:p>
          <a:p>
            <a:pPr algn="ctr"/>
            <a:r>
              <a:rPr kumimoji="1" lang="ja-JP" altLang="en-US" sz="1200" b="1" dirty="0"/>
              <a:t>連携検証</a:t>
            </a:r>
            <a:endParaRPr kumimoji="1" lang="en-US" altLang="ja-JP" sz="1200" b="1" dirty="0"/>
          </a:p>
        </p:txBody>
      </p:sp>
      <p:cxnSp>
        <p:nvCxnSpPr>
          <p:cNvPr id="109" name="コネクタ: カギ線 108">
            <a:extLst>
              <a:ext uri="{FF2B5EF4-FFF2-40B4-BE49-F238E27FC236}">
                <a16:creationId xmlns:a16="http://schemas.microsoft.com/office/drawing/2014/main" id="{91C6E752-062C-4A8A-A615-C231EEC966CE}"/>
              </a:ext>
            </a:extLst>
          </p:cNvPr>
          <p:cNvCxnSpPr>
            <a:cxnSpLocks/>
            <a:stCxn id="43" idx="2"/>
            <a:endCxn id="104" idx="0"/>
          </p:cNvCxnSpPr>
          <p:nvPr/>
        </p:nvCxnSpPr>
        <p:spPr>
          <a:xfrm rot="16200000" flipH="1">
            <a:off x="4645056" y="-2079449"/>
            <a:ext cx="1853077" cy="894088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A3E951A2-C117-496C-B0C4-450AE25AFBED}"/>
              </a:ext>
            </a:extLst>
          </p:cNvPr>
          <p:cNvSpPr/>
          <p:nvPr/>
        </p:nvSpPr>
        <p:spPr>
          <a:xfrm>
            <a:off x="9645922" y="4483823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小鹿</a:t>
            </a:r>
          </a:p>
        </p:txBody>
      </p:sp>
      <p:cxnSp>
        <p:nvCxnSpPr>
          <p:cNvPr id="120" name="コネクタ: カギ線 119">
            <a:extLst>
              <a:ext uri="{FF2B5EF4-FFF2-40B4-BE49-F238E27FC236}">
                <a16:creationId xmlns:a16="http://schemas.microsoft.com/office/drawing/2014/main" id="{4A83520B-74AE-48B7-8321-5258AAC7F3C0}"/>
              </a:ext>
            </a:extLst>
          </p:cNvPr>
          <p:cNvCxnSpPr>
            <a:cxnSpLocks/>
            <a:stCxn id="49" idx="2"/>
            <a:endCxn id="103" idx="0"/>
          </p:cNvCxnSpPr>
          <p:nvPr/>
        </p:nvCxnSpPr>
        <p:spPr>
          <a:xfrm rot="16200000" flipH="1">
            <a:off x="4450112" y="4665741"/>
            <a:ext cx="361130" cy="873187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E77EED5-1ECB-4222-89C1-E6A2238ED2AC}"/>
              </a:ext>
            </a:extLst>
          </p:cNvPr>
          <p:cNvSpPr/>
          <p:nvPr/>
        </p:nvSpPr>
        <p:spPr>
          <a:xfrm>
            <a:off x="6040664" y="4324952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小引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24ED6690-B39E-49CB-8148-40E9346B36C9}"/>
              </a:ext>
            </a:extLst>
          </p:cNvPr>
          <p:cNvSpPr/>
          <p:nvPr/>
        </p:nvSpPr>
        <p:spPr>
          <a:xfrm>
            <a:off x="6040664" y="4775778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dirty="0"/>
              <a:t>友渕</a:t>
            </a:r>
            <a:endParaRPr kumimoji="1" lang="ja-JP" altLang="en-US" sz="1600" dirty="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E61144B-3E7C-44F4-B6A4-61D8640A6CD4}"/>
              </a:ext>
            </a:extLst>
          </p:cNvPr>
          <p:cNvSpPr/>
          <p:nvPr/>
        </p:nvSpPr>
        <p:spPr>
          <a:xfrm>
            <a:off x="6036782" y="5456355"/>
            <a:ext cx="792233" cy="383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安在</a:t>
            </a: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08D38B6C-8172-4022-BBEA-6063F9F81CF4}"/>
              </a:ext>
            </a:extLst>
          </p:cNvPr>
          <p:cNvSpPr/>
          <p:nvPr/>
        </p:nvSpPr>
        <p:spPr>
          <a:xfrm>
            <a:off x="4671154" y="5282900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小鹿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0A8A640-2798-4D6E-898B-7B6A799C852E}"/>
              </a:ext>
            </a:extLst>
          </p:cNvPr>
          <p:cNvSpPr/>
          <p:nvPr/>
        </p:nvSpPr>
        <p:spPr>
          <a:xfrm>
            <a:off x="3943009" y="3711267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山田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A1F15EE-3596-4EF3-B9A1-3BE27AB002FB}"/>
              </a:ext>
            </a:extLst>
          </p:cNvPr>
          <p:cNvSpPr txBox="1"/>
          <p:nvPr/>
        </p:nvSpPr>
        <p:spPr>
          <a:xfrm>
            <a:off x="4686864" y="3761268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サポ窓統括</a:t>
            </a:r>
            <a:endParaRPr lang="en-US" altLang="ja-JP" sz="1200" b="1" dirty="0"/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38E67627-9CB9-4991-BC80-4757FB600CAD}"/>
              </a:ext>
            </a:extLst>
          </p:cNvPr>
          <p:cNvCxnSpPr>
            <a:cxnSpLocks/>
            <a:stCxn id="133" idx="3"/>
            <a:endCxn id="83" idx="1"/>
          </p:cNvCxnSpPr>
          <p:nvPr/>
        </p:nvCxnSpPr>
        <p:spPr>
          <a:xfrm>
            <a:off x="3801919" y="3903055"/>
            <a:ext cx="141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6D3DF7F2-AEAB-4D50-A378-549BC6A2A193}"/>
              </a:ext>
            </a:extLst>
          </p:cNvPr>
          <p:cNvSpPr/>
          <p:nvPr/>
        </p:nvSpPr>
        <p:spPr>
          <a:xfrm>
            <a:off x="337955" y="3314606"/>
            <a:ext cx="1526390" cy="277164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9569A088-77BB-4069-9E85-512ADA928CA0}"/>
              </a:ext>
            </a:extLst>
          </p:cNvPr>
          <p:cNvSpPr txBox="1"/>
          <p:nvPr/>
        </p:nvSpPr>
        <p:spPr>
          <a:xfrm>
            <a:off x="351584" y="288530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/>
              <a:t>テクニカル</a:t>
            </a:r>
            <a:endParaRPr kumimoji="1" lang="en-US" altLang="ja-JP" sz="1200" b="1" dirty="0"/>
          </a:p>
          <a:p>
            <a:r>
              <a:rPr kumimoji="1" lang="ja-JP" altLang="en-US" sz="1200" b="1" dirty="0"/>
              <a:t>サポート</a:t>
            </a:r>
          </a:p>
        </p:txBody>
      </p:sp>
      <p:cxnSp>
        <p:nvCxnSpPr>
          <p:cNvPr id="121" name="コネクタ: カギ線 120">
            <a:extLst>
              <a:ext uri="{FF2B5EF4-FFF2-40B4-BE49-F238E27FC236}">
                <a16:creationId xmlns:a16="http://schemas.microsoft.com/office/drawing/2014/main" id="{91C72633-19F1-4E5C-9474-47633F6FF279}"/>
              </a:ext>
            </a:extLst>
          </p:cNvPr>
          <p:cNvCxnSpPr>
            <a:cxnSpLocks/>
            <a:stCxn id="43" idx="2"/>
            <a:endCxn id="99" idx="0"/>
          </p:cNvCxnSpPr>
          <p:nvPr/>
        </p:nvCxnSpPr>
        <p:spPr>
          <a:xfrm rot="5400000">
            <a:off x="176077" y="2389531"/>
            <a:ext cx="1850149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C071CA9B-71FC-4298-82E6-358F1A00C4F5}"/>
              </a:ext>
            </a:extLst>
          </p:cNvPr>
          <p:cNvSpPr txBox="1"/>
          <p:nvPr/>
        </p:nvSpPr>
        <p:spPr>
          <a:xfrm>
            <a:off x="5652613" y="4079697"/>
            <a:ext cx="92525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サポ窓</a:t>
            </a:r>
            <a:endParaRPr kumimoji="1" lang="en-US" altLang="ja-JP" sz="1050" dirty="0"/>
          </a:p>
          <a:p>
            <a:r>
              <a:rPr lang="en-US" altLang="ja-JP" sz="1050" dirty="0"/>
              <a:t>/</a:t>
            </a:r>
            <a:r>
              <a:rPr lang="ja-JP" altLang="en-US" sz="1050" dirty="0"/>
              <a:t>スペシャリスト</a:t>
            </a:r>
            <a:endParaRPr kumimoji="1" lang="en-US" altLang="ja-JP" sz="1050" dirty="0"/>
          </a:p>
        </p:txBody>
      </p: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F379CC33-F740-43CE-A876-5ADFB8EDCEB1}"/>
              </a:ext>
            </a:extLst>
          </p:cNvPr>
          <p:cNvSpPr txBox="1"/>
          <p:nvPr/>
        </p:nvSpPr>
        <p:spPr>
          <a:xfrm>
            <a:off x="5605730" y="5303856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トラ窓</a:t>
            </a:r>
            <a:r>
              <a:rPr kumimoji="1" lang="en-US" altLang="ja-JP" sz="1050" dirty="0"/>
              <a:t>OJT</a:t>
            </a:r>
          </a:p>
        </p:txBody>
      </p: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10F03953-1C76-4875-8F12-7295ED545A23}"/>
              </a:ext>
            </a:extLst>
          </p:cNvPr>
          <p:cNvCxnSpPr>
            <a:cxnSpLocks/>
            <a:stCxn id="43" idx="2"/>
            <a:endCxn id="96" idx="0"/>
          </p:cNvCxnSpPr>
          <p:nvPr/>
        </p:nvCxnSpPr>
        <p:spPr>
          <a:xfrm rot="16200000" flipH="1">
            <a:off x="1904333" y="661274"/>
            <a:ext cx="1846680" cy="34530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EE9E1E37-FCFB-44D8-97EF-7942F41BE10D}"/>
              </a:ext>
            </a:extLst>
          </p:cNvPr>
          <p:cNvSpPr/>
          <p:nvPr/>
        </p:nvSpPr>
        <p:spPr>
          <a:xfrm>
            <a:off x="705034" y="3607024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TS</a:t>
            </a:r>
            <a:endParaRPr kumimoji="1" lang="ja-JP" altLang="en-US" sz="1600" dirty="0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B9682DD6-9B38-4440-A26F-CABEC0DE4271}"/>
              </a:ext>
            </a:extLst>
          </p:cNvPr>
          <p:cNvSpPr/>
          <p:nvPr/>
        </p:nvSpPr>
        <p:spPr>
          <a:xfrm>
            <a:off x="705034" y="5360621"/>
            <a:ext cx="792233" cy="3835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SRK</a:t>
            </a:r>
            <a:endParaRPr kumimoji="1" lang="ja-JP" altLang="en-US" sz="1600" dirty="0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2CAD8AFE-896E-43EC-8A75-0D2AF07E6CCD}"/>
              </a:ext>
            </a:extLst>
          </p:cNvPr>
          <p:cNvSpPr/>
          <p:nvPr/>
        </p:nvSpPr>
        <p:spPr>
          <a:xfrm>
            <a:off x="705034" y="4191556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JAS</a:t>
            </a:r>
            <a:endParaRPr kumimoji="1" lang="ja-JP" altLang="en-US" sz="1600" dirty="0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6999D063-7E0A-4523-AB8A-0F36EFF929D7}"/>
              </a:ext>
            </a:extLst>
          </p:cNvPr>
          <p:cNvSpPr/>
          <p:nvPr/>
        </p:nvSpPr>
        <p:spPr>
          <a:xfrm>
            <a:off x="705034" y="4776088"/>
            <a:ext cx="792233" cy="3835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TISA</a:t>
            </a:r>
            <a:endParaRPr kumimoji="1" lang="ja-JP" altLang="en-US" sz="1600" dirty="0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06575645-2A0F-4227-9D99-A16914C62ED7}"/>
              </a:ext>
            </a:extLst>
          </p:cNvPr>
          <p:cNvSpPr/>
          <p:nvPr/>
        </p:nvSpPr>
        <p:spPr>
          <a:xfrm>
            <a:off x="8521837" y="4476202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600" b="1" u="sng" dirty="0"/>
              <a:t>大岩</a:t>
            </a:r>
            <a:endParaRPr kumimoji="1" lang="ja-JP" altLang="en-US" sz="1600" b="1" u="sng" dirty="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26337B4-E425-4BD2-B932-C1EF4E8DFA8E}"/>
              </a:ext>
            </a:extLst>
          </p:cNvPr>
          <p:cNvSpPr/>
          <p:nvPr/>
        </p:nvSpPr>
        <p:spPr>
          <a:xfrm>
            <a:off x="8521837" y="5360621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/>
              <a:t>JAS</a:t>
            </a:r>
            <a:endParaRPr kumimoji="1" lang="ja-JP" altLang="en-US" sz="1600" dirty="0"/>
          </a:p>
        </p:txBody>
      </p: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136CEAEE-2DED-4EB1-A84F-8870B3A060BC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>
            <a:off x="8917954" y="4859777"/>
            <a:ext cx="0" cy="500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46BEC581-CC3C-4AC4-919F-96EAEFD166E8}"/>
              </a:ext>
            </a:extLst>
          </p:cNvPr>
          <p:cNvSpPr txBox="1"/>
          <p:nvPr/>
        </p:nvSpPr>
        <p:spPr>
          <a:xfrm>
            <a:off x="2028020" y="3036675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サポート窓口</a:t>
            </a:r>
            <a:endParaRPr kumimoji="1" lang="ja-JP" altLang="en-US" sz="1200" b="1" dirty="0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3BC69B9D-CB75-43D9-9436-CFF90D8BF32F}"/>
              </a:ext>
            </a:extLst>
          </p:cNvPr>
          <p:cNvSpPr/>
          <p:nvPr/>
        </p:nvSpPr>
        <p:spPr>
          <a:xfrm>
            <a:off x="8523524" y="3607024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24A02B1A-CF05-4AFF-8B42-2097005377C8}"/>
              </a:ext>
            </a:extLst>
          </p:cNvPr>
          <p:cNvCxnSpPr>
            <a:cxnSpLocks/>
            <a:stCxn id="127" idx="2"/>
            <a:endCxn id="113" idx="0"/>
          </p:cNvCxnSpPr>
          <p:nvPr/>
        </p:nvCxnSpPr>
        <p:spPr>
          <a:xfrm flipH="1">
            <a:off x="8917954" y="3990599"/>
            <a:ext cx="1687" cy="4856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FF6BE484-F558-48F4-AFD8-A3F5779AA7DC}"/>
              </a:ext>
            </a:extLst>
          </p:cNvPr>
          <p:cNvSpPr txBox="1"/>
          <p:nvPr/>
        </p:nvSpPr>
        <p:spPr>
          <a:xfrm>
            <a:off x="7560881" y="627492"/>
            <a:ext cx="1776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※</a:t>
            </a:r>
            <a:r>
              <a:rPr kumimoji="1" lang="ja-JP" altLang="en-US" sz="1200" dirty="0"/>
              <a:t>下線太字はサブリーダー</a:t>
            </a: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81DF6207-2ED5-4DEC-BAA5-0D0D46390EBC}"/>
              </a:ext>
            </a:extLst>
          </p:cNvPr>
          <p:cNvSpPr/>
          <p:nvPr/>
        </p:nvSpPr>
        <p:spPr>
          <a:xfrm>
            <a:off x="10664122" y="3317534"/>
            <a:ext cx="996120" cy="276872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1425AD6F-2FC2-4F31-AA93-74654E959413}"/>
              </a:ext>
            </a:extLst>
          </p:cNvPr>
          <p:cNvSpPr/>
          <p:nvPr/>
        </p:nvSpPr>
        <p:spPr>
          <a:xfrm>
            <a:off x="10766066" y="3607024"/>
            <a:ext cx="792233" cy="383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b="1" u="sng" dirty="0"/>
              <a:t>切畑</a:t>
            </a: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455A8851-5F8C-4788-9FE6-5E4F9C8FC8DC}"/>
              </a:ext>
            </a:extLst>
          </p:cNvPr>
          <p:cNvSpPr/>
          <p:nvPr/>
        </p:nvSpPr>
        <p:spPr>
          <a:xfrm>
            <a:off x="10766066" y="5360621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八太</a:t>
            </a: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577EB902-44F5-4606-A4B6-F7F9185BE261}"/>
              </a:ext>
            </a:extLst>
          </p:cNvPr>
          <p:cNvCxnSpPr>
            <a:cxnSpLocks/>
          </p:cNvCxnSpPr>
          <p:nvPr/>
        </p:nvCxnSpPr>
        <p:spPr>
          <a:xfrm>
            <a:off x="11162182" y="3990599"/>
            <a:ext cx="0" cy="1370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E52A5B1F-C07D-4DF8-B539-1D5661169AAD}"/>
              </a:ext>
            </a:extLst>
          </p:cNvPr>
          <p:cNvSpPr txBox="1"/>
          <p:nvPr/>
        </p:nvSpPr>
        <p:spPr>
          <a:xfrm>
            <a:off x="10537149" y="3023668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 dirty="0"/>
              <a:t>AI</a:t>
            </a:r>
            <a:r>
              <a:rPr kumimoji="1" lang="ja-JP" altLang="en-US" sz="1200" b="1" dirty="0"/>
              <a:t>検証</a:t>
            </a:r>
            <a:endParaRPr kumimoji="1" lang="en-US" altLang="ja-JP" sz="1200" b="1" dirty="0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72CEEC69-3C33-4CEA-85AA-312C5782DC45}"/>
              </a:ext>
            </a:extLst>
          </p:cNvPr>
          <p:cNvSpPr/>
          <p:nvPr/>
        </p:nvSpPr>
        <p:spPr>
          <a:xfrm>
            <a:off x="10766066" y="4483823"/>
            <a:ext cx="792233" cy="383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600" dirty="0"/>
              <a:t>大岩</a:t>
            </a:r>
          </a:p>
        </p:txBody>
      </p: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17214F13-FD5E-4420-AC0F-C43073C49C5E}"/>
              </a:ext>
            </a:extLst>
          </p:cNvPr>
          <p:cNvCxnSpPr>
            <a:cxnSpLocks/>
            <a:endCxn id="95" idx="0"/>
          </p:cNvCxnSpPr>
          <p:nvPr/>
        </p:nvCxnSpPr>
        <p:spPr>
          <a:xfrm rot="16200000" flipH="1">
            <a:off x="5205128" y="-2639521"/>
            <a:ext cx="1853077" cy="100610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1B81530-CBEB-488A-BDFE-0EFBF0D95B49}"/>
              </a:ext>
            </a:extLst>
          </p:cNvPr>
          <p:cNvSpPr/>
          <p:nvPr/>
        </p:nvSpPr>
        <p:spPr>
          <a:xfrm>
            <a:off x="2919318" y="1228906"/>
            <a:ext cx="4378333" cy="105937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F381821F-0613-4231-9B9A-282D66673F23}"/>
              </a:ext>
            </a:extLst>
          </p:cNvPr>
          <p:cNvSpPr/>
          <p:nvPr/>
        </p:nvSpPr>
        <p:spPr>
          <a:xfrm>
            <a:off x="7220946" y="2332168"/>
            <a:ext cx="4733469" cy="39945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2A2571F3-13EB-4A87-A9C1-F7950DDFF146}"/>
              </a:ext>
            </a:extLst>
          </p:cNvPr>
          <p:cNvSpPr/>
          <p:nvPr/>
        </p:nvSpPr>
        <p:spPr>
          <a:xfrm>
            <a:off x="229832" y="2402614"/>
            <a:ext cx="1663324" cy="39315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B5510124-617E-482C-8BA6-A7419F06A329}"/>
              </a:ext>
            </a:extLst>
          </p:cNvPr>
          <p:cNvSpPr/>
          <p:nvPr/>
        </p:nvSpPr>
        <p:spPr>
          <a:xfrm>
            <a:off x="4556155" y="2328864"/>
            <a:ext cx="2664792" cy="93610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220A6D41-F14D-4449-9C03-D1B7EC163BAD}"/>
              </a:ext>
            </a:extLst>
          </p:cNvPr>
          <p:cNvSpPr/>
          <p:nvPr/>
        </p:nvSpPr>
        <p:spPr>
          <a:xfrm>
            <a:off x="1106595" y="1603701"/>
            <a:ext cx="1820127" cy="3097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178743-F2F7-4432-B720-848AE631A199}"/>
              </a:ext>
            </a:extLst>
          </p:cNvPr>
          <p:cNvSpPr/>
          <p:nvPr/>
        </p:nvSpPr>
        <p:spPr>
          <a:xfrm>
            <a:off x="1765865" y="2935799"/>
            <a:ext cx="5572075" cy="33441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39652F2-B717-424D-8493-E04EDE4368EC}"/>
              </a:ext>
            </a:extLst>
          </p:cNvPr>
          <p:cNvSpPr/>
          <p:nvPr/>
        </p:nvSpPr>
        <p:spPr>
          <a:xfrm>
            <a:off x="1975905" y="4471208"/>
            <a:ext cx="924703" cy="1273707"/>
          </a:xfrm>
          <a:prstGeom prst="rect">
            <a:avLst/>
          </a:prstGeom>
          <a:solidFill>
            <a:srgbClr val="333333">
              <a:alpha val="6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担当</a:t>
            </a:r>
            <a:r>
              <a:rPr lang="ja-JP" altLang="en-US" sz="1200" b="1" dirty="0">
                <a:solidFill>
                  <a:schemeClr val="bg1"/>
                </a:solidFill>
              </a:rPr>
              <a:t>トライ</a:t>
            </a:r>
            <a:r>
              <a:rPr kumimoji="1" lang="ja-JP" altLang="en-US" sz="1200" b="1" dirty="0">
                <a:solidFill>
                  <a:schemeClr val="bg1"/>
                </a:solidFill>
              </a:rPr>
              <a:t>なし</a:t>
            </a:r>
          </a:p>
        </p:txBody>
      </p:sp>
    </p:spTree>
    <p:extLst>
      <p:ext uri="{BB962C8B-B14F-4D97-AF65-F5344CB8AC3E}">
        <p14:creationId xmlns:p14="http://schemas.microsoft.com/office/powerpoint/2010/main" val="44148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四角形: 角を丸くする 107">
            <a:extLst>
              <a:ext uri="{FF2B5EF4-FFF2-40B4-BE49-F238E27FC236}">
                <a16:creationId xmlns:a16="http://schemas.microsoft.com/office/drawing/2014/main" id="{C74CBACB-AA54-4E5F-99D4-46E771C160A2}"/>
              </a:ext>
            </a:extLst>
          </p:cNvPr>
          <p:cNvSpPr/>
          <p:nvPr/>
        </p:nvSpPr>
        <p:spPr>
          <a:xfrm>
            <a:off x="2324526" y="3994582"/>
            <a:ext cx="8927884" cy="91439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E23AB90C-7990-4352-B93F-2923A4C94682}"/>
              </a:ext>
            </a:extLst>
          </p:cNvPr>
          <p:cNvSpPr/>
          <p:nvPr/>
        </p:nvSpPr>
        <p:spPr>
          <a:xfrm>
            <a:off x="2324526" y="5249912"/>
            <a:ext cx="8927884" cy="91439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AACC9726-8F93-43C6-87CB-BC31CA21038E}"/>
              </a:ext>
            </a:extLst>
          </p:cNvPr>
          <p:cNvSpPr/>
          <p:nvPr/>
        </p:nvSpPr>
        <p:spPr>
          <a:xfrm>
            <a:off x="2324526" y="1489833"/>
            <a:ext cx="8927884" cy="91439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017D1BFC-D1E5-4836-A868-001AF6B79917}"/>
              </a:ext>
            </a:extLst>
          </p:cNvPr>
          <p:cNvSpPr/>
          <p:nvPr/>
        </p:nvSpPr>
        <p:spPr>
          <a:xfrm>
            <a:off x="2324526" y="2742122"/>
            <a:ext cx="8927884" cy="91439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82" name="四角形: 角を丸くする 81">
            <a:extLst>
              <a:ext uri="{FF2B5EF4-FFF2-40B4-BE49-F238E27FC236}">
                <a16:creationId xmlns:a16="http://schemas.microsoft.com/office/drawing/2014/main" id="{BBF0AE2D-146F-4636-8496-69A8F4FFBBF5}"/>
              </a:ext>
            </a:extLst>
          </p:cNvPr>
          <p:cNvSpPr/>
          <p:nvPr/>
        </p:nvSpPr>
        <p:spPr>
          <a:xfrm>
            <a:off x="2541519" y="1175015"/>
            <a:ext cx="3869979" cy="5429344"/>
          </a:xfrm>
          <a:prstGeom prst="roundRect">
            <a:avLst/>
          </a:prstGeom>
          <a:solidFill>
            <a:srgbClr val="F79646">
              <a:alpha val="30196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E93FBFDB-B10D-4960-8956-E3743E86C9B2}"/>
              </a:ext>
            </a:extLst>
          </p:cNvPr>
          <p:cNvSpPr/>
          <p:nvPr/>
        </p:nvSpPr>
        <p:spPr>
          <a:xfrm>
            <a:off x="7193192" y="1175015"/>
            <a:ext cx="3869979" cy="5429344"/>
          </a:xfrm>
          <a:prstGeom prst="roundRect">
            <a:avLst/>
          </a:prstGeom>
          <a:solidFill>
            <a:srgbClr val="F79646">
              <a:alpha val="30196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1">
            <a:extLst>
              <a:ext uri="{FF2B5EF4-FFF2-40B4-BE49-F238E27FC236}">
                <a16:creationId xmlns:a16="http://schemas.microsoft.com/office/drawing/2014/main" id="{982535C9-DE4B-4E47-90ED-7F331FEF98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18800"/>
            <a:ext cx="5954551" cy="312868"/>
          </a:xfrm>
        </p:spPr>
        <p:txBody>
          <a:bodyPr/>
          <a:lstStyle/>
          <a:p>
            <a:r>
              <a:rPr lang="ja-JP" altLang="en-US" sz="2800" dirty="0"/>
              <a:t>ご参考）</a:t>
            </a:r>
            <a:r>
              <a:rPr lang="en-US" altLang="ja-JP" sz="2800" dirty="0"/>
              <a:t>2</a:t>
            </a:r>
            <a:r>
              <a:rPr kumimoji="1" lang="en-US" altLang="ja-JP" sz="2800" dirty="0"/>
              <a:t>Q</a:t>
            </a:r>
            <a:r>
              <a:rPr kumimoji="1" lang="ja-JP" altLang="en-US" sz="2800" dirty="0"/>
              <a:t>トライ・サポ窓体制図</a:t>
            </a:r>
            <a:endParaRPr kumimoji="1" lang="ja-JP" altLang="en-US" sz="3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FE9163-294A-4633-AA23-D11A6C6318A1}"/>
              </a:ext>
            </a:extLst>
          </p:cNvPr>
          <p:cNvSpPr txBox="1"/>
          <p:nvPr/>
        </p:nvSpPr>
        <p:spPr>
          <a:xfrm>
            <a:off x="233289" y="982215"/>
            <a:ext cx="1638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latin typeface="+mn-ea"/>
              </a:rPr>
              <a:t>■</a:t>
            </a:r>
            <a:r>
              <a:rPr kumimoji="1" lang="en-US" altLang="ja-JP" sz="2400" b="1" dirty="0">
                <a:latin typeface="+mn-ea"/>
              </a:rPr>
              <a:t>’25/2Q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9647E4D-C8C5-44E2-8C92-C0254411D836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3475428" y="1946859"/>
            <a:ext cx="20021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CBB75B-5BEC-42D8-BCFE-1F6B5EBCDB9A}"/>
              </a:ext>
            </a:extLst>
          </p:cNvPr>
          <p:cNvSpPr/>
          <p:nvPr/>
        </p:nvSpPr>
        <p:spPr>
          <a:xfrm>
            <a:off x="2657502" y="16852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川地</a:t>
            </a:r>
            <a:r>
              <a:rPr kumimoji="1" lang="en-US" altLang="ja-JP" dirty="0"/>
              <a:t>L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2A39DB-E1F8-48DB-8AA0-19F3B205F495}"/>
              </a:ext>
            </a:extLst>
          </p:cNvPr>
          <p:cNvSpPr/>
          <p:nvPr/>
        </p:nvSpPr>
        <p:spPr>
          <a:xfrm>
            <a:off x="3597532" y="16852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岩嵜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F311E0C-C31E-4E7C-8ADC-D0645A7415E4}"/>
              </a:ext>
            </a:extLst>
          </p:cNvPr>
          <p:cNvSpPr/>
          <p:nvPr/>
        </p:nvSpPr>
        <p:spPr>
          <a:xfrm>
            <a:off x="4537562" y="16852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鈴村</a:t>
            </a:r>
            <a:endParaRPr kumimoji="1" lang="en-US" altLang="ja-JP" dirty="0"/>
          </a:p>
          <a:p>
            <a:pPr algn="ctr"/>
            <a:r>
              <a:rPr lang="en-US" altLang="ja-JP" sz="1400" dirty="0"/>
              <a:t>(</a:t>
            </a:r>
            <a:r>
              <a:rPr lang="ja-JP" altLang="en-US" sz="1400" dirty="0"/>
              <a:t>サポート</a:t>
            </a:r>
            <a:r>
              <a:rPr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21A06F4-6592-45D8-9B3C-3933EB611FA9}"/>
              </a:ext>
            </a:extLst>
          </p:cNvPr>
          <p:cNvSpPr/>
          <p:nvPr/>
        </p:nvSpPr>
        <p:spPr>
          <a:xfrm>
            <a:off x="5477591" y="16852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伊藤</a:t>
            </a:r>
            <a:endParaRPr kumimoji="1" lang="en-US" altLang="ja-JP" dirty="0"/>
          </a:p>
          <a:p>
            <a:pPr algn="ctr"/>
            <a:r>
              <a:rPr lang="en-US" altLang="ja-JP" sz="1400" dirty="0"/>
              <a:t>(</a:t>
            </a:r>
            <a:r>
              <a:rPr lang="ja-JP" altLang="en-US" sz="1400" dirty="0"/>
              <a:t>サポート</a:t>
            </a:r>
            <a:r>
              <a:rPr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1E71617-85D2-4ADD-892A-3ED8726179DF}"/>
              </a:ext>
            </a:extLst>
          </p:cNvPr>
          <p:cNvSpPr txBox="1"/>
          <p:nvPr/>
        </p:nvSpPr>
        <p:spPr>
          <a:xfrm>
            <a:off x="395193" y="1623694"/>
            <a:ext cx="1895071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kumimoji="1" lang="en-US" altLang="ja-JP" b="1" dirty="0"/>
              <a:t>710D_FR</a:t>
            </a:r>
            <a:r>
              <a:rPr kumimoji="1" lang="ja-JP" altLang="en-US" b="1" dirty="0"/>
              <a:t>化トライ</a:t>
            </a:r>
            <a:endParaRPr kumimoji="1" lang="en-US" altLang="ja-JP" b="1" dirty="0"/>
          </a:p>
          <a:p>
            <a:r>
              <a:rPr kumimoji="1" lang="en-US" altLang="ja-JP" b="1" dirty="0"/>
              <a:t>(Logic/</a:t>
            </a:r>
            <a:r>
              <a:rPr kumimoji="1" lang="en-US" altLang="ja-JP" b="1" dirty="0" err="1"/>
              <a:t>Integ</a:t>
            </a:r>
            <a:r>
              <a:rPr kumimoji="1" lang="en-US" altLang="ja-JP" b="1" dirty="0"/>
              <a:t>)</a:t>
            </a:r>
            <a:endParaRPr kumimoji="1" lang="ja-JP" altLang="en-US" b="1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966E966-B735-4670-B36F-8138515D09CC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3475428" y="2958164"/>
            <a:ext cx="122104" cy="0"/>
          </a:xfrm>
          <a:prstGeom prst="lin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E97DCCE-F0FE-46DA-B56E-168CF03A58C4}"/>
              </a:ext>
            </a:extLst>
          </p:cNvPr>
          <p:cNvSpPr/>
          <p:nvPr/>
        </p:nvSpPr>
        <p:spPr>
          <a:xfrm>
            <a:off x="2657502" y="2779610"/>
            <a:ext cx="817926" cy="357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野口</a:t>
            </a:r>
            <a:r>
              <a:rPr kumimoji="1" lang="en-US" altLang="ja-JP" dirty="0"/>
              <a:t>L</a:t>
            </a:r>
            <a:endParaRPr kumimoji="1" lang="ja-JP" altLang="en-US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FCD551E-2B61-4182-B327-E1353456651D}"/>
              </a:ext>
            </a:extLst>
          </p:cNvPr>
          <p:cNvSpPr/>
          <p:nvPr/>
        </p:nvSpPr>
        <p:spPr>
          <a:xfrm>
            <a:off x="3597532" y="2779610"/>
            <a:ext cx="817926" cy="357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400" dirty="0"/>
              <a:t>委託</a:t>
            </a:r>
            <a:endParaRPr lang="en-US" altLang="ja-JP" sz="1400" dirty="0"/>
          </a:p>
          <a:p>
            <a:pPr algn="ctr"/>
            <a:r>
              <a:rPr kumimoji="1" lang="en-US" altLang="ja-JP" sz="1400" dirty="0"/>
              <a:t>7</a:t>
            </a:r>
            <a:r>
              <a:rPr kumimoji="1" lang="ja-JP" altLang="en-US" sz="1400" dirty="0"/>
              <a:t>名</a:t>
            </a:r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1C7158F1-029E-4756-B058-2C481EAA9215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>
            <a:off x="8127101" y="1946859"/>
            <a:ext cx="1221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5582539-265F-4A19-9484-FEA3187FE920}"/>
              </a:ext>
            </a:extLst>
          </p:cNvPr>
          <p:cNvSpPr/>
          <p:nvPr/>
        </p:nvSpPr>
        <p:spPr>
          <a:xfrm>
            <a:off x="7309175" y="168524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河合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1081E96-A893-4D14-A91E-C6882F7E4471}"/>
              </a:ext>
            </a:extLst>
          </p:cNvPr>
          <p:cNvSpPr/>
          <p:nvPr/>
        </p:nvSpPr>
        <p:spPr>
          <a:xfrm>
            <a:off x="8249205" y="168524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/>
              <a:t>TS</a:t>
            </a:r>
          </a:p>
          <a:p>
            <a:pPr algn="ctr"/>
            <a:r>
              <a:rPr kumimoji="1" lang="en-US" altLang="ja-JP" dirty="0"/>
              <a:t>3</a:t>
            </a:r>
            <a:r>
              <a:rPr kumimoji="1" lang="ja-JP" altLang="en-US" dirty="0"/>
              <a:t>名</a:t>
            </a:r>
            <a:endParaRPr kumimoji="1" lang="en-US" alt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63104B-8EA2-472C-AB52-DC2AB9D2DCD4}"/>
              </a:ext>
            </a:extLst>
          </p:cNvPr>
          <p:cNvSpPr txBox="1"/>
          <p:nvPr/>
        </p:nvSpPr>
        <p:spPr>
          <a:xfrm>
            <a:off x="3590691" y="1004683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号口・トライ体制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9D76F01D-0BD5-4BF1-920C-D6E2C687FD30}"/>
              </a:ext>
            </a:extLst>
          </p:cNvPr>
          <p:cNvSpPr txBox="1"/>
          <p:nvPr/>
        </p:nvSpPr>
        <p:spPr>
          <a:xfrm>
            <a:off x="8208700" y="1004683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/>
              <a:t>サポ窓・教育担当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8E0E2AB8-E91B-40BB-B43F-FB1F992D7F45}"/>
              </a:ext>
            </a:extLst>
          </p:cNvPr>
          <p:cNvSpPr/>
          <p:nvPr/>
        </p:nvSpPr>
        <p:spPr>
          <a:xfrm>
            <a:off x="8249205" y="253641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/>
              <a:t>14MV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455C53E8-9A95-4D2C-9710-C25BC98418BA}"/>
              </a:ext>
            </a:extLst>
          </p:cNvPr>
          <p:cNvSpPr/>
          <p:nvPr/>
        </p:nvSpPr>
        <p:spPr>
          <a:xfrm>
            <a:off x="9189235" y="253641"/>
            <a:ext cx="817926" cy="5232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/>
              <a:t>DIT</a:t>
            </a:r>
            <a:endParaRPr kumimoji="1" lang="ja-JP" altLang="en-US" dirty="0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7DF4B10D-E8B0-4386-AE68-825FF82F35D2}"/>
              </a:ext>
            </a:extLst>
          </p:cNvPr>
          <p:cNvSpPr/>
          <p:nvPr/>
        </p:nvSpPr>
        <p:spPr>
          <a:xfrm>
            <a:off x="10129265" y="253641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/>
              <a:t>TS</a:t>
            </a:r>
            <a:endParaRPr kumimoji="1" lang="ja-JP" altLang="en-US" dirty="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A384FF6C-0004-41C1-9908-AF87822D7009}"/>
              </a:ext>
            </a:extLst>
          </p:cNvPr>
          <p:cNvSpPr/>
          <p:nvPr/>
        </p:nvSpPr>
        <p:spPr>
          <a:xfrm>
            <a:off x="7306930" y="253641"/>
            <a:ext cx="817926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ユーザ</a:t>
            </a:r>
            <a:endParaRPr kumimoji="1" lang="en-US" altLang="ja-JP" dirty="0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76152618-F4B6-4346-82FE-4CD1E782A238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3475428" y="5707109"/>
            <a:ext cx="1221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7742412-EF58-42CC-9847-209C0EABDE22}"/>
              </a:ext>
            </a:extLst>
          </p:cNvPr>
          <p:cNvSpPr/>
          <p:nvPr/>
        </p:nvSpPr>
        <p:spPr>
          <a:xfrm>
            <a:off x="2657502" y="5445499"/>
            <a:ext cx="817926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金澤</a:t>
            </a:r>
            <a:r>
              <a:rPr kumimoji="1" lang="en-US" altLang="ja-JP" dirty="0"/>
              <a:t>SN</a:t>
            </a:r>
            <a:endParaRPr kumimoji="1"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DEE8D28-8539-465D-AF58-24EF49A4DAEB}"/>
              </a:ext>
            </a:extLst>
          </p:cNvPr>
          <p:cNvSpPr/>
          <p:nvPr/>
        </p:nvSpPr>
        <p:spPr>
          <a:xfrm>
            <a:off x="3597532" y="5445499"/>
            <a:ext cx="817926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他</a:t>
            </a:r>
            <a:r>
              <a:rPr kumimoji="1" lang="en-US" altLang="ja-JP" dirty="0"/>
              <a:t>5</a:t>
            </a:r>
            <a:r>
              <a:rPr kumimoji="1" lang="ja-JP" altLang="en-US" dirty="0"/>
              <a:t>名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79A4A5E-7423-44F5-A3C7-8D847909908D}"/>
              </a:ext>
            </a:extLst>
          </p:cNvPr>
          <p:cNvSpPr txBox="1"/>
          <p:nvPr/>
        </p:nvSpPr>
        <p:spPr>
          <a:xfrm>
            <a:off x="489771" y="5521723"/>
            <a:ext cx="180049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altLang="ja-JP" b="1" dirty="0"/>
              <a:t>710D</a:t>
            </a:r>
            <a:r>
              <a:rPr lang="ja-JP" altLang="en-US" b="1" dirty="0"/>
              <a:t>ユーザ教育</a:t>
            </a:r>
            <a:endParaRPr kumimoji="1" lang="ja-JP" altLang="en-US" b="1" dirty="0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141718E-57B8-49DB-9AEF-BAD9C300E8FD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8127101" y="5707109"/>
            <a:ext cx="10621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4086487-22C6-42D6-ABA2-BFAF3CCA9E6B}"/>
              </a:ext>
            </a:extLst>
          </p:cNvPr>
          <p:cNvSpPr/>
          <p:nvPr/>
        </p:nvSpPr>
        <p:spPr>
          <a:xfrm>
            <a:off x="7309175" y="544549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川村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556B0CF-886B-45AD-80F2-517841B988DF}"/>
              </a:ext>
            </a:extLst>
          </p:cNvPr>
          <p:cNvSpPr/>
          <p:nvPr/>
        </p:nvSpPr>
        <p:spPr>
          <a:xfrm>
            <a:off x="8249205" y="544549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野上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F284644-7015-4506-B58D-DC70163C7417}"/>
              </a:ext>
            </a:extLst>
          </p:cNvPr>
          <p:cNvSpPr/>
          <p:nvPr/>
        </p:nvSpPr>
        <p:spPr>
          <a:xfrm>
            <a:off x="9189235" y="544549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宮沢</a:t>
            </a:r>
            <a:endParaRPr kumimoji="1" lang="ja-JP" altLang="en-US" sz="1400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461168F-BDEE-4A4D-B6CC-8BC9084E4067}"/>
              </a:ext>
            </a:extLst>
          </p:cNvPr>
          <p:cNvSpPr/>
          <p:nvPr/>
        </p:nvSpPr>
        <p:spPr>
          <a:xfrm>
            <a:off x="3602999" y="3250446"/>
            <a:ext cx="817926" cy="357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松浦</a:t>
            </a: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CED24D46-5E4C-418D-BCB5-507391C1D6D3}"/>
              </a:ext>
            </a:extLst>
          </p:cNvPr>
          <p:cNvCxnSpPr>
            <a:cxnSpLocks/>
            <a:stCxn id="87" idx="3"/>
            <a:endCxn id="63" idx="1"/>
          </p:cNvCxnSpPr>
          <p:nvPr/>
        </p:nvCxnSpPr>
        <p:spPr>
          <a:xfrm>
            <a:off x="8127101" y="3198698"/>
            <a:ext cx="1221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87AD8A5F-9E77-4718-98AE-1CFBB4C9153D}"/>
              </a:ext>
            </a:extLst>
          </p:cNvPr>
          <p:cNvSpPr/>
          <p:nvPr/>
        </p:nvSpPr>
        <p:spPr>
          <a:xfrm>
            <a:off x="7309175" y="2937088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若杉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E947D16A-6C1B-4711-9D55-96340C151744}"/>
              </a:ext>
            </a:extLst>
          </p:cNvPr>
          <p:cNvSpPr/>
          <p:nvPr/>
        </p:nvSpPr>
        <p:spPr>
          <a:xfrm>
            <a:off x="10126203" y="544549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友渕</a:t>
            </a:r>
            <a:endParaRPr kumimoji="1" lang="en-US" altLang="ja-JP" dirty="0"/>
          </a:p>
          <a:p>
            <a:pPr algn="ctr"/>
            <a:r>
              <a:rPr lang="en-US" altLang="ja-JP" sz="1400" dirty="0"/>
              <a:t>(</a:t>
            </a:r>
            <a:r>
              <a:rPr lang="ja-JP" altLang="en-US" sz="1400" dirty="0"/>
              <a:t>サポート</a:t>
            </a:r>
            <a:r>
              <a:rPr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040721D-DB06-4C39-8C5F-D5D6CFF37FD4}"/>
              </a:ext>
            </a:extLst>
          </p:cNvPr>
          <p:cNvSpPr/>
          <p:nvPr/>
        </p:nvSpPr>
        <p:spPr>
          <a:xfrm>
            <a:off x="8249205" y="2937088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dirty="0"/>
              <a:t>TS</a:t>
            </a:r>
          </a:p>
          <a:p>
            <a:pPr algn="ctr"/>
            <a:r>
              <a:rPr lang="en-US" altLang="ja-JP" dirty="0"/>
              <a:t>5</a:t>
            </a:r>
            <a:r>
              <a:rPr lang="ja-JP" altLang="en-US" dirty="0"/>
              <a:t>名</a:t>
            </a:r>
            <a:endParaRPr kumimoji="1" lang="ja-JP" altLang="en-US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B6C8AA5A-3BF9-4362-8588-2AE612A7B402}"/>
              </a:ext>
            </a:extLst>
          </p:cNvPr>
          <p:cNvSpPr/>
          <p:nvPr/>
        </p:nvSpPr>
        <p:spPr>
          <a:xfrm>
            <a:off x="5477591" y="3250446"/>
            <a:ext cx="817926" cy="357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dirty="0"/>
              <a:t>小引</a:t>
            </a:r>
            <a:endParaRPr lang="en-US" altLang="ja-JP" dirty="0"/>
          </a:p>
          <a:p>
            <a:pPr algn="ctr"/>
            <a:r>
              <a:rPr lang="en-US" altLang="ja-JP" sz="1100" dirty="0"/>
              <a:t>(</a:t>
            </a:r>
            <a:r>
              <a:rPr lang="ja-JP" altLang="en-US" sz="1100" dirty="0"/>
              <a:t>サポート</a:t>
            </a:r>
            <a:r>
              <a:rPr lang="en-US" altLang="ja-JP" sz="1400" dirty="0"/>
              <a:t>)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80F53D0-0472-4621-A64A-9E33BFC304ED}"/>
              </a:ext>
            </a:extLst>
          </p:cNvPr>
          <p:cNvCxnSpPr>
            <a:cxnSpLocks/>
            <a:stCxn id="39" idx="3"/>
            <a:endCxn id="67" idx="1"/>
          </p:cNvCxnSpPr>
          <p:nvPr/>
        </p:nvCxnSpPr>
        <p:spPr>
          <a:xfrm>
            <a:off x="3475428" y="2958164"/>
            <a:ext cx="127571" cy="4708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E3450F7B-0D90-40B6-B328-3C231065FA0C}"/>
              </a:ext>
            </a:extLst>
          </p:cNvPr>
          <p:cNvCxnSpPr>
            <a:cxnSpLocks/>
            <a:stCxn id="67" idx="3"/>
            <a:endCxn id="74" idx="1"/>
          </p:cNvCxnSpPr>
          <p:nvPr/>
        </p:nvCxnSpPr>
        <p:spPr>
          <a:xfrm>
            <a:off x="4420925" y="3429000"/>
            <a:ext cx="1056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750EF77-2BE3-4EAD-BA75-4B0A3EDDBE42}"/>
              </a:ext>
            </a:extLst>
          </p:cNvPr>
          <p:cNvSpPr/>
          <p:nvPr/>
        </p:nvSpPr>
        <p:spPr>
          <a:xfrm>
            <a:off x="4549149" y="3250446"/>
            <a:ext cx="817926" cy="357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dirty="0"/>
              <a:t>林</a:t>
            </a:r>
            <a:r>
              <a:rPr lang="en-US" altLang="ja-JP" sz="1400" dirty="0"/>
              <a:t>(</a:t>
            </a:r>
            <a:r>
              <a:rPr lang="ja-JP" altLang="en-US" sz="1400" dirty="0"/>
              <a:t>稜</a:t>
            </a:r>
            <a:r>
              <a:rPr lang="en-US" altLang="ja-JP" sz="1400" dirty="0"/>
              <a:t>)</a:t>
            </a:r>
            <a:endParaRPr lang="en-US" altLang="ja-JP" dirty="0"/>
          </a:p>
        </p:txBody>
      </p: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7D80A12C-3B09-461D-A950-36E5F72503AD}"/>
              </a:ext>
            </a:extLst>
          </p:cNvPr>
          <p:cNvCxnSpPr>
            <a:cxnSpLocks/>
            <a:stCxn id="110" idx="3"/>
            <a:endCxn id="113" idx="1"/>
          </p:cNvCxnSpPr>
          <p:nvPr/>
        </p:nvCxnSpPr>
        <p:spPr>
          <a:xfrm>
            <a:off x="3475428" y="4451159"/>
            <a:ext cx="1062134" cy="0"/>
          </a:xfrm>
          <a:prstGeom prst="lin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3122233C-16AE-4F1F-955A-E60680079C10}"/>
              </a:ext>
            </a:extLst>
          </p:cNvPr>
          <p:cNvSpPr/>
          <p:nvPr/>
        </p:nvSpPr>
        <p:spPr>
          <a:xfrm>
            <a:off x="2657502" y="41895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/>
              <a:t>加藤</a:t>
            </a:r>
            <a:r>
              <a:rPr kumimoji="1" lang="en-US" altLang="ja-JP" dirty="0"/>
              <a:t>L</a:t>
            </a:r>
            <a:endParaRPr kumimoji="1" lang="ja-JP" altLang="en-US" dirty="0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B77A272C-D5E1-4F7C-A8AF-02056FBF57F2}"/>
              </a:ext>
            </a:extLst>
          </p:cNvPr>
          <p:cNvSpPr/>
          <p:nvPr/>
        </p:nvSpPr>
        <p:spPr>
          <a:xfrm>
            <a:off x="3597532" y="4189549"/>
            <a:ext cx="81792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dirty="0"/>
              <a:t>トレーサ</a:t>
            </a:r>
            <a:endParaRPr lang="en-US" altLang="ja-JP" dirty="0"/>
          </a:p>
          <a:p>
            <a:pPr algn="ctr"/>
            <a:r>
              <a:rPr lang="en-US" altLang="ja-JP" dirty="0"/>
              <a:t>3</a:t>
            </a:r>
            <a:r>
              <a:rPr lang="ja-JP" altLang="en-US" dirty="0"/>
              <a:t>名？</a:t>
            </a:r>
            <a:endParaRPr lang="en-US" altLang="ja-JP" dirty="0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E3C46098-9431-4F5D-82D4-E0BD760AFA82}"/>
              </a:ext>
            </a:extLst>
          </p:cNvPr>
          <p:cNvSpPr/>
          <p:nvPr/>
        </p:nvSpPr>
        <p:spPr>
          <a:xfrm>
            <a:off x="4537562" y="4189549"/>
            <a:ext cx="817926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/>
              <a:t>TS</a:t>
            </a:r>
            <a:r>
              <a:rPr kumimoji="1" lang="en-US" altLang="ja-JP" sz="1400" dirty="0"/>
              <a:t>(</a:t>
            </a:r>
            <a:r>
              <a:rPr kumimoji="1" lang="ja-JP" altLang="en-US" sz="1400" dirty="0"/>
              <a:t>委託</a:t>
            </a:r>
            <a:r>
              <a:rPr kumimoji="1" lang="en-US" altLang="ja-JP" sz="1400" dirty="0"/>
              <a:t>)</a:t>
            </a:r>
            <a:endParaRPr kumimoji="1" lang="en-US" altLang="ja-JP" dirty="0"/>
          </a:p>
          <a:p>
            <a:pPr algn="ctr"/>
            <a:r>
              <a:rPr lang="en-US" altLang="ja-JP" dirty="0"/>
              <a:t>4</a:t>
            </a:r>
            <a:r>
              <a:rPr lang="ja-JP" altLang="en-US" dirty="0"/>
              <a:t>名</a:t>
            </a:r>
            <a:endParaRPr kumimoji="1" lang="ja-JP" altLang="en-US" dirty="0"/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F3A0F46C-0EBB-4486-980F-72156EB7AA41}"/>
              </a:ext>
            </a:extLst>
          </p:cNvPr>
          <p:cNvSpPr txBox="1"/>
          <p:nvPr/>
        </p:nvSpPr>
        <p:spPr>
          <a:xfrm>
            <a:off x="7285787" y="4266493"/>
            <a:ext cx="306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※Logic/</a:t>
            </a:r>
            <a:r>
              <a:rPr kumimoji="1" lang="en-US" altLang="ja-JP" dirty="0" err="1"/>
              <a:t>Integ</a:t>
            </a:r>
            <a:r>
              <a:rPr kumimoji="1" lang="ja-JP" altLang="en-US" dirty="0"/>
              <a:t>と同体制で対応</a:t>
            </a:r>
          </a:p>
        </p:txBody>
      </p:sp>
      <p:sp>
        <p:nvSpPr>
          <p:cNvPr id="3" name="矢印: 上 2">
            <a:extLst>
              <a:ext uri="{FF2B5EF4-FFF2-40B4-BE49-F238E27FC236}">
                <a16:creationId xmlns:a16="http://schemas.microsoft.com/office/drawing/2014/main" id="{E802FEA9-88E8-4065-B6D2-709A31A9B311}"/>
              </a:ext>
            </a:extLst>
          </p:cNvPr>
          <p:cNvSpPr/>
          <p:nvPr/>
        </p:nvSpPr>
        <p:spPr>
          <a:xfrm>
            <a:off x="8068292" y="3762337"/>
            <a:ext cx="280816" cy="485094"/>
          </a:xfrm>
          <a:prstGeom prst="up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763C97-A2C0-4ABD-9695-A5E043B938C1}"/>
              </a:ext>
            </a:extLst>
          </p:cNvPr>
          <p:cNvSpPr/>
          <p:nvPr/>
        </p:nvSpPr>
        <p:spPr>
          <a:xfrm>
            <a:off x="6970912" y="982215"/>
            <a:ext cx="4583106" cy="41154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755815-D04B-4643-AAFC-BC033383C4B2}"/>
              </a:ext>
            </a:extLst>
          </p:cNvPr>
          <p:cNvSpPr txBox="1"/>
          <p:nvPr/>
        </p:nvSpPr>
        <p:spPr>
          <a:xfrm>
            <a:off x="6242551" y="597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提案範囲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6E283260-08D7-427A-A7C0-346E1A2F1577}"/>
              </a:ext>
            </a:extLst>
          </p:cNvPr>
          <p:cNvSpPr txBox="1"/>
          <p:nvPr/>
        </p:nvSpPr>
        <p:spPr>
          <a:xfrm>
            <a:off x="60166" y="2876154"/>
            <a:ext cx="2230098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kumimoji="1" lang="en-US" altLang="ja-JP" b="1" dirty="0"/>
              <a:t>310D </a:t>
            </a:r>
            <a:r>
              <a:rPr lang="en-US" altLang="ja-JP" b="1" dirty="0"/>
              <a:t>UD2504</a:t>
            </a:r>
            <a:r>
              <a:rPr kumimoji="1" lang="ja-JP" altLang="en-US" b="1" dirty="0"/>
              <a:t>トライ</a:t>
            </a:r>
            <a:endParaRPr kumimoji="1" lang="en-US" altLang="ja-JP" b="1" dirty="0"/>
          </a:p>
          <a:p>
            <a:r>
              <a:rPr lang="en-US" altLang="ja-JP" b="1" dirty="0"/>
              <a:t>(Logic/</a:t>
            </a:r>
            <a:r>
              <a:rPr lang="en-US" altLang="ja-JP" b="1" dirty="0" err="1"/>
              <a:t>Integ</a:t>
            </a:r>
            <a:r>
              <a:rPr lang="en-US" altLang="ja-JP" b="1" dirty="0"/>
              <a:t>)</a:t>
            </a:r>
            <a:endParaRPr kumimoji="1" lang="ja-JP" altLang="en-US" b="1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CD5E6A-6F65-498B-AF70-31C6AC41D846}"/>
              </a:ext>
            </a:extLst>
          </p:cNvPr>
          <p:cNvSpPr txBox="1"/>
          <p:nvPr/>
        </p:nvSpPr>
        <p:spPr>
          <a:xfrm>
            <a:off x="60166" y="4128614"/>
            <a:ext cx="2230098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kumimoji="1" lang="en-US" altLang="ja-JP" b="1" dirty="0"/>
              <a:t>310D </a:t>
            </a:r>
            <a:r>
              <a:rPr lang="en-US" altLang="ja-JP" b="1" dirty="0"/>
              <a:t>UD2504</a:t>
            </a:r>
            <a:r>
              <a:rPr kumimoji="1" lang="ja-JP" altLang="en-US" b="1" dirty="0"/>
              <a:t>トライ</a:t>
            </a:r>
            <a:endParaRPr kumimoji="1" lang="en-US" altLang="ja-JP" b="1" dirty="0"/>
          </a:p>
          <a:p>
            <a:r>
              <a:rPr lang="en-US" altLang="ja-JP" b="1" dirty="0"/>
              <a:t>(XC)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37455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sz="3600" dirty="0"/>
              <a:t>作業内容</a:t>
            </a:r>
            <a:endParaRPr kumimoji="1" lang="en-US" altLang="ja-JP" sz="2800" dirty="0"/>
          </a:p>
        </p:txBody>
      </p:sp>
      <p:graphicFrame>
        <p:nvGraphicFramePr>
          <p:cNvPr id="39" name="表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342320"/>
              </p:ext>
            </p:extLst>
          </p:nvPr>
        </p:nvGraphicFramePr>
        <p:xfrm>
          <a:off x="413599" y="1113675"/>
          <a:ext cx="11372862" cy="1645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12206">
                  <a:extLst>
                    <a:ext uri="{9D8B030D-6E8A-4147-A177-3AD203B41FA5}">
                      <a16:colId xmlns:a16="http://schemas.microsoft.com/office/drawing/2014/main" val="60657760"/>
                    </a:ext>
                  </a:extLst>
                </a:gridCol>
                <a:gridCol w="9360656">
                  <a:extLst>
                    <a:ext uri="{9D8B030D-6E8A-4147-A177-3AD203B41FA5}">
                      <a16:colId xmlns:a16="http://schemas.microsoft.com/office/drawing/2014/main" val="3940691599"/>
                    </a:ext>
                  </a:extLst>
                </a:gridCol>
              </a:tblGrid>
              <a:tr h="25542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dirty="0"/>
                        <a:t>業務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dirty="0"/>
                        <a:t>詳細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396469"/>
                  </a:ext>
                </a:extLst>
              </a:tr>
              <a:tr h="44118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/>
                        <a:t>サポート窓口対応</a:t>
                      </a:r>
                      <a:endParaRPr kumimoji="1" lang="en-US" altLang="ja-JP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0" u="none" dirty="0">
                        <a:solidFill>
                          <a:srgbClr val="333333"/>
                        </a:solidFill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・各種問合せ対応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各種トライ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/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品保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/TS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内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/Capital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他チーム等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)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、問連管理、ユーザ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/Siemens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との調整を継続。</a:t>
                      </a:r>
                      <a:endParaRPr kumimoji="1" lang="en-US" altLang="ja-JP" sz="1600" b="0" dirty="0">
                        <a:solidFill>
                          <a:srgbClr val="333333"/>
                        </a:solidFill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　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※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対象トライ：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710D_FR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化トライ、</a:t>
                      </a:r>
                      <a: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  <a:t>310D_VerUP</a:t>
                      </a: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トライ</a:t>
                      </a:r>
                      <a:br>
                        <a:rPr kumimoji="1" lang="en-US" altLang="ja-JP" sz="1600" b="0" dirty="0">
                          <a:solidFill>
                            <a:srgbClr val="333333"/>
                          </a:solidFill>
                        </a:rPr>
                      </a:br>
                      <a:r>
                        <a:rPr kumimoji="1" lang="ja-JP" altLang="en-US" sz="1600" b="0" dirty="0">
                          <a:solidFill>
                            <a:srgbClr val="333333"/>
                          </a:solidFill>
                        </a:rPr>
                        <a:t>・必要に応じてトライにおける作業実施、チェックサポート等の現場支援も継続。</a:t>
                      </a:r>
                      <a:endParaRPr kumimoji="1" lang="en-US" altLang="ja-JP" sz="1600" b="0" dirty="0">
                        <a:solidFill>
                          <a:srgbClr val="333333"/>
                        </a:solidFill>
                      </a:endParaRPr>
                    </a:p>
                    <a:p>
                      <a:pPr algn="l"/>
                      <a:endParaRPr kumimoji="1" lang="en-US" altLang="ja-JP" sz="1600" b="0" dirty="0">
                        <a:solidFill>
                          <a:srgbClr val="33333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071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71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02819"/>
              </p:ext>
            </p:extLst>
          </p:nvPr>
        </p:nvGraphicFramePr>
        <p:xfrm>
          <a:off x="353597" y="1322755"/>
          <a:ext cx="11487109" cy="4460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93716">
                  <a:extLst>
                    <a:ext uri="{9D8B030D-6E8A-4147-A177-3AD203B41FA5}">
                      <a16:colId xmlns:a16="http://schemas.microsoft.com/office/drawing/2014/main" val="532376856"/>
                    </a:ext>
                  </a:extLst>
                </a:gridCol>
                <a:gridCol w="2135502">
                  <a:extLst>
                    <a:ext uri="{9D8B030D-6E8A-4147-A177-3AD203B41FA5}">
                      <a16:colId xmlns:a16="http://schemas.microsoft.com/office/drawing/2014/main" val="1976066666"/>
                    </a:ext>
                  </a:extLst>
                </a:gridCol>
                <a:gridCol w="6866793">
                  <a:extLst>
                    <a:ext uri="{9D8B030D-6E8A-4147-A177-3AD203B41FA5}">
                      <a16:colId xmlns:a16="http://schemas.microsoft.com/office/drawing/2014/main" val="1688978802"/>
                    </a:ext>
                  </a:extLst>
                </a:gridCol>
                <a:gridCol w="1791098">
                  <a:extLst>
                    <a:ext uri="{9D8B030D-6E8A-4147-A177-3AD203B41FA5}">
                      <a16:colId xmlns:a16="http://schemas.microsoft.com/office/drawing/2014/main" val="1917653718"/>
                    </a:ext>
                  </a:extLst>
                </a:gridCol>
              </a:tblGrid>
              <a:tr h="266088"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+mj-ea"/>
                          <a:ea typeface="+mj-ea"/>
                        </a:rPr>
                        <a:t>No.</a:t>
                      </a:r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+mj-ea"/>
                          <a:ea typeface="+mj-ea"/>
                        </a:rPr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+mj-ea"/>
                          <a:ea typeface="+mj-ea"/>
                        </a:rPr>
                        <a:t>タスク詳細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+mj-ea"/>
                          <a:ea typeface="+mj-ea"/>
                        </a:rPr>
                        <a:t>工数（人月）</a:t>
                      </a:r>
                      <a:endParaRPr kumimoji="1" lang="en-US" altLang="ja-JP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47990"/>
                  </a:ext>
                </a:extLst>
              </a:tr>
              <a:tr h="266088">
                <a:tc rowSpan="4"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+mj-ea"/>
                          <a:ea typeface="+mj-ea"/>
                        </a:rPr>
                        <a:t>1</a:t>
                      </a:r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+mj-ea"/>
                          <a:ea typeface="+mj-ea"/>
                        </a:rPr>
                        <a:t>定常サポ窓対応</a:t>
                      </a:r>
                      <a:endParaRPr kumimoji="1" lang="en-US" altLang="ja-JP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サポ窓リーダー業務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全体統括業務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引継ぎ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/OJT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含む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04744"/>
                  </a:ext>
                </a:extLst>
              </a:tr>
              <a:tr h="266088">
                <a:tc vMerge="1">
                  <a:txBody>
                    <a:bodyPr/>
                    <a:lstStyle/>
                    <a:p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en-US" altLang="ja-JP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アドバイザー対応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1.50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488625"/>
                  </a:ext>
                </a:extLst>
              </a:tr>
              <a:tr h="2660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過去トライ・車両のサポ窓残問合せ 継続対応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3.00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817346"/>
                  </a:ext>
                </a:extLst>
              </a:tr>
              <a:tr h="266088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Yorozu, 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インフラ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品保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旧トラ窓残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その他問合せ対応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61139"/>
                  </a:ext>
                </a:extLst>
              </a:tr>
              <a:tr h="985520"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+mj-ea"/>
                          <a:ea typeface="+mj-ea"/>
                        </a:rPr>
                        <a:t>2</a:t>
                      </a:r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310D_UD2504</a:t>
                      </a:r>
                    </a:p>
                    <a:p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トライ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問合せ対応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調査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二次窓口との各種調整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ユーザ回答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各種作業支援、現場サポート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突発含む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各種振り返り、課題対応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突発含む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64138"/>
                  </a:ext>
                </a:extLst>
              </a:tr>
              <a:tr h="465655"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+mj-ea"/>
                          <a:ea typeface="+mj-ea"/>
                        </a:rPr>
                        <a:t>3</a:t>
                      </a:r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710D_FR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化トライ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問合せ対応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調査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二次窓口との各種調整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ユーザ回答</a:t>
                      </a:r>
                      <a:endParaRPr kumimoji="1" lang="en-US" altLang="ja-JP" sz="180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各種作業支援、現場サポート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突発含む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各種振り返り、課題対応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突発含む</a:t>
                      </a: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608257"/>
                  </a:ext>
                </a:extLst>
              </a:tr>
              <a:tr h="266088"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+mj-ea"/>
                          <a:ea typeface="+mj-ea"/>
                        </a:rPr>
                        <a:t>4</a:t>
                      </a:r>
                      <a:endParaRPr kumimoji="1" lang="ja-JP" altLang="en-US" sz="18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管理</a:t>
                      </a:r>
                      <a:endParaRPr kumimoji="1" lang="en-US" altLang="ja-JP" sz="1800" kern="1200" baseline="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進捗管理</a:t>
                      </a:r>
                      <a:r>
                        <a:rPr kumimoji="1" lang="en-US" altLang="ja-JP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課題管理</a:t>
                      </a:r>
                      <a:r>
                        <a:rPr kumimoji="1" lang="en-US" altLang="ja-JP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1" lang="ja-JP" altLang="en-US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報告など</a:t>
                      </a:r>
                      <a:endParaRPr kumimoji="1" lang="en-US" altLang="ja-JP" sz="1800" kern="1200" baseline="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kern="1200" baseline="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3.25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101829"/>
                  </a:ext>
                </a:extLst>
              </a:tr>
              <a:tr h="266088">
                <a:tc gridSpan="3">
                  <a:txBody>
                    <a:bodyPr/>
                    <a:lstStyle/>
                    <a:p>
                      <a:pPr algn="r"/>
                      <a:r>
                        <a:rPr kumimoji="1" lang="ja-JP" altLang="en-US" sz="1800" b="1" baseline="0" dirty="0">
                          <a:latin typeface="+mj-ea"/>
                          <a:ea typeface="+mj-ea"/>
                        </a:rPr>
                        <a:t>合計</a:t>
                      </a:r>
                      <a:endParaRPr kumimoji="1" lang="en-US" altLang="ja-JP" sz="1800" b="1" baseline="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400" kern="1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kumimoji="1" lang="en-US" altLang="ja-JP" sz="1400" baseline="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b="1" dirty="0">
                          <a:latin typeface="+mj-ea"/>
                          <a:ea typeface="+mj-ea"/>
                        </a:rPr>
                        <a:t>33.25</a:t>
                      </a:r>
                      <a:endParaRPr kumimoji="1" lang="ja-JP" altLang="en-US" sz="18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789933"/>
                  </a:ext>
                </a:extLst>
              </a:tr>
            </a:tbl>
          </a:graphicData>
        </a:graphic>
      </p:graphicFrame>
      <p:sp>
        <p:nvSpPr>
          <p:cNvPr id="5" name="正方形/長方形 4"/>
          <p:cNvSpPr/>
          <p:nvPr/>
        </p:nvSpPr>
        <p:spPr>
          <a:xfrm>
            <a:off x="361347" y="962217"/>
            <a:ext cx="5464688" cy="435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Capital</a:t>
            </a:r>
            <a:r>
              <a:rPr lang="ja-JP" altLang="en-US" sz="2000" b="1" dirty="0">
                <a:solidFill>
                  <a:schemeClr val="tx1"/>
                </a:solidFill>
              </a:rPr>
              <a:t> サポート窓口作業</a:t>
            </a:r>
          </a:p>
        </p:txBody>
      </p:sp>
      <p:sp>
        <p:nvSpPr>
          <p:cNvPr id="8" name="テキスト プレースホルダー 1"/>
          <p:cNvSpPr>
            <a:spLocks noGrp="1"/>
          </p:cNvSpPr>
          <p:nvPr>
            <p:ph type="body" sz="quarter" idx="14"/>
          </p:nvPr>
        </p:nvSpPr>
        <p:spPr>
          <a:xfrm>
            <a:off x="288000" y="118800"/>
            <a:ext cx="5954551" cy="312868"/>
          </a:xfrm>
        </p:spPr>
        <p:txBody>
          <a:bodyPr/>
          <a:lstStyle/>
          <a:p>
            <a:r>
              <a:rPr lang="ja-JP" altLang="en-US" sz="3600" dirty="0"/>
              <a:t>作業内容</a:t>
            </a:r>
            <a:r>
              <a:rPr lang="en-US" altLang="ja-JP" sz="3600" dirty="0"/>
              <a:t>(</a:t>
            </a:r>
            <a:r>
              <a:rPr lang="ja-JP" altLang="en-US" sz="3600" dirty="0"/>
              <a:t>工数詳細</a:t>
            </a:r>
            <a:r>
              <a:rPr lang="en-US" altLang="ja-JP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466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432470"/>
              </p:ext>
            </p:extLst>
          </p:nvPr>
        </p:nvGraphicFramePr>
        <p:xfrm>
          <a:off x="355435" y="1078381"/>
          <a:ext cx="11577107" cy="102253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594416">
                  <a:extLst>
                    <a:ext uri="{9D8B030D-6E8A-4147-A177-3AD203B41FA5}">
                      <a16:colId xmlns:a16="http://schemas.microsoft.com/office/drawing/2014/main" val="684218718"/>
                    </a:ext>
                  </a:extLst>
                </a:gridCol>
                <a:gridCol w="150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5283">
                  <a:extLst>
                    <a:ext uri="{9D8B030D-6E8A-4147-A177-3AD203B41FA5}">
                      <a16:colId xmlns:a16="http://schemas.microsoft.com/office/drawing/2014/main" val="2495616206"/>
                    </a:ext>
                  </a:extLst>
                </a:gridCol>
              </a:tblGrid>
              <a:tr h="511269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案件</a:t>
                      </a:r>
                      <a:endParaRPr lang="ja-JP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工数 </a:t>
                      </a:r>
                      <a:r>
                        <a:rPr lang="en-US" altLang="ja-JP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ja-JP" alt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人月</a:t>
                      </a:r>
                      <a:r>
                        <a:rPr lang="en-US" altLang="ja-JP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ja-JP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費用 </a:t>
                      </a:r>
                      <a:r>
                        <a:rPr lang="en-US" altLang="ja-JP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ja-JP" alt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千円</a:t>
                      </a:r>
                      <a:r>
                        <a:rPr lang="en-US" altLang="ja-JP" sz="1800" b="1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ja-JP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成果物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26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u="none" strike="noStrike" kern="1200" dirty="0">
                          <a:effectLst/>
                          <a:latin typeface="+mj-ea"/>
                          <a:ea typeface="+mj-ea"/>
                        </a:rPr>
                        <a:t>Capital </a:t>
                      </a:r>
                      <a:r>
                        <a:rPr kumimoji="1" lang="ja-JP" altLang="en-US" sz="1400" u="none" strike="noStrike" kern="1200" dirty="0">
                          <a:effectLst/>
                          <a:latin typeface="+mj-ea"/>
                          <a:ea typeface="+mj-ea"/>
                        </a:rPr>
                        <a:t>サポート窓口作業</a:t>
                      </a:r>
                      <a:r>
                        <a:rPr kumimoji="1" lang="en-US" altLang="ja-JP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(25</a:t>
                      </a:r>
                      <a:r>
                        <a:rPr kumimoji="1" lang="ja-JP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年</a:t>
                      </a:r>
                      <a:r>
                        <a:rPr kumimoji="1" lang="en-US" altLang="ja-JP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7</a:t>
                      </a:r>
                      <a:r>
                        <a:rPr kumimoji="1" lang="ja-JP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月</a:t>
                      </a:r>
                      <a:r>
                        <a:rPr kumimoji="1" lang="en-US" altLang="ja-JP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–25</a:t>
                      </a:r>
                      <a:r>
                        <a:rPr kumimoji="1" lang="ja-JP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年</a:t>
                      </a:r>
                      <a:r>
                        <a:rPr kumimoji="1" lang="en-US" altLang="ja-JP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9</a:t>
                      </a:r>
                      <a:r>
                        <a:rPr kumimoji="1" lang="ja-JP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月</a:t>
                      </a:r>
                      <a:r>
                        <a:rPr kumimoji="1" lang="en-US" altLang="ja-JP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ja-JP" sz="14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ja-JP" sz="1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ea"/>
                          <a:ea typeface="+mj-ea"/>
                        </a:rPr>
                        <a:t>33.25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ja-JP" sz="1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ea"/>
                          <a:ea typeface="+mj-ea"/>
                        </a:rPr>
                        <a:t>38842.5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Capital </a:t>
                      </a:r>
                      <a:r>
                        <a:rPr kumimoji="1" lang="ja-JP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サポート窓口作業結果報告書</a:t>
                      </a:r>
                      <a:endParaRPr kumimoji="1" lang="en-US" altLang="ja-JP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423289"/>
                  </a:ext>
                </a:extLst>
              </a:tr>
            </a:tbl>
          </a:graphicData>
        </a:graphic>
      </p:graphicFrame>
      <p:sp>
        <p:nvSpPr>
          <p:cNvPr id="7" name="テキスト プレースホルダー 1"/>
          <p:cNvSpPr txBox="1">
            <a:spLocks/>
          </p:cNvSpPr>
          <p:nvPr/>
        </p:nvSpPr>
        <p:spPr>
          <a:xfrm>
            <a:off x="288000" y="118800"/>
            <a:ext cx="5954551" cy="3128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b="1" kern="1200">
                <a:solidFill>
                  <a:schemeClr val="bg1"/>
                </a:solidFill>
                <a:latin typeface="+mj-lt"/>
                <a:ea typeface="Meiryo UI" panose="020B0604030504040204" pitchFamily="50" charset="-128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600" dirty="0"/>
              <a:t>費用</a:t>
            </a:r>
            <a:r>
              <a:rPr lang="en-US" altLang="ja-JP" sz="3600" dirty="0"/>
              <a:t>/</a:t>
            </a:r>
            <a:r>
              <a:rPr lang="ja-JP" altLang="en-US" sz="3600" dirty="0"/>
              <a:t>成果物</a:t>
            </a:r>
          </a:p>
        </p:txBody>
      </p:sp>
    </p:spTree>
    <p:extLst>
      <p:ext uri="{BB962C8B-B14F-4D97-AF65-F5344CB8AC3E}">
        <p14:creationId xmlns:p14="http://schemas.microsoft.com/office/powerpoint/2010/main" val="18873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以上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738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rgbClr val="333333"/>
      </a:dk1>
      <a:lt1>
        <a:srgbClr val="FFFFFF"/>
      </a:lt1>
      <a:dk2>
        <a:srgbClr val="EAEAEA"/>
      </a:dk2>
      <a:lt2>
        <a:srgbClr val="CCECFF"/>
      </a:lt2>
      <a:accent1>
        <a:srgbClr val="0071BC"/>
      </a:accent1>
      <a:accent2>
        <a:srgbClr val="E03253"/>
      </a:accent2>
      <a:accent3>
        <a:srgbClr val="00BC48"/>
      </a:accent3>
      <a:accent4>
        <a:srgbClr val="7400BC"/>
      </a:accent4>
      <a:accent5>
        <a:srgbClr val="00BCBC"/>
      </a:accent5>
      <a:accent6>
        <a:srgbClr val="F79646"/>
      </a:accent6>
      <a:hlink>
        <a:srgbClr val="9BBB59"/>
      </a:hlink>
      <a:folHlink>
        <a:srgbClr val="9BBB59"/>
      </a:folHlink>
    </a:clrScheme>
    <a:fontScheme name="ユーザー定義 3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200" b="1" dirty="0" smtClean="0">
            <a:solidFill>
              <a:schemeClr val="tx1"/>
            </a:solidFill>
          </a:defRPr>
        </a:defPPr>
      </a:lstStyle>
      <a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3" id="{FE9974F5-46F6-0345-9C6B-5E0BF1EB7C35}" vid="{1FEC9524-102A-494C-B2A3-C27FE3647BD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e7d18-4867-4b99-8692-27845fd3fde2">
      <Terms xmlns="http://schemas.microsoft.com/office/infopath/2007/PartnerControls"/>
    </lcf76f155ced4ddcb4097134ff3c332f>
    <TaxCatchAll xmlns="a1ebcb03-1241-4a17-8970-a21c81be15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8ED8A1214FEF642906783F3A789F102" ma:contentTypeVersion="19" ma:contentTypeDescription="新しいドキュメントを作成します。" ma:contentTypeScope="" ma:versionID="270937fe641bd23b0ccf1bda02c5c31e">
  <xsd:schema xmlns:xsd="http://www.w3.org/2001/XMLSchema" xmlns:xs="http://www.w3.org/2001/XMLSchema" xmlns:p="http://schemas.microsoft.com/office/2006/metadata/properties" xmlns:ns2="e92e7d18-4867-4b99-8692-27845fd3fde2" xmlns:ns3="a1ebcb03-1241-4a17-8970-a21c81be15bd" targetNamespace="http://schemas.microsoft.com/office/2006/metadata/properties" ma:root="true" ma:fieldsID="7856b960796efb444ee960c094939c52" ns2:_="" ns3:_="">
    <xsd:import namespace="e92e7d18-4867-4b99-8692-27845fd3fde2"/>
    <xsd:import namespace="a1ebcb03-1241-4a17-8970-a21c81be1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e7d18-4867-4b99-8692-27845fd3f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12ff8844-7f78-48cf-b5c5-6eb2e72d6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cb03-1241-4a17-8970-a21c81be1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b825b40-9d67-42b8-bce7-df8eff999c39}" ma:internalName="TaxCatchAll" ma:showField="CatchAllData" ma:web="a1ebcb03-1241-4a17-8970-a21c81be1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6C31B3-7A75-42F5-A2B4-EDD31A11BF3B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1AC14AB-7809-4C3F-B46A-8F2A083683BC}"/>
</file>

<file path=customXml/itemProps3.xml><?xml version="1.0" encoding="utf-8"?>
<ds:datastoreItem xmlns:ds="http://schemas.openxmlformats.org/officeDocument/2006/customXml" ds:itemID="{DCEAA191-F741-4BB0-A9A1-CF8254C55E3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4c93307-c3b3-4337-9766-0ef0b5644b19}" enabled="1" method="Standard" siteId="{02b02150-dbc8-4a3b-be71-e3eba060a81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47289</TotalTime>
  <Words>707</Words>
  <Application>Microsoft Office PowerPoint</Application>
  <PresentationFormat>ワイド画面</PresentationFormat>
  <Paragraphs>220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Meiryo UI</vt:lpstr>
      <vt:lpstr>游ゴシック</vt:lpstr>
      <vt:lpstr>Arial</vt:lpstr>
      <vt:lpstr>Calibri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株式会社トヨタシステムズ</dc:creator>
  <cp:lastModifiedBy>Okajima, Nao/岡島 奈生</cp:lastModifiedBy>
  <cp:revision>6847</cp:revision>
  <dcterms:created xsi:type="dcterms:W3CDTF">2018-07-31T02:34:16Z</dcterms:created>
  <dcterms:modified xsi:type="dcterms:W3CDTF">2025-06-09T00:08:55Z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0x010100B8ED8A1214FEF642906783F3A789F102</vt:lpwstr>
  </property>
</Properties>
</file>