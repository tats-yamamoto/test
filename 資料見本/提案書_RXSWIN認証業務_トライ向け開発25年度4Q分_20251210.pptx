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7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openxmlformats.org/officeDocument/2006/relationships/custom-properties" Target="docProps/custom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60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77" r:id="rId7"/>
    <p:sldId id="272" r:id="rId8"/>
    <p:sldId id="268" r:id="rId9"/>
    <p:sldId id="261" r:id="rId10"/>
    <p:sldId id="275" r:id="rId11"/>
    <p:sldId id="262" r:id="rId12"/>
    <p:sldId id="263" r:id="rId13"/>
    <p:sldId id="270" r:id="rId14"/>
    <p:sldId id="264" r:id="rId15"/>
    <p:sldId id="265" r:id="rId16"/>
    <p:sldId id="271" r:id="rId17"/>
    <p:sldId id="266" r:id="rId18"/>
    <p:sldId id="274" r:id="rId19"/>
    <p:sldId id="273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スタイルなし、表のグリッド線なし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392" autoAdjust="0"/>
    <p:restoredTop sz="94660"/>
  </p:normalViewPr>
  <p:slideViewPr>
    <p:cSldViewPr snapToGrid="0">
      <p:cViewPr varScale="1">
        <p:scale>
          <a:sx n="126" d="100"/>
          <a:sy n="126" d="100"/>
        </p:scale>
        <p:origin x="156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ustomXml" Target="../customXml/item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28" Type="http://schemas.openxmlformats.org/officeDocument/2006/relationships/customXml" Target="../customXml/item3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openxmlformats.org/officeDocument/2006/relationships/customXml" Target="../customXml/item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F6D1DD-C0E8-440B-8398-954872D758B3}" type="datetimeFigureOut">
              <a:rPr kumimoji="1" lang="ja-JP" altLang="en-US" smtClean="0"/>
              <a:t>2025/12/10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ADC30D-F5BF-4D75-8071-49C598EF572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37666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10523"/>
          </a:xfrm>
        </p:spPr>
        <p:txBody>
          <a:bodyPr anchor="b">
            <a:normAutofit/>
          </a:bodyPr>
          <a:lstStyle>
            <a:lvl1pPr algn="ctr">
              <a:lnSpc>
                <a:spcPct val="120000"/>
              </a:lnSpc>
              <a:defRPr sz="3600"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435053"/>
            <a:ext cx="9144000" cy="1655762"/>
          </a:xfrm>
        </p:spPr>
        <p:txBody>
          <a:bodyPr tIns="72000" bIns="72000">
            <a:norm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85899-07DC-4708-B5DD-A200CEE14CAD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7FA2E61A-97DF-8A1A-B218-20EBB5340937}"/>
              </a:ext>
            </a:extLst>
          </p:cNvPr>
          <p:cNvCxnSpPr/>
          <p:nvPr/>
        </p:nvCxnSpPr>
        <p:spPr>
          <a:xfrm>
            <a:off x="0" y="3435056"/>
            <a:ext cx="121920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2" descr="C:\Users\s-ishimaru\Desktop\③関係者外秘RED.png">
            <a:extLst>
              <a:ext uri="{FF2B5EF4-FFF2-40B4-BE49-F238E27FC236}">
                <a16:creationId xmlns:a16="http://schemas.microsoft.com/office/drawing/2014/main" id="{BC2A4D17-2641-CF5D-EE28-804EB122DA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86771" y="258840"/>
            <a:ext cx="886458" cy="8656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358130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85899-07DC-4708-B5DD-A200CEE14CAD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169A9369-6595-428E-541A-1CE5788A3A52}"/>
              </a:ext>
            </a:extLst>
          </p:cNvPr>
          <p:cNvCxnSpPr/>
          <p:nvPr/>
        </p:nvCxnSpPr>
        <p:spPr>
          <a:xfrm>
            <a:off x="0" y="6469639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1680CF19-5C08-F176-FFF5-D6E348B41DA3}"/>
              </a:ext>
            </a:extLst>
          </p:cNvPr>
          <p:cNvSpPr/>
          <p:nvPr/>
        </p:nvSpPr>
        <p:spPr>
          <a:xfrm>
            <a:off x="0" y="632524"/>
            <a:ext cx="12192000" cy="18000"/>
          </a:xfrm>
          <a:prstGeom prst="rect">
            <a:avLst/>
          </a:prstGeom>
          <a:gradFill>
            <a:gsLst>
              <a:gs pos="0">
                <a:srgbClr val="C81528"/>
              </a:gs>
              <a:gs pos="50000">
                <a:srgbClr val="E83820"/>
              </a:gs>
              <a:gs pos="100000">
                <a:srgbClr val="F6AC1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142794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5127" y="1619651"/>
            <a:ext cx="10515600" cy="4593577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85899-07DC-4708-B5DD-A200CEE14CAD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169A9369-6595-428E-541A-1CE5788A3A52}"/>
              </a:ext>
            </a:extLst>
          </p:cNvPr>
          <p:cNvCxnSpPr/>
          <p:nvPr/>
        </p:nvCxnSpPr>
        <p:spPr>
          <a:xfrm>
            <a:off x="0" y="6469639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1680CF19-5C08-F176-FFF5-D6E348B41DA3}"/>
              </a:ext>
            </a:extLst>
          </p:cNvPr>
          <p:cNvSpPr/>
          <p:nvPr/>
        </p:nvSpPr>
        <p:spPr>
          <a:xfrm>
            <a:off x="0" y="632524"/>
            <a:ext cx="12192000" cy="18000"/>
          </a:xfrm>
          <a:prstGeom prst="rect">
            <a:avLst/>
          </a:prstGeom>
          <a:gradFill>
            <a:gsLst>
              <a:gs pos="0">
                <a:srgbClr val="C81528"/>
              </a:gs>
              <a:gs pos="50000">
                <a:srgbClr val="E83820"/>
              </a:gs>
              <a:gs pos="100000">
                <a:srgbClr val="F6AC1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140212B0-6325-1E24-7781-ECA9DD6373D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44550" y="849313"/>
            <a:ext cx="10515600" cy="553549"/>
          </a:xfrm>
        </p:spPr>
        <p:txBody>
          <a:bodyPr>
            <a:spAutoFit/>
          </a:bodyPr>
          <a:lstStyle>
            <a:lvl1pPr marL="0" indent="0" algn="ctr">
              <a:buNone/>
              <a:defRPr sz="2400" baseline="0">
                <a:latin typeface="+mj-lt"/>
                <a:ea typeface="+mj-ea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87009602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メッセー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4AACCD9-D23C-BD53-8D5B-3C4F2F67B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CC7325B9-E506-E64D-362D-DE826608A8D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EDD157B-5E7D-53C5-153E-B00A78F46D7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DF85899-07DC-4708-B5DD-A200CEE14CAD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9338DF67-7A86-38A4-299D-A5912086280E}"/>
              </a:ext>
            </a:extLst>
          </p:cNvPr>
          <p:cNvCxnSpPr/>
          <p:nvPr/>
        </p:nvCxnSpPr>
        <p:spPr>
          <a:xfrm>
            <a:off x="0" y="6469639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4E7CD8E8-40A1-76F4-57F6-04D3253926BB}"/>
              </a:ext>
            </a:extLst>
          </p:cNvPr>
          <p:cNvSpPr/>
          <p:nvPr/>
        </p:nvSpPr>
        <p:spPr>
          <a:xfrm>
            <a:off x="0" y="632524"/>
            <a:ext cx="12192000" cy="18000"/>
          </a:xfrm>
          <a:prstGeom prst="rect">
            <a:avLst/>
          </a:prstGeom>
          <a:gradFill>
            <a:gsLst>
              <a:gs pos="0">
                <a:srgbClr val="C81528"/>
              </a:gs>
              <a:gs pos="50000">
                <a:srgbClr val="E83820"/>
              </a:gs>
              <a:gs pos="100000">
                <a:srgbClr val="F6AC1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プレースホルダー 6">
            <a:extLst>
              <a:ext uri="{FF2B5EF4-FFF2-40B4-BE49-F238E27FC236}">
                <a16:creationId xmlns:a16="http://schemas.microsoft.com/office/drawing/2014/main" id="{5F6C810D-C71F-42FB-27EA-7FDFFDEF123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44550" y="849313"/>
            <a:ext cx="10515600" cy="553549"/>
          </a:xfrm>
        </p:spPr>
        <p:txBody>
          <a:bodyPr>
            <a:spAutoFit/>
          </a:bodyPr>
          <a:lstStyle>
            <a:lvl1pPr marL="0" indent="0" algn="ctr">
              <a:buNone/>
              <a:defRPr sz="2400" baseline="0">
                <a:latin typeface="+mj-lt"/>
                <a:ea typeface="+mj-ea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16071368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12423"/>
            <a:ext cx="10515600" cy="2851208"/>
          </a:xfrm>
        </p:spPr>
        <p:txBody>
          <a:bodyPr anchor="b">
            <a:normAutofit/>
          </a:bodyPr>
          <a:lstStyle>
            <a:lvl1pPr>
              <a:defRPr sz="6000" b="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52633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85899-07DC-4708-B5DD-A200CEE14CA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364499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0"/>
            <a:ext cx="5181600" cy="4351337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0"/>
            <a:ext cx="5181600" cy="4351337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85899-07DC-4708-B5DD-A200CEE14CA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5378593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0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0"/>
            <a:ext cx="5156200" cy="3680525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7550"/>
            <a:ext cx="5181601" cy="3680525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85899-07DC-4708-B5DD-A200CEE14CAD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84019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85899-07DC-4708-B5DD-A200CEE14CAD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4932B324-6D17-717E-7ABB-D419179AC02B}"/>
              </a:ext>
            </a:extLst>
          </p:cNvPr>
          <p:cNvSpPr/>
          <p:nvPr/>
        </p:nvSpPr>
        <p:spPr>
          <a:xfrm>
            <a:off x="0" y="632524"/>
            <a:ext cx="12192000" cy="18000"/>
          </a:xfrm>
          <a:prstGeom prst="rect">
            <a:avLst/>
          </a:prstGeom>
          <a:gradFill>
            <a:gsLst>
              <a:gs pos="0">
                <a:srgbClr val="C81528"/>
              </a:gs>
              <a:gs pos="50000">
                <a:srgbClr val="E83820"/>
              </a:gs>
              <a:gs pos="100000">
                <a:srgbClr val="F6AC1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" name="直線コネクタ 1">
            <a:extLst>
              <a:ext uri="{FF2B5EF4-FFF2-40B4-BE49-F238E27FC236}">
                <a16:creationId xmlns:a16="http://schemas.microsoft.com/office/drawing/2014/main" id="{DCA0C748-95A8-CF29-1075-F18996DEAE50}"/>
              </a:ext>
            </a:extLst>
          </p:cNvPr>
          <p:cNvCxnSpPr/>
          <p:nvPr/>
        </p:nvCxnSpPr>
        <p:spPr>
          <a:xfrm>
            <a:off x="0" y="6469639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33353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85899-07DC-4708-B5DD-A200CEE14CAD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5E9AA2DA-5DE9-D0C7-5138-0E98BE939D2E}"/>
              </a:ext>
            </a:extLst>
          </p:cNvPr>
          <p:cNvCxnSpPr/>
          <p:nvPr/>
        </p:nvCxnSpPr>
        <p:spPr>
          <a:xfrm>
            <a:off x="0" y="6469639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テキスト プレースホルダー 6">
            <a:extLst>
              <a:ext uri="{FF2B5EF4-FFF2-40B4-BE49-F238E27FC236}">
                <a16:creationId xmlns:a16="http://schemas.microsoft.com/office/drawing/2014/main" id="{E6E7F355-2F1C-9778-D1C4-5B97614EE5C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44550" y="3036906"/>
            <a:ext cx="10515600" cy="784189"/>
          </a:xfrm>
        </p:spPr>
        <p:txBody>
          <a:bodyPr anchor="ctr">
            <a:spAutoFit/>
          </a:bodyPr>
          <a:lstStyle>
            <a:lvl1pPr marL="0" indent="0" algn="ctr">
              <a:buNone/>
              <a:defRPr sz="3600" baseline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193990153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85899-07DC-4708-B5DD-A200CEE14CAD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5E9AA2DA-5DE9-D0C7-5138-0E98BE939D2E}"/>
              </a:ext>
            </a:extLst>
          </p:cNvPr>
          <p:cNvCxnSpPr/>
          <p:nvPr/>
        </p:nvCxnSpPr>
        <p:spPr>
          <a:xfrm>
            <a:off x="0" y="6469639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217368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0242" y="207396"/>
            <a:ext cx="11525370" cy="377026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/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859899"/>
            <a:ext cx="10515600" cy="53533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537061"/>
            <a:ext cx="4114800" cy="261610"/>
          </a:xfrm>
          <a:prstGeom prst="rect">
            <a:avLst/>
          </a:prstGeom>
        </p:spPr>
        <p:txBody>
          <a:bodyPr vert="horz" lIns="91440" tIns="45720" rIns="91440" bIns="45720" rtlCol="0" anchor="b">
            <a:spAutoFit/>
          </a:bodyPr>
          <a:lstStyle>
            <a:lvl1pPr algn="ctr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122412" y="6490894"/>
            <a:ext cx="2743200" cy="307777"/>
          </a:xfrm>
          <a:prstGeom prst="rect">
            <a:avLst/>
          </a:prstGeom>
        </p:spPr>
        <p:txBody>
          <a:bodyPr vert="horz" lIns="0" tIns="45720" rIns="0" bIns="45720" rtlCol="0" anchor="b">
            <a:spAutoFit/>
          </a:bodyPr>
          <a:lstStyle>
            <a:lvl1pPr algn="r">
              <a:defRPr sz="1400">
                <a:solidFill>
                  <a:schemeClr val="tx2"/>
                </a:solidFill>
              </a:defRPr>
            </a:lvl1pPr>
          </a:lstStyle>
          <a:p>
            <a:fld id="{EDF85899-07DC-4708-B5DD-A200CEE14CAD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8110AB57-86AE-847C-8C61-5FC41F72383C}"/>
              </a:ext>
            </a:extLst>
          </p:cNvPr>
          <p:cNvSpPr txBox="1"/>
          <p:nvPr/>
        </p:nvSpPr>
        <p:spPr>
          <a:xfrm>
            <a:off x="340242" y="6552450"/>
            <a:ext cx="3651124" cy="246221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kumimoji="1" lang="en-US" altLang="ja-JP" sz="1000" dirty="0">
                <a:solidFill>
                  <a:schemeClr val="tx2"/>
                </a:solidFill>
              </a:rPr>
              <a:t>© TOYOTA SYSTEMS CORPORATION All Rights Reserved.</a:t>
            </a:r>
            <a:endParaRPr kumimoji="1" lang="ja-JP" altLang="en-US" sz="10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41137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2000" b="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77800" indent="-177800" algn="l" defTabSz="914400" rtl="0" eaLnBrk="1" latinLnBrk="0" hangingPunct="1">
        <a:lnSpc>
          <a:spcPct val="140000"/>
        </a:lnSpc>
        <a:spcBef>
          <a:spcPts val="1800"/>
        </a:spcBef>
        <a:buFont typeface="Arial" panose="020B0604020202020204" pitchFamily="34" charset="0"/>
        <a:buChar char="•"/>
        <a:defRPr kumimoji="1" sz="1800" b="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40000"/>
        </a:lnSpc>
        <a:spcBef>
          <a:spcPts val="600"/>
        </a:spcBef>
        <a:buFont typeface="Noto Sans JP" panose="020B0200000000000000" pitchFamily="50" charset="-128"/>
        <a:buChar char="◦"/>
        <a:defRPr kumimoji="1" sz="16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40000"/>
        </a:lnSpc>
        <a:spcBef>
          <a:spcPts val="300"/>
        </a:spcBef>
        <a:buFont typeface="Noto Sans JP" panose="020B0200000000000000" pitchFamily="50" charset="-128"/>
        <a:buChar char="▪"/>
        <a:defRPr kumimoji="1" sz="14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40000"/>
        </a:lnSpc>
        <a:spcBef>
          <a:spcPts val="500"/>
        </a:spcBef>
        <a:buFont typeface="Noto Sans JP" panose="020B0200000000000000" pitchFamily="50" charset="-128"/>
        <a:buChar char="▫"/>
        <a:defRPr kumimoji="1" sz="11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40000"/>
        </a:lnSpc>
        <a:spcBef>
          <a:spcPts val="500"/>
        </a:spcBef>
        <a:buFont typeface="メイリオ" panose="020B0604030504040204" pitchFamily="50" charset="-128"/>
        <a:buChar char="‒"/>
        <a:defRPr kumimoji="1" sz="105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sv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4EB2AA6-EEDC-F779-3734-94956A6B914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ja-JP" dirty="0"/>
              <a:t>RXSWIN</a:t>
            </a:r>
            <a:r>
              <a:rPr kumimoji="1" lang="ja-JP" altLang="en-US" dirty="0"/>
              <a:t>認証業務</a:t>
            </a:r>
            <a:r>
              <a:rPr kumimoji="1" lang="en-US" altLang="ja-JP" dirty="0"/>
              <a:t>_</a:t>
            </a:r>
            <a:r>
              <a:rPr kumimoji="1" lang="ja-JP" altLang="en-US" dirty="0"/>
              <a:t>トライ向け開発</a:t>
            </a:r>
            <a:br>
              <a:rPr kumimoji="1" lang="en-US" altLang="ja-JP" dirty="0"/>
            </a:br>
            <a:r>
              <a:rPr kumimoji="1" lang="en-US" altLang="ja-JP" dirty="0"/>
              <a:t>25</a:t>
            </a:r>
            <a:r>
              <a:rPr kumimoji="1" lang="ja-JP" altLang="en-US" dirty="0"/>
              <a:t>年度</a:t>
            </a:r>
            <a:r>
              <a:rPr kumimoji="1" lang="en-US" altLang="ja-JP" dirty="0"/>
              <a:t>4Q</a:t>
            </a:r>
            <a:r>
              <a:rPr kumimoji="1" lang="ja-JP" altLang="en-US" dirty="0"/>
              <a:t>分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0B15B53-EBAD-2C9A-3C54-3AABD5DA943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ja-JP" altLang="en-US" dirty="0"/>
              <a:t>見積提案書</a:t>
            </a:r>
            <a:br>
              <a:rPr kumimoji="1" lang="en-US" altLang="ja-JP" dirty="0"/>
            </a:br>
            <a:r>
              <a:rPr kumimoji="1" lang="en-US" altLang="ja-JP" dirty="0"/>
              <a:t>2025/12/10</a:t>
            </a:r>
            <a:endParaRPr kumimoji="1" lang="ja-JP" altLang="en-US" dirty="0"/>
          </a:p>
        </p:txBody>
      </p:sp>
      <p:pic>
        <p:nvPicPr>
          <p:cNvPr id="4" name="Picture 2" descr="C:\Users\s-ishimaru\Desktop\MARK_PatternA.png">
            <a:extLst>
              <a:ext uri="{FF2B5EF4-FFF2-40B4-BE49-F238E27FC236}">
                <a16:creationId xmlns:a16="http://schemas.microsoft.com/office/drawing/2014/main" id="{6B43470B-843C-E454-8833-327266672D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9746" y="5337451"/>
            <a:ext cx="3423601" cy="568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8F5C9E3-296B-F576-6381-C12C552D448D}"/>
              </a:ext>
            </a:extLst>
          </p:cNvPr>
          <p:cNvSpPr txBox="1"/>
          <p:nvPr/>
        </p:nvSpPr>
        <p:spPr>
          <a:xfrm>
            <a:off x="9334709" y="5905703"/>
            <a:ext cx="25186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ja-JP" altLang="en-US" sz="1600" dirty="0">
                <a:solidFill>
                  <a:schemeClr val="tx2"/>
                </a:solidFill>
              </a:rPr>
              <a:t>電技改革支援部 </a:t>
            </a:r>
            <a:r>
              <a:rPr kumimoji="1" lang="en-US" altLang="ja-JP" sz="1600" dirty="0">
                <a:solidFill>
                  <a:schemeClr val="tx2"/>
                </a:solidFill>
              </a:rPr>
              <a:t>DX</a:t>
            </a:r>
            <a:r>
              <a:rPr kumimoji="1" lang="ja-JP" altLang="en-US" sz="1600" dirty="0">
                <a:solidFill>
                  <a:schemeClr val="tx2"/>
                </a:solidFill>
              </a:rPr>
              <a:t>企画</a:t>
            </a:r>
            <a:r>
              <a:rPr kumimoji="1" lang="en-US" altLang="ja-JP" sz="1600" dirty="0">
                <a:solidFill>
                  <a:schemeClr val="tx2"/>
                </a:solidFill>
              </a:rPr>
              <a:t>G</a:t>
            </a:r>
            <a:endParaRPr kumimoji="1" lang="ja-JP" altLang="en-US" sz="16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91875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DF86F39-5539-7C04-76B2-DE6656415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ご提案概要</a:t>
            </a:r>
          </a:p>
        </p:txBody>
      </p:sp>
      <p:graphicFrame>
        <p:nvGraphicFramePr>
          <p:cNvPr id="4" name="表 3">
            <a:extLst>
              <a:ext uri="{FF2B5EF4-FFF2-40B4-BE49-F238E27FC236}">
                <a16:creationId xmlns:a16="http://schemas.microsoft.com/office/drawing/2014/main" id="{3EB331C6-2FFA-CE22-AE61-C1A8AAA579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1132447"/>
              </p:ext>
            </p:extLst>
          </p:nvPr>
        </p:nvGraphicFramePr>
        <p:xfrm>
          <a:off x="1138419" y="1830943"/>
          <a:ext cx="9915162" cy="348897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84437">
                  <a:extLst>
                    <a:ext uri="{9D8B030D-6E8A-4147-A177-3AD203B41FA5}">
                      <a16:colId xmlns:a16="http://schemas.microsoft.com/office/drawing/2014/main" val="717403389"/>
                    </a:ext>
                  </a:extLst>
                </a:gridCol>
                <a:gridCol w="8230725">
                  <a:extLst>
                    <a:ext uri="{9D8B030D-6E8A-4147-A177-3AD203B41FA5}">
                      <a16:colId xmlns:a16="http://schemas.microsoft.com/office/drawing/2014/main" val="4035952959"/>
                    </a:ext>
                  </a:extLst>
                </a:gridCol>
              </a:tblGrid>
              <a:tr h="264679">
                <a:tc>
                  <a:txBody>
                    <a:bodyPr/>
                    <a:lstStyle/>
                    <a:p>
                      <a:pPr algn="r">
                        <a:lnSpc>
                          <a:spcPct val="120000"/>
                        </a:lnSpc>
                      </a:pPr>
                      <a:r>
                        <a:rPr kumimoji="1" lang="ja-JP" altLang="en-US" sz="1600" baseline="0" dirty="0">
                          <a:solidFill>
                            <a:schemeClr val="accent1"/>
                          </a:solidFill>
                          <a:latin typeface="+mj-lt"/>
                          <a:ea typeface="+mj-ea"/>
                        </a:rPr>
                        <a:t>プロジェクト名</a:t>
                      </a:r>
                    </a:p>
                  </a:txBody>
                  <a:tcPr marL="72000" marR="72000" marT="108000" marB="108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kumimoji="1" lang="en-US" altLang="ja-JP" sz="1600" baseline="0" dirty="0"/>
                        <a:t>RXSWIN</a:t>
                      </a:r>
                      <a:r>
                        <a:rPr kumimoji="1" lang="ja-JP" altLang="en-US" sz="1600" baseline="0" dirty="0"/>
                        <a:t>認証業務</a:t>
                      </a:r>
                      <a:r>
                        <a:rPr kumimoji="1" lang="en-US" altLang="ja-JP" sz="1600" baseline="0" dirty="0"/>
                        <a:t>_</a:t>
                      </a:r>
                      <a:r>
                        <a:rPr kumimoji="1" lang="ja-JP" altLang="en-US" sz="1600" baseline="0" dirty="0"/>
                        <a:t>トライ向け開発</a:t>
                      </a:r>
                      <a:r>
                        <a:rPr kumimoji="1" lang="en-US" altLang="ja-JP" sz="1600" baseline="0" dirty="0"/>
                        <a:t>25</a:t>
                      </a:r>
                      <a:r>
                        <a:rPr kumimoji="1" lang="ja-JP" altLang="en-US" sz="1600" baseline="0" dirty="0"/>
                        <a:t>年度</a:t>
                      </a:r>
                      <a:r>
                        <a:rPr kumimoji="1" lang="en-US" altLang="ja-JP" sz="1600" baseline="0" dirty="0"/>
                        <a:t>4Q</a:t>
                      </a:r>
                      <a:r>
                        <a:rPr kumimoji="1" lang="ja-JP" altLang="en-US" sz="1600" baseline="0" dirty="0"/>
                        <a:t>分</a:t>
                      </a:r>
                      <a:endParaRPr kumimoji="1" lang="en-US" altLang="ja-JP" sz="1600" baseline="0" dirty="0">
                        <a:latin typeface="+mn-lt"/>
                        <a:ea typeface="+mn-ea"/>
                      </a:endParaRPr>
                    </a:p>
                  </a:txBody>
                  <a:tcPr marL="72000" marR="72000" marT="108000" marB="108000"/>
                </a:tc>
                <a:extLst>
                  <a:ext uri="{0D108BD9-81ED-4DB2-BD59-A6C34878D82A}">
                    <a16:rowId xmlns:a16="http://schemas.microsoft.com/office/drawing/2014/main" val="4034665036"/>
                  </a:ext>
                </a:extLst>
              </a:tr>
              <a:tr h="747383">
                <a:tc>
                  <a:txBody>
                    <a:bodyPr/>
                    <a:lstStyle/>
                    <a:p>
                      <a:pPr algn="r">
                        <a:lnSpc>
                          <a:spcPct val="120000"/>
                        </a:lnSpc>
                      </a:pPr>
                      <a:r>
                        <a:rPr kumimoji="1" lang="ja-JP" altLang="en-US" sz="1600" baseline="0" dirty="0">
                          <a:solidFill>
                            <a:schemeClr val="accent1"/>
                          </a:solidFill>
                          <a:latin typeface="+mj-lt"/>
                          <a:ea typeface="+mj-ea"/>
                        </a:rPr>
                        <a:t>概要</a:t>
                      </a:r>
                    </a:p>
                  </a:txBody>
                  <a:tcPr marL="72000" marR="72000" marT="108000" marB="108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kumimoji="1" lang="en-US" altLang="ja-JP" sz="1600" baseline="0" dirty="0"/>
                        <a:t>RXSWIN</a:t>
                      </a:r>
                      <a:r>
                        <a:rPr kumimoji="1" lang="ja-JP" altLang="en-US" sz="1600" baseline="0" dirty="0"/>
                        <a:t>認証業務成立のための対象</a:t>
                      </a:r>
                      <a:r>
                        <a:rPr kumimoji="1" lang="en-US" altLang="ja-JP" sz="1600" baseline="0" dirty="0"/>
                        <a:t>SW</a:t>
                      </a:r>
                      <a:r>
                        <a:rPr kumimoji="1" lang="ja-JP" altLang="en-US" sz="1600" baseline="0" dirty="0"/>
                        <a:t>品番の出力を主とした開発を行う。</a:t>
                      </a:r>
                      <a:endParaRPr kumimoji="1" lang="en-US" altLang="ja-JP" sz="1600" baseline="0" dirty="0"/>
                    </a:p>
                    <a:p>
                      <a:pPr>
                        <a:lnSpc>
                          <a:spcPct val="120000"/>
                        </a:lnSpc>
                      </a:pPr>
                      <a:r>
                        <a:rPr kumimoji="1" lang="ja-JP" altLang="en-US" sz="1600" baseline="0" dirty="0"/>
                        <a:t>業務運用検討の支援を継続するとともに、</a:t>
                      </a:r>
                      <a:r>
                        <a:rPr kumimoji="1" lang="en-US" altLang="ja-JP" sz="1600" baseline="0" dirty="0"/>
                        <a:t>6</a:t>
                      </a:r>
                      <a:r>
                        <a:rPr kumimoji="1" lang="ja-JP" altLang="en-US" sz="1600" baseline="0" dirty="0"/>
                        <a:t>月予定のトライ</a:t>
                      </a:r>
                      <a:r>
                        <a:rPr kumimoji="1" lang="en-US" altLang="ja-JP" sz="1600" baseline="0" dirty="0"/>
                        <a:t>#1</a:t>
                      </a:r>
                      <a:r>
                        <a:rPr kumimoji="1" lang="ja-JP" altLang="en-US" sz="1600" baseline="0" dirty="0"/>
                        <a:t>リリースに向けた</a:t>
                      </a:r>
                      <a:br>
                        <a:rPr kumimoji="1" lang="en-US" altLang="ja-JP" sz="1600" baseline="0" dirty="0"/>
                      </a:br>
                      <a:r>
                        <a:rPr kumimoji="1" lang="ja-JP" altLang="en-US" sz="1600" baseline="0" dirty="0"/>
                        <a:t>機能開発を行う。</a:t>
                      </a:r>
                      <a:endParaRPr kumimoji="1" lang="en-US" altLang="ja-JP" sz="1600" baseline="0" dirty="0">
                        <a:latin typeface="+mn-lt"/>
                        <a:ea typeface="+mn-ea"/>
                      </a:endParaRPr>
                    </a:p>
                  </a:txBody>
                  <a:tcPr marL="72000" marR="72000" marT="108000" marB="108000"/>
                </a:tc>
                <a:extLst>
                  <a:ext uri="{0D108BD9-81ED-4DB2-BD59-A6C34878D82A}">
                    <a16:rowId xmlns:a16="http://schemas.microsoft.com/office/drawing/2014/main" val="2401199203"/>
                  </a:ext>
                </a:extLst>
              </a:tr>
              <a:tr h="356508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1600" baseline="0" dirty="0">
                          <a:solidFill>
                            <a:schemeClr val="accent1"/>
                          </a:solidFill>
                          <a:latin typeface="+mj-lt"/>
                          <a:ea typeface="+mj-ea"/>
                        </a:rPr>
                        <a:t>期間</a:t>
                      </a:r>
                      <a:endParaRPr kumimoji="1" lang="ja-JP" altLang="en-US" sz="1600" baseline="0" dirty="0">
                        <a:solidFill>
                          <a:schemeClr val="accent1"/>
                        </a:solidFill>
                        <a:latin typeface="+mj-lt"/>
                        <a:ea typeface="+mj-ea"/>
                      </a:endParaRPr>
                    </a:p>
                  </a:txBody>
                  <a:tcPr marL="72000" marR="72000" marT="108000" marB="10800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600" baseline="0" dirty="0"/>
                        <a:t>2026</a:t>
                      </a:r>
                      <a:r>
                        <a:rPr lang="ja-JP" altLang="en-US" sz="1600" baseline="0" dirty="0"/>
                        <a:t>年</a:t>
                      </a:r>
                      <a:r>
                        <a:rPr lang="en-US" altLang="ja-JP" sz="1600" baseline="0" dirty="0"/>
                        <a:t>1</a:t>
                      </a:r>
                      <a:r>
                        <a:rPr lang="ja-JP" altLang="en-US" sz="1600" baseline="0" dirty="0"/>
                        <a:t>月</a:t>
                      </a:r>
                      <a:r>
                        <a:rPr lang="en-US" altLang="ja-JP" sz="1600" baseline="0" dirty="0"/>
                        <a:t>5</a:t>
                      </a:r>
                      <a:r>
                        <a:rPr lang="ja-JP" altLang="en-US" sz="1600" baseline="0" dirty="0"/>
                        <a:t>日 ～ </a:t>
                      </a:r>
                      <a:r>
                        <a:rPr lang="en-US" altLang="ja-JP" sz="1600" baseline="0" dirty="0"/>
                        <a:t>2026</a:t>
                      </a:r>
                      <a:r>
                        <a:rPr lang="ja-JP" altLang="en-US" sz="1600" baseline="0" dirty="0"/>
                        <a:t>年</a:t>
                      </a:r>
                      <a:r>
                        <a:rPr lang="en-US" altLang="ja-JP" sz="1600" baseline="0" dirty="0"/>
                        <a:t>3</a:t>
                      </a:r>
                      <a:r>
                        <a:rPr lang="ja-JP" altLang="en-US" sz="1600" baseline="0" dirty="0"/>
                        <a:t>月</a:t>
                      </a:r>
                      <a:r>
                        <a:rPr lang="en-US" altLang="ja-JP" sz="1600" baseline="0" dirty="0"/>
                        <a:t>31</a:t>
                      </a:r>
                      <a:r>
                        <a:rPr lang="ja-JP" altLang="en-US" sz="1600" baseline="0" dirty="0"/>
                        <a:t>日</a:t>
                      </a:r>
                      <a:endParaRPr lang="en-US" altLang="ja-JP" sz="1600" baseline="0" dirty="0">
                        <a:latin typeface="+mn-lt"/>
                        <a:ea typeface="+mn-ea"/>
                      </a:endParaRPr>
                    </a:p>
                  </a:txBody>
                  <a:tcPr marL="72000" marR="72000" marT="108000" marB="108000"/>
                </a:tc>
                <a:extLst>
                  <a:ext uri="{0D108BD9-81ED-4DB2-BD59-A6C34878D82A}">
                    <a16:rowId xmlns:a16="http://schemas.microsoft.com/office/drawing/2014/main" val="2358593164"/>
                  </a:ext>
                </a:extLst>
              </a:tr>
              <a:tr h="356508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600" baseline="0" dirty="0">
                          <a:solidFill>
                            <a:schemeClr val="accent1"/>
                          </a:solidFill>
                          <a:latin typeface="+mj-lt"/>
                          <a:ea typeface="+mj-ea"/>
                        </a:rPr>
                        <a:t>契約形態</a:t>
                      </a:r>
                    </a:p>
                  </a:txBody>
                  <a:tcPr marL="72000" marR="72000" marT="108000" marB="10800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1600" baseline="0" dirty="0">
                          <a:latin typeface="+mn-lt"/>
                          <a:ea typeface="+mn-ea"/>
                        </a:rPr>
                        <a:t>準委任契約</a:t>
                      </a:r>
                      <a:endParaRPr lang="en-US" altLang="ja-JP" sz="1600" baseline="0" dirty="0">
                        <a:latin typeface="+mn-lt"/>
                        <a:ea typeface="+mn-ea"/>
                      </a:endParaRPr>
                    </a:p>
                  </a:txBody>
                  <a:tcPr marL="72000" marR="72000" marT="108000" marB="108000"/>
                </a:tc>
                <a:extLst>
                  <a:ext uri="{0D108BD9-81ED-4DB2-BD59-A6C34878D82A}">
                    <a16:rowId xmlns:a16="http://schemas.microsoft.com/office/drawing/2014/main" val="2106349288"/>
                  </a:ext>
                </a:extLst>
              </a:tr>
              <a:tr h="320288">
                <a:tc>
                  <a:txBody>
                    <a:bodyPr/>
                    <a:lstStyle/>
                    <a:p>
                      <a:pPr algn="r">
                        <a:lnSpc>
                          <a:spcPct val="120000"/>
                        </a:lnSpc>
                      </a:pPr>
                      <a:r>
                        <a:rPr kumimoji="1" lang="ja-JP" altLang="en-US" sz="1600" baseline="0" dirty="0">
                          <a:solidFill>
                            <a:schemeClr val="accent1"/>
                          </a:solidFill>
                          <a:latin typeface="+mj-lt"/>
                          <a:ea typeface="+mj-ea"/>
                        </a:rPr>
                        <a:t>工数</a:t>
                      </a:r>
                    </a:p>
                  </a:txBody>
                  <a:tcPr marL="72000" marR="72000" marT="108000" marB="10800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600" b="0" u="none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28.45</a:t>
                      </a:r>
                      <a:r>
                        <a:rPr kumimoji="1" lang="ja-JP" altLang="en-US" sz="1600" b="0" u="none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人月</a:t>
                      </a:r>
                    </a:p>
                  </a:txBody>
                  <a:tcPr marL="72000" marR="72000" marT="108000" marB="108000"/>
                </a:tc>
                <a:extLst>
                  <a:ext uri="{0D108BD9-81ED-4DB2-BD59-A6C34878D82A}">
                    <a16:rowId xmlns:a16="http://schemas.microsoft.com/office/drawing/2014/main" val="3343178588"/>
                  </a:ext>
                </a:extLst>
              </a:tr>
              <a:tr h="320288">
                <a:tc>
                  <a:txBody>
                    <a:bodyPr/>
                    <a:lstStyle/>
                    <a:p>
                      <a:pPr algn="r">
                        <a:lnSpc>
                          <a:spcPct val="120000"/>
                        </a:lnSpc>
                      </a:pPr>
                      <a:r>
                        <a:rPr kumimoji="1" lang="ja-JP" altLang="en-US" sz="1600" baseline="0" dirty="0">
                          <a:solidFill>
                            <a:schemeClr val="accent1"/>
                          </a:solidFill>
                          <a:latin typeface="+mj-lt"/>
                          <a:ea typeface="+mj-ea"/>
                        </a:rPr>
                        <a:t>金額</a:t>
                      </a:r>
                    </a:p>
                  </a:txBody>
                  <a:tcPr marL="72000" marR="72000" marT="108000" marB="10800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600" baseline="0" dirty="0">
                          <a:solidFill>
                            <a:schemeClr val="tx1"/>
                          </a:solidFill>
                        </a:rPr>
                        <a:t>44,798</a:t>
                      </a:r>
                      <a:r>
                        <a:rPr kumimoji="1" lang="ja-JP" altLang="en-US" sz="1600" baseline="0" dirty="0">
                          <a:solidFill>
                            <a:schemeClr val="tx1"/>
                          </a:solidFill>
                        </a:rPr>
                        <a:t>千円</a:t>
                      </a:r>
                      <a:endParaRPr kumimoji="1" lang="ja-JP" altLang="en-US" sz="1600" b="1" u="sng" baseline="0" dirty="0">
                        <a:solidFill>
                          <a:schemeClr val="tx1"/>
                        </a:solidFill>
                        <a:latin typeface="+mn-lt"/>
                        <a:ea typeface="+mn-ea"/>
                      </a:endParaRPr>
                    </a:p>
                  </a:txBody>
                  <a:tcPr marL="72000" marR="72000" marT="108000" marB="108000"/>
                </a:tc>
                <a:extLst>
                  <a:ext uri="{0D108BD9-81ED-4DB2-BD59-A6C34878D82A}">
                    <a16:rowId xmlns:a16="http://schemas.microsoft.com/office/drawing/2014/main" val="1834103675"/>
                  </a:ext>
                </a:extLst>
              </a:tr>
            </a:tbl>
          </a:graphicData>
        </a:graphic>
      </p:graphicFrame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D6467034-7173-8B3F-9159-599E4D6BC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85899-07DC-4708-B5DD-A200CEE14CAD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604350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13A6E7-D8A3-19B9-B956-D50086552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活動背景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DEC716BF-3357-CB2C-D9E8-2CA305EF5E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44550" y="849313"/>
            <a:ext cx="10515600" cy="553549"/>
          </a:xfrm>
        </p:spPr>
        <p:txBody>
          <a:bodyPr/>
          <a:lstStyle/>
          <a:p>
            <a:r>
              <a:rPr lang="ja-JP" altLang="en-US" dirty="0"/>
              <a:t>法規要件である</a:t>
            </a:r>
            <a:r>
              <a:rPr lang="en-US" altLang="ja-JP" dirty="0"/>
              <a:t>RXSWIN</a:t>
            </a:r>
            <a:r>
              <a:rPr lang="ja-JP" altLang="en-US" dirty="0"/>
              <a:t>対応が義務化されるため、</a:t>
            </a:r>
            <a:r>
              <a:rPr lang="en-US" altLang="ja-JP" dirty="0"/>
              <a:t>TMC</a:t>
            </a:r>
            <a:r>
              <a:rPr lang="ja-JP" altLang="en-US" dirty="0"/>
              <a:t>として対応が必要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74790198-EF8D-BA1C-DF68-BD69BC9D6B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4375" y="1558106"/>
            <a:ext cx="8272318" cy="4653178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4" name="吹き出し: 四角形 3">
            <a:extLst>
              <a:ext uri="{FF2B5EF4-FFF2-40B4-BE49-F238E27FC236}">
                <a16:creationId xmlns:a16="http://schemas.microsoft.com/office/drawing/2014/main" id="{4988A90F-E82B-84CA-D177-31E717F5EDE5}"/>
              </a:ext>
            </a:extLst>
          </p:cNvPr>
          <p:cNvSpPr/>
          <p:nvPr/>
        </p:nvSpPr>
        <p:spPr>
          <a:xfrm>
            <a:off x="1500408" y="2379481"/>
            <a:ext cx="1560043" cy="295274"/>
          </a:xfrm>
          <a:prstGeom prst="wedgeRectCallout">
            <a:avLst>
              <a:gd name="adj1" fmla="val 51189"/>
              <a:gd name="adj2" fmla="val 94324"/>
            </a:avLst>
          </a:prstGeom>
          <a:solidFill>
            <a:schemeClr val="accent2"/>
          </a:solidFill>
          <a:ln>
            <a:noFill/>
          </a:ln>
          <a:effectLst>
            <a:outerShdw blurRad="50800" dist="254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kumimoji="1" lang="ja-JP" altLang="en-US" sz="1200" dirty="0">
                <a:solidFill>
                  <a:schemeClr val="bg1"/>
                </a:solidFill>
              </a:rPr>
              <a:t>直近の開発スコープ</a:t>
            </a:r>
          </a:p>
        </p:txBody>
      </p:sp>
      <p:sp>
        <p:nvSpPr>
          <p:cNvPr id="6" name="吹き出し: 四角形 5">
            <a:extLst>
              <a:ext uri="{FF2B5EF4-FFF2-40B4-BE49-F238E27FC236}">
                <a16:creationId xmlns:a16="http://schemas.microsoft.com/office/drawing/2014/main" id="{A2371D56-755E-1875-6402-6305C4950ED5}"/>
              </a:ext>
            </a:extLst>
          </p:cNvPr>
          <p:cNvSpPr/>
          <p:nvPr/>
        </p:nvSpPr>
        <p:spPr>
          <a:xfrm>
            <a:off x="2260232" y="3737058"/>
            <a:ext cx="800219" cy="295274"/>
          </a:xfrm>
          <a:prstGeom prst="wedgeRectCallout">
            <a:avLst>
              <a:gd name="adj1" fmla="val 51189"/>
              <a:gd name="adj2" fmla="val 94324"/>
            </a:avLst>
          </a:prstGeom>
          <a:solidFill>
            <a:schemeClr val="accent2"/>
          </a:solidFill>
          <a:ln>
            <a:noFill/>
          </a:ln>
          <a:effectLst>
            <a:outerShdw blurRad="50800" dist="254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kumimoji="1" lang="ja-JP" altLang="en-US" sz="1200" dirty="0">
                <a:solidFill>
                  <a:schemeClr val="bg1"/>
                </a:solidFill>
              </a:rPr>
              <a:t>継続議論</a:t>
            </a:r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FF1A588-3513-1B70-0E77-6F707AE6FC3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DF85899-07DC-4708-B5DD-A200CEE14CAD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980752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13A6E7-D8A3-19B9-B956-D50086552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活動背景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DEC716BF-3357-CB2C-D9E8-2CA305EF5E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ja-JP" dirty="0"/>
              <a:t>RXSWIN</a:t>
            </a:r>
            <a:r>
              <a:rPr lang="ja-JP" altLang="en-US" dirty="0"/>
              <a:t>とは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7C0A24B0-56D6-D33D-A36A-FF4ECE12AA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0780" y="1469094"/>
            <a:ext cx="8470439" cy="4764621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2AAFBEE-1DBC-03E6-A248-EEBD8C2C896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DF85899-07DC-4708-B5DD-A200CEE14CAD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315998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4BB4950-7699-1F2C-74DF-F6FCCD025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活動背景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7AA9E5E-333B-967E-519F-F2D18110265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44550" y="849313"/>
            <a:ext cx="10515600" cy="1070614"/>
          </a:xfrm>
        </p:spPr>
        <p:txBody>
          <a:bodyPr/>
          <a:lstStyle/>
          <a:p>
            <a:r>
              <a:rPr kumimoji="1" lang="ja-JP" altLang="en-US" dirty="0"/>
              <a:t>まずは法規対応に必要な、</a:t>
            </a:r>
            <a:r>
              <a:rPr kumimoji="1" lang="en-US" altLang="ja-JP" dirty="0"/>
              <a:t>SW</a:t>
            </a:r>
            <a:r>
              <a:rPr kumimoji="1" lang="ja-JP" altLang="en-US" dirty="0"/>
              <a:t>関連情報を集約することが必要</a:t>
            </a:r>
            <a:br>
              <a:rPr kumimoji="1" lang="en-US" altLang="ja-JP" dirty="0"/>
            </a:br>
            <a:r>
              <a:rPr kumimoji="1" lang="ja-JP" altLang="en-US" dirty="0"/>
              <a:t>人手でやるのは困難かつリスク高のため、</a:t>
            </a:r>
            <a:r>
              <a:rPr kumimoji="1" lang="en-US" altLang="ja-JP" dirty="0"/>
              <a:t>IT</a:t>
            </a:r>
            <a:r>
              <a:rPr kumimoji="1" lang="ja-JP" altLang="en-US" dirty="0"/>
              <a:t>支援により業務成立させる</a:t>
            </a:r>
            <a:endParaRPr kumimoji="1" lang="en-US" altLang="ja-JP" dirty="0"/>
          </a:p>
        </p:txBody>
      </p:sp>
      <p:pic>
        <p:nvPicPr>
          <p:cNvPr id="16" name="図 15" descr="ダイアグラム&#10;&#10;自動的に生成された説明">
            <a:extLst>
              <a:ext uri="{FF2B5EF4-FFF2-40B4-BE49-F238E27FC236}">
                <a16:creationId xmlns:a16="http://schemas.microsoft.com/office/drawing/2014/main" id="{CE7CCB32-4352-AC27-E259-AB9582F8E0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3141" y="2117541"/>
            <a:ext cx="8959475" cy="4064773"/>
          </a:xfrm>
          <a:prstGeom prst="rect">
            <a:avLst/>
          </a:prstGeom>
        </p:spPr>
      </p:pic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55F0C2D3-93DF-CA1F-1DEE-33B28F80F7AC}"/>
              </a:ext>
            </a:extLst>
          </p:cNvPr>
          <p:cNvSpPr/>
          <p:nvPr/>
        </p:nvSpPr>
        <p:spPr>
          <a:xfrm>
            <a:off x="1573141" y="2007006"/>
            <a:ext cx="2928818" cy="4175308"/>
          </a:xfrm>
          <a:prstGeom prst="rect">
            <a:avLst/>
          </a:prstGeom>
          <a:noFill/>
          <a:ln w="76200">
            <a:solidFill>
              <a:schemeClr val="accent1">
                <a:alpha val="84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kumimoji="1" lang="ja-JP" altLang="en-US" dirty="0">
              <a:solidFill>
                <a:schemeClr val="accent1"/>
              </a:solidFill>
              <a:latin typeface="+mj-lt"/>
              <a:ea typeface="+mj-ea"/>
            </a:endParaRP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6720ABB2-BCFA-DAE4-7812-F57D9D1EAD49}"/>
              </a:ext>
            </a:extLst>
          </p:cNvPr>
          <p:cNvSpPr/>
          <p:nvPr/>
        </p:nvSpPr>
        <p:spPr>
          <a:xfrm>
            <a:off x="4540831" y="2007006"/>
            <a:ext cx="6078027" cy="4175309"/>
          </a:xfrm>
          <a:prstGeom prst="rect">
            <a:avLst/>
          </a:prstGeom>
          <a:solidFill>
            <a:schemeClr val="bg2">
              <a:alpha val="50000"/>
            </a:schemeClr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44000" bIns="144000" rtlCol="0" anchor="b"/>
          <a:lstStyle/>
          <a:p>
            <a:pPr algn="ctr">
              <a:lnSpc>
                <a:spcPct val="120000"/>
              </a:lnSpc>
            </a:pPr>
            <a:r>
              <a:rPr kumimoji="1" lang="ja-JP" altLang="en-US" sz="2000" dirty="0">
                <a:solidFill>
                  <a:schemeClr val="tx1"/>
                </a:solidFill>
                <a:latin typeface="+mj-lt"/>
                <a:ea typeface="+mj-ea"/>
              </a:rPr>
              <a:t>別途対応</a:t>
            </a:r>
            <a:endParaRPr kumimoji="1" lang="en-US" altLang="ja-JP" sz="2000" dirty="0">
              <a:solidFill>
                <a:schemeClr val="tx1"/>
              </a:solidFill>
              <a:latin typeface="+mj-lt"/>
              <a:ea typeface="+mj-ea"/>
            </a:endParaRPr>
          </a:p>
          <a:p>
            <a:pPr algn="ctr">
              <a:lnSpc>
                <a:spcPct val="120000"/>
              </a:lnSpc>
            </a:pPr>
            <a:r>
              <a:rPr kumimoji="1" lang="en-US" altLang="ja-JP" sz="1600" dirty="0">
                <a:solidFill>
                  <a:schemeClr val="tx1"/>
                </a:solidFill>
              </a:rPr>
              <a:t>※DIT</a:t>
            </a:r>
            <a:r>
              <a:rPr kumimoji="1" lang="ja-JP" altLang="en-US" sz="1600" dirty="0">
                <a:solidFill>
                  <a:schemeClr val="tx1"/>
                </a:solidFill>
              </a:rPr>
              <a:t>にて</a:t>
            </a:r>
            <a:r>
              <a:rPr kumimoji="1" lang="en-US" altLang="ja-JP" sz="1600" dirty="0">
                <a:solidFill>
                  <a:schemeClr val="tx1"/>
                </a:solidFill>
              </a:rPr>
              <a:t>TS</a:t>
            </a:r>
            <a:r>
              <a:rPr kumimoji="1" lang="ja-JP" altLang="en-US" sz="1600" dirty="0">
                <a:solidFill>
                  <a:schemeClr val="tx1"/>
                </a:solidFill>
              </a:rPr>
              <a:t>部品表情報システム部ら交え検討中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09D215F8-197F-C93C-8C68-30F7D8A31D1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DF85899-07DC-4708-B5DD-A200CEE14CAD}" type="slidenum">
              <a:rPr kumimoji="1" lang="ja-JP" altLang="en-US" smtClean="0"/>
              <a:t>4</a:t>
            </a:fld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FBC2F67-C083-3CB1-3954-7736E6E49606}"/>
              </a:ext>
            </a:extLst>
          </p:cNvPr>
          <p:cNvSpPr txBox="1"/>
          <p:nvPr/>
        </p:nvSpPr>
        <p:spPr>
          <a:xfrm>
            <a:off x="1928913" y="5670133"/>
            <a:ext cx="2217274" cy="338554"/>
          </a:xfrm>
          <a:prstGeom prst="rect">
            <a:avLst/>
          </a:prstGeom>
          <a:solidFill>
            <a:schemeClr val="accent1"/>
          </a:solidFill>
        </p:spPr>
        <p:txBody>
          <a:bodyPr wrap="none" rtlCol="0">
            <a:spAutoFit/>
          </a:bodyPr>
          <a:lstStyle/>
          <a:p>
            <a:r>
              <a:rPr kumimoji="1" lang="ja-JP" altLang="en-US" sz="1600" dirty="0">
                <a:solidFill>
                  <a:schemeClr val="bg1"/>
                </a:solidFill>
                <a:latin typeface="+mj-lt"/>
                <a:ea typeface="+mj-ea"/>
              </a:rPr>
              <a:t>システム化のスコープ</a:t>
            </a:r>
          </a:p>
        </p:txBody>
      </p:sp>
    </p:spTree>
    <p:extLst>
      <p:ext uri="{BB962C8B-B14F-4D97-AF65-F5344CB8AC3E}">
        <p14:creationId xmlns:p14="http://schemas.microsoft.com/office/powerpoint/2010/main" val="2383078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図 9" descr="ダイアグラム&#10;&#10;自動的に生成された説明">
            <a:extLst>
              <a:ext uri="{FF2B5EF4-FFF2-40B4-BE49-F238E27FC236}">
                <a16:creationId xmlns:a16="http://schemas.microsoft.com/office/drawing/2014/main" id="{40AECC79-1755-A049-38AA-4444D003BF7A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3141" y="2117541"/>
            <a:ext cx="8959475" cy="4064773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AC8D9039-0149-F769-61F0-3D8D752AA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活動背景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B9572270-4BA5-9120-8434-DF47B7725C7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DF85899-07DC-4708-B5DD-A200CEE14CAD}" type="slidenum">
              <a:rPr kumimoji="1" lang="ja-JP" altLang="en-US" smtClean="0"/>
              <a:t>5</a:t>
            </a:fld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6EF8DAA-56B6-77EB-FB9A-95201D9DFB3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44550" y="849313"/>
            <a:ext cx="10515600" cy="1070614"/>
          </a:xfrm>
        </p:spPr>
        <p:txBody>
          <a:bodyPr/>
          <a:lstStyle/>
          <a:p>
            <a:r>
              <a:rPr kumimoji="1" lang="ja-JP" altLang="en-US" dirty="0"/>
              <a:t>まずは法規対応に必要な、</a:t>
            </a:r>
            <a:r>
              <a:rPr kumimoji="1" lang="en-US" altLang="ja-JP" dirty="0"/>
              <a:t>SW</a:t>
            </a:r>
            <a:r>
              <a:rPr kumimoji="1" lang="ja-JP" altLang="en-US" dirty="0"/>
              <a:t>関連情報を集約することが必要</a:t>
            </a:r>
            <a:br>
              <a:rPr kumimoji="1" lang="ja-JP" altLang="en-US" dirty="0"/>
            </a:br>
            <a:r>
              <a:rPr kumimoji="1" lang="ja-JP" altLang="en-US" dirty="0"/>
              <a:t>人手でやるのは困難かつリスク高のため、</a:t>
            </a:r>
            <a:r>
              <a:rPr kumimoji="1" lang="en-US" altLang="ja-JP" dirty="0"/>
              <a:t>IT</a:t>
            </a:r>
            <a:r>
              <a:rPr kumimoji="1" lang="ja-JP" altLang="en-US" dirty="0"/>
              <a:t>支援により業務成立させる</a:t>
            </a:r>
          </a:p>
        </p:txBody>
      </p:sp>
      <p:pic>
        <p:nvPicPr>
          <p:cNvPr id="6" name="図 5" descr="テーブル&#10;&#10;自動的に生成された説明">
            <a:extLst>
              <a:ext uri="{FF2B5EF4-FFF2-40B4-BE49-F238E27FC236}">
                <a16:creationId xmlns:a16="http://schemas.microsoft.com/office/drawing/2014/main" id="{6815EFF0-96B5-53FE-60E5-876FB42F09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5187" y="2046584"/>
            <a:ext cx="3421625" cy="197630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9" name="図 8" descr="ダイアグラム&#10;&#10;自動的に生成された説明">
            <a:extLst>
              <a:ext uri="{FF2B5EF4-FFF2-40B4-BE49-F238E27FC236}">
                <a16:creationId xmlns:a16="http://schemas.microsoft.com/office/drawing/2014/main" id="{C3283172-8F64-5267-8E08-D23A1C30A68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050"/>
          <a:stretch/>
        </p:blipFill>
        <p:spPr>
          <a:xfrm>
            <a:off x="7570807" y="4613799"/>
            <a:ext cx="4294805" cy="156851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12606477-364F-BC16-A950-B669B2308A6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4902" t="55359" r="15437" b="4538"/>
          <a:stretch/>
        </p:blipFill>
        <p:spPr>
          <a:xfrm>
            <a:off x="486033" y="3429000"/>
            <a:ext cx="3410465" cy="1804932"/>
          </a:xfrm>
          <a:prstGeom prst="rect">
            <a:avLst/>
          </a:prstGeom>
          <a:ln w="57150">
            <a:solidFill>
              <a:schemeClr val="accent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cxnSp>
        <p:nvCxnSpPr>
          <p:cNvPr id="13" name="コネクタ: カギ線 12">
            <a:extLst>
              <a:ext uri="{FF2B5EF4-FFF2-40B4-BE49-F238E27FC236}">
                <a16:creationId xmlns:a16="http://schemas.microsoft.com/office/drawing/2014/main" id="{C70CE7D4-6DF3-8C26-CBE4-0AD7CE7D9D29}"/>
              </a:ext>
            </a:extLst>
          </p:cNvPr>
          <p:cNvCxnSpPr>
            <a:stCxn id="11" idx="3"/>
            <a:endCxn id="6" idx="1"/>
          </p:cNvCxnSpPr>
          <p:nvPr/>
        </p:nvCxnSpPr>
        <p:spPr>
          <a:xfrm flipV="1">
            <a:off x="3896498" y="3034735"/>
            <a:ext cx="488689" cy="1296731"/>
          </a:xfrm>
          <a:prstGeom prst="bentConnector3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コネクタ: カギ線 13">
            <a:extLst>
              <a:ext uri="{FF2B5EF4-FFF2-40B4-BE49-F238E27FC236}">
                <a16:creationId xmlns:a16="http://schemas.microsoft.com/office/drawing/2014/main" id="{EBF0A0F1-5286-7761-3694-C0D0FF71D55B}"/>
              </a:ext>
            </a:extLst>
          </p:cNvPr>
          <p:cNvCxnSpPr>
            <a:cxnSpLocks/>
            <a:stCxn id="11" idx="3"/>
            <a:endCxn id="9" idx="1"/>
          </p:cNvCxnSpPr>
          <p:nvPr/>
        </p:nvCxnSpPr>
        <p:spPr>
          <a:xfrm>
            <a:off x="3896498" y="4331466"/>
            <a:ext cx="3674309" cy="1066591"/>
          </a:xfrm>
          <a:prstGeom prst="bentConnector3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3E436AF0-E931-2788-EAD0-1DABA95DE20F}"/>
              </a:ext>
            </a:extLst>
          </p:cNvPr>
          <p:cNvSpPr txBox="1"/>
          <p:nvPr/>
        </p:nvSpPr>
        <p:spPr>
          <a:xfrm>
            <a:off x="1018652" y="4434599"/>
            <a:ext cx="2334292" cy="58759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kumimoji="1" lang="ja-JP" altLang="en-US" sz="1400" dirty="0">
                <a:solidFill>
                  <a:schemeClr val="accent1"/>
                </a:solidFill>
                <a:latin typeface="+mj-lt"/>
                <a:ea typeface="+mj-ea"/>
              </a:rPr>
              <a:t>申請・管理の元ネタとなる</a:t>
            </a:r>
            <a:br>
              <a:rPr kumimoji="1" lang="en-US" altLang="ja-JP" sz="1400" dirty="0">
                <a:solidFill>
                  <a:schemeClr val="accent1"/>
                </a:solidFill>
                <a:latin typeface="+mj-lt"/>
                <a:ea typeface="+mj-ea"/>
              </a:rPr>
            </a:br>
            <a:r>
              <a:rPr kumimoji="1" lang="ja-JP" altLang="en-US" sz="1400" dirty="0">
                <a:solidFill>
                  <a:schemeClr val="accent1"/>
                </a:solidFill>
                <a:latin typeface="+mj-lt"/>
                <a:ea typeface="+mj-ea"/>
              </a:rPr>
              <a:t>対象部品リストの作成</a:t>
            </a: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3133B911-94D9-0029-F320-E1C49A91F2AF}"/>
              </a:ext>
            </a:extLst>
          </p:cNvPr>
          <p:cNvSpPr txBox="1"/>
          <p:nvPr/>
        </p:nvSpPr>
        <p:spPr>
          <a:xfrm>
            <a:off x="4973097" y="2251399"/>
            <a:ext cx="2159566" cy="32906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kumimoji="1" lang="ja-JP" altLang="en-US" sz="1400" dirty="0">
                <a:solidFill>
                  <a:schemeClr val="tx2"/>
                </a:solidFill>
                <a:latin typeface="+mj-lt"/>
                <a:ea typeface="+mj-ea"/>
              </a:rPr>
              <a:t>活用先）法規認証申請書</a:t>
            </a: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EAD7544D-A0D3-8D1E-AB19-D20BA4D3E48C}"/>
              </a:ext>
            </a:extLst>
          </p:cNvPr>
          <p:cNvSpPr txBox="1"/>
          <p:nvPr/>
        </p:nvSpPr>
        <p:spPr>
          <a:xfrm>
            <a:off x="7570807" y="4646335"/>
            <a:ext cx="3193503" cy="32906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kumimoji="1" lang="ja-JP" altLang="en-US" sz="1400" dirty="0">
                <a:solidFill>
                  <a:schemeClr val="tx2"/>
                </a:solidFill>
                <a:latin typeface="+mj-lt"/>
                <a:ea typeface="+mj-ea"/>
              </a:rPr>
              <a:t>活用先）</a:t>
            </a:r>
            <a:r>
              <a:rPr kumimoji="1" lang="en-US" altLang="ja-JP" sz="1400" dirty="0">
                <a:solidFill>
                  <a:schemeClr val="tx2"/>
                </a:solidFill>
                <a:latin typeface="+mj-lt"/>
                <a:ea typeface="+mj-ea"/>
              </a:rPr>
              <a:t>VIN × SWIN</a:t>
            </a:r>
            <a:r>
              <a:rPr kumimoji="1" lang="ja-JP" altLang="en-US" sz="1400" dirty="0">
                <a:solidFill>
                  <a:schemeClr val="tx2"/>
                </a:solidFill>
                <a:latin typeface="+mj-lt"/>
                <a:ea typeface="+mj-ea"/>
              </a:rPr>
              <a:t>の引当て・管理</a:t>
            </a:r>
          </a:p>
        </p:txBody>
      </p:sp>
    </p:spTree>
    <p:extLst>
      <p:ext uri="{BB962C8B-B14F-4D97-AF65-F5344CB8AC3E}">
        <p14:creationId xmlns:p14="http://schemas.microsoft.com/office/powerpoint/2010/main" val="28910007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 descr="ダイアグラム&#10;&#10;自動的に生成された説明">
            <a:extLst>
              <a:ext uri="{FF2B5EF4-FFF2-40B4-BE49-F238E27FC236}">
                <a16:creationId xmlns:a16="http://schemas.microsoft.com/office/drawing/2014/main" id="{AAECE787-3AB4-728E-DA0C-E532E9FBDC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3545" y="1919926"/>
            <a:ext cx="10103905" cy="4430649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0FA2D9FD-6D0C-279F-C193-00E78C4A3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活動背景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0FBA3268-9E8A-24F5-02F7-7C2C8875B2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DF85899-07DC-4708-B5DD-A200CEE14CAD}" type="slidenum">
              <a:rPr kumimoji="1" lang="ja-JP" altLang="en-US" smtClean="0"/>
              <a:t>6</a:t>
            </a:fld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8CFB6B0-E1CA-158E-C674-425FECD554D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44550" y="849313"/>
            <a:ext cx="10515600" cy="1070614"/>
          </a:xfrm>
        </p:spPr>
        <p:txBody>
          <a:bodyPr/>
          <a:lstStyle/>
          <a:p>
            <a:r>
              <a:rPr kumimoji="1" lang="ja-JP" altLang="en-US" dirty="0"/>
              <a:t>部品リスト作成には読み替えが多く</a:t>
            </a:r>
            <a:br>
              <a:rPr kumimoji="1" lang="en-US" altLang="ja-JP" dirty="0"/>
            </a:br>
            <a:r>
              <a:rPr kumimoji="1" lang="ja-JP" altLang="en-US" dirty="0"/>
              <a:t>各設計が人手で間違いなく行うのは困難・非効率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18971C08-8411-2912-C3E1-8229F9528A25}"/>
              </a:ext>
            </a:extLst>
          </p:cNvPr>
          <p:cNvSpPr txBox="1"/>
          <p:nvPr/>
        </p:nvSpPr>
        <p:spPr>
          <a:xfrm>
            <a:off x="4720898" y="4938074"/>
            <a:ext cx="6898042" cy="65832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r">
              <a:lnSpc>
                <a:spcPct val="120000"/>
              </a:lnSpc>
            </a:pPr>
            <a:r>
              <a:rPr kumimoji="1" lang="ja-JP" altLang="en-US" sz="1600" dirty="0">
                <a:solidFill>
                  <a:schemeClr val="tx2"/>
                </a:solidFill>
                <a:latin typeface="+mj-lt"/>
                <a:ea typeface="+mj-ea"/>
              </a:rPr>
              <a:t>情報の読み替えの図</a:t>
            </a:r>
            <a:br>
              <a:rPr kumimoji="1" lang="en-US" altLang="ja-JP" sz="1600" dirty="0">
                <a:solidFill>
                  <a:schemeClr val="tx2"/>
                </a:solidFill>
                <a:latin typeface="+mj-lt"/>
                <a:ea typeface="+mj-ea"/>
              </a:rPr>
            </a:br>
            <a:r>
              <a:rPr kumimoji="1" lang="en-US" altLang="ja-JP" sz="1600" dirty="0">
                <a:solidFill>
                  <a:schemeClr val="tx2"/>
                </a:solidFill>
                <a:latin typeface="+mj-lt"/>
                <a:ea typeface="+mj-ea"/>
              </a:rPr>
              <a:t>MOS</a:t>
            </a:r>
            <a:r>
              <a:rPr kumimoji="1" lang="ja-JP" altLang="en-US" sz="1600" dirty="0">
                <a:solidFill>
                  <a:schemeClr val="tx2"/>
                </a:solidFill>
                <a:latin typeface="+mj-lt"/>
                <a:ea typeface="+mj-ea"/>
              </a:rPr>
              <a:t>や技</a:t>
            </a:r>
            <a:r>
              <a:rPr kumimoji="1" lang="en-US" altLang="ja-JP" sz="1600" dirty="0">
                <a:solidFill>
                  <a:schemeClr val="tx2"/>
                </a:solidFill>
                <a:latin typeface="+mj-lt"/>
                <a:ea typeface="+mj-ea"/>
              </a:rPr>
              <a:t>S</a:t>
            </a:r>
            <a:r>
              <a:rPr kumimoji="1" lang="ja-JP" altLang="en-US" sz="1600" dirty="0">
                <a:solidFill>
                  <a:schemeClr val="tx2"/>
                </a:solidFill>
                <a:latin typeface="+mj-lt"/>
                <a:ea typeface="+mj-ea"/>
              </a:rPr>
              <a:t>の各検索機能、</a:t>
            </a:r>
            <a:r>
              <a:rPr kumimoji="1" lang="en-US" altLang="ja-JP" sz="1600" dirty="0">
                <a:solidFill>
                  <a:schemeClr val="tx2"/>
                </a:solidFill>
                <a:latin typeface="+mj-lt"/>
                <a:ea typeface="+mj-ea"/>
              </a:rPr>
              <a:t>AISAC</a:t>
            </a:r>
            <a:r>
              <a:rPr kumimoji="1" lang="ja-JP" altLang="en-US" sz="1600" dirty="0">
                <a:solidFill>
                  <a:schemeClr val="tx2"/>
                </a:solidFill>
                <a:latin typeface="+mj-lt"/>
                <a:ea typeface="+mj-ea"/>
              </a:rPr>
              <a:t>などを駆使して各設計が行う必要あり</a:t>
            </a:r>
          </a:p>
        </p:txBody>
      </p:sp>
    </p:spTree>
    <p:extLst>
      <p:ext uri="{BB962C8B-B14F-4D97-AF65-F5344CB8AC3E}">
        <p14:creationId xmlns:p14="http://schemas.microsoft.com/office/powerpoint/2010/main" val="467133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>
            <a:extLst>
              <a:ext uri="{FF2B5EF4-FFF2-40B4-BE49-F238E27FC236}">
                <a16:creationId xmlns:a16="http://schemas.microsoft.com/office/drawing/2014/main" id="{49ABF93B-5B70-1740-00DE-FEF23818D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大日程</a:t>
            </a:r>
          </a:p>
        </p:txBody>
      </p:sp>
      <p:graphicFrame>
        <p:nvGraphicFramePr>
          <p:cNvPr id="19" name="表 18">
            <a:extLst>
              <a:ext uri="{FF2B5EF4-FFF2-40B4-BE49-F238E27FC236}">
                <a16:creationId xmlns:a16="http://schemas.microsoft.com/office/drawing/2014/main" id="{89DA44A5-6305-8927-C82F-979034E3F6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730226"/>
              </p:ext>
            </p:extLst>
          </p:nvPr>
        </p:nvGraphicFramePr>
        <p:xfrm>
          <a:off x="343034" y="1503111"/>
          <a:ext cx="11522578" cy="405399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29018">
                  <a:extLst>
                    <a:ext uri="{9D8B030D-6E8A-4147-A177-3AD203B41FA5}">
                      <a16:colId xmlns:a16="http://schemas.microsoft.com/office/drawing/2014/main" val="2060048413"/>
                    </a:ext>
                  </a:extLst>
                </a:gridCol>
                <a:gridCol w="953960">
                  <a:extLst>
                    <a:ext uri="{9D8B030D-6E8A-4147-A177-3AD203B41FA5}">
                      <a16:colId xmlns:a16="http://schemas.microsoft.com/office/drawing/2014/main" val="111971042"/>
                    </a:ext>
                  </a:extLst>
                </a:gridCol>
                <a:gridCol w="953960">
                  <a:extLst>
                    <a:ext uri="{9D8B030D-6E8A-4147-A177-3AD203B41FA5}">
                      <a16:colId xmlns:a16="http://schemas.microsoft.com/office/drawing/2014/main" val="2771841303"/>
                    </a:ext>
                  </a:extLst>
                </a:gridCol>
                <a:gridCol w="953960">
                  <a:extLst>
                    <a:ext uri="{9D8B030D-6E8A-4147-A177-3AD203B41FA5}">
                      <a16:colId xmlns:a16="http://schemas.microsoft.com/office/drawing/2014/main" val="3393092949"/>
                    </a:ext>
                  </a:extLst>
                </a:gridCol>
                <a:gridCol w="953960">
                  <a:extLst>
                    <a:ext uri="{9D8B030D-6E8A-4147-A177-3AD203B41FA5}">
                      <a16:colId xmlns:a16="http://schemas.microsoft.com/office/drawing/2014/main" val="2323854912"/>
                    </a:ext>
                  </a:extLst>
                </a:gridCol>
                <a:gridCol w="953960">
                  <a:extLst>
                    <a:ext uri="{9D8B030D-6E8A-4147-A177-3AD203B41FA5}">
                      <a16:colId xmlns:a16="http://schemas.microsoft.com/office/drawing/2014/main" val="3798929034"/>
                    </a:ext>
                  </a:extLst>
                </a:gridCol>
                <a:gridCol w="953960">
                  <a:extLst>
                    <a:ext uri="{9D8B030D-6E8A-4147-A177-3AD203B41FA5}">
                      <a16:colId xmlns:a16="http://schemas.microsoft.com/office/drawing/2014/main" val="967667144"/>
                    </a:ext>
                  </a:extLst>
                </a:gridCol>
                <a:gridCol w="953960">
                  <a:extLst>
                    <a:ext uri="{9D8B030D-6E8A-4147-A177-3AD203B41FA5}">
                      <a16:colId xmlns:a16="http://schemas.microsoft.com/office/drawing/2014/main" val="1339329538"/>
                    </a:ext>
                  </a:extLst>
                </a:gridCol>
                <a:gridCol w="953960">
                  <a:extLst>
                    <a:ext uri="{9D8B030D-6E8A-4147-A177-3AD203B41FA5}">
                      <a16:colId xmlns:a16="http://schemas.microsoft.com/office/drawing/2014/main" val="3482329345"/>
                    </a:ext>
                  </a:extLst>
                </a:gridCol>
                <a:gridCol w="953960">
                  <a:extLst>
                    <a:ext uri="{9D8B030D-6E8A-4147-A177-3AD203B41FA5}">
                      <a16:colId xmlns:a16="http://schemas.microsoft.com/office/drawing/2014/main" val="4182182236"/>
                    </a:ext>
                  </a:extLst>
                </a:gridCol>
                <a:gridCol w="953960">
                  <a:extLst>
                    <a:ext uri="{9D8B030D-6E8A-4147-A177-3AD203B41FA5}">
                      <a16:colId xmlns:a16="http://schemas.microsoft.com/office/drawing/2014/main" val="3408885969"/>
                    </a:ext>
                  </a:extLst>
                </a:gridCol>
                <a:gridCol w="953960">
                  <a:extLst>
                    <a:ext uri="{9D8B030D-6E8A-4147-A177-3AD203B41FA5}">
                      <a16:colId xmlns:a16="http://schemas.microsoft.com/office/drawing/2014/main" val="3406954723"/>
                    </a:ext>
                  </a:extLst>
                </a:gridCol>
              </a:tblGrid>
              <a:tr h="182387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endParaRPr kumimoji="1" lang="ja-JP" altLang="en-US" sz="1200" b="0" dirty="0">
                        <a:solidFill>
                          <a:schemeClr val="bg2"/>
                        </a:solidFill>
                      </a:endParaRPr>
                    </a:p>
                  </a:txBody>
                  <a:tcPr marT="72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kumimoji="1" lang="en-US" altLang="ja-JP" sz="1200" b="0" dirty="0">
                          <a:solidFill>
                            <a:schemeClr val="bg2"/>
                          </a:solidFill>
                        </a:rPr>
                        <a:t>FY25</a:t>
                      </a:r>
                      <a:endParaRPr kumimoji="1" lang="ja-JP" altLang="en-US" sz="1200" b="0" dirty="0">
                        <a:solidFill>
                          <a:schemeClr val="bg2"/>
                        </a:solidFill>
                      </a:endParaRPr>
                    </a:p>
                  </a:txBody>
                  <a:tcPr marT="72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kumimoji="1" lang="ja-JP" altLang="en-US" sz="1200" b="0" dirty="0">
                        <a:solidFill>
                          <a:schemeClr val="bg2"/>
                        </a:solidFill>
                      </a:endParaRPr>
                    </a:p>
                  </a:txBody>
                  <a:tcPr marT="72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kumimoji="1" lang="ja-JP" altLang="en-US" sz="1200" b="0" dirty="0">
                        <a:solidFill>
                          <a:schemeClr val="bg2"/>
                        </a:solidFill>
                      </a:endParaRPr>
                    </a:p>
                  </a:txBody>
                  <a:tcPr marT="72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kumimoji="1" lang="en-US" altLang="ja-JP" sz="1200" b="0" dirty="0">
                          <a:solidFill>
                            <a:schemeClr val="bg2"/>
                          </a:solidFill>
                        </a:rPr>
                        <a:t>FY26</a:t>
                      </a:r>
                      <a:endParaRPr kumimoji="1" lang="ja-JP" altLang="en-US" sz="1200" b="0" dirty="0">
                        <a:solidFill>
                          <a:schemeClr val="bg2"/>
                        </a:solidFill>
                      </a:endParaRPr>
                    </a:p>
                  </a:txBody>
                  <a:tcPr marT="72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400" b="1">
                        <a:solidFill>
                          <a:schemeClr val="tx2"/>
                        </a:solidFill>
                      </a:endParaRPr>
                    </a:p>
                  </a:txBody>
                  <a:tcPr marT="72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400" b="1" dirty="0">
                        <a:solidFill>
                          <a:schemeClr val="tx2"/>
                        </a:solidFill>
                      </a:endParaRPr>
                    </a:p>
                  </a:txBody>
                  <a:tcPr marT="72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400" b="1" dirty="0">
                        <a:solidFill>
                          <a:schemeClr val="tx2"/>
                        </a:solidFill>
                      </a:endParaRPr>
                    </a:p>
                  </a:txBody>
                  <a:tcPr marT="72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kumimoji="1" lang="en-US" altLang="ja-JP" sz="1200" b="0" dirty="0">
                          <a:solidFill>
                            <a:schemeClr val="bg2"/>
                          </a:solidFill>
                        </a:rPr>
                        <a:t>FY27</a:t>
                      </a:r>
                      <a:endParaRPr kumimoji="1" lang="ja-JP" altLang="en-US" sz="1200" b="0" dirty="0">
                        <a:solidFill>
                          <a:schemeClr val="bg2"/>
                        </a:solidFill>
                      </a:endParaRPr>
                    </a:p>
                  </a:txBody>
                  <a:tcPr marT="72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kumimoji="1" lang="ja-JP" altLang="en-US" sz="1200" b="0" dirty="0">
                        <a:solidFill>
                          <a:schemeClr val="bg2"/>
                        </a:solidFill>
                      </a:endParaRPr>
                    </a:p>
                  </a:txBody>
                  <a:tcPr marT="72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kumimoji="1" lang="ja-JP" altLang="en-US" sz="1200" b="0" dirty="0">
                        <a:solidFill>
                          <a:schemeClr val="bg2"/>
                        </a:solidFill>
                      </a:endParaRPr>
                    </a:p>
                  </a:txBody>
                  <a:tcPr marT="72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kumimoji="1" lang="ja-JP" altLang="en-US" sz="1200" b="0" dirty="0">
                        <a:solidFill>
                          <a:schemeClr val="bg2"/>
                        </a:solidFill>
                      </a:endParaRPr>
                    </a:p>
                  </a:txBody>
                  <a:tcPr marT="72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4195889"/>
                  </a:ext>
                </a:extLst>
              </a:tr>
              <a:tr h="182387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endParaRPr kumimoji="1" lang="ja-JP" altLang="en-US" sz="1200" b="0" dirty="0">
                        <a:solidFill>
                          <a:schemeClr val="bg2"/>
                        </a:solidFill>
                      </a:endParaRPr>
                    </a:p>
                  </a:txBody>
                  <a:tcPr marT="72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kumimoji="1" lang="en-US" altLang="ja-JP" sz="1200" b="0" dirty="0">
                          <a:solidFill>
                            <a:schemeClr val="bg2"/>
                          </a:solidFill>
                        </a:rPr>
                        <a:t>2Q</a:t>
                      </a:r>
                      <a:endParaRPr kumimoji="1" lang="ja-JP" altLang="en-US" sz="1200" b="0" dirty="0">
                        <a:solidFill>
                          <a:schemeClr val="bg2"/>
                        </a:solidFill>
                      </a:endParaRPr>
                    </a:p>
                  </a:txBody>
                  <a:tcPr marT="72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kumimoji="1" lang="en-US" altLang="ja-JP" sz="1200" b="0" dirty="0">
                          <a:solidFill>
                            <a:schemeClr val="bg2"/>
                          </a:solidFill>
                        </a:rPr>
                        <a:t>3Q</a:t>
                      </a:r>
                      <a:endParaRPr kumimoji="1" lang="ja-JP" altLang="en-US" sz="1200" b="0" dirty="0">
                        <a:solidFill>
                          <a:schemeClr val="bg2"/>
                        </a:solidFill>
                      </a:endParaRPr>
                    </a:p>
                  </a:txBody>
                  <a:tcPr marT="72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kumimoji="1" lang="en-US" altLang="ja-JP" sz="1200" b="0" dirty="0">
                          <a:solidFill>
                            <a:schemeClr val="bg2"/>
                          </a:solidFill>
                        </a:rPr>
                        <a:t>4Q</a:t>
                      </a:r>
                      <a:endParaRPr kumimoji="1" lang="ja-JP" altLang="en-US" sz="1200" b="0" dirty="0">
                        <a:solidFill>
                          <a:schemeClr val="bg2"/>
                        </a:solidFill>
                      </a:endParaRPr>
                    </a:p>
                  </a:txBody>
                  <a:tcPr marT="72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kumimoji="1" lang="en-US" altLang="ja-JP" sz="1200" b="0" dirty="0">
                          <a:solidFill>
                            <a:schemeClr val="bg2"/>
                          </a:solidFill>
                        </a:rPr>
                        <a:t>1Q</a:t>
                      </a:r>
                      <a:endParaRPr kumimoji="1" lang="ja-JP" altLang="en-US" sz="1200" b="0" dirty="0">
                        <a:solidFill>
                          <a:schemeClr val="bg2"/>
                        </a:solidFill>
                      </a:endParaRPr>
                    </a:p>
                  </a:txBody>
                  <a:tcPr marT="72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kumimoji="1" lang="en-US" altLang="ja-JP" sz="1200" b="0" dirty="0">
                          <a:solidFill>
                            <a:schemeClr val="bg2"/>
                          </a:solidFill>
                        </a:rPr>
                        <a:t>2Q</a:t>
                      </a:r>
                      <a:endParaRPr kumimoji="1" lang="ja-JP" altLang="en-US" sz="1200" b="0" dirty="0">
                        <a:solidFill>
                          <a:schemeClr val="bg2"/>
                        </a:solidFill>
                      </a:endParaRPr>
                    </a:p>
                  </a:txBody>
                  <a:tcPr marT="72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kumimoji="1" lang="en-US" altLang="ja-JP" sz="1200" b="0" dirty="0">
                          <a:solidFill>
                            <a:schemeClr val="bg2"/>
                          </a:solidFill>
                        </a:rPr>
                        <a:t>3Q</a:t>
                      </a:r>
                      <a:endParaRPr kumimoji="1" lang="ja-JP" altLang="en-US" sz="1200" b="0" dirty="0">
                        <a:solidFill>
                          <a:schemeClr val="bg2"/>
                        </a:solidFill>
                      </a:endParaRPr>
                    </a:p>
                  </a:txBody>
                  <a:tcPr marT="72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kumimoji="1" lang="en-US" altLang="ja-JP" sz="1200" b="0" dirty="0">
                          <a:solidFill>
                            <a:schemeClr val="bg2"/>
                          </a:solidFill>
                        </a:rPr>
                        <a:t>4Q</a:t>
                      </a:r>
                      <a:endParaRPr kumimoji="1" lang="ja-JP" altLang="en-US" sz="1200" b="0" dirty="0">
                        <a:solidFill>
                          <a:schemeClr val="bg2"/>
                        </a:solidFill>
                      </a:endParaRPr>
                    </a:p>
                  </a:txBody>
                  <a:tcPr marT="72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kumimoji="1" lang="en-US" altLang="ja-JP" sz="1200" b="0" dirty="0">
                          <a:solidFill>
                            <a:schemeClr val="bg2"/>
                          </a:solidFill>
                        </a:rPr>
                        <a:t>1Q</a:t>
                      </a:r>
                      <a:endParaRPr kumimoji="1" lang="ja-JP" altLang="en-US" sz="1200" b="0" dirty="0">
                        <a:solidFill>
                          <a:schemeClr val="bg2"/>
                        </a:solidFill>
                      </a:endParaRPr>
                    </a:p>
                  </a:txBody>
                  <a:tcPr marT="72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kumimoji="1" lang="en-US" altLang="ja-JP" sz="1200" b="0" dirty="0">
                          <a:solidFill>
                            <a:schemeClr val="bg2"/>
                          </a:solidFill>
                        </a:rPr>
                        <a:t>2Q</a:t>
                      </a:r>
                      <a:endParaRPr kumimoji="1" lang="ja-JP" altLang="en-US" sz="1200" b="0" dirty="0">
                        <a:solidFill>
                          <a:schemeClr val="bg2"/>
                        </a:solidFill>
                      </a:endParaRPr>
                    </a:p>
                  </a:txBody>
                  <a:tcPr marT="72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kumimoji="1" lang="en-US" altLang="ja-JP" sz="1200" b="0" dirty="0">
                          <a:solidFill>
                            <a:schemeClr val="bg2"/>
                          </a:solidFill>
                        </a:rPr>
                        <a:t>3Q</a:t>
                      </a:r>
                      <a:endParaRPr kumimoji="1" lang="ja-JP" altLang="en-US" sz="1200" b="0" dirty="0">
                        <a:solidFill>
                          <a:schemeClr val="bg2"/>
                        </a:solidFill>
                      </a:endParaRPr>
                    </a:p>
                  </a:txBody>
                  <a:tcPr marT="72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kumimoji="1" lang="en-US" altLang="ja-JP" sz="1200" b="0" dirty="0">
                          <a:solidFill>
                            <a:schemeClr val="bg2"/>
                          </a:solidFill>
                        </a:rPr>
                        <a:t>4Q</a:t>
                      </a:r>
                      <a:endParaRPr kumimoji="1" lang="ja-JP" altLang="en-US" sz="1200" b="0" dirty="0">
                        <a:solidFill>
                          <a:schemeClr val="bg2"/>
                        </a:solidFill>
                      </a:endParaRPr>
                    </a:p>
                  </a:txBody>
                  <a:tcPr marT="72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8188042"/>
                  </a:ext>
                </a:extLst>
              </a:tr>
              <a:tr h="1190564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kumimoji="1" lang="ja-JP" altLang="en-US" sz="1200" b="1" dirty="0"/>
                        <a:t>頭出し車両</a:t>
                      </a:r>
                      <a:br>
                        <a:rPr kumimoji="1" lang="en-US" altLang="ja-JP" sz="1200" b="1" dirty="0"/>
                      </a:br>
                      <a:r>
                        <a:rPr kumimoji="1" lang="en-US" altLang="ja-JP" sz="1200" b="1" dirty="0"/>
                        <a:t>(BEVStep3)</a:t>
                      </a:r>
                      <a:endParaRPr kumimoji="1" lang="ja-JP" altLang="en-US" sz="1200" b="1" dirty="0"/>
                    </a:p>
                  </a:txBody>
                  <a:tcPr marT="72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endParaRPr kumimoji="1" lang="ja-JP" altLang="en-US" sz="1200" b="1" dirty="0"/>
                    </a:p>
                  </a:txBody>
                  <a:tcPr marT="72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endParaRPr kumimoji="1" lang="ja-JP" altLang="en-US" sz="1200" b="1" dirty="0"/>
                    </a:p>
                  </a:txBody>
                  <a:tcPr marT="72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endParaRPr kumimoji="1" lang="ja-JP" altLang="en-US" sz="1200" b="1" dirty="0"/>
                    </a:p>
                  </a:txBody>
                  <a:tcPr marT="72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endParaRPr kumimoji="1" lang="ja-JP" altLang="en-US" sz="1200" b="1" dirty="0"/>
                    </a:p>
                  </a:txBody>
                  <a:tcPr marT="72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endParaRPr kumimoji="1" lang="ja-JP" altLang="en-US" sz="1200" b="1" dirty="0"/>
                    </a:p>
                  </a:txBody>
                  <a:tcPr marT="72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endParaRPr kumimoji="1" lang="ja-JP" altLang="en-US" sz="1200" b="1" dirty="0"/>
                    </a:p>
                  </a:txBody>
                  <a:tcPr marT="72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endParaRPr kumimoji="1" lang="ja-JP" altLang="en-US" sz="1200" b="1" dirty="0"/>
                    </a:p>
                  </a:txBody>
                  <a:tcPr marT="72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endParaRPr kumimoji="1" lang="ja-JP" altLang="en-US" sz="1200" b="1" dirty="0"/>
                    </a:p>
                  </a:txBody>
                  <a:tcPr marT="72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endParaRPr kumimoji="1" lang="ja-JP" altLang="en-US" sz="1200" b="1" dirty="0"/>
                    </a:p>
                  </a:txBody>
                  <a:tcPr marT="72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endParaRPr kumimoji="1" lang="ja-JP" altLang="en-US" sz="1200" b="1" dirty="0"/>
                    </a:p>
                  </a:txBody>
                  <a:tcPr marT="72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endParaRPr kumimoji="1" lang="ja-JP" altLang="en-US" sz="1200" b="1" dirty="0"/>
                    </a:p>
                  </a:txBody>
                  <a:tcPr marT="72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918829"/>
                  </a:ext>
                </a:extLst>
              </a:tr>
              <a:tr h="1126735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kumimoji="1" lang="en-US" altLang="ja-JP" sz="1200" b="1" dirty="0"/>
                        <a:t>RXSWIN</a:t>
                      </a:r>
                      <a:br>
                        <a:rPr kumimoji="1" lang="en-US" altLang="ja-JP" sz="1200" b="1" dirty="0"/>
                      </a:br>
                      <a:r>
                        <a:rPr kumimoji="1" lang="ja-JP" altLang="en-US" sz="1200" b="1" dirty="0"/>
                        <a:t>部品リスト</a:t>
                      </a:r>
                      <a:br>
                        <a:rPr kumimoji="1" lang="en-US" altLang="ja-JP" sz="1200" b="1" dirty="0"/>
                      </a:br>
                      <a:r>
                        <a:rPr kumimoji="1" lang="ja-JP" altLang="en-US" sz="1200" b="1" dirty="0"/>
                        <a:t>出力対応</a:t>
                      </a:r>
                    </a:p>
                  </a:txBody>
                  <a:tcPr marT="72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endParaRPr kumimoji="1" lang="ja-JP" altLang="en-US" sz="1200" b="1" dirty="0"/>
                    </a:p>
                  </a:txBody>
                  <a:tcPr marT="72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endParaRPr kumimoji="1" lang="ja-JP" altLang="en-US" sz="1200" b="1" dirty="0"/>
                    </a:p>
                  </a:txBody>
                  <a:tcPr marT="72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endParaRPr kumimoji="1" lang="ja-JP" altLang="en-US" sz="1200" b="1" dirty="0"/>
                    </a:p>
                  </a:txBody>
                  <a:tcPr marT="72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endParaRPr kumimoji="1" lang="ja-JP" altLang="en-US" sz="1200" b="1" dirty="0"/>
                    </a:p>
                  </a:txBody>
                  <a:tcPr marT="72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endParaRPr kumimoji="1" lang="ja-JP" altLang="en-US" sz="1200" b="1" dirty="0"/>
                    </a:p>
                  </a:txBody>
                  <a:tcPr marT="72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endParaRPr kumimoji="1" lang="ja-JP" altLang="en-US" sz="1200" b="1" dirty="0"/>
                    </a:p>
                  </a:txBody>
                  <a:tcPr marT="72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endParaRPr kumimoji="1" lang="ja-JP" altLang="en-US" sz="1200" b="1" dirty="0"/>
                    </a:p>
                  </a:txBody>
                  <a:tcPr marT="72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endParaRPr kumimoji="1" lang="ja-JP" altLang="en-US" sz="1200" b="1" dirty="0"/>
                    </a:p>
                  </a:txBody>
                  <a:tcPr marT="72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endParaRPr kumimoji="1" lang="ja-JP" altLang="en-US" sz="1200" b="1" dirty="0"/>
                    </a:p>
                  </a:txBody>
                  <a:tcPr marT="72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endParaRPr kumimoji="1" lang="ja-JP" altLang="en-US" sz="1200" b="1" dirty="0"/>
                    </a:p>
                  </a:txBody>
                  <a:tcPr marT="72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endParaRPr kumimoji="1" lang="ja-JP" altLang="en-US" sz="1200" b="1" dirty="0"/>
                    </a:p>
                  </a:txBody>
                  <a:tcPr marT="72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2065075"/>
                  </a:ext>
                </a:extLst>
              </a:tr>
              <a:tr h="1126735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kumimoji="1" lang="en-US" altLang="ja-JP" sz="1200" b="1" dirty="0">
                          <a:solidFill>
                            <a:schemeClr val="tx2"/>
                          </a:solidFill>
                        </a:rPr>
                        <a:t>VIN×SWIN</a:t>
                      </a:r>
                      <a:br>
                        <a:rPr kumimoji="1" lang="en-US" altLang="ja-JP" sz="1200" b="1" dirty="0">
                          <a:solidFill>
                            <a:schemeClr val="tx2"/>
                          </a:solidFill>
                        </a:rPr>
                      </a:br>
                      <a:r>
                        <a:rPr kumimoji="1" lang="ja-JP" altLang="en-US" sz="1200" b="1" dirty="0">
                          <a:solidFill>
                            <a:schemeClr val="tx2"/>
                          </a:solidFill>
                        </a:rPr>
                        <a:t>紐づけ対応</a:t>
                      </a:r>
                    </a:p>
                  </a:txBody>
                  <a:tcPr marT="72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endParaRPr kumimoji="1" lang="ja-JP" altLang="en-US" sz="1200" b="1" dirty="0"/>
                    </a:p>
                  </a:txBody>
                  <a:tcPr marT="72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endParaRPr kumimoji="1" lang="ja-JP" altLang="en-US" sz="1200" b="1" dirty="0"/>
                    </a:p>
                  </a:txBody>
                  <a:tcPr marT="72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endParaRPr kumimoji="1" lang="ja-JP" altLang="en-US" sz="1200" b="1" dirty="0"/>
                    </a:p>
                  </a:txBody>
                  <a:tcPr marT="72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endParaRPr kumimoji="1" lang="ja-JP" altLang="en-US" sz="1200" b="1" dirty="0"/>
                    </a:p>
                  </a:txBody>
                  <a:tcPr marT="72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endParaRPr kumimoji="1" lang="ja-JP" altLang="en-US" sz="1200" b="1" dirty="0"/>
                    </a:p>
                  </a:txBody>
                  <a:tcPr marT="72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endParaRPr kumimoji="1" lang="ja-JP" altLang="en-US" sz="1200" b="1" dirty="0"/>
                    </a:p>
                  </a:txBody>
                  <a:tcPr marT="72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endParaRPr kumimoji="1" lang="ja-JP" altLang="en-US" sz="1200" b="1" dirty="0"/>
                    </a:p>
                  </a:txBody>
                  <a:tcPr marT="72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endParaRPr kumimoji="1" lang="ja-JP" altLang="en-US" sz="1200" b="1" dirty="0"/>
                    </a:p>
                  </a:txBody>
                  <a:tcPr marT="72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endParaRPr kumimoji="1" lang="ja-JP" altLang="en-US" sz="1200" b="1" dirty="0"/>
                    </a:p>
                  </a:txBody>
                  <a:tcPr marT="72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endParaRPr kumimoji="1" lang="ja-JP" altLang="en-US" sz="1200" b="1" dirty="0"/>
                    </a:p>
                  </a:txBody>
                  <a:tcPr marT="72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endParaRPr kumimoji="1" lang="ja-JP" altLang="en-US" sz="1200" b="1" dirty="0"/>
                    </a:p>
                  </a:txBody>
                  <a:tcPr marT="72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1742481"/>
                  </a:ext>
                </a:extLst>
              </a:tr>
            </a:tbl>
          </a:graphicData>
        </a:graphic>
      </p:graphicFrame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A72E7193-D6B3-2A9E-45B6-CBFE0C5CFBD0}"/>
              </a:ext>
            </a:extLst>
          </p:cNvPr>
          <p:cNvSpPr txBox="1"/>
          <p:nvPr/>
        </p:nvSpPr>
        <p:spPr>
          <a:xfrm>
            <a:off x="6835838" y="3416997"/>
            <a:ext cx="10823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000" dirty="0">
                <a:latin typeface="+mj-lt"/>
                <a:ea typeface="+mj-ea"/>
              </a:rPr>
              <a:t>▼号口リリース</a:t>
            </a:r>
          </a:p>
        </p:txBody>
      </p:sp>
      <p:sp>
        <p:nvSpPr>
          <p:cNvPr id="21" name="矢印: 五方向 20">
            <a:extLst>
              <a:ext uri="{FF2B5EF4-FFF2-40B4-BE49-F238E27FC236}">
                <a16:creationId xmlns:a16="http://schemas.microsoft.com/office/drawing/2014/main" id="{7ECE9AE0-4AE9-C801-D652-56ADE3A1380A}"/>
              </a:ext>
            </a:extLst>
          </p:cNvPr>
          <p:cNvSpPr/>
          <p:nvPr/>
        </p:nvSpPr>
        <p:spPr>
          <a:xfrm>
            <a:off x="3341277" y="3722602"/>
            <a:ext cx="3706270" cy="518324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100" dirty="0">
                <a:solidFill>
                  <a:schemeClr val="bg1"/>
                </a:solidFill>
              </a:rPr>
              <a:t>システム開発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A40B1100-2846-6162-EBB2-F271A6653002}"/>
              </a:ext>
            </a:extLst>
          </p:cNvPr>
          <p:cNvSpPr txBox="1"/>
          <p:nvPr/>
        </p:nvSpPr>
        <p:spPr>
          <a:xfrm>
            <a:off x="5031378" y="3416997"/>
            <a:ext cx="84830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000" dirty="0">
                <a:latin typeface="+mj-lt"/>
                <a:ea typeface="+mj-ea"/>
              </a:rPr>
              <a:t>▼トライ</a:t>
            </a:r>
            <a:r>
              <a:rPr kumimoji="1" lang="en-US" altLang="ja-JP" sz="1000" dirty="0">
                <a:latin typeface="+mj-lt"/>
                <a:ea typeface="+mj-ea"/>
              </a:rPr>
              <a:t>#1</a:t>
            </a:r>
            <a:endParaRPr kumimoji="1" lang="ja-JP" altLang="en-US" sz="1000" dirty="0">
              <a:latin typeface="+mj-lt"/>
              <a:ea typeface="+mj-ea"/>
            </a:endParaRP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06D35D55-AC95-4B6D-D314-D04BAE834905}"/>
              </a:ext>
            </a:extLst>
          </p:cNvPr>
          <p:cNvSpPr txBox="1"/>
          <p:nvPr/>
        </p:nvSpPr>
        <p:spPr>
          <a:xfrm>
            <a:off x="5987529" y="3416997"/>
            <a:ext cx="84830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000" dirty="0">
                <a:latin typeface="+mj-lt"/>
                <a:ea typeface="+mj-ea"/>
              </a:rPr>
              <a:t>▼トライ</a:t>
            </a:r>
            <a:r>
              <a:rPr kumimoji="1" lang="en-US" altLang="ja-JP" sz="1000" dirty="0">
                <a:latin typeface="+mj-lt"/>
                <a:ea typeface="+mj-ea"/>
              </a:rPr>
              <a:t>#2</a:t>
            </a:r>
            <a:endParaRPr kumimoji="1" lang="ja-JP" altLang="en-US" sz="1000" dirty="0">
              <a:latin typeface="+mj-lt"/>
              <a:ea typeface="+mj-ea"/>
            </a:endParaRPr>
          </a:p>
        </p:txBody>
      </p:sp>
      <p:sp>
        <p:nvSpPr>
          <p:cNvPr id="24" name="矢印: 五方向 23">
            <a:extLst>
              <a:ext uri="{FF2B5EF4-FFF2-40B4-BE49-F238E27FC236}">
                <a16:creationId xmlns:a16="http://schemas.microsoft.com/office/drawing/2014/main" id="{ABED6A91-4D92-9A80-7AE7-6B5E64D0E8C6}"/>
              </a:ext>
            </a:extLst>
          </p:cNvPr>
          <p:cNvSpPr/>
          <p:nvPr/>
        </p:nvSpPr>
        <p:spPr>
          <a:xfrm>
            <a:off x="1794417" y="3722602"/>
            <a:ext cx="1443130" cy="518324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100" dirty="0">
                <a:solidFill>
                  <a:schemeClr val="bg1"/>
                </a:solidFill>
              </a:rPr>
              <a:t>業務運用・要件定義</a:t>
            </a: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EF41FB74-93D0-A171-4F19-57C396CFE0DC}"/>
              </a:ext>
            </a:extLst>
          </p:cNvPr>
          <p:cNvSpPr txBox="1"/>
          <p:nvPr/>
        </p:nvSpPr>
        <p:spPr>
          <a:xfrm>
            <a:off x="10842976" y="2151794"/>
            <a:ext cx="53572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ja-JP" altLang="en-US" sz="1000" dirty="0">
                <a:latin typeface="+mj-lt"/>
                <a:ea typeface="+mj-ea"/>
              </a:rPr>
              <a:t>▼</a:t>
            </a:r>
            <a:r>
              <a:rPr kumimoji="1" lang="en-US" altLang="ja-JP" sz="1000" dirty="0">
                <a:latin typeface="+mj-lt"/>
                <a:ea typeface="+mj-ea"/>
              </a:rPr>
              <a:t>L/O</a:t>
            </a:r>
            <a:endParaRPr kumimoji="1" lang="ja-JP" altLang="en-US" sz="1000" dirty="0">
              <a:latin typeface="+mj-lt"/>
              <a:ea typeface="+mj-ea"/>
            </a:endParaRP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3F5E5D92-855D-B7F7-DC9C-1902BA721F67}"/>
              </a:ext>
            </a:extLst>
          </p:cNvPr>
          <p:cNvSpPr txBox="1"/>
          <p:nvPr/>
        </p:nvSpPr>
        <p:spPr>
          <a:xfrm>
            <a:off x="10227263" y="2427537"/>
            <a:ext cx="114005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ja-JP" altLang="en-US" sz="1000" dirty="0">
                <a:latin typeface="+mj-lt"/>
                <a:ea typeface="+mj-ea"/>
              </a:rPr>
              <a:t>▼</a:t>
            </a:r>
            <a:r>
              <a:rPr kumimoji="1" lang="en-US" altLang="ja-JP" sz="1000" dirty="0">
                <a:latin typeface="+mj-lt"/>
                <a:ea typeface="+mj-ea"/>
              </a:rPr>
              <a:t>R171</a:t>
            </a:r>
            <a:r>
              <a:rPr kumimoji="1" lang="ja-JP" altLang="en-US" sz="1000" dirty="0">
                <a:latin typeface="+mj-lt"/>
                <a:ea typeface="+mj-ea"/>
              </a:rPr>
              <a:t>認証試験</a:t>
            </a:r>
          </a:p>
        </p:txBody>
      </p:sp>
      <p:sp>
        <p:nvSpPr>
          <p:cNvPr id="27" name="矢印: 五方向 26">
            <a:extLst>
              <a:ext uri="{FF2B5EF4-FFF2-40B4-BE49-F238E27FC236}">
                <a16:creationId xmlns:a16="http://schemas.microsoft.com/office/drawing/2014/main" id="{A83D1FF6-F3F6-1F24-2B46-8D5318E27A41}"/>
              </a:ext>
            </a:extLst>
          </p:cNvPr>
          <p:cNvSpPr/>
          <p:nvPr/>
        </p:nvSpPr>
        <p:spPr>
          <a:xfrm>
            <a:off x="8137208" y="2713086"/>
            <a:ext cx="1348739" cy="464809"/>
          </a:xfrm>
          <a:prstGeom prst="homePlat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100" dirty="0">
                <a:solidFill>
                  <a:schemeClr val="bg1"/>
                </a:solidFill>
              </a:rPr>
              <a:t>部品リスト</a:t>
            </a:r>
            <a:br>
              <a:rPr kumimoji="1" lang="en-US" altLang="ja-JP" sz="1100" dirty="0">
                <a:solidFill>
                  <a:schemeClr val="bg1"/>
                </a:solidFill>
              </a:rPr>
            </a:br>
            <a:r>
              <a:rPr kumimoji="1" lang="ja-JP" altLang="en-US" sz="1100" dirty="0">
                <a:solidFill>
                  <a:schemeClr val="bg1"/>
                </a:solidFill>
              </a:rPr>
              <a:t>出力</a:t>
            </a: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F6ACEC5D-D374-D324-226B-16773514E4E9}"/>
              </a:ext>
            </a:extLst>
          </p:cNvPr>
          <p:cNvSpPr txBox="1"/>
          <p:nvPr/>
        </p:nvSpPr>
        <p:spPr>
          <a:xfrm>
            <a:off x="9435864" y="2158445"/>
            <a:ext cx="126829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000" dirty="0">
                <a:latin typeface="+mj-lt"/>
                <a:ea typeface="+mj-ea"/>
              </a:rPr>
              <a:t>▼</a:t>
            </a:r>
            <a:r>
              <a:rPr kumimoji="1" lang="en-US" altLang="ja-JP" sz="1000" dirty="0">
                <a:latin typeface="+mj-lt"/>
                <a:ea typeface="+mj-ea"/>
              </a:rPr>
              <a:t>R171</a:t>
            </a:r>
            <a:r>
              <a:rPr kumimoji="1" lang="ja-JP" altLang="en-US" sz="1000" dirty="0">
                <a:latin typeface="+mj-lt"/>
                <a:ea typeface="+mj-ea"/>
              </a:rPr>
              <a:t>申請書完成</a:t>
            </a:r>
          </a:p>
        </p:txBody>
      </p:sp>
      <p:sp>
        <p:nvSpPr>
          <p:cNvPr id="29" name="矢印: 五方向 28">
            <a:extLst>
              <a:ext uri="{FF2B5EF4-FFF2-40B4-BE49-F238E27FC236}">
                <a16:creationId xmlns:a16="http://schemas.microsoft.com/office/drawing/2014/main" id="{4EEC46A4-06A2-F13D-1CDA-BD9B50BB0D05}"/>
              </a:ext>
            </a:extLst>
          </p:cNvPr>
          <p:cNvSpPr/>
          <p:nvPr/>
        </p:nvSpPr>
        <p:spPr>
          <a:xfrm>
            <a:off x="7136705" y="3722602"/>
            <a:ext cx="4658101" cy="518324"/>
          </a:xfrm>
          <a:prstGeom prst="homePlate">
            <a:avLst/>
          </a:prstGeom>
          <a:solidFill>
            <a:schemeClr val="bg2"/>
          </a:solidFill>
          <a:ln>
            <a:solidFill>
              <a:schemeClr val="bg2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100" dirty="0">
                <a:solidFill>
                  <a:schemeClr val="tx2"/>
                </a:solidFill>
              </a:rPr>
              <a:t>維持・改善</a:t>
            </a:r>
          </a:p>
        </p:txBody>
      </p:sp>
      <p:sp>
        <p:nvSpPr>
          <p:cNvPr id="3" name="矢印: 五方向 2">
            <a:extLst>
              <a:ext uri="{FF2B5EF4-FFF2-40B4-BE49-F238E27FC236}">
                <a16:creationId xmlns:a16="http://schemas.microsoft.com/office/drawing/2014/main" id="{64D891A2-740D-CE19-6C13-18A41558110B}"/>
              </a:ext>
            </a:extLst>
          </p:cNvPr>
          <p:cNvSpPr/>
          <p:nvPr/>
        </p:nvSpPr>
        <p:spPr>
          <a:xfrm>
            <a:off x="4291279" y="4783159"/>
            <a:ext cx="4658101" cy="518324"/>
          </a:xfrm>
          <a:prstGeom prst="homePlate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100" dirty="0">
                <a:solidFill>
                  <a:schemeClr val="bg1"/>
                </a:solidFill>
              </a:rPr>
              <a:t>システム開発</a:t>
            </a:r>
          </a:p>
        </p:txBody>
      </p:sp>
      <p:sp>
        <p:nvSpPr>
          <p:cNvPr id="4" name="矢印: 五方向 3">
            <a:extLst>
              <a:ext uri="{FF2B5EF4-FFF2-40B4-BE49-F238E27FC236}">
                <a16:creationId xmlns:a16="http://schemas.microsoft.com/office/drawing/2014/main" id="{62275ABB-8B26-835B-6ECB-F313412EC443}"/>
              </a:ext>
            </a:extLst>
          </p:cNvPr>
          <p:cNvSpPr/>
          <p:nvPr/>
        </p:nvSpPr>
        <p:spPr>
          <a:xfrm>
            <a:off x="2365878" y="4783159"/>
            <a:ext cx="889536" cy="518324"/>
          </a:xfrm>
          <a:prstGeom prst="homePlate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100" dirty="0">
                <a:solidFill>
                  <a:schemeClr val="bg1"/>
                </a:solidFill>
              </a:rPr>
              <a:t>構想検討</a:t>
            </a:r>
          </a:p>
        </p:txBody>
      </p:sp>
      <p:sp>
        <p:nvSpPr>
          <p:cNvPr id="6" name="矢印: 五方向 5">
            <a:extLst>
              <a:ext uri="{FF2B5EF4-FFF2-40B4-BE49-F238E27FC236}">
                <a16:creationId xmlns:a16="http://schemas.microsoft.com/office/drawing/2014/main" id="{B6F1CAD9-E838-7628-B3FB-277C0F041E29}"/>
              </a:ext>
            </a:extLst>
          </p:cNvPr>
          <p:cNvSpPr/>
          <p:nvPr/>
        </p:nvSpPr>
        <p:spPr>
          <a:xfrm>
            <a:off x="3341276" y="4783159"/>
            <a:ext cx="889535" cy="518324"/>
          </a:xfrm>
          <a:prstGeom prst="homePlate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100" dirty="0">
                <a:solidFill>
                  <a:schemeClr val="bg1"/>
                </a:solidFill>
              </a:rPr>
              <a:t>要件定義</a:t>
            </a:r>
          </a:p>
        </p:txBody>
      </p:sp>
      <p:cxnSp>
        <p:nvCxnSpPr>
          <p:cNvPr id="2" name="直線コネクタ 1">
            <a:extLst>
              <a:ext uri="{FF2B5EF4-FFF2-40B4-BE49-F238E27FC236}">
                <a16:creationId xmlns:a16="http://schemas.microsoft.com/office/drawing/2014/main" id="{CBBB2CA9-7DBC-ABAF-BDA6-E014600FAC90}"/>
              </a:ext>
            </a:extLst>
          </p:cNvPr>
          <p:cNvCxnSpPr>
            <a:cxnSpLocks/>
          </p:cNvCxnSpPr>
          <p:nvPr/>
        </p:nvCxnSpPr>
        <p:spPr>
          <a:xfrm>
            <a:off x="3111360" y="1503111"/>
            <a:ext cx="0" cy="4053998"/>
          </a:xfrm>
          <a:prstGeom prst="line">
            <a:avLst/>
          </a:prstGeom>
          <a:ln w="28575">
            <a:solidFill>
              <a:schemeClr val="accent3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コネクタ: カギ線 7">
            <a:extLst>
              <a:ext uri="{FF2B5EF4-FFF2-40B4-BE49-F238E27FC236}">
                <a16:creationId xmlns:a16="http://schemas.microsoft.com/office/drawing/2014/main" id="{27CCD0A9-4F91-EF38-5D8B-99FFF722706E}"/>
              </a:ext>
            </a:extLst>
          </p:cNvPr>
          <p:cNvCxnSpPr>
            <a:cxnSpLocks/>
            <a:stCxn id="20" idx="0"/>
            <a:endCxn id="27" idx="1"/>
          </p:cNvCxnSpPr>
          <p:nvPr/>
        </p:nvCxnSpPr>
        <p:spPr>
          <a:xfrm rot="5400000" flipH="1" flipV="1">
            <a:off x="7521357" y="2801146"/>
            <a:ext cx="471506" cy="760196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矢印: 五方向 10">
            <a:extLst>
              <a:ext uri="{FF2B5EF4-FFF2-40B4-BE49-F238E27FC236}">
                <a16:creationId xmlns:a16="http://schemas.microsoft.com/office/drawing/2014/main" id="{45015C4F-C236-0E31-B762-D98EA7215A4D}"/>
              </a:ext>
            </a:extLst>
          </p:cNvPr>
          <p:cNvSpPr/>
          <p:nvPr/>
        </p:nvSpPr>
        <p:spPr>
          <a:xfrm>
            <a:off x="11047575" y="2713086"/>
            <a:ext cx="747231" cy="464809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100" dirty="0">
                <a:solidFill>
                  <a:schemeClr val="bg1"/>
                </a:solidFill>
              </a:rPr>
              <a:t>VIN ×</a:t>
            </a:r>
            <a:br>
              <a:rPr kumimoji="1" lang="en-US" altLang="ja-JP" sz="1100" dirty="0">
                <a:solidFill>
                  <a:schemeClr val="bg1"/>
                </a:solidFill>
              </a:rPr>
            </a:br>
            <a:r>
              <a:rPr kumimoji="1" lang="en-US" altLang="ja-JP" sz="1100" dirty="0">
                <a:solidFill>
                  <a:schemeClr val="bg1"/>
                </a:solidFill>
              </a:rPr>
              <a:t>SWIN</a:t>
            </a:r>
            <a:endParaRPr kumimoji="1" lang="ja-JP" altLang="en-US" sz="1100" dirty="0">
              <a:solidFill>
                <a:schemeClr val="bg1"/>
              </a:solidFill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CB9EDC8B-065A-10C2-42D1-E9E7096B9886}"/>
              </a:ext>
            </a:extLst>
          </p:cNvPr>
          <p:cNvSpPr txBox="1"/>
          <p:nvPr/>
        </p:nvSpPr>
        <p:spPr>
          <a:xfrm>
            <a:off x="8811577" y="4545406"/>
            <a:ext cx="10823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000" dirty="0">
                <a:latin typeface="+mj-lt"/>
                <a:ea typeface="+mj-ea"/>
              </a:rPr>
              <a:t>▼号口リリース</a:t>
            </a:r>
          </a:p>
        </p:txBody>
      </p:sp>
      <p:cxnSp>
        <p:nvCxnSpPr>
          <p:cNvPr id="14" name="コネクタ: カギ線 13">
            <a:extLst>
              <a:ext uri="{FF2B5EF4-FFF2-40B4-BE49-F238E27FC236}">
                <a16:creationId xmlns:a16="http://schemas.microsoft.com/office/drawing/2014/main" id="{1CCBAB68-E959-BEE6-4714-07764461B0D7}"/>
              </a:ext>
            </a:extLst>
          </p:cNvPr>
          <p:cNvCxnSpPr>
            <a:cxnSpLocks/>
            <a:stCxn id="13" idx="3"/>
            <a:endCxn id="11" idx="1"/>
          </p:cNvCxnSpPr>
          <p:nvPr/>
        </p:nvCxnSpPr>
        <p:spPr>
          <a:xfrm flipV="1">
            <a:off x="9893925" y="2945491"/>
            <a:ext cx="1153650" cy="1723026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6F313559-6245-09D9-FE17-8B849BBF9683}"/>
              </a:ext>
            </a:extLst>
          </p:cNvPr>
          <p:cNvSpPr txBox="1"/>
          <p:nvPr/>
        </p:nvSpPr>
        <p:spPr>
          <a:xfrm>
            <a:off x="340242" y="4924519"/>
            <a:ext cx="982961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46050" indent="-146050"/>
            <a:r>
              <a:rPr kumimoji="1" lang="en-US" altLang="ja-JP" sz="1000" dirty="0">
                <a:solidFill>
                  <a:schemeClr val="tx2"/>
                </a:solidFill>
              </a:rPr>
              <a:t>※</a:t>
            </a:r>
            <a:r>
              <a:rPr kumimoji="1" lang="ja-JP" altLang="en-US" sz="1000" dirty="0">
                <a:solidFill>
                  <a:schemeClr val="tx2"/>
                </a:solidFill>
              </a:rPr>
              <a:t> 部品表情報</a:t>
            </a:r>
            <a:br>
              <a:rPr kumimoji="1" lang="en-US" altLang="ja-JP" sz="1000" dirty="0">
                <a:solidFill>
                  <a:schemeClr val="tx2"/>
                </a:solidFill>
              </a:rPr>
            </a:br>
            <a:r>
              <a:rPr kumimoji="1" lang="ja-JP" altLang="en-US" sz="1000" dirty="0">
                <a:solidFill>
                  <a:schemeClr val="tx2"/>
                </a:solidFill>
              </a:rPr>
              <a:t>システム部</a:t>
            </a:r>
            <a:br>
              <a:rPr kumimoji="1" lang="en-US" altLang="ja-JP" sz="1000" dirty="0">
                <a:solidFill>
                  <a:schemeClr val="tx2"/>
                </a:solidFill>
              </a:rPr>
            </a:br>
            <a:r>
              <a:rPr kumimoji="1" lang="ja-JP" altLang="en-US" sz="1000" dirty="0">
                <a:solidFill>
                  <a:schemeClr val="tx2"/>
                </a:solidFill>
              </a:rPr>
              <a:t>主担当</a:t>
            </a:r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139BC28-493F-10AA-C835-515EBDC98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85899-07DC-4708-B5DD-A200CEE14CAD}" type="slidenum">
              <a:rPr kumimoji="1" lang="ja-JP" altLang="en-US" smtClean="0"/>
              <a:t>7</a:t>
            </a:fld>
            <a:endParaRPr kumimoji="1" lang="ja-JP" altLang="en-US"/>
          </a:p>
        </p:txBody>
      </p:sp>
      <p:sp>
        <p:nvSpPr>
          <p:cNvPr id="12" name="矢印: 五方向 11">
            <a:extLst>
              <a:ext uri="{FF2B5EF4-FFF2-40B4-BE49-F238E27FC236}">
                <a16:creationId xmlns:a16="http://schemas.microsoft.com/office/drawing/2014/main" id="{D1FAADC6-6C2E-3670-7572-718D63786BB2}"/>
              </a:ext>
            </a:extLst>
          </p:cNvPr>
          <p:cNvSpPr/>
          <p:nvPr/>
        </p:nvSpPr>
        <p:spPr>
          <a:xfrm>
            <a:off x="6161469" y="2191218"/>
            <a:ext cx="674370" cy="23240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100" dirty="0">
                <a:solidFill>
                  <a:schemeClr val="bg1"/>
                </a:solidFill>
              </a:rPr>
              <a:t>CV</a:t>
            </a:r>
            <a:endParaRPr kumimoji="1" lang="ja-JP" altLang="en-US" sz="1100" dirty="0">
              <a:solidFill>
                <a:schemeClr val="bg1"/>
              </a:solidFill>
            </a:endParaRPr>
          </a:p>
        </p:txBody>
      </p:sp>
      <p:sp>
        <p:nvSpPr>
          <p:cNvPr id="15" name="矢印: 五方向 14">
            <a:extLst>
              <a:ext uri="{FF2B5EF4-FFF2-40B4-BE49-F238E27FC236}">
                <a16:creationId xmlns:a16="http://schemas.microsoft.com/office/drawing/2014/main" id="{31D1C1DF-D15E-EF7B-E359-39AA2FDCE5B4}"/>
              </a:ext>
            </a:extLst>
          </p:cNvPr>
          <p:cNvSpPr/>
          <p:nvPr/>
        </p:nvSpPr>
        <p:spPr>
          <a:xfrm>
            <a:off x="8692086" y="2191218"/>
            <a:ext cx="674370" cy="23240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100" dirty="0">
                <a:solidFill>
                  <a:schemeClr val="bg1"/>
                </a:solidFill>
              </a:rPr>
              <a:t>1A</a:t>
            </a:r>
            <a:endParaRPr kumimoji="1" lang="ja-JP" altLang="en-US" sz="1100" dirty="0">
              <a:solidFill>
                <a:schemeClr val="bg1"/>
              </a:solidFill>
            </a:endParaRP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8C5BBE60-C797-48B4-0597-C0F792B7251C}"/>
              </a:ext>
            </a:extLst>
          </p:cNvPr>
          <p:cNvSpPr/>
          <p:nvPr/>
        </p:nvSpPr>
        <p:spPr>
          <a:xfrm>
            <a:off x="3262093" y="3308807"/>
            <a:ext cx="968719" cy="1130109"/>
          </a:xfrm>
          <a:prstGeom prst="rect">
            <a:avLst/>
          </a:prstGeom>
          <a:solidFill>
            <a:schemeClr val="accent2">
              <a:alpha val="10000"/>
            </a:schemeClr>
          </a:solidFill>
          <a:ln w="38100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bIns="72000" rtlCol="0" anchor="t"/>
          <a:lstStyle/>
          <a:p>
            <a:r>
              <a:rPr kumimoji="1" lang="ja-JP" altLang="en-US" sz="1200" b="1" dirty="0">
                <a:solidFill>
                  <a:schemeClr val="accent2"/>
                </a:solidFill>
              </a:rPr>
              <a:t>ご提案範囲</a:t>
            </a:r>
          </a:p>
        </p:txBody>
      </p:sp>
    </p:spTree>
    <p:extLst>
      <p:ext uri="{BB962C8B-B14F-4D97-AF65-F5344CB8AC3E}">
        <p14:creationId xmlns:p14="http://schemas.microsoft.com/office/powerpoint/2010/main" val="27453623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1D6D216-17F5-6343-9734-2BED7126E9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242" y="207396"/>
            <a:ext cx="11525370" cy="377026"/>
          </a:xfrm>
        </p:spPr>
        <p:txBody>
          <a:bodyPr/>
          <a:lstStyle/>
          <a:p>
            <a:r>
              <a:rPr lang="ja-JP" altLang="en-US" dirty="0"/>
              <a:t>これまでの実施事項</a:t>
            </a:r>
          </a:p>
        </p:txBody>
      </p:sp>
      <p:sp>
        <p:nvSpPr>
          <p:cNvPr id="5" name="コンテンツ プレースホルダー 4">
            <a:extLst>
              <a:ext uri="{FF2B5EF4-FFF2-40B4-BE49-F238E27FC236}">
                <a16:creationId xmlns:a16="http://schemas.microsoft.com/office/drawing/2014/main" id="{B16765DB-637D-D280-D535-D619103F8D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4550" y="860425"/>
            <a:ext cx="10515600" cy="1913255"/>
          </a:xfrm>
        </p:spPr>
        <p:txBody>
          <a:bodyPr>
            <a:normAutofit/>
          </a:bodyPr>
          <a:lstStyle/>
          <a:p>
            <a:r>
              <a:rPr lang="en-US" altLang="ja-JP" dirty="0"/>
              <a:t>’25/3Q</a:t>
            </a:r>
            <a:r>
              <a:rPr lang="ja-JP" altLang="en-US" dirty="0"/>
              <a:t>の活動では、部品リスト出力ロジックの検証を行い、関連システム情報を用いて必要情報を出力できることを確認。</a:t>
            </a:r>
            <a:endParaRPr lang="en-US" altLang="ja-JP" dirty="0"/>
          </a:p>
          <a:p>
            <a:r>
              <a:rPr lang="ja-JP" altLang="en-US" dirty="0"/>
              <a:t>出力した部品リストを基に、法規認証部・設計と協議を進め、申請に必要な情報・条件や設計の確認・判断における観点を整理。</a:t>
            </a:r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4EE59300-5F4F-AF69-DCBF-901013B9FC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8023" y="3496217"/>
            <a:ext cx="5172127" cy="2707098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12" name="図 11" descr="テーブル&#10;&#10;中程度の精度で自動的に生成された説明">
            <a:extLst>
              <a:ext uri="{FF2B5EF4-FFF2-40B4-BE49-F238E27FC236}">
                <a16:creationId xmlns:a16="http://schemas.microsoft.com/office/drawing/2014/main" id="{6912E180-1BC8-2B8F-37A7-29D2978886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3960" y="2964251"/>
            <a:ext cx="4518660" cy="3239064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F08C14F-5482-897C-1391-5A88F323ECCA}"/>
              </a:ext>
            </a:extLst>
          </p:cNvPr>
          <p:cNvSpPr txBox="1"/>
          <p:nvPr/>
        </p:nvSpPr>
        <p:spPr>
          <a:xfrm>
            <a:off x="1985962" y="4176008"/>
            <a:ext cx="2954655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ja-JP" altLang="en-US" sz="1200" dirty="0">
                <a:solidFill>
                  <a:schemeClr val="tx2"/>
                </a:solidFill>
                <a:latin typeface="+mj-lt"/>
                <a:ea typeface="+mj-ea"/>
              </a:rPr>
              <a:t>部品リスト出力ロジックと設計確認観点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B8DEB11-6181-8C7B-F756-579016DCC86E}"/>
              </a:ext>
            </a:extLst>
          </p:cNvPr>
          <p:cNvSpPr txBox="1"/>
          <p:nvPr/>
        </p:nvSpPr>
        <p:spPr>
          <a:xfrm>
            <a:off x="7570685" y="4868425"/>
            <a:ext cx="2031325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ja-JP" altLang="en-US" sz="1200" dirty="0">
                <a:solidFill>
                  <a:schemeClr val="tx2"/>
                </a:solidFill>
                <a:latin typeface="+mj-lt"/>
                <a:ea typeface="+mj-ea"/>
              </a:rPr>
              <a:t>確認用部品リストイメージ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4A8330D-0DB5-AE29-71ED-5BF3C8719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85899-07DC-4708-B5DD-A200CEE14CAD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135506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 descr="グラフ, ツリーマップ図&#10;&#10;自動的に生成された説明">
            <a:extLst>
              <a:ext uri="{FF2B5EF4-FFF2-40B4-BE49-F238E27FC236}">
                <a16:creationId xmlns:a16="http://schemas.microsoft.com/office/drawing/2014/main" id="{E1B4DF49-06F1-31FB-310C-8FB9463682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360"/>
          <a:stretch/>
        </p:blipFill>
        <p:spPr>
          <a:xfrm>
            <a:off x="2142565" y="2404144"/>
            <a:ext cx="7621126" cy="3912568"/>
          </a:xfrm>
          <a:prstGeom prst="rect">
            <a:avLst/>
          </a:prstGeom>
        </p:spPr>
      </p:pic>
      <p:pic>
        <p:nvPicPr>
          <p:cNvPr id="38" name="図 37" descr="グラフ, ツリーマップ図&#10;&#10;自動的に生成された説明">
            <a:extLst>
              <a:ext uri="{FF2B5EF4-FFF2-40B4-BE49-F238E27FC236}">
                <a16:creationId xmlns:a16="http://schemas.microsoft.com/office/drawing/2014/main" id="{C141FAF5-B8E9-C73E-E4F6-475457CB23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5" b="94240"/>
          <a:stretch/>
        </p:blipFill>
        <p:spPr>
          <a:xfrm>
            <a:off x="2142565" y="2022711"/>
            <a:ext cx="7621126" cy="381820"/>
          </a:xfrm>
          <a:prstGeom prst="rect">
            <a:avLst/>
          </a:prstGeom>
        </p:spPr>
      </p:pic>
      <p:sp>
        <p:nvSpPr>
          <p:cNvPr id="5" name="タイトル 4">
            <a:extLst>
              <a:ext uri="{FF2B5EF4-FFF2-40B4-BE49-F238E27FC236}">
                <a16:creationId xmlns:a16="http://schemas.microsoft.com/office/drawing/2014/main" id="{A9A81E30-06A7-C6FA-5D38-AD49BFDB0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これまでの実施事項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0E96C7D-2F01-E149-2A12-B27BE7046A3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DF85899-07DC-4708-B5DD-A200CEE14CAD}" type="slidenum">
              <a:rPr kumimoji="1" lang="ja-JP" altLang="en-US" smtClean="0"/>
              <a:t>9</a:t>
            </a:fld>
            <a:endParaRPr kumimoji="1" lang="ja-JP" altLang="en-US"/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D894AC38-9CF8-A328-ACFE-72C95940F32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44550" y="849313"/>
            <a:ext cx="10515600" cy="1070614"/>
          </a:xfrm>
        </p:spPr>
        <p:txBody>
          <a:bodyPr/>
          <a:lstStyle/>
          <a:p>
            <a:pPr>
              <a:tabLst>
                <a:tab pos="6813550" algn="l"/>
              </a:tabLst>
            </a:pPr>
            <a:r>
              <a:rPr lang="ja-JP" altLang="en-US" dirty="0"/>
              <a:t>優先順位の変動による計画遅延はあるが、開発への影響は小</a:t>
            </a:r>
            <a:br>
              <a:rPr lang="en-US" altLang="ja-JP" dirty="0"/>
            </a:br>
            <a:r>
              <a:rPr lang="ja-JP" altLang="en-US" dirty="0"/>
              <a:t>現状踏まえ、開発可能な計画を策定</a:t>
            </a:r>
          </a:p>
        </p:txBody>
      </p:sp>
      <p:pic>
        <p:nvPicPr>
          <p:cNvPr id="11" name="グラフィックス 10" descr="バッジ: チェックマーク 1 単色塗りつぶし">
            <a:extLst>
              <a:ext uri="{FF2B5EF4-FFF2-40B4-BE49-F238E27FC236}">
                <a16:creationId xmlns:a16="http://schemas.microsoft.com/office/drawing/2014/main" id="{52377008-95BE-6A33-4F55-F5BDF43784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10772" y="2744732"/>
            <a:ext cx="267534" cy="267534"/>
          </a:xfrm>
          <a:prstGeom prst="rect">
            <a:avLst/>
          </a:prstGeom>
        </p:spPr>
      </p:pic>
      <p:pic>
        <p:nvPicPr>
          <p:cNvPr id="12" name="グラフィックス 11" descr="バッジ: チェックマーク 1 単色塗りつぶし">
            <a:extLst>
              <a:ext uri="{FF2B5EF4-FFF2-40B4-BE49-F238E27FC236}">
                <a16:creationId xmlns:a16="http://schemas.microsoft.com/office/drawing/2014/main" id="{6F3D196D-4B1D-6307-1D51-64C27810D3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99289" y="3539405"/>
            <a:ext cx="267534" cy="267534"/>
          </a:xfrm>
          <a:prstGeom prst="rect">
            <a:avLst/>
          </a:prstGeom>
        </p:spPr>
      </p:pic>
      <p:pic>
        <p:nvPicPr>
          <p:cNvPr id="13" name="グラフィックス 12" descr="バッジ: チェックマーク 1 単色塗りつぶし">
            <a:extLst>
              <a:ext uri="{FF2B5EF4-FFF2-40B4-BE49-F238E27FC236}">
                <a16:creationId xmlns:a16="http://schemas.microsoft.com/office/drawing/2014/main" id="{F93D3179-F48F-FF7C-B59D-FF2EB6CA42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99289" y="3838967"/>
            <a:ext cx="267534" cy="267534"/>
          </a:xfrm>
          <a:prstGeom prst="rect">
            <a:avLst/>
          </a:prstGeom>
        </p:spPr>
      </p:pic>
      <p:pic>
        <p:nvPicPr>
          <p:cNvPr id="14" name="グラフィックス 13" descr="バッジ: チェックマーク 1 単色塗りつぶし">
            <a:extLst>
              <a:ext uri="{FF2B5EF4-FFF2-40B4-BE49-F238E27FC236}">
                <a16:creationId xmlns:a16="http://schemas.microsoft.com/office/drawing/2014/main" id="{BE7BC9CF-3BAE-E8F9-3C6B-F2E605EBCD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99289" y="4126044"/>
            <a:ext cx="267534" cy="267534"/>
          </a:xfrm>
          <a:prstGeom prst="rect">
            <a:avLst/>
          </a:prstGeom>
        </p:spPr>
      </p:pic>
      <p:pic>
        <p:nvPicPr>
          <p:cNvPr id="15" name="グラフィックス 14" descr="バッジ: チェックマーク 1 単色塗りつぶし">
            <a:extLst>
              <a:ext uri="{FF2B5EF4-FFF2-40B4-BE49-F238E27FC236}">
                <a16:creationId xmlns:a16="http://schemas.microsoft.com/office/drawing/2014/main" id="{4295FE6B-8C4E-9BF3-7F11-B9D2A7147F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99289" y="4426509"/>
            <a:ext cx="267534" cy="267534"/>
          </a:xfrm>
          <a:prstGeom prst="rect">
            <a:avLst/>
          </a:prstGeom>
        </p:spPr>
      </p:pic>
      <p:sp>
        <p:nvSpPr>
          <p:cNvPr id="32" name="四角形: 角を丸くする 31">
            <a:extLst>
              <a:ext uri="{FF2B5EF4-FFF2-40B4-BE49-F238E27FC236}">
                <a16:creationId xmlns:a16="http://schemas.microsoft.com/office/drawing/2014/main" id="{C4A11453-D4F2-B7B5-3B4A-7B5DE1A45C2A}"/>
              </a:ext>
            </a:extLst>
          </p:cNvPr>
          <p:cNvSpPr/>
          <p:nvPr/>
        </p:nvSpPr>
        <p:spPr>
          <a:xfrm>
            <a:off x="7716282" y="6130827"/>
            <a:ext cx="1955039" cy="257283"/>
          </a:xfrm>
          <a:prstGeom prst="roundRect">
            <a:avLst>
              <a:gd name="adj" fmla="val 10841"/>
            </a:avLst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dirty="0">
                <a:solidFill>
                  <a:schemeClr val="tx1"/>
                </a:solidFill>
              </a:rPr>
              <a:t>VIN × SWIN</a:t>
            </a:r>
            <a:r>
              <a:rPr kumimoji="1" lang="ja-JP" altLang="en-US" sz="1000" dirty="0">
                <a:solidFill>
                  <a:schemeClr val="tx1"/>
                </a:solidFill>
              </a:rPr>
              <a:t>要件織り込み検討</a:t>
            </a:r>
          </a:p>
        </p:txBody>
      </p:sp>
      <p:cxnSp>
        <p:nvCxnSpPr>
          <p:cNvPr id="40" name="直線コネクタ 39">
            <a:extLst>
              <a:ext uri="{FF2B5EF4-FFF2-40B4-BE49-F238E27FC236}">
                <a16:creationId xmlns:a16="http://schemas.microsoft.com/office/drawing/2014/main" id="{8BAFE902-DA50-09D4-D282-EE920CA2EFA3}"/>
              </a:ext>
            </a:extLst>
          </p:cNvPr>
          <p:cNvCxnSpPr>
            <a:cxnSpLocks/>
          </p:cNvCxnSpPr>
          <p:nvPr/>
        </p:nvCxnSpPr>
        <p:spPr>
          <a:xfrm>
            <a:off x="8270169" y="1976394"/>
            <a:ext cx="0" cy="1115803"/>
          </a:xfrm>
          <a:prstGeom prst="line">
            <a:avLst/>
          </a:prstGeom>
          <a:ln w="28575">
            <a:solidFill>
              <a:schemeClr val="accent3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線コネクタ 57">
            <a:extLst>
              <a:ext uri="{FF2B5EF4-FFF2-40B4-BE49-F238E27FC236}">
                <a16:creationId xmlns:a16="http://schemas.microsoft.com/office/drawing/2014/main" id="{A5B847BD-99AB-3798-99D1-CE7DD57E30ED}"/>
              </a:ext>
            </a:extLst>
          </p:cNvPr>
          <p:cNvCxnSpPr>
            <a:cxnSpLocks/>
          </p:cNvCxnSpPr>
          <p:nvPr/>
        </p:nvCxnSpPr>
        <p:spPr>
          <a:xfrm>
            <a:off x="8270169" y="3456566"/>
            <a:ext cx="0" cy="1283218"/>
          </a:xfrm>
          <a:prstGeom prst="line">
            <a:avLst/>
          </a:prstGeom>
          <a:ln w="28575">
            <a:solidFill>
              <a:schemeClr val="accent3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コネクタ 60">
            <a:extLst>
              <a:ext uri="{FF2B5EF4-FFF2-40B4-BE49-F238E27FC236}">
                <a16:creationId xmlns:a16="http://schemas.microsoft.com/office/drawing/2014/main" id="{D68255A2-8C97-071E-3AB5-CBD0D285F4DD}"/>
              </a:ext>
            </a:extLst>
          </p:cNvPr>
          <p:cNvCxnSpPr>
            <a:cxnSpLocks/>
          </p:cNvCxnSpPr>
          <p:nvPr/>
        </p:nvCxnSpPr>
        <p:spPr>
          <a:xfrm>
            <a:off x="8270167" y="6091072"/>
            <a:ext cx="0" cy="348642"/>
          </a:xfrm>
          <a:prstGeom prst="line">
            <a:avLst/>
          </a:prstGeom>
          <a:ln w="28575">
            <a:solidFill>
              <a:schemeClr val="accent3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線コネクタ 93">
            <a:extLst>
              <a:ext uri="{FF2B5EF4-FFF2-40B4-BE49-F238E27FC236}">
                <a16:creationId xmlns:a16="http://schemas.microsoft.com/office/drawing/2014/main" id="{06D8CCAB-DA41-1B51-6937-40E34138A395}"/>
              </a:ext>
            </a:extLst>
          </p:cNvPr>
          <p:cNvCxnSpPr>
            <a:cxnSpLocks/>
          </p:cNvCxnSpPr>
          <p:nvPr/>
        </p:nvCxnSpPr>
        <p:spPr>
          <a:xfrm>
            <a:off x="8269359" y="5521476"/>
            <a:ext cx="0" cy="319619"/>
          </a:xfrm>
          <a:prstGeom prst="line">
            <a:avLst/>
          </a:prstGeom>
          <a:ln w="28575">
            <a:solidFill>
              <a:schemeClr val="accent3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直線コネクタ 101">
            <a:extLst>
              <a:ext uri="{FF2B5EF4-FFF2-40B4-BE49-F238E27FC236}">
                <a16:creationId xmlns:a16="http://schemas.microsoft.com/office/drawing/2014/main" id="{F47E9206-3191-1BE0-4DAF-1A3D07B1925B}"/>
              </a:ext>
            </a:extLst>
          </p:cNvPr>
          <p:cNvCxnSpPr>
            <a:cxnSpLocks/>
          </p:cNvCxnSpPr>
          <p:nvPr/>
        </p:nvCxnSpPr>
        <p:spPr>
          <a:xfrm>
            <a:off x="8269359" y="5126921"/>
            <a:ext cx="0" cy="118053"/>
          </a:xfrm>
          <a:prstGeom prst="line">
            <a:avLst/>
          </a:prstGeom>
          <a:ln w="28575">
            <a:solidFill>
              <a:schemeClr val="accent3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フリーフォーム: 図形 107">
            <a:extLst>
              <a:ext uri="{FF2B5EF4-FFF2-40B4-BE49-F238E27FC236}">
                <a16:creationId xmlns:a16="http://schemas.microsoft.com/office/drawing/2014/main" id="{577FA50F-4A98-18D4-8AE0-FC6EC6AEBDA2}"/>
              </a:ext>
            </a:extLst>
          </p:cNvPr>
          <p:cNvSpPr/>
          <p:nvPr/>
        </p:nvSpPr>
        <p:spPr>
          <a:xfrm>
            <a:off x="7299289" y="3080870"/>
            <a:ext cx="970070" cy="387137"/>
          </a:xfrm>
          <a:custGeom>
            <a:avLst/>
            <a:gdLst>
              <a:gd name="connsiteX0" fmla="*/ 3415553 w 3415553"/>
              <a:gd name="connsiteY0" fmla="*/ 0 h 3971365"/>
              <a:gd name="connsiteX1" fmla="*/ 0 w 3415553"/>
              <a:gd name="connsiteY1" fmla="*/ 1990165 h 3971365"/>
              <a:gd name="connsiteX2" fmla="*/ 3415553 w 3415553"/>
              <a:gd name="connsiteY2" fmla="*/ 3971365 h 39713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15553" h="3971365">
                <a:moveTo>
                  <a:pt x="3415553" y="0"/>
                </a:moveTo>
                <a:lnTo>
                  <a:pt x="0" y="1990165"/>
                </a:lnTo>
                <a:lnTo>
                  <a:pt x="3415553" y="3971365"/>
                </a:lnTo>
              </a:path>
            </a:pathLst>
          </a:custGeom>
          <a:ln w="28575">
            <a:solidFill>
              <a:schemeClr val="accent3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0" name="フリーフォーム: 図形 109">
            <a:extLst>
              <a:ext uri="{FF2B5EF4-FFF2-40B4-BE49-F238E27FC236}">
                <a16:creationId xmlns:a16="http://schemas.microsoft.com/office/drawing/2014/main" id="{F02DF268-9FDE-94A7-C85F-413F6845537C}"/>
              </a:ext>
            </a:extLst>
          </p:cNvPr>
          <p:cNvSpPr/>
          <p:nvPr/>
        </p:nvSpPr>
        <p:spPr>
          <a:xfrm>
            <a:off x="6553032" y="4739784"/>
            <a:ext cx="1716327" cy="387137"/>
          </a:xfrm>
          <a:custGeom>
            <a:avLst/>
            <a:gdLst>
              <a:gd name="connsiteX0" fmla="*/ 3415553 w 3415553"/>
              <a:gd name="connsiteY0" fmla="*/ 0 h 3971365"/>
              <a:gd name="connsiteX1" fmla="*/ 0 w 3415553"/>
              <a:gd name="connsiteY1" fmla="*/ 1990165 h 3971365"/>
              <a:gd name="connsiteX2" fmla="*/ 3415553 w 3415553"/>
              <a:gd name="connsiteY2" fmla="*/ 3971365 h 39713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15553" h="3971365">
                <a:moveTo>
                  <a:pt x="3415553" y="0"/>
                </a:moveTo>
                <a:lnTo>
                  <a:pt x="0" y="1990165"/>
                </a:lnTo>
                <a:lnTo>
                  <a:pt x="3415553" y="3971365"/>
                </a:lnTo>
              </a:path>
            </a:pathLst>
          </a:custGeom>
          <a:ln w="28575">
            <a:solidFill>
              <a:schemeClr val="accent3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3" name="フリーフォーム: 図形 112">
            <a:extLst>
              <a:ext uri="{FF2B5EF4-FFF2-40B4-BE49-F238E27FC236}">
                <a16:creationId xmlns:a16="http://schemas.microsoft.com/office/drawing/2014/main" id="{5B3027DF-2482-3007-BEB2-BAF6CCB52C22}"/>
              </a:ext>
            </a:extLst>
          </p:cNvPr>
          <p:cNvSpPr/>
          <p:nvPr/>
        </p:nvSpPr>
        <p:spPr>
          <a:xfrm>
            <a:off x="7299289" y="5256509"/>
            <a:ext cx="970070" cy="251845"/>
          </a:xfrm>
          <a:custGeom>
            <a:avLst/>
            <a:gdLst>
              <a:gd name="connsiteX0" fmla="*/ 3415553 w 3415553"/>
              <a:gd name="connsiteY0" fmla="*/ 0 h 3971365"/>
              <a:gd name="connsiteX1" fmla="*/ 0 w 3415553"/>
              <a:gd name="connsiteY1" fmla="*/ 1990165 h 3971365"/>
              <a:gd name="connsiteX2" fmla="*/ 3415553 w 3415553"/>
              <a:gd name="connsiteY2" fmla="*/ 3971365 h 39713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15553" h="3971365">
                <a:moveTo>
                  <a:pt x="3415553" y="0"/>
                </a:moveTo>
                <a:lnTo>
                  <a:pt x="0" y="1990165"/>
                </a:lnTo>
                <a:lnTo>
                  <a:pt x="3415553" y="3971365"/>
                </a:lnTo>
              </a:path>
            </a:pathLst>
          </a:custGeom>
          <a:ln w="28575">
            <a:solidFill>
              <a:schemeClr val="accent3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4" name="フリーフォーム: 図形 113">
            <a:extLst>
              <a:ext uri="{FF2B5EF4-FFF2-40B4-BE49-F238E27FC236}">
                <a16:creationId xmlns:a16="http://schemas.microsoft.com/office/drawing/2014/main" id="{CF59314A-1E9B-A9FC-ADE2-804540C22EAE}"/>
              </a:ext>
            </a:extLst>
          </p:cNvPr>
          <p:cNvSpPr/>
          <p:nvPr/>
        </p:nvSpPr>
        <p:spPr>
          <a:xfrm>
            <a:off x="7716281" y="5839227"/>
            <a:ext cx="553077" cy="251845"/>
          </a:xfrm>
          <a:custGeom>
            <a:avLst/>
            <a:gdLst>
              <a:gd name="connsiteX0" fmla="*/ 3415553 w 3415553"/>
              <a:gd name="connsiteY0" fmla="*/ 0 h 3971365"/>
              <a:gd name="connsiteX1" fmla="*/ 0 w 3415553"/>
              <a:gd name="connsiteY1" fmla="*/ 1990165 h 3971365"/>
              <a:gd name="connsiteX2" fmla="*/ 3415553 w 3415553"/>
              <a:gd name="connsiteY2" fmla="*/ 3971365 h 39713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15553" h="3971365">
                <a:moveTo>
                  <a:pt x="3415553" y="0"/>
                </a:moveTo>
                <a:lnTo>
                  <a:pt x="0" y="1990165"/>
                </a:lnTo>
                <a:lnTo>
                  <a:pt x="3415553" y="3971365"/>
                </a:lnTo>
              </a:path>
            </a:pathLst>
          </a:custGeom>
          <a:ln w="28575">
            <a:solidFill>
              <a:schemeClr val="accent3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7" name="吹き出し: 四角形 36">
            <a:extLst>
              <a:ext uri="{FF2B5EF4-FFF2-40B4-BE49-F238E27FC236}">
                <a16:creationId xmlns:a16="http://schemas.microsoft.com/office/drawing/2014/main" id="{AA78959A-08D4-E3A8-B049-6775A32B48B5}"/>
              </a:ext>
            </a:extLst>
          </p:cNvPr>
          <p:cNvSpPr/>
          <p:nvPr/>
        </p:nvSpPr>
        <p:spPr>
          <a:xfrm>
            <a:off x="9763691" y="5763548"/>
            <a:ext cx="883575" cy="269882"/>
          </a:xfrm>
          <a:prstGeom prst="wedgeRectCallout">
            <a:avLst>
              <a:gd name="adj1" fmla="val -67689"/>
              <a:gd name="adj2" fmla="val 30610"/>
            </a:avLst>
          </a:prstGeom>
          <a:solidFill>
            <a:schemeClr val="accent3"/>
          </a:solidFill>
          <a:ln>
            <a:noFill/>
          </a:ln>
          <a:effectLst>
            <a:outerShdw blurRad="50800" dist="254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en-US" altLang="ja-JP" sz="1050" dirty="0">
                <a:solidFill>
                  <a:schemeClr val="bg1"/>
                </a:solidFill>
              </a:rPr>
              <a:t>NEW</a:t>
            </a:r>
            <a:r>
              <a:rPr kumimoji="1" lang="ja-JP" altLang="en-US" sz="1050" dirty="0">
                <a:solidFill>
                  <a:schemeClr val="bg1"/>
                </a:solidFill>
              </a:rPr>
              <a:t>を優先</a:t>
            </a:r>
          </a:p>
        </p:txBody>
      </p:sp>
      <p:sp>
        <p:nvSpPr>
          <p:cNvPr id="99" name="吹き出し: 四角形 98">
            <a:extLst>
              <a:ext uri="{FF2B5EF4-FFF2-40B4-BE49-F238E27FC236}">
                <a16:creationId xmlns:a16="http://schemas.microsoft.com/office/drawing/2014/main" id="{7944BA77-69F9-92F4-0E9B-FDB8E3BA30C0}"/>
              </a:ext>
            </a:extLst>
          </p:cNvPr>
          <p:cNvSpPr/>
          <p:nvPr/>
        </p:nvSpPr>
        <p:spPr>
          <a:xfrm>
            <a:off x="9763691" y="5172576"/>
            <a:ext cx="1717137" cy="269882"/>
          </a:xfrm>
          <a:prstGeom prst="wedgeRectCallout">
            <a:avLst>
              <a:gd name="adj1" fmla="val -67689"/>
              <a:gd name="adj2" fmla="val 30610"/>
            </a:avLst>
          </a:prstGeom>
          <a:solidFill>
            <a:schemeClr val="accent3"/>
          </a:solidFill>
          <a:ln>
            <a:noFill/>
          </a:ln>
          <a:effectLst>
            <a:outerShdw blurRad="50800" dist="254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en-US" altLang="ja-JP" sz="1050" dirty="0">
                <a:solidFill>
                  <a:schemeClr val="bg1"/>
                </a:solidFill>
              </a:rPr>
              <a:t>NEW</a:t>
            </a:r>
            <a:r>
              <a:rPr kumimoji="1" lang="ja-JP" altLang="en-US" sz="1050" dirty="0">
                <a:solidFill>
                  <a:schemeClr val="bg1"/>
                </a:solidFill>
              </a:rPr>
              <a:t>を優先・</a:t>
            </a:r>
            <a:r>
              <a:rPr kumimoji="1" lang="en-US" altLang="ja-JP" sz="1050" dirty="0">
                <a:solidFill>
                  <a:schemeClr val="bg1"/>
                </a:solidFill>
              </a:rPr>
              <a:t>NEW</a:t>
            </a:r>
            <a:r>
              <a:rPr kumimoji="1" lang="ja-JP" altLang="en-US" sz="1050" dirty="0">
                <a:solidFill>
                  <a:schemeClr val="bg1"/>
                </a:solidFill>
              </a:rPr>
              <a:t>に依存</a:t>
            </a:r>
          </a:p>
        </p:txBody>
      </p:sp>
      <p:sp>
        <p:nvSpPr>
          <p:cNvPr id="31" name="吹き出し: 四角形 30">
            <a:extLst>
              <a:ext uri="{FF2B5EF4-FFF2-40B4-BE49-F238E27FC236}">
                <a16:creationId xmlns:a16="http://schemas.microsoft.com/office/drawing/2014/main" id="{C5A6E7E1-64AD-2640-066C-42AA32E2079E}"/>
              </a:ext>
            </a:extLst>
          </p:cNvPr>
          <p:cNvSpPr/>
          <p:nvPr/>
        </p:nvSpPr>
        <p:spPr>
          <a:xfrm>
            <a:off x="6128114" y="2317710"/>
            <a:ext cx="3685624" cy="657681"/>
          </a:xfrm>
          <a:prstGeom prst="wedgeRectCallout">
            <a:avLst>
              <a:gd name="adj1" fmla="val -29161"/>
              <a:gd name="adj2" fmla="val 83190"/>
            </a:avLst>
          </a:prstGeom>
          <a:solidFill>
            <a:schemeClr val="accent3"/>
          </a:solidFill>
          <a:ln>
            <a:noFill/>
          </a:ln>
          <a:effectLst>
            <a:outerShdw blurRad="50800" dist="254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ja-JP" altLang="en-US" sz="1050" dirty="0">
                <a:solidFill>
                  <a:schemeClr val="bg1"/>
                </a:solidFill>
              </a:rPr>
              <a:t>タスクスコープが設計確認観点の整理へ派生して長期化</a:t>
            </a:r>
            <a:endParaRPr kumimoji="1" lang="en-US" altLang="ja-JP" sz="1050" dirty="0">
              <a:solidFill>
                <a:schemeClr val="bg1"/>
              </a:solidFill>
            </a:endParaRPr>
          </a:p>
          <a:p>
            <a:pPr>
              <a:lnSpc>
                <a:spcPct val="120000"/>
              </a:lnSpc>
            </a:pPr>
            <a:r>
              <a:rPr kumimoji="1" lang="ja-JP" altLang="en-US" sz="1050" dirty="0">
                <a:solidFill>
                  <a:schemeClr val="bg1"/>
                </a:solidFill>
              </a:rPr>
              <a:t>残タスク</a:t>
            </a:r>
            <a:r>
              <a:rPr kumimoji="1" lang="en-US" altLang="ja-JP" sz="1050" dirty="0">
                <a:solidFill>
                  <a:schemeClr val="bg1"/>
                </a:solidFill>
              </a:rPr>
              <a:t>: </a:t>
            </a:r>
            <a:r>
              <a:rPr kumimoji="1" lang="ja-JP" altLang="en-US" sz="1050" dirty="0">
                <a:solidFill>
                  <a:schemeClr val="bg1"/>
                </a:solidFill>
              </a:rPr>
              <a:t>設計による出力データの確からしさ確認</a:t>
            </a:r>
            <a:br>
              <a:rPr kumimoji="1" lang="en-US" altLang="ja-JP" sz="1050" dirty="0">
                <a:solidFill>
                  <a:schemeClr val="bg1"/>
                </a:solidFill>
              </a:rPr>
            </a:br>
            <a:r>
              <a:rPr kumimoji="1" lang="en-US" altLang="ja-JP" sz="1050" dirty="0">
                <a:solidFill>
                  <a:schemeClr val="bg1"/>
                </a:solidFill>
              </a:rPr>
              <a:t>(</a:t>
            </a:r>
            <a:r>
              <a:rPr kumimoji="1" lang="ja-JP" altLang="en-US" sz="1050" dirty="0">
                <a:solidFill>
                  <a:schemeClr val="bg1"/>
                </a:solidFill>
              </a:rPr>
              <a:t>法規認証部・</a:t>
            </a:r>
            <a:r>
              <a:rPr kumimoji="1" lang="en-US" altLang="ja-JP" sz="1050" dirty="0">
                <a:solidFill>
                  <a:schemeClr val="bg1"/>
                </a:solidFill>
              </a:rPr>
              <a:t>DTPS</a:t>
            </a:r>
            <a:r>
              <a:rPr kumimoji="1" lang="ja-JP" altLang="en-US" sz="1050" dirty="0">
                <a:solidFill>
                  <a:schemeClr val="bg1"/>
                </a:solidFill>
              </a:rPr>
              <a:t>と連携し、設計巻き込み中</a:t>
            </a:r>
            <a:r>
              <a:rPr kumimoji="1" lang="en-US" altLang="ja-JP" sz="1050" dirty="0">
                <a:solidFill>
                  <a:schemeClr val="bg1"/>
                </a:solidFill>
              </a:rPr>
              <a:t>)</a:t>
            </a:r>
            <a:endParaRPr kumimoji="1" lang="ja-JP" altLang="en-US" sz="1050" dirty="0">
              <a:solidFill>
                <a:schemeClr val="bg1"/>
              </a:solidFill>
            </a:endParaRPr>
          </a:p>
        </p:txBody>
      </p:sp>
      <p:sp>
        <p:nvSpPr>
          <p:cNvPr id="104" name="吹き出し: 四角形 103">
            <a:extLst>
              <a:ext uri="{FF2B5EF4-FFF2-40B4-BE49-F238E27FC236}">
                <a16:creationId xmlns:a16="http://schemas.microsoft.com/office/drawing/2014/main" id="{5C40D898-53BC-3F75-5CE2-98C18AAC3135}"/>
              </a:ext>
            </a:extLst>
          </p:cNvPr>
          <p:cNvSpPr/>
          <p:nvPr/>
        </p:nvSpPr>
        <p:spPr>
          <a:xfrm>
            <a:off x="4433274" y="5217504"/>
            <a:ext cx="1412566" cy="463781"/>
          </a:xfrm>
          <a:prstGeom prst="wedgeRectCallout">
            <a:avLst>
              <a:gd name="adj1" fmla="val 38015"/>
              <a:gd name="adj2" fmla="val -80379"/>
            </a:avLst>
          </a:prstGeom>
          <a:solidFill>
            <a:schemeClr val="accent3"/>
          </a:solidFill>
          <a:ln>
            <a:noFill/>
          </a:ln>
          <a:effectLst>
            <a:outerShdw blurRad="50800" dist="254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ja-JP" altLang="en-US" sz="1050" dirty="0">
                <a:solidFill>
                  <a:schemeClr val="bg1"/>
                </a:solidFill>
              </a:rPr>
              <a:t>データ検証を優先</a:t>
            </a:r>
            <a:br>
              <a:rPr kumimoji="1" lang="en-US" altLang="ja-JP" sz="1050" dirty="0">
                <a:solidFill>
                  <a:schemeClr val="bg1"/>
                </a:solidFill>
              </a:rPr>
            </a:br>
            <a:r>
              <a:rPr kumimoji="1" lang="en-US" altLang="ja-JP" sz="1050" dirty="0">
                <a:solidFill>
                  <a:schemeClr val="bg1"/>
                </a:solidFill>
              </a:rPr>
              <a:t>12</a:t>
            </a:r>
            <a:r>
              <a:rPr kumimoji="1" lang="ja-JP" altLang="en-US" sz="1050" dirty="0">
                <a:solidFill>
                  <a:schemeClr val="bg1"/>
                </a:solidFill>
              </a:rPr>
              <a:t>月中に完了見込み</a:t>
            </a:r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E79EEE03-EEB0-402B-2288-18BA87C2D2CF}"/>
              </a:ext>
            </a:extLst>
          </p:cNvPr>
          <p:cNvSpPr/>
          <p:nvPr/>
        </p:nvSpPr>
        <p:spPr>
          <a:xfrm>
            <a:off x="7456113" y="6104024"/>
            <a:ext cx="335596" cy="2112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spAutoFit/>
          </a:bodyPr>
          <a:lstStyle/>
          <a:p>
            <a:pPr algn="ctr"/>
            <a:r>
              <a:rPr kumimoji="1" lang="en-US" altLang="ja-JP" sz="900" dirty="0">
                <a:latin typeface="+mj-lt"/>
                <a:ea typeface="+mj-ea"/>
              </a:rPr>
              <a:t>NEW</a:t>
            </a:r>
            <a:endParaRPr kumimoji="1" lang="ja-JP" altLang="en-US" sz="900" dirty="0">
              <a:latin typeface="+mj-lt"/>
              <a:ea typeface="+mj-ea"/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2C8F3C12-F4FC-09D2-9DF8-0FB605B4AA9A}"/>
              </a:ext>
            </a:extLst>
          </p:cNvPr>
          <p:cNvSpPr txBox="1"/>
          <p:nvPr/>
        </p:nvSpPr>
        <p:spPr>
          <a:xfrm>
            <a:off x="1438546" y="2022711"/>
            <a:ext cx="1625766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en-US" altLang="ja-JP" sz="1200" dirty="0">
                <a:solidFill>
                  <a:schemeClr val="tx2"/>
                </a:solidFill>
                <a:latin typeface="+mj-lt"/>
                <a:ea typeface="+mj-ea"/>
              </a:rPr>
              <a:t>3Q</a:t>
            </a:r>
            <a:r>
              <a:rPr kumimoji="1" lang="ja-JP" altLang="en-US" sz="1200" dirty="0">
                <a:solidFill>
                  <a:schemeClr val="tx2"/>
                </a:solidFill>
                <a:latin typeface="+mj-lt"/>
                <a:ea typeface="+mj-ea"/>
              </a:rPr>
              <a:t>プロジェクト進捗</a:t>
            </a:r>
          </a:p>
        </p:txBody>
      </p:sp>
    </p:spTree>
    <p:extLst>
      <p:ext uri="{BB962C8B-B14F-4D97-AF65-F5344CB8AC3E}">
        <p14:creationId xmlns:p14="http://schemas.microsoft.com/office/powerpoint/2010/main" val="32002735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D88E5D0-7490-956D-5B34-B6B78A90C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開発計画</a:t>
            </a:r>
          </a:p>
        </p:txBody>
      </p:sp>
      <p:graphicFrame>
        <p:nvGraphicFramePr>
          <p:cNvPr id="5" name="表 4">
            <a:extLst>
              <a:ext uri="{FF2B5EF4-FFF2-40B4-BE49-F238E27FC236}">
                <a16:creationId xmlns:a16="http://schemas.microsoft.com/office/drawing/2014/main" id="{2B2B9253-D67F-099C-E8FB-684CBD2783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5704251"/>
              </p:ext>
            </p:extLst>
          </p:nvPr>
        </p:nvGraphicFramePr>
        <p:xfrm>
          <a:off x="283793" y="911739"/>
          <a:ext cx="11638267" cy="5210229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321118">
                  <a:extLst>
                    <a:ext uri="{9D8B030D-6E8A-4147-A177-3AD203B41FA5}">
                      <a16:colId xmlns:a16="http://schemas.microsoft.com/office/drawing/2014/main" val="360923416"/>
                    </a:ext>
                  </a:extLst>
                </a:gridCol>
                <a:gridCol w="747290">
                  <a:extLst>
                    <a:ext uri="{9D8B030D-6E8A-4147-A177-3AD203B41FA5}">
                      <a16:colId xmlns:a16="http://schemas.microsoft.com/office/drawing/2014/main" val="1824774711"/>
                    </a:ext>
                  </a:extLst>
                </a:gridCol>
                <a:gridCol w="747290">
                  <a:extLst>
                    <a:ext uri="{9D8B030D-6E8A-4147-A177-3AD203B41FA5}">
                      <a16:colId xmlns:a16="http://schemas.microsoft.com/office/drawing/2014/main" val="921115769"/>
                    </a:ext>
                  </a:extLst>
                </a:gridCol>
                <a:gridCol w="747290">
                  <a:extLst>
                    <a:ext uri="{9D8B030D-6E8A-4147-A177-3AD203B41FA5}">
                      <a16:colId xmlns:a16="http://schemas.microsoft.com/office/drawing/2014/main" val="1689994350"/>
                    </a:ext>
                  </a:extLst>
                </a:gridCol>
                <a:gridCol w="747290">
                  <a:extLst>
                    <a:ext uri="{9D8B030D-6E8A-4147-A177-3AD203B41FA5}">
                      <a16:colId xmlns:a16="http://schemas.microsoft.com/office/drawing/2014/main" val="730356226"/>
                    </a:ext>
                  </a:extLst>
                </a:gridCol>
                <a:gridCol w="747290">
                  <a:extLst>
                    <a:ext uri="{9D8B030D-6E8A-4147-A177-3AD203B41FA5}">
                      <a16:colId xmlns:a16="http://schemas.microsoft.com/office/drawing/2014/main" val="3748580517"/>
                    </a:ext>
                  </a:extLst>
                </a:gridCol>
                <a:gridCol w="747290">
                  <a:extLst>
                    <a:ext uri="{9D8B030D-6E8A-4147-A177-3AD203B41FA5}">
                      <a16:colId xmlns:a16="http://schemas.microsoft.com/office/drawing/2014/main" val="1408183393"/>
                    </a:ext>
                  </a:extLst>
                </a:gridCol>
                <a:gridCol w="747290">
                  <a:extLst>
                    <a:ext uri="{9D8B030D-6E8A-4147-A177-3AD203B41FA5}">
                      <a16:colId xmlns:a16="http://schemas.microsoft.com/office/drawing/2014/main" val="1308397965"/>
                    </a:ext>
                  </a:extLst>
                </a:gridCol>
                <a:gridCol w="747290">
                  <a:extLst>
                    <a:ext uri="{9D8B030D-6E8A-4147-A177-3AD203B41FA5}">
                      <a16:colId xmlns:a16="http://schemas.microsoft.com/office/drawing/2014/main" val="241443311"/>
                    </a:ext>
                  </a:extLst>
                </a:gridCol>
                <a:gridCol w="747290">
                  <a:extLst>
                    <a:ext uri="{9D8B030D-6E8A-4147-A177-3AD203B41FA5}">
                      <a16:colId xmlns:a16="http://schemas.microsoft.com/office/drawing/2014/main" val="843161310"/>
                    </a:ext>
                  </a:extLst>
                </a:gridCol>
                <a:gridCol w="747290">
                  <a:extLst>
                    <a:ext uri="{9D8B030D-6E8A-4147-A177-3AD203B41FA5}">
                      <a16:colId xmlns:a16="http://schemas.microsoft.com/office/drawing/2014/main" val="500311498"/>
                    </a:ext>
                  </a:extLst>
                </a:gridCol>
                <a:gridCol w="747290">
                  <a:extLst>
                    <a:ext uri="{9D8B030D-6E8A-4147-A177-3AD203B41FA5}">
                      <a16:colId xmlns:a16="http://schemas.microsoft.com/office/drawing/2014/main" val="343351611"/>
                    </a:ext>
                  </a:extLst>
                </a:gridCol>
                <a:gridCol w="747290">
                  <a:extLst>
                    <a:ext uri="{9D8B030D-6E8A-4147-A177-3AD203B41FA5}">
                      <a16:colId xmlns:a16="http://schemas.microsoft.com/office/drawing/2014/main" val="1417151188"/>
                    </a:ext>
                  </a:extLst>
                </a:gridCol>
                <a:gridCol w="1349669">
                  <a:extLst>
                    <a:ext uri="{9D8B030D-6E8A-4147-A177-3AD203B41FA5}">
                      <a16:colId xmlns:a16="http://schemas.microsoft.com/office/drawing/2014/main" val="94655770"/>
                    </a:ext>
                  </a:extLst>
                </a:gridCol>
              </a:tblGrid>
              <a:tr h="194733">
                <a:tc>
                  <a:txBody>
                    <a:bodyPr/>
                    <a:lstStyle/>
                    <a:p>
                      <a:pPr algn="ctr"/>
                      <a:endParaRPr kumimoji="1" lang="ja-JP" altLang="en-US" sz="1400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12">
                  <a:txBody>
                    <a:bodyPr/>
                    <a:lstStyle/>
                    <a:p>
                      <a:pPr algn="ctr"/>
                      <a:r>
                        <a:rPr kumimoji="1" lang="en-US" altLang="ja-JP" sz="1400" dirty="0">
                          <a:solidFill>
                            <a:schemeClr val="tx2"/>
                          </a:solidFill>
                        </a:rPr>
                        <a:t>2026</a:t>
                      </a:r>
                      <a:r>
                        <a:rPr kumimoji="1" lang="ja-JP" altLang="en-US" sz="1400" dirty="0">
                          <a:solidFill>
                            <a:schemeClr val="tx2"/>
                          </a:solidFill>
                        </a:rPr>
                        <a:t>年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400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400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400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400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400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400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400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400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400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400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400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kumimoji="1" lang="en-US" altLang="ja-JP" sz="1400" dirty="0">
                          <a:solidFill>
                            <a:schemeClr val="tx2"/>
                          </a:solidFill>
                        </a:rPr>
                        <a:t>2027</a:t>
                      </a:r>
                      <a:r>
                        <a:rPr kumimoji="1" lang="ja-JP" altLang="en-US" sz="1400" dirty="0">
                          <a:solidFill>
                            <a:schemeClr val="tx2"/>
                          </a:solidFill>
                        </a:rPr>
                        <a:t>年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3544089"/>
                  </a:ext>
                </a:extLst>
              </a:tr>
              <a:tr h="256601">
                <a:tc>
                  <a:txBody>
                    <a:bodyPr/>
                    <a:lstStyle/>
                    <a:p>
                      <a:pPr algn="ctr"/>
                      <a:endParaRPr kumimoji="1" lang="ja-JP" altLang="en-US" sz="1200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dirty="0">
                          <a:solidFill>
                            <a:schemeClr val="tx2"/>
                          </a:solidFill>
                        </a:rPr>
                        <a:t>1</a:t>
                      </a:r>
                      <a:r>
                        <a:rPr kumimoji="1" lang="ja-JP" altLang="en-US" sz="1200" dirty="0">
                          <a:solidFill>
                            <a:schemeClr val="tx2"/>
                          </a:solidFill>
                        </a:rPr>
                        <a:t>月</a:t>
                      </a: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dirty="0">
                          <a:solidFill>
                            <a:schemeClr val="tx2"/>
                          </a:solidFill>
                        </a:rPr>
                        <a:t>2</a:t>
                      </a:r>
                      <a:r>
                        <a:rPr kumimoji="1" lang="ja-JP" altLang="en-US" sz="1200" dirty="0">
                          <a:solidFill>
                            <a:schemeClr val="tx2"/>
                          </a:solidFill>
                        </a:rPr>
                        <a:t>月</a:t>
                      </a: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dirty="0">
                          <a:solidFill>
                            <a:schemeClr val="tx2"/>
                          </a:solidFill>
                        </a:rPr>
                        <a:t>3</a:t>
                      </a:r>
                      <a:r>
                        <a:rPr kumimoji="1" lang="ja-JP" altLang="en-US" sz="1200" dirty="0">
                          <a:solidFill>
                            <a:schemeClr val="tx2"/>
                          </a:solidFill>
                        </a:rPr>
                        <a:t>月</a:t>
                      </a: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dirty="0">
                          <a:solidFill>
                            <a:schemeClr val="tx2"/>
                          </a:solidFill>
                        </a:rPr>
                        <a:t>4</a:t>
                      </a:r>
                      <a:r>
                        <a:rPr kumimoji="1" lang="ja-JP" altLang="en-US" sz="1200" dirty="0">
                          <a:solidFill>
                            <a:schemeClr val="tx2"/>
                          </a:solidFill>
                        </a:rPr>
                        <a:t>月</a:t>
                      </a: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dirty="0">
                          <a:solidFill>
                            <a:schemeClr val="tx2"/>
                          </a:solidFill>
                        </a:rPr>
                        <a:t>5</a:t>
                      </a:r>
                      <a:r>
                        <a:rPr kumimoji="1" lang="ja-JP" altLang="en-US" sz="1200" dirty="0">
                          <a:solidFill>
                            <a:schemeClr val="tx2"/>
                          </a:solidFill>
                        </a:rPr>
                        <a:t>月</a:t>
                      </a: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dirty="0">
                          <a:solidFill>
                            <a:schemeClr val="tx2"/>
                          </a:solidFill>
                        </a:rPr>
                        <a:t>6</a:t>
                      </a:r>
                      <a:r>
                        <a:rPr kumimoji="1" lang="ja-JP" altLang="en-US" sz="1200" dirty="0">
                          <a:solidFill>
                            <a:schemeClr val="tx2"/>
                          </a:solidFill>
                        </a:rPr>
                        <a:t>月</a:t>
                      </a: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dirty="0">
                          <a:solidFill>
                            <a:schemeClr val="tx2"/>
                          </a:solidFill>
                        </a:rPr>
                        <a:t>7</a:t>
                      </a:r>
                      <a:r>
                        <a:rPr kumimoji="1" lang="ja-JP" altLang="en-US" sz="1200" dirty="0">
                          <a:solidFill>
                            <a:schemeClr val="tx2"/>
                          </a:solidFill>
                        </a:rPr>
                        <a:t>月</a:t>
                      </a: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dirty="0">
                          <a:solidFill>
                            <a:schemeClr val="tx2"/>
                          </a:solidFill>
                        </a:rPr>
                        <a:t>8</a:t>
                      </a:r>
                      <a:r>
                        <a:rPr kumimoji="1" lang="ja-JP" altLang="en-US" sz="1200" dirty="0">
                          <a:solidFill>
                            <a:schemeClr val="tx2"/>
                          </a:solidFill>
                        </a:rPr>
                        <a:t>月</a:t>
                      </a: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dirty="0">
                          <a:solidFill>
                            <a:schemeClr val="tx2"/>
                          </a:solidFill>
                        </a:rPr>
                        <a:t>9</a:t>
                      </a:r>
                      <a:r>
                        <a:rPr kumimoji="1" lang="ja-JP" altLang="en-US" sz="1200" dirty="0">
                          <a:solidFill>
                            <a:schemeClr val="tx2"/>
                          </a:solidFill>
                        </a:rPr>
                        <a:t>月</a:t>
                      </a: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dirty="0">
                          <a:solidFill>
                            <a:schemeClr val="tx2"/>
                          </a:solidFill>
                        </a:rPr>
                        <a:t>10</a:t>
                      </a:r>
                      <a:r>
                        <a:rPr kumimoji="1" lang="ja-JP" altLang="en-US" sz="1200" dirty="0">
                          <a:solidFill>
                            <a:schemeClr val="tx2"/>
                          </a:solidFill>
                        </a:rPr>
                        <a:t>月</a:t>
                      </a: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dirty="0">
                          <a:solidFill>
                            <a:schemeClr val="tx2"/>
                          </a:solidFill>
                        </a:rPr>
                        <a:t>11</a:t>
                      </a:r>
                      <a:r>
                        <a:rPr kumimoji="1" lang="ja-JP" altLang="en-US" sz="1200" dirty="0">
                          <a:solidFill>
                            <a:schemeClr val="tx2"/>
                          </a:solidFill>
                        </a:rPr>
                        <a:t>月</a:t>
                      </a: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dirty="0">
                          <a:solidFill>
                            <a:schemeClr val="tx2"/>
                          </a:solidFill>
                        </a:rPr>
                        <a:t>12</a:t>
                      </a:r>
                      <a:r>
                        <a:rPr kumimoji="1" lang="ja-JP" altLang="en-US" sz="1200" dirty="0">
                          <a:solidFill>
                            <a:schemeClr val="tx2"/>
                          </a:solidFill>
                        </a:rPr>
                        <a:t>月</a:t>
                      </a: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082821"/>
                  </a:ext>
                </a:extLst>
              </a:tr>
              <a:tr h="3966966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kumimoji="1" lang="en-US" altLang="ja-JP" sz="1400" b="1" dirty="0">
                          <a:solidFill>
                            <a:schemeClr val="bg1"/>
                          </a:solidFill>
                        </a:rPr>
                        <a:t>RxSWIN</a:t>
                      </a:r>
                      <a:br>
                        <a:rPr kumimoji="1" lang="en-US" altLang="ja-JP" sz="1400" b="1" dirty="0">
                          <a:solidFill>
                            <a:schemeClr val="bg1"/>
                          </a:solidFill>
                        </a:rPr>
                      </a:br>
                      <a:r>
                        <a:rPr kumimoji="1" lang="ja-JP" altLang="en-US" sz="1400" b="1" dirty="0">
                          <a:solidFill>
                            <a:schemeClr val="bg1"/>
                          </a:solidFill>
                        </a:rPr>
                        <a:t>部品リスト</a:t>
                      </a:r>
                      <a:br>
                        <a:rPr kumimoji="1" lang="en-US" altLang="ja-JP" sz="1400" b="1" dirty="0">
                          <a:solidFill>
                            <a:schemeClr val="bg1"/>
                          </a:solidFill>
                        </a:rPr>
                      </a:br>
                      <a:r>
                        <a:rPr kumimoji="1" lang="ja-JP" altLang="en-US" sz="1400" b="1" dirty="0">
                          <a:solidFill>
                            <a:schemeClr val="bg1"/>
                          </a:solidFill>
                        </a:rPr>
                        <a:t>出力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400" dirty="0"/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400" dirty="0"/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400" dirty="0"/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400" dirty="0"/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400" dirty="0"/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400" dirty="0"/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400" dirty="0"/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400" dirty="0"/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400"/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400"/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400" dirty="0"/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400" dirty="0"/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400" dirty="0"/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2400756"/>
                  </a:ext>
                </a:extLst>
              </a:tr>
              <a:tr h="664143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kumimoji="1" lang="ja-JP" altLang="en-US" sz="1400" b="1" dirty="0">
                          <a:solidFill>
                            <a:schemeClr val="bg1"/>
                          </a:solidFill>
                        </a:rPr>
                        <a:t>認証系</a:t>
                      </a:r>
                      <a:br>
                        <a:rPr kumimoji="1" lang="en-US" altLang="ja-JP" sz="1400" b="1" dirty="0">
                          <a:solidFill>
                            <a:schemeClr val="bg1"/>
                          </a:solidFill>
                        </a:rPr>
                      </a:br>
                      <a:r>
                        <a:rPr kumimoji="1" lang="ja-JP" altLang="en-US" sz="1400" b="1" dirty="0">
                          <a:solidFill>
                            <a:schemeClr val="bg1"/>
                          </a:solidFill>
                        </a:rPr>
                        <a:t>共通基盤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400"/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400"/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400"/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400"/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400" dirty="0"/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400" dirty="0"/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400" dirty="0"/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400" dirty="0"/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400"/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400"/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400"/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400" dirty="0"/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400" dirty="0"/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249100"/>
                  </a:ext>
                </a:extLst>
              </a:tr>
            </a:tbl>
          </a:graphicData>
        </a:graphic>
      </p:graphicFrame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D0CC8B5C-399C-A914-6C21-E4D88410FBE9}"/>
              </a:ext>
            </a:extLst>
          </p:cNvPr>
          <p:cNvSpPr/>
          <p:nvPr/>
        </p:nvSpPr>
        <p:spPr>
          <a:xfrm>
            <a:off x="1612081" y="1670135"/>
            <a:ext cx="2172634" cy="2019834"/>
          </a:xfrm>
          <a:prstGeom prst="rect">
            <a:avLst/>
          </a:prstGeom>
          <a:solidFill>
            <a:schemeClr val="accent2">
              <a:alpha val="10000"/>
            </a:schemeClr>
          </a:solidFill>
          <a:ln w="38100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bIns="72000" rtlCol="0" anchor="t"/>
          <a:lstStyle/>
          <a:p>
            <a:r>
              <a:rPr kumimoji="1" lang="ja-JP" altLang="en-US" b="1" dirty="0">
                <a:solidFill>
                  <a:schemeClr val="accent2"/>
                </a:solidFill>
              </a:rPr>
              <a:t>ご提案範囲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22AFF575-4479-586B-0DC9-06A5D9B84B78}"/>
              </a:ext>
            </a:extLst>
          </p:cNvPr>
          <p:cNvSpPr txBox="1"/>
          <p:nvPr/>
        </p:nvSpPr>
        <p:spPr>
          <a:xfrm>
            <a:off x="5916577" y="1710626"/>
            <a:ext cx="14093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200" b="1" dirty="0"/>
              <a:t>▼トライ</a:t>
            </a:r>
            <a:r>
              <a:rPr kumimoji="1" lang="en-US" altLang="ja-JP" sz="1200" b="1" dirty="0"/>
              <a:t>#1</a:t>
            </a:r>
            <a:r>
              <a:rPr kumimoji="1" lang="ja-JP" altLang="en-US" sz="1200" b="1" dirty="0"/>
              <a:t>リリース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9A8EEDB3-21DF-531A-7293-5FD13ADDD88F}"/>
              </a:ext>
            </a:extLst>
          </p:cNvPr>
          <p:cNvSpPr txBox="1"/>
          <p:nvPr/>
        </p:nvSpPr>
        <p:spPr>
          <a:xfrm>
            <a:off x="8098695" y="1710626"/>
            <a:ext cx="14093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200" b="1" dirty="0"/>
              <a:t>▼トライ</a:t>
            </a:r>
            <a:r>
              <a:rPr kumimoji="1" lang="en-US" altLang="ja-JP" sz="1200" b="1" dirty="0"/>
              <a:t>#2</a:t>
            </a:r>
            <a:r>
              <a:rPr kumimoji="1" lang="ja-JP" altLang="en-US" sz="1200" b="1" dirty="0"/>
              <a:t>リリース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1F0F7527-78F7-5BDB-C0A3-67F4FEF7E432}"/>
              </a:ext>
            </a:extLst>
          </p:cNvPr>
          <p:cNvSpPr txBox="1"/>
          <p:nvPr/>
        </p:nvSpPr>
        <p:spPr>
          <a:xfrm>
            <a:off x="10280813" y="1710626"/>
            <a:ext cx="11224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200" b="1" dirty="0"/>
              <a:t>▼号口リリース</a:t>
            </a:r>
          </a:p>
        </p:txBody>
      </p:sp>
      <p:sp>
        <p:nvSpPr>
          <p:cNvPr id="10" name="矢印: 五方向 9">
            <a:extLst>
              <a:ext uri="{FF2B5EF4-FFF2-40B4-BE49-F238E27FC236}">
                <a16:creationId xmlns:a16="http://schemas.microsoft.com/office/drawing/2014/main" id="{263E4023-2B19-5543-8A46-95D20530ADA9}"/>
              </a:ext>
            </a:extLst>
          </p:cNvPr>
          <p:cNvSpPr/>
          <p:nvPr/>
        </p:nvSpPr>
        <p:spPr>
          <a:xfrm>
            <a:off x="1661727" y="2818026"/>
            <a:ext cx="2892327" cy="282193"/>
          </a:xfrm>
          <a:prstGeom prst="homePlate">
            <a:avLst/>
          </a:prstGeom>
          <a:solidFill>
            <a:schemeClr val="accent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100" dirty="0">
                <a:solidFill>
                  <a:schemeClr val="bg1"/>
                </a:solidFill>
              </a:rPr>
              <a:t>部品リスト新規作成機能</a:t>
            </a:r>
          </a:p>
        </p:txBody>
      </p:sp>
      <p:sp>
        <p:nvSpPr>
          <p:cNvPr id="11" name="矢印: 五方向 10">
            <a:extLst>
              <a:ext uri="{FF2B5EF4-FFF2-40B4-BE49-F238E27FC236}">
                <a16:creationId xmlns:a16="http://schemas.microsoft.com/office/drawing/2014/main" id="{37FB8422-E24B-EE1D-D8F9-CC91E7299EE1}"/>
              </a:ext>
            </a:extLst>
          </p:cNvPr>
          <p:cNvSpPr/>
          <p:nvPr/>
        </p:nvSpPr>
        <p:spPr>
          <a:xfrm>
            <a:off x="3136490" y="3157937"/>
            <a:ext cx="2903063" cy="282193"/>
          </a:xfrm>
          <a:prstGeom prst="homePlate">
            <a:avLst/>
          </a:prstGeom>
          <a:solidFill>
            <a:schemeClr val="accent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100" dirty="0">
                <a:solidFill>
                  <a:schemeClr val="bg1"/>
                </a:solidFill>
              </a:rPr>
              <a:t>部品リスト更新機能</a:t>
            </a:r>
          </a:p>
        </p:txBody>
      </p:sp>
      <p:sp>
        <p:nvSpPr>
          <p:cNvPr id="12" name="矢印: 五方向 11">
            <a:extLst>
              <a:ext uri="{FF2B5EF4-FFF2-40B4-BE49-F238E27FC236}">
                <a16:creationId xmlns:a16="http://schemas.microsoft.com/office/drawing/2014/main" id="{403CD87B-4A7E-248D-D997-DE28F5031272}"/>
              </a:ext>
            </a:extLst>
          </p:cNvPr>
          <p:cNvSpPr/>
          <p:nvPr/>
        </p:nvSpPr>
        <p:spPr>
          <a:xfrm>
            <a:off x="1661727" y="2478115"/>
            <a:ext cx="3662347" cy="282193"/>
          </a:xfrm>
          <a:prstGeom prst="homePlate">
            <a:avLst/>
          </a:prstGeom>
          <a:solidFill>
            <a:schemeClr val="accent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100" dirty="0">
                <a:solidFill>
                  <a:schemeClr val="bg1"/>
                </a:solidFill>
              </a:rPr>
              <a:t>関連システム連携機能開発</a:t>
            </a:r>
          </a:p>
        </p:txBody>
      </p:sp>
      <p:sp>
        <p:nvSpPr>
          <p:cNvPr id="13" name="矢印: 五方向 12">
            <a:extLst>
              <a:ext uri="{FF2B5EF4-FFF2-40B4-BE49-F238E27FC236}">
                <a16:creationId xmlns:a16="http://schemas.microsoft.com/office/drawing/2014/main" id="{B026DEED-C737-080D-49E6-32E0DEF239AE}"/>
              </a:ext>
            </a:extLst>
          </p:cNvPr>
          <p:cNvSpPr/>
          <p:nvPr/>
        </p:nvSpPr>
        <p:spPr>
          <a:xfrm>
            <a:off x="6883368" y="3157937"/>
            <a:ext cx="1414914" cy="282193"/>
          </a:xfrm>
          <a:prstGeom prst="homePlate">
            <a:avLst/>
          </a:prstGeom>
          <a:solidFill>
            <a:schemeClr val="accent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100" dirty="0">
                <a:solidFill>
                  <a:schemeClr val="bg1"/>
                </a:solidFill>
              </a:rPr>
              <a:t>部品リスト管理機能</a:t>
            </a:r>
          </a:p>
        </p:txBody>
      </p:sp>
      <p:sp>
        <p:nvSpPr>
          <p:cNvPr id="14" name="矢印: 五方向 13">
            <a:extLst>
              <a:ext uri="{FF2B5EF4-FFF2-40B4-BE49-F238E27FC236}">
                <a16:creationId xmlns:a16="http://schemas.microsoft.com/office/drawing/2014/main" id="{4E3E4633-FE08-30DE-5739-A086239F9277}"/>
              </a:ext>
            </a:extLst>
          </p:cNvPr>
          <p:cNvSpPr/>
          <p:nvPr/>
        </p:nvSpPr>
        <p:spPr>
          <a:xfrm>
            <a:off x="4798810" y="3513824"/>
            <a:ext cx="2739076" cy="282193"/>
          </a:xfrm>
          <a:prstGeom prst="homePlate">
            <a:avLst/>
          </a:prstGeom>
          <a:solidFill>
            <a:schemeClr val="accent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tabLst>
                <a:tab pos="987425" algn="l"/>
              </a:tabLst>
            </a:pPr>
            <a:r>
              <a:rPr kumimoji="1" lang="ja-JP" altLang="en-US" sz="1100" dirty="0">
                <a:solidFill>
                  <a:schemeClr val="bg1"/>
                </a:solidFill>
              </a:rPr>
              <a:t>トライ</a:t>
            </a:r>
            <a:r>
              <a:rPr kumimoji="1" lang="en-US" altLang="ja-JP" sz="1100" dirty="0">
                <a:solidFill>
                  <a:schemeClr val="bg1"/>
                </a:solidFill>
              </a:rPr>
              <a:t>#1</a:t>
            </a:r>
            <a:r>
              <a:rPr kumimoji="1" lang="ja-JP" altLang="en-US" sz="1100" dirty="0">
                <a:solidFill>
                  <a:schemeClr val="bg1"/>
                </a:solidFill>
              </a:rPr>
              <a:t>対応</a:t>
            </a:r>
          </a:p>
        </p:txBody>
      </p:sp>
      <p:sp>
        <p:nvSpPr>
          <p:cNvPr id="15" name="矢印: 五方向 14">
            <a:extLst>
              <a:ext uri="{FF2B5EF4-FFF2-40B4-BE49-F238E27FC236}">
                <a16:creationId xmlns:a16="http://schemas.microsoft.com/office/drawing/2014/main" id="{7A911205-8282-9454-FD3C-BCFA2C9E5F6D}"/>
              </a:ext>
            </a:extLst>
          </p:cNvPr>
          <p:cNvSpPr/>
          <p:nvPr/>
        </p:nvSpPr>
        <p:spPr>
          <a:xfrm>
            <a:off x="6883368" y="4560185"/>
            <a:ext cx="2156059" cy="282193"/>
          </a:xfrm>
          <a:prstGeom prst="homePlate">
            <a:avLst/>
          </a:prstGeom>
          <a:solidFill>
            <a:schemeClr val="accent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tabLst>
                <a:tab pos="987425" algn="l"/>
              </a:tabLst>
            </a:pPr>
            <a:r>
              <a:rPr kumimoji="1" lang="ja-JP" altLang="en-US" sz="1100" dirty="0">
                <a:solidFill>
                  <a:schemeClr val="bg1"/>
                </a:solidFill>
              </a:rPr>
              <a:t>その他号口向け対応</a:t>
            </a:r>
          </a:p>
        </p:txBody>
      </p:sp>
      <p:sp>
        <p:nvSpPr>
          <p:cNvPr id="16" name="矢印: 五方向 15">
            <a:extLst>
              <a:ext uri="{FF2B5EF4-FFF2-40B4-BE49-F238E27FC236}">
                <a16:creationId xmlns:a16="http://schemas.microsoft.com/office/drawing/2014/main" id="{D2086709-EFAE-95CD-ED65-7ED229B279D8}"/>
              </a:ext>
            </a:extLst>
          </p:cNvPr>
          <p:cNvSpPr/>
          <p:nvPr/>
        </p:nvSpPr>
        <p:spPr>
          <a:xfrm>
            <a:off x="9117891" y="4550596"/>
            <a:ext cx="1413452" cy="282193"/>
          </a:xfrm>
          <a:prstGeom prst="homePlate">
            <a:avLst/>
          </a:prstGeom>
          <a:solidFill>
            <a:schemeClr val="accent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tabLst>
                <a:tab pos="987425" algn="l"/>
              </a:tabLst>
            </a:pPr>
            <a:r>
              <a:rPr kumimoji="1" lang="ja-JP" altLang="en-US" sz="1100" dirty="0">
                <a:solidFill>
                  <a:schemeClr val="bg1"/>
                </a:solidFill>
              </a:rPr>
              <a:t>品保・号口リリース</a:t>
            </a:r>
          </a:p>
        </p:txBody>
      </p:sp>
      <p:sp>
        <p:nvSpPr>
          <p:cNvPr id="17" name="矢印: 五方向 16">
            <a:extLst>
              <a:ext uri="{FF2B5EF4-FFF2-40B4-BE49-F238E27FC236}">
                <a16:creationId xmlns:a16="http://schemas.microsoft.com/office/drawing/2014/main" id="{4F214FDB-CF9F-0A61-3047-689D8DB9F9D3}"/>
              </a:ext>
            </a:extLst>
          </p:cNvPr>
          <p:cNvSpPr/>
          <p:nvPr/>
        </p:nvSpPr>
        <p:spPr>
          <a:xfrm>
            <a:off x="6883368" y="3861338"/>
            <a:ext cx="2906829" cy="282193"/>
          </a:xfrm>
          <a:prstGeom prst="homePlate">
            <a:avLst/>
          </a:prstGeom>
          <a:solidFill>
            <a:schemeClr val="accent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tabLst>
                <a:tab pos="987425" algn="l"/>
              </a:tabLst>
            </a:pPr>
            <a:r>
              <a:rPr kumimoji="1" lang="ja-JP" altLang="en-US" sz="1100" dirty="0">
                <a:solidFill>
                  <a:schemeClr val="bg1"/>
                </a:solidFill>
              </a:rPr>
              <a:t>トライ</a:t>
            </a:r>
            <a:r>
              <a:rPr kumimoji="1" lang="en-US" altLang="ja-JP" sz="1100" dirty="0">
                <a:solidFill>
                  <a:schemeClr val="bg1"/>
                </a:solidFill>
              </a:rPr>
              <a:t>#2</a:t>
            </a:r>
            <a:r>
              <a:rPr kumimoji="1" lang="ja-JP" altLang="en-US" sz="1100" dirty="0">
                <a:solidFill>
                  <a:schemeClr val="bg1"/>
                </a:solidFill>
              </a:rPr>
              <a:t>対応</a:t>
            </a:r>
          </a:p>
        </p:txBody>
      </p:sp>
      <p:sp>
        <p:nvSpPr>
          <p:cNvPr id="18" name="矢印: 五方向 17">
            <a:extLst>
              <a:ext uri="{FF2B5EF4-FFF2-40B4-BE49-F238E27FC236}">
                <a16:creationId xmlns:a16="http://schemas.microsoft.com/office/drawing/2014/main" id="{298CF974-8DD7-B5FD-8F42-160E82BB73DD}"/>
              </a:ext>
            </a:extLst>
          </p:cNvPr>
          <p:cNvSpPr/>
          <p:nvPr/>
        </p:nvSpPr>
        <p:spPr>
          <a:xfrm>
            <a:off x="1661728" y="2140925"/>
            <a:ext cx="3662346" cy="282193"/>
          </a:xfrm>
          <a:prstGeom prst="homePlate">
            <a:avLst/>
          </a:prstGeom>
          <a:solidFill>
            <a:schemeClr val="accent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100" dirty="0">
                <a:solidFill>
                  <a:schemeClr val="bg1"/>
                </a:solidFill>
              </a:rPr>
              <a:t>インフラ検討・構築</a:t>
            </a:r>
          </a:p>
        </p:txBody>
      </p:sp>
      <p:sp>
        <p:nvSpPr>
          <p:cNvPr id="19" name="矢印: 五方向 18">
            <a:extLst>
              <a:ext uri="{FF2B5EF4-FFF2-40B4-BE49-F238E27FC236}">
                <a16:creationId xmlns:a16="http://schemas.microsoft.com/office/drawing/2014/main" id="{769C23EF-411A-1DEB-6180-39844591DCC9}"/>
              </a:ext>
            </a:extLst>
          </p:cNvPr>
          <p:cNvSpPr/>
          <p:nvPr/>
        </p:nvSpPr>
        <p:spPr>
          <a:xfrm>
            <a:off x="6148409" y="4208929"/>
            <a:ext cx="4381864" cy="282193"/>
          </a:xfrm>
          <a:prstGeom prst="homePlate">
            <a:avLst/>
          </a:prstGeom>
          <a:solidFill>
            <a:schemeClr val="accent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tabLst>
                <a:tab pos="987425" algn="l"/>
              </a:tabLst>
            </a:pPr>
            <a:r>
              <a:rPr kumimoji="1" lang="ja-JP" altLang="en-US" sz="1100" dirty="0">
                <a:solidFill>
                  <a:schemeClr val="bg1"/>
                </a:solidFill>
              </a:rPr>
              <a:t>システム運用設計・準備</a:t>
            </a:r>
          </a:p>
        </p:txBody>
      </p:sp>
      <p:sp>
        <p:nvSpPr>
          <p:cNvPr id="20" name="矢印: 五方向 19">
            <a:extLst>
              <a:ext uri="{FF2B5EF4-FFF2-40B4-BE49-F238E27FC236}">
                <a16:creationId xmlns:a16="http://schemas.microsoft.com/office/drawing/2014/main" id="{9CF13924-C675-FC27-A447-1B1BC3A1D6FC}"/>
              </a:ext>
            </a:extLst>
          </p:cNvPr>
          <p:cNvSpPr/>
          <p:nvPr/>
        </p:nvSpPr>
        <p:spPr>
          <a:xfrm>
            <a:off x="10637219" y="5039330"/>
            <a:ext cx="1212784" cy="282193"/>
          </a:xfrm>
          <a:prstGeom prst="homePlate">
            <a:avLst/>
          </a:prstGeom>
          <a:solidFill>
            <a:schemeClr val="tx1">
              <a:lumMod val="50000"/>
              <a:lumOff val="50000"/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tabLst>
                <a:tab pos="987425" algn="l"/>
              </a:tabLst>
            </a:pPr>
            <a:r>
              <a:rPr kumimoji="1" lang="ja-JP" altLang="en-US" sz="1100" dirty="0">
                <a:solidFill>
                  <a:schemeClr val="bg1"/>
                </a:solidFill>
              </a:rPr>
              <a:t>維持・運用・改善</a:t>
            </a:r>
          </a:p>
        </p:txBody>
      </p:sp>
      <p:sp>
        <p:nvSpPr>
          <p:cNvPr id="21" name="矢印: 五方向 20">
            <a:extLst>
              <a:ext uri="{FF2B5EF4-FFF2-40B4-BE49-F238E27FC236}">
                <a16:creationId xmlns:a16="http://schemas.microsoft.com/office/drawing/2014/main" id="{8682012F-6CC5-094E-0A41-4D660D19C3AA}"/>
              </a:ext>
            </a:extLst>
          </p:cNvPr>
          <p:cNvSpPr/>
          <p:nvPr/>
        </p:nvSpPr>
        <p:spPr>
          <a:xfrm>
            <a:off x="1661727" y="5039330"/>
            <a:ext cx="2892327" cy="282193"/>
          </a:xfrm>
          <a:prstGeom prst="homePlate">
            <a:avLst/>
          </a:prstGeom>
          <a:solidFill>
            <a:schemeClr val="tx1">
              <a:lumMod val="50000"/>
              <a:lumOff val="50000"/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tabLst>
                <a:tab pos="987425" algn="l"/>
              </a:tabLst>
            </a:pPr>
            <a:r>
              <a:rPr kumimoji="1" lang="en-US" altLang="ja-JP" sz="1100" dirty="0">
                <a:solidFill>
                  <a:schemeClr val="bg1"/>
                </a:solidFill>
              </a:rPr>
              <a:t>G-CIS</a:t>
            </a:r>
            <a:r>
              <a:rPr kumimoji="1" lang="ja-JP" altLang="en-US" sz="1100" dirty="0">
                <a:solidFill>
                  <a:schemeClr val="bg1"/>
                </a:solidFill>
              </a:rPr>
              <a:t>側 </a:t>
            </a:r>
            <a:r>
              <a:rPr kumimoji="1" lang="en-US" altLang="ja-JP" sz="1100" dirty="0">
                <a:solidFill>
                  <a:schemeClr val="bg1"/>
                </a:solidFill>
              </a:rPr>
              <a:t>API</a:t>
            </a:r>
            <a:r>
              <a:rPr kumimoji="1" lang="ja-JP" altLang="en-US" sz="1100" dirty="0">
                <a:solidFill>
                  <a:schemeClr val="bg1"/>
                </a:solidFill>
              </a:rPr>
              <a:t>開発</a:t>
            </a:r>
          </a:p>
        </p:txBody>
      </p:sp>
      <p:sp>
        <p:nvSpPr>
          <p:cNvPr id="22" name="矢印: 五方向 21">
            <a:extLst>
              <a:ext uri="{FF2B5EF4-FFF2-40B4-BE49-F238E27FC236}">
                <a16:creationId xmlns:a16="http://schemas.microsoft.com/office/drawing/2014/main" id="{4AEB653F-441D-F511-3BBB-E30C08A4035A}"/>
              </a:ext>
            </a:extLst>
          </p:cNvPr>
          <p:cNvSpPr/>
          <p:nvPr/>
        </p:nvSpPr>
        <p:spPr>
          <a:xfrm>
            <a:off x="1661727" y="5631334"/>
            <a:ext cx="6636555" cy="282193"/>
          </a:xfrm>
          <a:prstGeom prst="homePlate">
            <a:avLst/>
          </a:prstGeom>
          <a:solidFill>
            <a:schemeClr val="tx1">
              <a:lumMod val="50000"/>
              <a:lumOff val="50000"/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tabLst>
                <a:tab pos="987425" algn="l"/>
              </a:tabLst>
            </a:pPr>
            <a:r>
              <a:rPr kumimoji="1" lang="ja-JP" altLang="en-US" sz="1100" dirty="0">
                <a:solidFill>
                  <a:schemeClr val="bg1"/>
                </a:solidFill>
              </a:rPr>
              <a:t>共通基盤要件整理</a:t>
            </a:r>
          </a:p>
        </p:txBody>
      </p:sp>
      <p:sp>
        <p:nvSpPr>
          <p:cNvPr id="23" name="矢印: 五方向 22">
            <a:extLst>
              <a:ext uri="{FF2B5EF4-FFF2-40B4-BE49-F238E27FC236}">
                <a16:creationId xmlns:a16="http://schemas.microsoft.com/office/drawing/2014/main" id="{55BBCD69-624E-3BC2-BD6B-765325D46A74}"/>
              </a:ext>
            </a:extLst>
          </p:cNvPr>
          <p:cNvSpPr/>
          <p:nvPr/>
        </p:nvSpPr>
        <p:spPr>
          <a:xfrm>
            <a:off x="8384908" y="5631334"/>
            <a:ext cx="3465095" cy="282193"/>
          </a:xfrm>
          <a:prstGeom prst="homePlate">
            <a:avLst/>
          </a:prstGeom>
          <a:solidFill>
            <a:schemeClr val="tx1">
              <a:lumMod val="50000"/>
              <a:lumOff val="50000"/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tabLst>
                <a:tab pos="987425" algn="l"/>
              </a:tabLst>
            </a:pPr>
            <a:r>
              <a:rPr kumimoji="1" lang="ja-JP" altLang="en-US" sz="1100" dirty="0">
                <a:solidFill>
                  <a:schemeClr val="bg1"/>
                </a:solidFill>
              </a:rPr>
              <a:t>共通基盤機能追加</a:t>
            </a:r>
          </a:p>
        </p:txBody>
      </p:sp>
      <p:sp>
        <p:nvSpPr>
          <p:cNvPr id="24" name="矢印: 五方向 23">
            <a:extLst>
              <a:ext uri="{FF2B5EF4-FFF2-40B4-BE49-F238E27FC236}">
                <a16:creationId xmlns:a16="http://schemas.microsoft.com/office/drawing/2014/main" id="{B68789E8-0682-1360-30F9-85CB67755EF9}"/>
              </a:ext>
            </a:extLst>
          </p:cNvPr>
          <p:cNvSpPr/>
          <p:nvPr/>
        </p:nvSpPr>
        <p:spPr>
          <a:xfrm>
            <a:off x="6148408" y="2818026"/>
            <a:ext cx="1177529" cy="282193"/>
          </a:xfrm>
          <a:prstGeom prst="homePlate">
            <a:avLst/>
          </a:prstGeom>
          <a:solidFill>
            <a:schemeClr val="accent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100" dirty="0">
                <a:solidFill>
                  <a:schemeClr val="bg1"/>
                </a:solidFill>
              </a:rPr>
              <a:t>リスト流用機能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C53B3EAE-815F-A22B-2B16-C2E3764B4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85899-07DC-4708-B5DD-A200CEE14CAD}" type="slidenum">
              <a:rPr kumimoji="1" lang="ja-JP" altLang="en-US" smtClean="0"/>
              <a:t>10</a:t>
            </a:fld>
            <a:endParaRPr kumimoji="1" lang="ja-JP" altLang="en-US"/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853A3EF6-6813-4DA3-A8F1-50641961740B}"/>
              </a:ext>
            </a:extLst>
          </p:cNvPr>
          <p:cNvSpPr txBox="1"/>
          <p:nvPr/>
        </p:nvSpPr>
        <p:spPr>
          <a:xfrm>
            <a:off x="6102926" y="1934361"/>
            <a:ext cx="1851789" cy="6307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ja-JP" altLang="en-US" sz="1000" dirty="0">
                <a:solidFill>
                  <a:schemeClr val="tx2"/>
                </a:solidFill>
              </a:rPr>
              <a:t>部品リスト新規作成～更新の</a:t>
            </a:r>
            <a:br>
              <a:rPr kumimoji="1" lang="en-US" altLang="ja-JP" sz="1000" dirty="0">
                <a:solidFill>
                  <a:schemeClr val="tx2"/>
                </a:solidFill>
              </a:rPr>
            </a:br>
            <a:r>
              <a:rPr kumimoji="1" lang="ja-JP" altLang="en-US" sz="1000" dirty="0">
                <a:solidFill>
                  <a:schemeClr val="tx2"/>
                </a:solidFill>
              </a:rPr>
              <a:t>コア機能の確認を想定</a:t>
            </a:r>
            <a:br>
              <a:rPr kumimoji="1" lang="en-US" altLang="ja-JP" sz="1000" dirty="0">
                <a:solidFill>
                  <a:schemeClr val="tx2"/>
                </a:solidFill>
              </a:rPr>
            </a:br>
            <a:r>
              <a:rPr kumimoji="1" lang="ja-JP" altLang="en-US" sz="1000" dirty="0">
                <a:solidFill>
                  <a:schemeClr val="tx2"/>
                </a:solidFill>
              </a:rPr>
              <a:t>（実装機能は必要最小限）</a:t>
            </a: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BCECD368-F744-9700-36C0-5F66268D8D57}"/>
              </a:ext>
            </a:extLst>
          </p:cNvPr>
          <p:cNvSpPr txBox="1"/>
          <p:nvPr/>
        </p:nvSpPr>
        <p:spPr>
          <a:xfrm>
            <a:off x="8298282" y="1934361"/>
            <a:ext cx="1851789" cy="4460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  <a:tabLst>
                <a:tab pos="1343025" algn="l"/>
              </a:tabLst>
            </a:pPr>
            <a:r>
              <a:rPr kumimoji="1" lang="ja-JP" altLang="en-US" sz="1000" dirty="0">
                <a:solidFill>
                  <a:schemeClr val="tx2"/>
                </a:solidFill>
              </a:rPr>
              <a:t>号口リリースに近い状態で</a:t>
            </a:r>
            <a:br>
              <a:rPr kumimoji="1" lang="en-US" altLang="ja-JP" sz="1000" dirty="0">
                <a:solidFill>
                  <a:schemeClr val="tx2"/>
                </a:solidFill>
              </a:rPr>
            </a:br>
            <a:r>
              <a:rPr kumimoji="1" lang="ja-JP" altLang="en-US" sz="1000" dirty="0">
                <a:solidFill>
                  <a:schemeClr val="tx2"/>
                </a:solidFill>
              </a:rPr>
              <a:t>機能と業務運用の確認を想定</a:t>
            </a:r>
          </a:p>
        </p:txBody>
      </p:sp>
    </p:spTree>
    <p:extLst>
      <p:ext uri="{BB962C8B-B14F-4D97-AF65-F5344CB8AC3E}">
        <p14:creationId xmlns:p14="http://schemas.microsoft.com/office/powerpoint/2010/main" val="8025176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AD7822C-F2ED-57E9-4C1D-CFEA1DD13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1-3</a:t>
            </a:r>
            <a:r>
              <a:rPr kumimoji="1" lang="ja-JP" altLang="en-US" dirty="0"/>
              <a:t>月実施事項</a:t>
            </a:r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9C7363BE-B872-909B-FE2F-9872125A5FD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44550" y="849313"/>
            <a:ext cx="10515600" cy="553549"/>
          </a:xfrm>
        </p:spPr>
        <p:txBody>
          <a:bodyPr/>
          <a:lstStyle/>
          <a:p>
            <a:r>
              <a:rPr lang="ja-JP" altLang="en-US" dirty="0"/>
              <a:t>トライ</a:t>
            </a:r>
            <a:r>
              <a:rPr lang="en-US" altLang="ja-JP" dirty="0"/>
              <a:t>#1</a:t>
            </a:r>
            <a:r>
              <a:rPr lang="ja-JP" altLang="en-US" dirty="0"/>
              <a:t> </a:t>
            </a:r>
            <a:r>
              <a:rPr lang="en-US" altLang="ja-JP" dirty="0"/>
              <a:t>(6</a:t>
            </a:r>
            <a:r>
              <a:rPr lang="ja-JP" altLang="en-US" dirty="0"/>
              <a:t>月</a:t>
            </a:r>
            <a:r>
              <a:rPr lang="en-US" altLang="ja-JP" dirty="0"/>
              <a:t>)</a:t>
            </a:r>
            <a:r>
              <a:rPr lang="ja-JP" altLang="en-US" dirty="0"/>
              <a:t>に向け、部品リスト作成機能を中心とした開発を行う</a:t>
            </a:r>
          </a:p>
        </p:txBody>
      </p:sp>
      <p:graphicFrame>
        <p:nvGraphicFramePr>
          <p:cNvPr id="8" name="表 7">
            <a:extLst>
              <a:ext uri="{FF2B5EF4-FFF2-40B4-BE49-F238E27FC236}">
                <a16:creationId xmlns:a16="http://schemas.microsoft.com/office/drawing/2014/main" id="{9A9101BC-CF83-5B36-77E1-27D4A0A0D1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9805075"/>
              </p:ext>
            </p:extLst>
          </p:nvPr>
        </p:nvGraphicFramePr>
        <p:xfrm>
          <a:off x="265404" y="1475693"/>
          <a:ext cx="11673892" cy="45901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4531">
                  <a:extLst>
                    <a:ext uri="{9D8B030D-6E8A-4147-A177-3AD203B41FA5}">
                      <a16:colId xmlns:a16="http://schemas.microsoft.com/office/drawing/2014/main" val="311185762"/>
                    </a:ext>
                  </a:extLst>
                </a:gridCol>
                <a:gridCol w="2533968">
                  <a:extLst>
                    <a:ext uri="{9D8B030D-6E8A-4147-A177-3AD203B41FA5}">
                      <a16:colId xmlns:a16="http://schemas.microsoft.com/office/drawing/2014/main" val="3965916806"/>
                    </a:ext>
                  </a:extLst>
                </a:gridCol>
                <a:gridCol w="5222786">
                  <a:extLst>
                    <a:ext uri="{9D8B030D-6E8A-4147-A177-3AD203B41FA5}">
                      <a16:colId xmlns:a16="http://schemas.microsoft.com/office/drawing/2014/main" val="2118651781"/>
                    </a:ext>
                  </a:extLst>
                </a:gridCol>
                <a:gridCol w="2660902">
                  <a:extLst>
                    <a:ext uri="{9D8B030D-6E8A-4147-A177-3AD203B41FA5}">
                      <a16:colId xmlns:a16="http://schemas.microsoft.com/office/drawing/2014/main" val="114081079"/>
                    </a:ext>
                  </a:extLst>
                </a:gridCol>
                <a:gridCol w="941705">
                  <a:extLst>
                    <a:ext uri="{9D8B030D-6E8A-4147-A177-3AD203B41FA5}">
                      <a16:colId xmlns:a16="http://schemas.microsoft.com/office/drawing/2014/main" val="21968851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kumimoji="1" lang="en-US" altLang="ja-JP" sz="1200" dirty="0">
                          <a:solidFill>
                            <a:schemeClr val="bg2"/>
                          </a:solidFill>
                        </a:rPr>
                        <a:t>#</a:t>
                      </a:r>
                      <a:endParaRPr kumimoji="1" lang="ja-JP" altLang="en-US" sz="1200" dirty="0">
                        <a:solidFill>
                          <a:schemeClr val="bg2"/>
                        </a:solidFill>
                      </a:endParaRPr>
                    </a:p>
                  </a:txBody>
                  <a:tcPr marT="36000" marB="36000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kumimoji="1" lang="ja-JP" altLang="en-US" sz="1200" dirty="0">
                          <a:solidFill>
                            <a:schemeClr val="bg2"/>
                          </a:solidFill>
                        </a:rPr>
                        <a:t>項目</a:t>
                      </a:r>
                    </a:p>
                  </a:txBody>
                  <a:tcPr marT="36000" marB="36000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kumimoji="1" lang="ja-JP" altLang="en-US" sz="1200" dirty="0">
                          <a:solidFill>
                            <a:schemeClr val="bg2"/>
                          </a:solidFill>
                        </a:rPr>
                        <a:t>内容</a:t>
                      </a:r>
                    </a:p>
                  </a:txBody>
                  <a:tcPr marT="36000" marB="36000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kumimoji="1" lang="ja-JP" altLang="en-US" sz="1200" dirty="0">
                          <a:solidFill>
                            <a:schemeClr val="bg2"/>
                          </a:solidFill>
                        </a:rPr>
                        <a:t>備考</a:t>
                      </a:r>
                    </a:p>
                  </a:txBody>
                  <a:tcPr marT="36000" marB="36000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kumimoji="1" lang="ja-JP" altLang="en-US" sz="1200" dirty="0">
                          <a:solidFill>
                            <a:schemeClr val="bg2"/>
                          </a:solidFill>
                        </a:rPr>
                        <a:t>工数</a:t>
                      </a:r>
                      <a:r>
                        <a:rPr kumimoji="1" lang="en-US" altLang="ja-JP" sz="1200" dirty="0">
                          <a:solidFill>
                            <a:schemeClr val="bg2"/>
                          </a:solidFill>
                        </a:rPr>
                        <a:t>(</a:t>
                      </a:r>
                      <a:r>
                        <a:rPr kumimoji="1" lang="ja-JP" altLang="en-US" sz="1200" dirty="0">
                          <a:solidFill>
                            <a:schemeClr val="bg2"/>
                          </a:solidFill>
                        </a:rPr>
                        <a:t>人月</a:t>
                      </a:r>
                      <a:r>
                        <a:rPr kumimoji="1" lang="en-US" altLang="ja-JP" sz="1200" dirty="0">
                          <a:solidFill>
                            <a:schemeClr val="bg2"/>
                          </a:solidFill>
                        </a:rPr>
                        <a:t>)</a:t>
                      </a:r>
                      <a:endParaRPr kumimoji="1" lang="ja-JP" altLang="en-US" sz="1200" dirty="0">
                        <a:solidFill>
                          <a:schemeClr val="bg2"/>
                        </a:solidFill>
                      </a:endParaRPr>
                    </a:p>
                  </a:txBody>
                  <a:tcPr marT="36000" marB="36000" anchor="ctr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45715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kumimoji="1" lang="en-US" altLang="ja-JP" sz="1400" b="1" dirty="0"/>
                        <a:t>1</a:t>
                      </a:r>
                      <a:endParaRPr kumimoji="1" lang="ja-JP" altLang="en-US" sz="1400" b="1" dirty="0"/>
                    </a:p>
                  </a:txBody>
                  <a:tcPr marT="36000" marB="3600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kumimoji="1" lang="ja-JP" altLang="en-US" sz="1400" b="1" dirty="0"/>
                        <a:t>開発準備</a:t>
                      </a:r>
                    </a:p>
                  </a:txBody>
                  <a:tcPr marT="36000" marB="3600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10000"/>
                        </a:lnSpc>
                        <a:spcBef>
                          <a:spcPts val="2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kumimoji="1" lang="ja-JP" altLang="en-US" sz="1200" dirty="0"/>
                        <a:t>業務・要件理解</a:t>
                      </a:r>
                      <a:endParaRPr kumimoji="1" lang="en-US" altLang="ja-JP" sz="1200" dirty="0"/>
                    </a:p>
                    <a:p>
                      <a:pPr marL="171450" indent="-171450">
                        <a:lnSpc>
                          <a:spcPct val="110000"/>
                        </a:lnSpc>
                        <a:spcBef>
                          <a:spcPts val="2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kumimoji="1" lang="en-US" altLang="ja-JP" sz="1200" dirty="0"/>
                        <a:t>MVP(</a:t>
                      </a:r>
                      <a:r>
                        <a:rPr kumimoji="1" lang="ja-JP" altLang="en-US" sz="1200" dirty="0"/>
                        <a:t>トライ</a:t>
                      </a:r>
                      <a:r>
                        <a:rPr kumimoji="1" lang="en-US" altLang="ja-JP" sz="1200" dirty="0"/>
                        <a:t>#1</a:t>
                      </a:r>
                      <a:r>
                        <a:rPr kumimoji="1" lang="ja-JP" altLang="en-US" sz="1200" dirty="0"/>
                        <a:t>時点</a:t>
                      </a:r>
                      <a:r>
                        <a:rPr kumimoji="1" lang="en-US" altLang="ja-JP" sz="1200" dirty="0"/>
                        <a:t>)</a:t>
                      </a:r>
                      <a:r>
                        <a:rPr kumimoji="1" lang="ja-JP" altLang="en-US" sz="1200" dirty="0"/>
                        <a:t>定義</a:t>
                      </a:r>
                      <a:endParaRPr kumimoji="1" lang="en-US" altLang="ja-JP" sz="1200" dirty="0"/>
                    </a:p>
                  </a:txBody>
                  <a:tcPr marT="36000" marB="3600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10000"/>
                        </a:lnSpc>
                        <a:spcBef>
                          <a:spcPts val="2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kumimoji="1" lang="ja-JP" altLang="en-US" sz="1050" dirty="0">
                          <a:solidFill>
                            <a:schemeClr val="tx2"/>
                          </a:solidFill>
                        </a:rPr>
                        <a:t>スクラム開発のためのセットアップ</a:t>
                      </a:r>
                      <a:endParaRPr kumimoji="1" lang="en-US" altLang="ja-JP" sz="1050" dirty="0">
                        <a:solidFill>
                          <a:schemeClr val="tx2"/>
                        </a:solidFill>
                      </a:endParaRPr>
                    </a:p>
                  </a:txBody>
                  <a:tcPr marT="36000" marB="3600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kumimoji="1" lang="en-US" altLang="ja-JP" sz="1400" dirty="0"/>
                        <a:t>3.00</a:t>
                      </a:r>
                      <a:endParaRPr kumimoji="1" lang="ja-JP" altLang="en-US" sz="1400" dirty="0"/>
                    </a:p>
                  </a:txBody>
                  <a:tcPr marT="36000" marB="3600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2491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kumimoji="1" lang="en-US" altLang="ja-JP" sz="1400" b="1" dirty="0"/>
                        <a:t>2</a:t>
                      </a:r>
                      <a:endParaRPr kumimoji="1" lang="ja-JP" altLang="en-US" sz="1400" b="1" dirty="0"/>
                    </a:p>
                  </a:txBody>
                  <a:tcPr marT="36000" marB="3600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kumimoji="1" lang="ja-JP" altLang="en-US" sz="1400" b="1" dirty="0"/>
                        <a:t>インフラ検討・構築</a:t>
                      </a:r>
                    </a:p>
                  </a:txBody>
                  <a:tcPr marT="36000" marB="3600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10000"/>
                        </a:lnSpc>
                        <a:spcBef>
                          <a:spcPts val="2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kumimoji="1" lang="ja-JP" altLang="en-US" sz="1200" dirty="0"/>
                        <a:t>サーバー</a:t>
                      </a:r>
                      <a:r>
                        <a:rPr kumimoji="1" lang="en-US" altLang="ja-JP" sz="1200" dirty="0"/>
                        <a:t>(</a:t>
                      </a:r>
                      <a:r>
                        <a:rPr kumimoji="1" lang="ja-JP" altLang="en-US" sz="1200" dirty="0"/>
                        <a:t>開発環境</a:t>
                      </a:r>
                      <a:r>
                        <a:rPr kumimoji="1" lang="en-US" altLang="ja-JP" sz="1200" dirty="0"/>
                        <a:t>)</a:t>
                      </a:r>
                      <a:r>
                        <a:rPr kumimoji="1" lang="ja-JP" altLang="en-US" sz="1200" dirty="0"/>
                        <a:t>構築</a:t>
                      </a:r>
                      <a:endParaRPr kumimoji="1" lang="en-US" altLang="ja-JP" sz="1200" dirty="0"/>
                    </a:p>
                    <a:p>
                      <a:pPr marL="171450" indent="-171450">
                        <a:lnSpc>
                          <a:spcPct val="110000"/>
                        </a:lnSpc>
                        <a:spcBef>
                          <a:spcPts val="2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kumimoji="1" lang="en-US" altLang="ja-JP" sz="1200" dirty="0"/>
                        <a:t>CD/CI</a:t>
                      </a:r>
                      <a:r>
                        <a:rPr kumimoji="1" lang="ja-JP" altLang="en-US" sz="1200" dirty="0"/>
                        <a:t>環境の設計・構築</a:t>
                      </a:r>
                      <a:endParaRPr kumimoji="1" lang="en-US" altLang="ja-JP" sz="1200" dirty="0"/>
                    </a:p>
                  </a:txBody>
                  <a:tcPr marT="36000" marB="3600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10000"/>
                        </a:lnSpc>
                        <a:spcBef>
                          <a:spcPts val="2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kumimoji="1" lang="ja-JP" altLang="en-US" sz="1050" dirty="0">
                          <a:solidFill>
                            <a:schemeClr val="tx2"/>
                          </a:solidFill>
                        </a:rPr>
                        <a:t>テスト・号口環境のサーバー構築は、次工程以降</a:t>
                      </a:r>
                      <a:r>
                        <a:rPr kumimoji="1" lang="en-US" altLang="ja-JP" sz="1050" dirty="0">
                          <a:solidFill>
                            <a:schemeClr val="tx2"/>
                          </a:solidFill>
                        </a:rPr>
                        <a:t>(4</a:t>
                      </a:r>
                      <a:r>
                        <a:rPr kumimoji="1" lang="ja-JP" altLang="en-US" sz="1050" dirty="0">
                          <a:solidFill>
                            <a:schemeClr val="tx2"/>
                          </a:solidFill>
                        </a:rPr>
                        <a:t>月～</a:t>
                      </a:r>
                      <a:r>
                        <a:rPr kumimoji="1" lang="en-US" altLang="ja-JP" sz="1050" dirty="0">
                          <a:solidFill>
                            <a:schemeClr val="tx2"/>
                          </a:solidFill>
                        </a:rPr>
                        <a:t>)</a:t>
                      </a:r>
                      <a:r>
                        <a:rPr kumimoji="1" lang="ja-JP" altLang="en-US" sz="1050" dirty="0">
                          <a:solidFill>
                            <a:schemeClr val="tx2"/>
                          </a:solidFill>
                        </a:rPr>
                        <a:t>で実施予定</a:t>
                      </a:r>
                      <a:endParaRPr kumimoji="1" lang="en-US" altLang="ja-JP" sz="1050" dirty="0">
                        <a:solidFill>
                          <a:schemeClr val="tx2"/>
                        </a:solidFill>
                      </a:endParaRPr>
                    </a:p>
                  </a:txBody>
                  <a:tcPr marT="36000" marB="3600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kumimoji="1" lang="en-US" altLang="ja-JP" sz="1400" dirty="0"/>
                        <a:t>1.00</a:t>
                      </a:r>
                      <a:endParaRPr kumimoji="1" lang="ja-JP" altLang="en-US" sz="1400" dirty="0"/>
                    </a:p>
                  </a:txBody>
                  <a:tcPr marT="36000" marB="3600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28072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kumimoji="1" lang="en-US" altLang="ja-JP" sz="1400" b="1" dirty="0"/>
                        <a:t>3</a:t>
                      </a:r>
                      <a:endParaRPr kumimoji="1" lang="ja-JP" altLang="en-US" sz="1400" b="1" dirty="0"/>
                    </a:p>
                  </a:txBody>
                  <a:tcPr marT="36000" marB="3600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kumimoji="1" lang="ja-JP" altLang="en-US" sz="1400" b="1" dirty="0"/>
                        <a:t>関連システム連携機能</a:t>
                      </a:r>
                    </a:p>
                  </a:txBody>
                  <a:tcPr marT="36000" marB="3600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10000"/>
                        </a:lnSpc>
                        <a:spcBef>
                          <a:spcPts val="2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kumimoji="1" lang="ja-JP" altLang="en-US" sz="1200" dirty="0"/>
                        <a:t>他システム連携機能開発</a:t>
                      </a:r>
                      <a:r>
                        <a:rPr kumimoji="1" lang="en-US" altLang="ja-JP" sz="1200" dirty="0"/>
                        <a:t> </a:t>
                      </a:r>
                      <a:r>
                        <a:rPr kumimoji="1" lang="en-US" altLang="ja-JP" sz="1000" dirty="0"/>
                        <a:t>(</a:t>
                      </a:r>
                      <a:r>
                        <a:rPr kumimoji="1" lang="ja-JP" altLang="en-US" sz="1000" dirty="0"/>
                        <a:t>対象システム</a:t>
                      </a:r>
                      <a:r>
                        <a:rPr kumimoji="1" lang="en-US" altLang="ja-JP" sz="1000" dirty="0"/>
                        <a:t>: </a:t>
                      </a:r>
                      <a:r>
                        <a:rPr kumimoji="1" lang="en-US" altLang="ja-JP" sz="1000" dirty="0" err="1"/>
                        <a:t>SEAMLess</a:t>
                      </a:r>
                      <a:r>
                        <a:rPr kumimoji="1" lang="ja-JP" altLang="en-US" sz="1000" dirty="0"/>
                        <a:t>、</a:t>
                      </a:r>
                      <a:r>
                        <a:rPr kumimoji="1" lang="en-US" altLang="zh-TW" sz="1000" dirty="0"/>
                        <a:t>SMS-API</a:t>
                      </a:r>
                      <a:r>
                        <a:rPr kumimoji="1" lang="ja-JP" altLang="en-US" sz="1000" dirty="0"/>
                        <a:t>、</a:t>
                      </a:r>
                      <a:r>
                        <a:rPr kumimoji="1" lang="en-US" altLang="zh-TW" sz="1000" dirty="0"/>
                        <a:t>UDC)</a:t>
                      </a:r>
                      <a:endParaRPr kumimoji="1" lang="en-US" altLang="ja-JP" sz="1000" dirty="0"/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ja-JP" altLang="en-US" sz="1200" dirty="0"/>
                        <a:t>上記対応に係る、調査・検証、要件定義、設計、テスト対応</a:t>
                      </a:r>
                      <a:endParaRPr kumimoji="1" lang="en-US" altLang="ja-JP" sz="1200" dirty="0"/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ja-JP" sz="1200" dirty="0"/>
                        <a:t>G-CIS</a:t>
                      </a:r>
                      <a:r>
                        <a:rPr kumimoji="1" lang="ja-JP" altLang="en-US" sz="1200" dirty="0"/>
                        <a:t>側との仕様調整 </a:t>
                      </a:r>
                      <a:r>
                        <a:rPr kumimoji="1" lang="en-US" altLang="ja-JP" sz="1200" dirty="0"/>
                        <a:t>(</a:t>
                      </a:r>
                      <a:r>
                        <a:rPr kumimoji="1" lang="ja-JP" altLang="en-US" sz="1200" dirty="0"/>
                        <a:t>製造は次工程で</a:t>
                      </a:r>
                      <a:r>
                        <a:rPr kumimoji="1" lang="en-US" altLang="ja-JP" sz="1200" dirty="0"/>
                        <a:t>)</a:t>
                      </a:r>
                    </a:p>
                  </a:txBody>
                  <a:tcPr marT="36000" marB="3600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ja-JP" sz="1050" dirty="0">
                          <a:solidFill>
                            <a:schemeClr val="tx2"/>
                          </a:solidFill>
                        </a:rPr>
                        <a:t>G-CIS API</a:t>
                      </a:r>
                      <a:r>
                        <a:rPr kumimoji="1" lang="ja-JP" altLang="en-US" sz="1050" dirty="0">
                          <a:solidFill>
                            <a:schemeClr val="tx2"/>
                          </a:solidFill>
                        </a:rPr>
                        <a:t>との連携機能の製造、テスト等は、次工程</a:t>
                      </a:r>
                      <a:r>
                        <a:rPr kumimoji="1" lang="en-US" altLang="ja-JP" sz="1050" dirty="0">
                          <a:solidFill>
                            <a:schemeClr val="tx2"/>
                          </a:solidFill>
                        </a:rPr>
                        <a:t>(4</a:t>
                      </a:r>
                      <a:r>
                        <a:rPr kumimoji="1" lang="ja-JP" altLang="en-US" sz="1050" dirty="0">
                          <a:solidFill>
                            <a:schemeClr val="tx2"/>
                          </a:solidFill>
                        </a:rPr>
                        <a:t>月～</a:t>
                      </a:r>
                      <a:r>
                        <a:rPr kumimoji="1" lang="en-US" altLang="ja-JP" sz="1050" dirty="0">
                          <a:solidFill>
                            <a:schemeClr val="tx2"/>
                          </a:solidFill>
                        </a:rPr>
                        <a:t>)</a:t>
                      </a:r>
                      <a:r>
                        <a:rPr kumimoji="1" lang="ja-JP" altLang="en-US" sz="1050" dirty="0">
                          <a:solidFill>
                            <a:schemeClr val="tx2"/>
                          </a:solidFill>
                        </a:rPr>
                        <a:t>で実施予定</a:t>
                      </a:r>
                      <a:endParaRPr kumimoji="1" lang="en-US" altLang="ja-JP" sz="1050" dirty="0">
                        <a:solidFill>
                          <a:schemeClr val="tx2"/>
                        </a:solidFill>
                      </a:endParaRPr>
                    </a:p>
                  </a:txBody>
                  <a:tcPr marT="36000" marB="3600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kumimoji="1" lang="en-US" altLang="ja-JP" sz="1400" dirty="0"/>
                        <a:t>5.00</a:t>
                      </a:r>
                      <a:endParaRPr kumimoji="1" lang="ja-JP" altLang="en-US" sz="1400" dirty="0"/>
                    </a:p>
                  </a:txBody>
                  <a:tcPr marT="36000" marB="3600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17521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kumimoji="1" lang="en-US" altLang="ja-JP" sz="1400" b="1" dirty="0"/>
                        <a:t>4</a:t>
                      </a:r>
                      <a:endParaRPr kumimoji="1" lang="ja-JP" altLang="en-US" sz="1400" b="1" dirty="0"/>
                    </a:p>
                  </a:txBody>
                  <a:tcPr marT="36000" marB="3600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kumimoji="1" lang="ja-JP" altLang="en-US" sz="1400" b="1" dirty="0"/>
                        <a:t>部品リスト新規作成機能開発</a:t>
                      </a:r>
                    </a:p>
                  </a:txBody>
                  <a:tcPr marT="36000" marB="3600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10000"/>
                        </a:lnSpc>
                        <a:spcBef>
                          <a:spcPts val="2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kumimoji="1" lang="en-US" altLang="ja-JP" sz="1200" dirty="0"/>
                        <a:t>VIN</a:t>
                      </a:r>
                      <a:r>
                        <a:rPr kumimoji="1" lang="ja-JP" altLang="en-US" sz="1200" dirty="0"/>
                        <a:t>との紐づけを考慮した、部品リスト出力の要件定義</a:t>
                      </a:r>
                      <a:endParaRPr kumimoji="1" lang="en-US" altLang="ja-JP" sz="1200" dirty="0"/>
                    </a:p>
                    <a:p>
                      <a:pPr marL="171450" indent="-171450">
                        <a:lnSpc>
                          <a:spcPct val="110000"/>
                        </a:lnSpc>
                        <a:spcBef>
                          <a:spcPts val="2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kumimoji="1" lang="ja-JP" altLang="en-US" sz="1200" dirty="0"/>
                        <a:t>部品リスト出力機能開発 </a:t>
                      </a:r>
                      <a:r>
                        <a:rPr kumimoji="1" lang="en-US" altLang="ja-JP" sz="1000" dirty="0"/>
                        <a:t>(</a:t>
                      </a:r>
                      <a:r>
                        <a:rPr kumimoji="1" lang="ja-JP" altLang="en-US" sz="1000" dirty="0"/>
                        <a:t>取扱いデータ、</a:t>
                      </a:r>
                      <a:r>
                        <a:rPr kumimoji="1" lang="en-US" altLang="ja-JP" sz="1000" dirty="0"/>
                        <a:t>Step</a:t>
                      </a:r>
                      <a:r>
                        <a:rPr kumimoji="1" lang="ja-JP" altLang="en-US" sz="1000" dirty="0"/>
                        <a:t>多数のため、エラーハンドリング・ロギングなどコスト影響大</a:t>
                      </a:r>
                      <a:r>
                        <a:rPr kumimoji="1" lang="en-US" altLang="ja-JP" sz="1000" dirty="0"/>
                        <a:t>)</a:t>
                      </a:r>
                    </a:p>
                    <a:p>
                      <a:pPr marL="171450" lvl="0" indent="-171450">
                        <a:lnSpc>
                          <a:spcPct val="110000"/>
                        </a:lnSpc>
                        <a:spcBef>
                          <a:spcPts val="2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kumimoji="1" lang="ja-JP" altLang="en-US" sz="1200" dirty="0"/>
                        <a:t>部品リスト出力のための標準マスター管理機能開発</a:t>
                      </a:r>
                      <a:endParaRPr kumimoji="1" lang="en-US" altLang="ja-JP" sz="1200" dirty="0"/>
                    </a:p>
                    <a:p>
                      <a:pPr marL="171450" lvl="0" indent="-171450">
                        <a:lnSpc>
                          <a:spcPct val="110000"/>
                        </a:lnSpc>
                        <a:spcBef>
                          <a:spcPts val="2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kumimoji="1" lang="ja-JP" altLang="en-US" sz="1200" dirty="0"/>
                        <a:t>設計者による情報修正のための部品リスト編集機能開発</a:t>
                      </a:r>
                      <a:endParaRPr kumimoji="1" lang="en-US" altLang="ja-JP" sz="1200" dirty="0"/>
                    </a:p>
                    <a:p>
                      <a:pPr marL="171450" indent="-171450">
                        <a:lnSpc>
                          <a:spcPct val="110000"/>
                        </a:lnSpc>
                        <a:spcBef>
                          <a:spcPts val="2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kumimoji="1" lang="ja-JP" altLang="en-US" sz="1200" dirty="0"/>
                        <a:t>上記対応に係る、業務運用検討支援、調査・検証、設計を含む</a:t>
                      </a:r>
                      <a:endParaRPr kumimoji="1" lang="en-US" altLang="ja-JP" sz="1200" dirty="0"/>
                    </a:p>
                  </a:txBody>
                  <a:tcPr marT="36000" marB="3600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ja-JP" sz="1050" dirty="0">
                          <a:solidFill>
                            <a:schemeClr val="tx2"/>
                          </a:solidFill>
                        </a:rPr>
                        <a:t>G-CIS</a:t>
                      </a:r>
                      <a:r>
                        <a:rPr kumimoji="1" lang="ja-JP" altLang="en-US" sz="1050" dirty="0">
                          <a:solidFill>
                            <a:schemeClr val="tx2"/>
                          </a:solidFill>
                        </a:rPr>
                        <a:t>等、一部の関連システムとの接続、テスト等は、次工程</a:t>
                      </a:r>
                      <a:r>
                        <a:rPr kumimoji="1" lang="en-US" altLang="ja-JP" sz="1050" dirty="0">
                          <a:solidFill>
                            <a:schemeClr val="tx2"/>
                          </a:solidFill>
                        </a:rPr>
                        <a:t>(4</a:t>
                      </a:r>
                      <a:r>
                        <a:rPr kumimoji="1" lang="ja-JP" altLang="en-US" sz="1050" dirty="0">
                          <a:solidFill>
                            <a:schemeClr val="tx2"/>
                          </a:solidFill>
                        </a:rPr>
                        <a:t>月～</a:t>
                      </a:r>
                      <a:r>
                        <a:rPr kumimoji="1" lang="en-US" altLang="ja-JP" sz="1050" dirty="0">
                          <a:solidFill>
                            <a:schemeClr val="tx2"/>
                          </a:solidFill>
                        </a:rPr>
                        <a:t>)</a:t>
                      </a:r>
                      <a:r>
                        <a:rPr kumimoji="1" lang="ja-JP" altLang="en-US" sz="1050" dirty="0">
                          <a:solidFill>
                            <a:schemeClr val="tx2"/>
                          </a:solidFill>
                        </a:rPr>
                        <a:t>で実施予定</a:t>
                      </a:r>
                    </a:p>
                  </a:txBody>
                  <a:tcPr marT="36000" marB="3600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kumimoji="1" lang="en-US" altLang="ja-JP" sz="1400" dirty="0"/>
                        <a:t>16.45</a:t>
                      </a:r>
                      <a:endParaRPr kumimoji="1" lang="ja-JP" altLang="en-US" sz="1400" dirty="0"/>
                    </a:p>
                  </a:txBody>
                  <a:tcPr marT="36000" marB="3600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40921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kumimoji="1" lang="en-US" altLang="ja-JP" sz="1400" b="1" dirty="0"/>
                        <a:t>5</a:t>
                      </a:r>
                      <a:endParaRPr kumimoji="1" lang="ja-JP" altLang="en-US" sz="1400" b="1" dirty="0"/>
                    </a:p>
                  </a:txBody>
                  <a:tcPr marT="36000" marB="3600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kumimoji="1" lang="ja-JP" altLang="en-US" sz="1400" b="1" dirty="0"/>
                        <a:t>部品リスト更新機能開発</a:t>
                      </a:r>
                    </a:p>
                  </a:txBody>
                  <a:tcPr marT="36000" marB="3600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10000"/>
                        </a:lnSpc>
                        <a:spcBef>
                          <a:spcPts val="2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kumimoji="1" lang="en-US" altLang="ja-JP" sz="1200" dirty="0"/>
                        <a:t>RC</a:t>
                      </a:r>
                      <a:r>
                        <a:rPr kumimoji="1" lang="ja-JP" altLang="en-US" sz="1200" dirty="0"/>
                        <a:t>や法規変更対応時の部品リスト更新に関する、業務運用検討支援、調査・検証、要件定義</a:t>
                      </a:r>
                    </a:p>
                  </a:txBody>
                  <a:tcPr marT="36000" marB="3600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ja-JP" altLang="en-US" sz="1050" dirty="0">
                          <a:solidFill>
                            <a:schemeClr val="tx2"/>
                          </a:solidFill>
                        </a:rPr>
                        <a:t>設計以降は、次工程</a:t>
                      </a:r>
                      <a:r>
                        <a:rPr kumimoji="1" lang="en-US" altLang="ja-JP" sz="1050" dirty="0">
                          <a:solidFill>
                            <a:schemeClr val="tx2"/>
                          </a:solidFill>
                        </a:rPr>
                        <a:t>(4</a:t>
                      </a:r>
                      <a:r>
                        <a:rPr kumimoji="1" lang="ja-JP" altLang="en-US" sz="1050" dirty="0">
                          <a:solidFill>
                            <a:schemeClr val="tx2"/>
                          </a:solidFill>
                        </a:rPr>
                        <a:t>月～</a:t>
                      </a:r>
                      <a:r>
                        <a:rPr kumimoji="1" lang="en-US" altLang="ja-JP" sz="1050" dirty="0">
                          <a:solidFill>
                            <a:schemeClr val="tx2"/>
                          </a:solidFill>
                        </a:rPr>
                        <a:t>)</a:t>
                      </a:r>
                      <a:r>
                        <a:rPr kumimoji="1" lang="ja-JP" altLang="en-US" sz="1050" dirty="0">
                          <a:solidFill>
                            <a:schemeClr val="tx2"/>
                          </a:solidFill>
                        </a:rPr>
                        <a:t>で実施予定</a:t>
                      </a:r>
                    </a:p>
                  </a:txBody>
                  <a:tcPr marT="36000" marB="3600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kumimoji="1" lang="en-US" altLang="ja-JP" sz="1400" dirty="0"/>
                        <a:t>2.50</a:t>
                      </a:r>
                      <a:endParaRPr kumimoji="1" lang="ja-JP" altLang="en-US" sz="1400" dirty="0"/>
                    </a:p>
                  </a:txBody>
                  <a:tcPr marT="36000" marB="3600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86263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kumimoji="1" lang="en-US" altLang="ja-JP" sz="1400" b="1" dirty="0"/>
                        <a:t>6</a:t>
                      </a:r>
                      <a:endParaRPr kumimoji="1" lang="ja-JP" altLang="en-US" sz="1400" b="1" dirty="0"/>
                    </a:p>
                  </a:txBody>
                  <a:tcPr marT="36000" marB="3600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kumimoji="1" lang="ja-JP" altLang="en-US" sz="1400" b="1" dirty="0"/>
                        <a:t>管理</a:t>
                      </a:r>
                    </a:p>
                  </a:txBody>
                  <a:tcPr marT="36000" marB="3600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10000"/>
                        </a:lnSpc>
                        <a:spcBef>
                          <a:spcPts val="2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kumimoji="1" lang="ja-JP" altLang="en-US" sz="1200" dirty="0"/>
                        <a:t>進捗、および課題管理</a:t>
                      </a:r>
                    </a:p>
                  </a:txBody>
                  <a:tcPr marT="36000" marB="3600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ja-JP" alt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 marT="36000" marB="3600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kumimoji="1" lang="en-US" altLang="ja-JP" sz="1400" dirty="0"/>
                        <a:t>1.80</a:t>
                      </a:r>
                      <a:endParaRPr kumimoji="1" lang="ja-JP" altLang="en-US" sz="1400" dirty="0"/>
                    </a:p>
                  </a:txBody>
                  <a:tcPr marT="36000" marB="3600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0631316"/>
                  </a:ext>
                </a:extLst>
              </a:tr>
              <a:tr h="370840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kumimoji="1" lang="ja-JP" altLang="en-US" sz="1400" b="1" dirty="0"/>
                        <a:t>合計</a:t>
                      </a:r>
                    </a:p>
                  </a:txBody>
                  <a:tcPr marT="36000" marB="3600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Bef>
                          <a:spcPts val="200"/>
                        </a:spcBef>
                      </a:pPr>
                      <a:endParaRPr kumimoji="1" lang="ja-JP" altLang="en-US" sz="1400" b="1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indent="-171450">
                        <a:lnSpc>
                          <a:spcPct val="110000"/>
                        </a:lnSpc>
                        <a:spcBef>
                          <a:spcPts val="200"/>
                        </a:spcBef>
                        <a:buFont typeface="Arial" panose="020B0604020202020204" pitchFamily="34" charset="0"/>
                        <a:buChar char="•"/>
                      </a:pPr>
                      <a:endParaRPr kumimoji="1" lang="en-US" altLang="ja-JP" sz="105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endParaRPr kumimoji="1" lang="ja-JP" altLang="en-US" sz="1400" b="1" dirty="0"/>
                    </a:p>
                  </a:txBody>
                  <a:tcPr marT="36000" marB="3600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kumimoji="1" lang="en-US" altLang="ja-JP" sz="1400" b="1" dirty="0"/>
                        <a:t>28.45</a:t>
                      </a:r>
                      <a:endParaRPr kumimoji="1" lang="ja-JP" altLang="en-US" sz="1400" b="1" dirty="0"/>
                    </a:p>
                  </a:txBody>
                  <a:tcPr marT="36000" marB="3600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3734737"/>
                  </a:ext>
                </a:extLst>
              </a:tr>
            </a:tbl>
          </a:graphicData>
        </a:graphic>
      </p:graphicFrame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9D783684-3889-7570-9A89-C58540E3D3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DF85899-07DC-4708-B5DD-A200CEE14CAD}" type="slidenum">
              <a:rPr kumimoji="1" lang="ja-JP" altLang="en-US" smtClean="0"/>
              <a:t>11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355863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D88E5D0-7490-956D-5B34-B6B78A90C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1-3</a:t>
            </a:r>
            <a:r>
              <a:rPr kumimoji="1" lang="ja-JP" altLang="en-US" dirty="0"/>
              <a:t>月実施計画</a:t>
            </a:r>
          </a:p>
        </p:txBody>
      </p:sp>
      <p:graphicFrame>
        <p:nvGraphicFramePr>
          <p:cNvPr id="3" name="表 2">
            <a:extLst>
              <a:ext uri="{FF2B5EF4-FFF2-40B4-BE49-F238E27FC236}">
                <a16:creationId xmlns:a16="http://schemas.microsoft.com/office/drawing/2014/main" id="{ECD4DC9A-587F-61A7-C8FB-397008230B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1095201"/>
              </p:ext>
            </p:extLst>
          </p:nvPr>
        </p:nvGraphicFramePr>
        <p:xfrm>
          <a:off x="340242" y="911739"/>
          <a:ext cx="11525376" cy="518965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20336">
                  <a:extLst>
                    <a:ext uri="{9D8B030D-6E8A-4147-A177-3AD203B41FA5}">
                      <a16:colId xmlns:a16="http://schemas.microsoft.com/office/drawing/2014/main" val="1824774711"/>
                    </a:ext>
                  </a:extLst>
                </a:gridCol>
                <a:gridCol w="720336">
                  <a:extLst>
                    <a:ext uri="{9D8B030D-6E8A-4147-A177-3AD203B41FA5}">
                      <a16:colId xmlns:a16="http://schemas.microsoft.com/office/drawing/2014/main" val="921115769"/>
                    </a:ext>
                  </a:extLst>
                </a:gridCol>
                <a:gridCol w="720336">
                  <a:extLst>
                    <a:ext uri="{9D8B030D-6E8A-4147-A177-3AD203B41FA5}">
                      <a16:colId xmlns:a16="http://schemas.microsoft.com/office/drawing/2014/main" val="1689994350"/>
                    </a:ext>
                  </a:extLst>
                </a:gridCol>
                <a:gridCol w="720336">
                  <a:extLst>
                    <a:ext uri="{9D8B030D-6E8A-4147-A177-3AD203B41FA5}">
                      <a16:colId xmlns:a16="http://schemas.microsoft.com/office/drawing/2014/main" val="730356226"/>
                    </a:ext>
                  </a:extLst>
                </a:gridCol>
                <a:gridCol w="720336">
                  <a:extLst>
                    <a:ext uri="{9D8B030D-6E8A-4147-A177-3AD203B41FA5}">
                      <a16:colId xmlns:a16="http://schemas.microsoft.com/office/drawing/2014/main" val="3748580517"/>
                    </a:ext>
                  </a:extLst>
                </a:gridCol>
                <a:gridCol w="720336">
                  <a:extLst>
                    <a:ext uri="{9D8B030D-6E8A-4147-A177-3AD203B41FA5}">
                      <a16:colId xmlns:a16="http://schemas.microsoft.com/office/drawing/2014/main" val="1408183393"/>
                    </a:ext>
                  </a:extLst>
                </a:gridCol>
                <a:gridCol w="720336">
                  <a:extLst>
                    <a:ext uri="{9D8B030D-6E8A-4147-A177-3AD203B41FA5}">
                      <a16:colId xmlns:a16="http://schemas.microsoft.com/office/drawing/2014/main" val="1299114981"/>
                    </a:ext>
                  </a:extLst>
                </a:gridCol>
                <a:gridCol w="720336">
                  <a:extLst>
                    <a:ext uri="{9D8B030D-6E8A-4147-A177-3AD203B41FA5}">
                      <a16:colId xmlns:a16="http://schemas.microsoft.com/office/drawing/2014/main" val="2852091049"/>
                    </a:ext>
                  </a:extLst>
                </a:gridCol>
                <a:gridCol w="720336">
                  <a:extLst>
                    <a:ext uri="{9D8B030D-6E8A-4147-A177-3AD203B41FA5}">
                      <a16:colId xmlns:a16="http://schemas.microsoft.com/office/drawing/2014/main" val="1472009841"/>
                    </a:ext>
                  </a:extLst>
                </a:gridCol>
                <a:gridCol w="720336">
                  <a:extLst>
                    <a:ext uri="{9D8B030D-6E8A-4147-A177-3AD203B41FA5}">
                      <a16:colId xmlns:a16="http://schemas.microsoft.com/office/drawing/2014/main" val="4155421208"/>
                    </a:ext>
                  </a:extLst>
                </a:gridCol>
                <a:gridCol w="720336">
                  <a:extLst>
                    <a:ext uri="{9D8B030D-6E8A-4147-A177-3AD203B41FA5}">
                      <a16:colId xmlns:a16="http://schemas.microsoft.com/office/drawing/2014/main" val="43735666"/>
                    </a:ext>
                  </a:extLst>
                </a:gridCol>
                <a:gridCol w="720336">
                  <a:extLst>
                    <a:ext uri="{9D8B030D-6E8A-4147-A177-3AD203B41FA5}">
                      <a16:colId xmlns:a16="http://schemas.microsoft.com/office/drawing/2014/main" val="1871547905"/>
                    </a:ext>
                  </a:extLst>
                </a:gridCol>
                <a:gridCol w="720336">
                  <a:extLst>
                    <a:ext uri="{9D8B030D-6E8A-4147-A177-3AD203B41FA5}">
                      <a16:colId xmlns:a16="http://schemas.microsoft.com/office/drawing/2014/main" val="4160444802"/>
                    </a:ext>
                  </a:extLst>
                </a:gridCol>
                <a:gridCol w="720336">
                  <a:extLst>
                    <a:ext uri="{9D8B030D-6E8A-4147-A177-3AD203B41FA5}">
                      <a16:colId xmlns:a16="http://schemas.microsoft.com/office/drawing/2014/main" val="1565167364"/>
                    </a:ext>
                  </a:extLst>
                </a:gridCol>
                <a:gridCol w="720336">
                  <a:extLst>
                    <a:ext uri="{9D8B030D-6E8A-4147-A177-3AD203B41FA5}">
                      <a16:colId xmlns:a16="http://schemas.microsoft.com/office/drawing/2014/main" val="427976892"/>
                    </a:ext>
                  </a:extLst>
                </a:gridCol>
                <a:gridCol w="720336">
                  <a:extLst>
                    <a:ext uri="{9D8B030D-6E8A-4147-A177-3AD203B41FA5}">
                      <a16:colId xmlns:a16="http://schemas.microsoft.com/office/drawing/2014/main" val="3400190036"/>
                    </a:ext>
                  </a:extLst>
                </a:gridCol>
              </a:tblGrid>
              <a:tr h="194733">
                <a:tc gridSpan="13">
                  <a:txBody>
                    <a:bodyPr/>
                    <a:lstStyle/>
                    <a:p>
                      <a:pPr algn="ctr"/>
                      <a:r>
                        <a:rPr kumimoji="1" lang="en-US" altLang="ja-JP" sz="1400" dirty="0">
                          <a:solidFill>
                            <a:schemeClr val="tx2"/>
                          </a:solidFill>
                        </a:rPr>
                        <a:t>FY25 4Q</a:t>
                      </a:r>
                      <a:endParaRPr kumimoji="1" lang="ja-JP" altLang="en-US" sz="14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400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400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400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400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400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kumimoji="1" lang="ja-JP" altLang="en-US" sz="14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kumimoji="1" lang="ja-JP" altLang="en-US" sz="14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kumimoji="1" lang="ja-JP" altLang="en-US" sz="14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kumimoji="1" lang="ja-JP" altLang="en-US" sz="14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kumimoji="1" lang="ja-JP" altLang="en-US" sz="14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kumimoji="1" lang="ja-JP" altLang="en-US" sz="14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kumimoji="1" lang="ja-JP" altLang="en-US" sz="14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kumimoji="1" lang="en-US" altLang="ja-JP" sz="1400" dirty="0">
                          <a:solidFill>
                            <a:schemeClr val="tx2"/>
                          </a:solidFill>
                        </a:rPr>
                        <a:t>FY26 1Q</a:t>
                      </a:r>
                      <a:endParaRPr kumimoji="1" lang="ja-JP" altLang="en-US" sz="14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kumimoji="1" lang="ja-JP" altLang="en-US" sz="14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kumimoji="1" lang="ja-JP" altLang="en-US" sz="14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3544089"/>
                  </a:ext>
                </a:extLst>
              </a:tr>
              <a:tr h="256601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dirty="0">
                          <a:solidFill>
                            <a:schemeClr val="tx2"/>
                          </a:solidFill>
                        </a:rPr>
                        <a:t>1/5</a:t>
                      </a:r>
                      <a:endParaRPr kumimoji="1" lang="ja-JP" altLang="en-US" sz="12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dirty="0">
                          <a:solidFill>
                            <a:schemeClr val="tx2"/>
                          </a:solidFill>
                        </a:rPr>
                        <a:t>1/12</a:t>
                      </a:r>
                      <a:endParaRPr kumimoji="1" lang="ja-JP" altLang="en-US" sz="12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dirty="0">
                          <a:solidFill>
                            <a:schemeClr val="tx2"/>
                          </a:solidFill>
                        </a:rPr>
                        <a:t>1/19</a:t>
                      </a:r>
                      <a:endParaRPr kumimoji="1" lang="ja-JP" altLang="en-US" sz="12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dirty="0">
                          <a:solidFill>
                            <a:schemeClr val="tx2"/>
                          </a:solidFill>
                        </a:rPr>
                        <a:t>1/26</a:t>
                      </a:r>
                      <a:endParaRPr kumimoji="1" lang="ja-JP" altLang="en-US" sz="12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dirty="0">
                          <a:solidFill>
                            <a:schemeClr val="tx2"/>
                          </a:solidFill>
                        </a:rPr>
                        <a:t>2/2</a:t>
                      </a:r>
                      <a:endParaRPr kumimoji="1" lang="ja-JP" altLang="en-US" sz="12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dirty="0">
                          <a:solidFill>
                            <a:schemeClr val="tx2"/>
                          </a:solidFill>
                        </a:rPr>
                        <a:t>2/9</a:t>
                      </a:r>
                      <a:endParaRPr kumimoji="1" lang="ja-JP" altLang="en-US" sz="12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dirty="0">
                          <a:solidFill>
                            <a:schemeClr val="tx2"/>
                          </a:solidFill>
                        </a:rPr>
                        <a:t>2/16</a:t>
                      </a:r>
                      <a:endParaRPr kumimoji="1" lang="ja-JP" altLang="en-US" sz="12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dirty="0">
                          <a:solidFill>
                            <a:schemeClr val="tx2"/>
                          </a:solidFill>
                        </a:rPr>
                        <a:t>2/23</a:t>
                      </a:r>
                      <a:endParaRPr kumimoji="1" lang="ja-JP" altLang="en-US" sz="12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dirty="0">
                          <a:solidFill>
                            <a:schemeClr val="tx2"/>
                          </a:solidFill>
                        </a:rPr>
                        <a:t>3/2</a:t>
                      </a:r>
                      <a:endParaRPr kumimoji="1" lang="ja-JP" altLang="en-US" sz="12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dirty="0">
                          <a:solidFill>
                            <a:schemeClr val="tx2"/>
                          </a:solidFill>
                        </a:rPr>
                        <a:t>3/9</a:t>
                      </a:r>
                      <a:endParaRPr kumimoji="1" lang="ja-JP" altLang="en-US" sz="12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dirty="0">
                          <a:solidFill>
                            <a:schemeClr val="tx2"/>
                          </a:solidFill>
                        </a:rPr>
                        <a:t>3/16</a:t>
                      </a:r>
                      <a:endParaRPr kumimoji="1" lang="ja-JP" altLang="en-US" sz="12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dirty="0">
                          <a:solidFill>
                            <a:schemeClr val="tx2"/>
                          </a:solidFill>
                        </a:rPr>
                        <a:t>3/23</a:t>
                      </a:r>
                      <a:endParaRPr kumimoji="1" lang="ja-JP" altLang="en-US" sz="12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dirty="0">
                          <a:solidFill>
                            <a:schemeClr val="tx2"/>
                          </a:solidFill>
                        </a:rPr>
                        <a:t>3/30</a:t>
                      </a:r>
                      <a:endParaRPr kumimoji="1" lang="ja-JP" altLang="en-US" sz="12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dirty="0">
                          <a:solidFill>
                            <a:schemeClr val="tx2"/>
                          </a:solidFill>
                        </a:rPr>
                        <a:t>4</a:t>
                      </a:r>
                      <a:r>
                        <a:rPr kumimoji="1" lang="ja-JP" altLang="en-US" sz="1200" dirty="0">
                          <a:solidFill>
                            <a:schemeClr val="tx2"/>
                          </a:solidFill>
                        </a:rPr>
                        <a:t>月</a:t>
                      </a: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dirty="0">
                          <a:solidFill>
                            <a:schemeClr val="tx2"/>
                          </a:solidFill>
                        </a:rPr>
                        <a:t>5</a:t>
                      </a:r>
                      <a:r>
                        <a:rPr kumimoji="1" lang="ja-JP" altLang="en-US" sz="1200" dirty="0">
                          <a:solidFill>
                            <a:schemeClr val="tx2"/>
                          </a:solidFill>
                        </a:rPr>
                        <a:t>月</a:t>
                      </a: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dirty="0">
                          <a:solidFill>
                            <a:schemeClr val="tx2"/>
                          </a:solidFill>
                        </a:rPr>
                        <a:t>6</a:t>
                      </a:r>
                      <a:r>
                        <a:rPr kumimoji="1" lang="ja-JP" altLang="en-US" sz="1200" dirty="0">
                          <a:solidFill>
                            <a:schemeClr val="tx2"/>
                          </a:solidFill>
                        </a:rPr>
                        <a:t>月</a:t>
                      </a: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082821"/>
                  </a:ext>
                </a:extLst>
              </a:tr>
              <a:tr h="4610536">
                <a:tc>
                  <a:txBody>
                    <a:bodyPr/>
                    <a:lstStyle/>
                    <a:p>
                      <a:pPr algn="ctr"/>
                      <a:endParaRPr kumimoji="1" lang="ja-JP" altLang="en-US" sz="1400" dirty="0"/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400" dirty="0"/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400" dirty="0"/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400" dirty="0"/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400" dirty="0"/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400" dirty="0"/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400" dirty="0"/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400" dirty="0"/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400" dirty="0"/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400" dirty="0"/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400" dirty="0"/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400" dirty="0"/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400" dirty="0"/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400" dirty="0"/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400" dirty="0"/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400" dirty="0"/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2400756"/>
                  </a:ext>
                </a:extLst>
              </a:tr>
            </a:tbl>
          </a:graphicData>
        </a:graphic>
      </p:graphicFrame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CA81EB80-FC0C-D381-811B-B621D98A081B}"/>
              </a:ext>
            </a:extLst>
          </p:cNvPr>
          <p:cNvSpPr/>
          <p:nvPr/>
        </p:nvSpPr>
        <p:spPr>
          <a:xfrm>
            <a:off x="340242" y="3615313"/>
            <a:ext cx="10825063" cy="1256500"/>
          </a:xfrm>
          <a:prstGeom prst="roundRect">
            <a:avLst>
              <a:gd name="adj" fmla="val 2865"/>
            </a:avLst>
          </a:prstGeom>
          <a:solidFill>
            <a:schemeClr val="bg1">
              <a:alpha val="40000"/>
            </a:schemeClr>
          </a:solidFill>
          <a:ln w="12700">
            <a:solidFill>
              <a:schemeClr val="accent1"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ja-JP" sz="1100" dirty="0">
                <a:solidFill>
                  <a:schemeClr val="accent1"/>
                </a:solidFill>
                <a:latin typeface="+mj-lt"/>
                <a:ea typeface="+mj-ea"/>
              </a:rPr>
              <a:t>4. </a:t>
            </a:r>
            <a:r>
              <a:rPr kumimoji="1" lang="ja-JP" altLang="en-US" sz="1100" dirty="0">
                <a:solidFill>
                  <a:schemeClr val="accent1"/>
                </a:solidFill>
                <a:latin typeface="+mj-lt"/>
                <a:ea typeface="+mj-ea"/>
              </a:rPr>
              <a:t>部品リスト新規作成機能開発</a:t>
            </a: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1F18682C-1F25-110D-67C2-2A75D908C93D}"/>
              </a:ext>
            </a:extLst>
          </p:cNvPr>
          <p:cNvSpPr/>
          <p:nvPr/>
        </p:nvSpPr>
        <p:spPr>
          <a:xfrm>
            <a:off x="1790298" y="2924601"/>
            <a:ext cx="9375007" cy="608600"/>
          </a:xfrm>
          <a:prstGeom prst="roundRect">
            <a:avLst>
              <a:gd name="adj" fmla="val 5916"/>
            </a:avLst>
          </a:prstGeom>
          <a:solidFill>
            <a:schemeClr val="bg1">
              <a:alpha val="40000"/>
            </a:schemeClr>
          </a:solidFill>
          <a:ln w="12700">
            <a:solidFill>
              <a:schemeClr val="accent1"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ja-JP" sz="1100" dirty="0">
                <a:solidFill>
                  <a:schemeClr val="accent1"/>
                </a:solidFill>
                <a:latin typeface="+mj-lt"/>
                <a:ea typeface="+mj-ea"/>
              </a:rPr>
              <a:t>3. </a:t>
            </a:r>
            <a:r>
              <a:rPr kumimoji="1" lang="ja-JP" altLang="en-US" sz="1100" dirty="0">
                <a:solidFill>
                  <a:schemeClr val="accent1"/>
                </a:solidFill>
                <a:latin typeface="+mj-lt"/>
                <a:ea typeface="+mj-ea"/>
              </a:rPr>
              <a:t>関連システム連携機能開発</a:t>
            </a:r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1AE60FAE-1368-A7A3-11B0-A8D2464C5FEE}"/>
              </a:ext>
            </a:extLst>
          </p:cNvPr>
          <p:cNvSpPr/>
          <p:nvPr/>
        </p:nvSpPr>
        <p:spPr>
          <a:xfrm>
            <a:off x="340241" y="2233305"/>
            <a:ext cx="10825063" cy="608600"/>
          </a:xfrm>
          <a:prstGeom prst="roundRect">
            <a:avLst>
              <a:gd name="adj" fmla="val 5916"/>
            </a:avLst>
          </a:prstGeom>
          <a:solidFill>
            <a:schemeClr val="bg1">
              <a:alpha val="40000"/>
            </a:schemeClr>
          </a:solidFill>
          <a:ln w="12700">
            <a:solidFill>
              <a:schemeClr val="accent1"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ja-JP" sz="1100" dirty="0">
                <a:solidFill>
                  <a:schemeClr val="accent1"/>
                </a:solidFill>
                <a:latin typeface="+mj-lt"/>
                <a:ea typeface="+mj-ea"/>
              </a:rPr>
              <a:t>2. </a:t>
            </a:r>
            <a:r>
              <a:rPr kumimoji="1" lang="ja-JP" altLang="en-US" sz="1100" dirty="0">
                <a:solidFill>
                  <a:schemeClr val="accent1"/>
                </a:solidFill>
                <a:latin typeface="+mj-lt"/>
                <a:ea typeface="+mj-ea"/>
              </a:rPr>
              <a:t>インフラ検討・構築</a:t>
            </a:r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21492F23-C394-BF53-2295-587EEB2951B8}"/>
              </a:ext>
            </a:extLst>
          </p:cNvPr>
          <p:cNvSpPr/>
          <p:nvPr/>
        </p:nvSpPr>
        <p:spPr>
          <a:xfrm>
            <a:off x="6096000" y="4968687"/>
            <a:ext cx="5069305" cy="608600"/>
          </a:xfrm>
          <a:prstGeom prst="roundRect">
            <a:avLst>
              <a:gd name="adj" fmla="val 5916"/>
            </a:avLst>
          </a:prstGeom>
          <a:solidFill>
            <a:schemeClr val="bg1">
              <a:alpha val="40000"/>
            </a:schemeClr>
          </a:solidFill>
          <a:ln w="12700">
            <a:solidFill>
              <a:schemeClr val="accent1"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ja-JP" sz="1100" dirty="0">
                <a:solidFill>
                  <a:schemeClr val="accent1"/>
                </a:solidFill>
                <a:latin typeface="+mj-lt"/>
                <a:ea typeface="+mj-ea"/>
              </a:rPr>
              <a:t>5. </a:t>
            </a:r>
            <a:r>
              <a:rPr kumimoji="1" lang="ja-JP" altLang="en-US" sz="1100" dirty="0">
                <a:solidFill>
                  <a:schemeClr val="accent1"/>
                </a:solidFill>
                <a:latin typeface="+mj-lt"/>
                <a:ea typeface="+mj-ea"/>
              </a:rPr>
              <a:t>部品リスト更新機能</a:t>
            </a: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CA9B9617-1F3F-D08D-187E-F3A1AD2D83EB}"/>
              </a:ext>
            </a:extLst>
          </p:cNvPr>
          <p:cNvSpPr/>
          <p:nvPr/>
        </p:nvSpPr>
        <p:spPr>
          <a:xfrm>
            <a:off x="340241" y="1539994"/>
            <a:ext cx="1450057" cy="608600"/>
          </a:xfrm>
          <a:prstGeom prst="roundRect">
            <a:avLst>
              <a:gd name="adj" fmla="val 5916"/>
            </a:avLst>
          </a:prstGeom>
          <a:solidFill>
            <a:schemeClr val="bg1">
              <a:alpha val="40000"/>
            </a:schemeClr>
          </a:solidFill>
          <a:ln w="12700">
            <a:solidFill>
              <a:schemeClr val="accent1"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ja-JP" sz="1100" dirty="0">
                <a:solidFill>
                  <a:schemeClr val="accent1"/>
                </a:solidFill>
                <a:latin typeface="+mj-lt"/>
                <a:ea typeface="+mj-ea"/>
              </a:rPr>
              <a:t>1. </a:t>
            </a:r>
            <a:r>
              <a:rPr kumimoji="1" lang="ja-JP" altLang="en-US" sz="1100" dirty="0">
                <a:solidFill>
                  <a:schemeClr val="accent1"/>
                </a:solidFill>
                <a:latin typeface="+mj-lt"/>
                <a:ea typeface="+mj-ea"/>
              </a:rPr>
              <a:t>開発準備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E1DF93B5-8B45-1807-49A3-A784C7A3A510}"/>
              </a:ext>
            </a:extLst>
          </p:cNvPr>
          <p:cNvSpPr txBox="1"/>
          <p:nvPr/>
        </p:nvSpPr>
        <p:spPr>
          <a:xfrm>
            <a:off x="10613666" y="1502263"/>
            <a:ext cx="1251945" cy="646331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r"/>
            <a:r>
              <a:rPr kumimoji="1" lang="en-US" altLang="ja-JP" sz="1200" b="1" dirty="0"/>
              <a:t>6</a:t>
            </a:r>
            <a:r>
              <a:rPr kumimoji="1" lang="ja-JP" altLang="en-US" sz="1200" b="1" dirty="0"/>
              <a:t>月末</a:t>
            </a:r>
            <a:br>
              <a:rPr kumimoji="1" lang="en-US" altLang="ja-JP" sz="1200" b="1" dirty="0"/>
            </a:br>
            <a:r>
              <a:rPr kumimoji="1" lang="ja-JP" altLang="en-US" sz="1200" b="1" dirty="0"/>
              <a:t>トライ</a:t>
            </a:r>
            <a:r>
              <a:rPr kumimoji="1" lang="en-US" altLang="ja-JP" sz="1200" b="1" dirty="0"/>
              <a:t>#1</a:t>
            </a:r>
            <a:r>
              <a:rPr kumimoji="1" lang="ja-JP" altLang="en-US" sz="1200" b="1" dirty="0"/>
              <a:t>リリース</a:t>
            </a:r>
            <a:br>
              <a:rPr kumimoji="1" lang="en-US" altLang="ja-JP" sz="1200" b="1" dirty="0"/>
            </a:br>
            <a:r>
              <a:rPr kumimoji="1" lang="ja-JP" altLang="en-US" sz="1200" b="1" dirty="0"/>
              <a:t>▼</a:t>
            </a:r>
          </a:p>
        </p:txBody>
      </p:sp>
      <p:sp>
        <p:nvSpPr>
          <p:cNvPr id="12" name="矢印: 五方向 11">
            <a:extLst>
              <a:ext uri="{FF2B5EF4-FFF2-40B4-BE49-F238E27FC236}">
                <a16:creationId xmlns:a16="http://schemas.microsoft.com/office/drawing/2014/main" id="{6B9148BB-4D81-7CB5-BEDA-9507315A1DE0}"/>
              </a:ext>
            </a:extLst>
          </p:cNvPr>
          <p:cNvSpPr/>
          <p:nvPr/>
        </p:nvSpPr>
        <p:spPr>
          <a:xfrm>
            <a:off x="10460167" y="5677430"/>
            <a:ext cx="1395818" cy="246221"/>
          </a:xfrm>
          <a:prstGeom prst="homePlat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spAutoFit/>
          </a:bodyPr>
          <a:lstStyle/>
          <a:p>
            <a:pPr algn="ctr">
              <a:tabLst>
                <a:tab pos="987425" algn="l"/>
              </a:tabLst>
            </a:pPr>
            <a:r>
              <a:rPr kumimoji="1" lang="ja-JP" altLang="en-US" sz="1000" dirty="0">
                <a:solidFill>
                  <a:schemeClr val="bg1"/>
                </a:solidFill>
              </a:rPr>
              <a:t>トライ</a:t>
            </a:r>
            <a:r>
              <a:rPr kumimoji="1" lang="en-US" altLang="ja-JP" sz="1000" dirty="0">
                <a:solidFill>
                  <a:schemeClr val="bg1"/>
                </a:solidFill>
              </a:rPr>
              <a:t>#1</a:t>
            </a:r>
            <a:r>
              <a:rPr kumimoji="1" lang="ja-JP" altLang="en-US" sz="1000" dirty="0">
                <a:solidFill>
                  <a:schemeClr val="bg1"/>
                </a:solidFill>
              </a:rPr>
              <a:t>対応</a:t>
            </a:r>
          </a:p>
        </p:txBody>
      </p:sp>
      <p:sp>
        <p:nvSpPr>
          <p:cNvPr id="13" name="矢印: 五方向 12">
            <a:extLst>
              <a:ext uri="{FF2B5EF4-FFF2-40B4-BE49-F238E27FC236}">
                <a16:creationId xmlns:a16="http://schemas.microsoft.com/office/drawing/2014/main" id="{B615F468-149C-F3CE-20C5-A0A2069011FE}"/>
              </a:ext>
            </a:extLst>
          </p:cNvPr>
          <p:cNvSpPr/>
          <p:nvPr/>
        </p:nvSpPr>
        <p:spPr>
          <a:xfrm>
            <a:off x="388368" y="1843471"/>
            <a:ext cx="1382680" cy="246221"/>
          </a:xfrm>
          <a:prstGeom prst="homePlat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spAutoFit/>
          </a:bodyPr>
          <a:lstStyle/>
          <a:p>
            <a:pPr algn="ctr"/>
            <a:r>
              <a:rPr kumimoji="1" lang="ja-JP" altLang="en-US" sz="1000" dirty="0">
                <a:solidFill>
                  <a:schemeClr val="tx1"/>
                </a:solidFill>
              </a:rPr>
              <a:t>理解・</a:t>
            </a:r>
            <a:r>
              <a:rPr kumimoji="1" lang="en-US" altLang="ja-JP" sz="1000" dirty="0">
                <a:solidFill>
                  <a:schemeClr val="tx1"/>
                </a:solidFill>
              </a:rPr>
              <a:t>MVP</a:t>
            </a:r>
            <a:r>
              <a:rPr kumimoji="1" lang="ja-JP" altLang="en-US" sz="1000" dirty="0">
                <a:solidFill>
                  <a:schemeClr val="tx1"/>
                </a:solidFill>
              </a:rPr>
              <a:t>定義</a:t>
            </a:r>
          </a:p>
        </p:txBody>
      </p:sp>
      <p:sp>
        <p:nvSpPr>
          <p:cNvPr id="15" name="矢印: 五方向 14">
            <a:extLst>
              <a:ext uri="{FF2B5EF4-FFF2-40B4-BE49-F238E27FC236}">
                <a16:creationId xmlns:a16="http://schemas.microsoft.com/office/drawing/2014/main" id="{B523773D-5847-8A36-1A9F-2F89708895CB}"/>
              </a:ext>
            </a:extLst>
          </p:cNvPr>
          <p:cNvSpPr/>
          <p:nvPr/>
        </p:nvSpPr>
        <p:spPr>
          <a:xfrm>
            <a:off x="388368" y="2520530"/>
            <a:ext cx="2807219" cy="246221"/>
          </a:xfrm>
          <a:prstGeom prst="homePlat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spAutoFit/>
          </a:bodyPr>
          <a:lstStyle/>
          <a:p>
            <a:pPr algn="ctr"/>
            <a:r>
              <a:rPr kumimoji="1" lang="ja-JP" altLang="en-US" sz="1000" dirty="0">
                <a:solidFill>
                  <a:schemeClr val="tx1"/>
                </a:solidFill>
              </a:rPr>
              <a:t>開発環境</a:t>
            </a:r>
          </a:p>
        </p:txBody>
      </p:sp>
      <p:sp>
        <p:nvSpPr>
          <p:cNvPr id="16" name="矢印: 五方向 15">
            <a:extLst>
              <a:ext uri="{FF2B5EF4-FFF2-40B4-BE49-F238E27FC236}">
                <a16:creationId xmlns:a16="http://schemas.microsoft.com/office/drawing/2014/main" id="{1D091E70-D89F-24CD-8491-4F23A92FC0DD}"/>
              </a:ext>
            </a:extLst>
          </p:cNvPr>
          <p:cNvSpPr/>
          <p:nvPr/>
        </p:nvSpPr>
        <p:spPr>
          <a:xfrm>
            <a:off x="388368" y="3954542"/>
            <a:ext cx="5707632" cy="246221"/>
          </a:xfrm>
          <a:prstGeom prst="homePlat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spAutoFit/>
          </a:bodyPr>
          <a:lstStyle/>
          <a:p>
            <a:pPr algn="ctr"/>
            <a:r>
              <a:rPr kumimoji="1" lang="ja-JP" altLang="en-US" sz="1000" dirty="0">
                <a:solidFill>
                  <a:schemeClr val="tx1"/>
                </a:solidFill>
              </a:rPr>
              <a:t>要件定義 </a:t>
            </a:r>
            <a:r>
              <a:rPr kumimoji="1" lang="en-US" altLang="ja-JP" sz="1000" dirty="0">
                <a:solidFill>
                  <a:schemeClr val="tx1"/>
                </a:solidFill>
              </a:rPr>
              <a:t>(VIN×SWIN</a:t>
            </a:r>
            <a:r>
              <a:rPr kumimoji="1" lang="ja-JP" altLang="en-US" sz="1000" dirty="0">
                <a:solidFill>
                  <a:schemeClr val="tx1"/>
                </a:solidFill>
              </a:rPr>
              <a:t>対応含む</a:t>
            </a:r>
            <a:r>
              <a:rPr kumimoji="1" lang="en-US" altLang="ja-JP" sz="1000" dirty="0">
                <a:solidFill>
                  <a:schemeClr val="tx1"/>
                </a:solidFill>
              </a:rPr>
              <a:t>)</a:t>
            </a:r>
            <a:endParaRPr kumimoji="1" lang="ja-JP" altLang="en-US" sz="1000" dirty="0">
              <a:solidFill>
                <a:schemeClr val="tx1"/>
              </a:solidFill>
            </a:endParaRPr>
          </a:p>
        </p:txBody>
      </p:sp>
      <p:sp>
        <p:nvSpPr>
          <p:cNvPr id="17" name="矢印: 五方向 16">
            <a:extLst>
              <a:ext uri="{FF2B5EF4-FFF2-40B4-BE49-F238E27FC236}">
                <a16:creationId xmlns:a16="http://schemas.microsoft.com/office/drawing/2014/main" id="{CE4E1EDC-4F18-36F2-97A6-8A4197563184}"/>
              </a:ext>
            </a:extLst>
          </p:cNvPr>
          <p:cNvSpPr/>
          <p:nvPr/>
        </p:nvSpPr>
        <p:spPr>
          <a:xfrm>
            <a:off x="1880280" y="4240163"/>
            <a:ext cx="6342189" cy="246221"/>
          </a:xfrm>
          <a:prstGeom prst="homePlat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spAutoFit/>
          </a:bodyPr>
          <a:lstStyle/>
          <a:p>
            <a:pPr algn="ctr"/>
            <a:r>
              <a:rPr kumimoji="1" lang="ja-JP" altLang="en-US" sz="1000" dirty="0">
                <a:solidFill>
                  <a:schemeClr val="tx1"/>
                </a:solidFill>
              </a:rPr>
              <a:t>部品リスト出力機能 設計・開発・テスト</a:t>
            </a:r>
          </a:p>
        </p:txBody>
      </p:sp>
      <p:sp>
        <p:nvSpPr>
          <p:cNvPr id="18" name="矢印: 五方向 17">
            <a:extLst>
              <a:ext uri="{FF2B5EF4-FFF2-40B4-BE49-F238E27FC236}">
                <a16:creationId xmlns:a16="http://schemas.microsoft.com/office/drawing/2014/main" id="{D2FAA0B1-7201-C222-1C93-BBD82D0CD9A9}"/>
              </a:ext>
            </a:extLst>
          </p:cNvPr>
          <p:cNvSpPr/>
          <p:nvPr/>
        </p:nvSpPr>
        <p:spPr>
          <a:xfrm>
            <a:off x="4735629" y="4533447"/>
            <a:ext cx="5621154" cy="246221"/>
          </a:xfrm>
          <a:prstGeom prst="homePlat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spAutoFit/>
          </a:bodyPr>
          <a:lstStyle/>
          <a:p>
            <a:pPr algn="ctr"/>
            <a:r>
              <a:rPr kumimoji="1" lang="ja-JP" altLang="en-US" sz="1000" dirty="0">
                <a:solidFill>
                  <a:schemeClr val="tx1"/>
                </a:solidFill>
              </a:rPr>
              <a:t>標準部品マスター管理機能 設計・開発・テスト</a:t>
            </a:r>
          </a:p>
        </p:txBody>
      </p:sp>
      <p:sp>
        <p:nvSpPr>
          <p:cNvPr id="19" name="矢印: 五方向 18">
            <a:extLst>
              <a:ext uri="{FF2B5EF4-FFF2-40B4-BE49-F238E27FC236}">
                <a16:creationId xmlns:a16="http://schemas.microsoft.com/office/drawing/2014/main" id="{485D4D0C-EA28-850C-0EA7-69F5C0F73FED}"/>
              </a:ext>
            </a:extLst>
          </p:cNvPr>
          <p:cNvSpPr/>
          <p:nvPr/>
        </p:nvSpPr>
        <p:spPr>
          <a:xfrm>
            <a:off x="8325853" y="4240163"/>
            <a:ext cx="2030930" cy="246221"/>
          </a:xfrm>
          <a:prstGeom prst="homePlat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spAutoFit/>
          </a:bodyPr>
          <a:lstStyle/>
          <a:p>
            <a:pPr algn="ctr"/>
            <a:r>
              <a:rPr kumimoji="1" lang="ja-JP" altLang="en-US" sz="1000" dirty="0">
                <a:solidFill>
                  <a:schemeClr val="tx1"/>
                </a:solidFill>
              </a:rPr>
              <a:t>部品リスト編集機能 設計・開発</a:t>
            </a:r>
          </a:p>
        </p:txBody>
      </p:sp>
      <p:sp>
        <p:nvSpPr>
          <p:cNvPr id="20" name="矢印: 五方向 19">
            <a:extLst>
              <a:ext uri="{FF2B5EF4-FFF2-40B4-BE49-F238E27FC236}">
                <a16:creationId xmlns:a16="http://schemas.microsoft.com/office/drawing/2014/main" id="{4A70B089-3969-8822-1308-0CF287D98462}"/>
              </a:ext>
            </a:extLst>
          </p:cNvPr>
          <p:cNvSpPr/>
          <p:nvPr/>
        </p:nvSpPr>
        <p:spPr>
          <a:xfrm>
            <a:off x="6160168" y="5249621"/>
            <a:ext cx="3513221" cy="246221"/>
          </a:xfrm>
          <a:prstGeom prst="homePlat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spAutoFit/>
          </a:bodyPr>
          <a:lstStyle/>
          <a:p>
            <a:pPr algn="ctr"/>
            <a:r>
              <a:rPr kumimoji="1" lang="ja-JP" altLang="en-US" sz="1000" dirty="0">
                <a:solidFill>
                  <a:schemeClr val="tx1"/>
                </a:solidFill>
              </a:rPr>
              <a:t>要件定義</a:t>
            </a:r>
          </a:p>
        </p:txBody>
      </p:sp>
      <p:sp>
        <p:nvSpPr>
          <p:cNvPr id="22" name="矢印: 五方向 21">
            <a:extLst>
              <a:ext uri="{FF2B5EF4-FFF2-40B4-BE49-F238E27FC236}">
                <a16:creationId xmlns:a16="http://schemas.microsoft.com/office/drawing/2014/main" id="{6CDFF6C3-F4E9-243A-F2FF-211DAECED383}"/>
              </a:ext>
            </a:extLst>
          </p:cNvPr>
          <p:cNvSpPr/>
          <p:nvPr/>
        </p:nvSpPr>
        <p:spPr>
          <a:xfrm>
            <a:off x="9760017" y="2520530"/>
            <a:ext cx="1337911" cy="246221"/>
          </a:xfrm>
          <a:prstGeom prst="homePlat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spAutoFit/>
          </a:bodyPr>
          <a:lstStyle/>
          <a:p>
            <a:pPr algn="ctr"/>
            <a:r>
              <a:rPr kumimoji="1" lang="ja-JP" altLang="en-US" sz="1000" dirty="0">
                <a:solidFill>
                  <a:schemeClr val="tx1"/>
                </a:solidFill>
              </a:rPr>
              <a:t>テスト・号口環境</a:t>
            </a:r>
          </a:p>
        </p:txBody>
      </p:sp>
      <p:sp>
        <p:nvSpPr>
          <p:cNvPr id="23" name="矢印: 五方向 22">
            <a:extLst>
              <a:ext uri="{FF2B5EF4-FFF2-40B4-BE49-F238E27FC236}">
                <a16:creationId xmlns:a16="http://schemas.microsoft.com/office/drawing/2014/main" id="{0578FE2A-6EE5-5326-72D6-A8A21520E7A0}"/>
              </a:ext>
            </a:extLst>
          </p:cNvPr>
          <p:cNvSpPr/>
          <p:nvPr/>
        </p:nvSpPr>
        <p:spPr>
          <a:xfrm>
            <a:off x="10460167" y="4246546"/>
            <a:ext cx="637761" cy="400110"/>
          </a:xfrm>
          <a:prstGeom prst="homePlat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spAutoFit/>
          </a:bodyPr>
          <a:lstStyle/>
          <a:p>
            <a:pPr algn="ctr"/>
            <a:r>
              <a:rPr kumimoji="1" lang="en-US" altLang="ja-JP" sz="1000" dirty="0">
                <a:solidFill>
                  <a:schemeClr val="tx1"/>
                </a:solidFill>
              </a:rPr>
              <a:t>G-CIS</a:t>
            </a:r>
            <a:br>
              <a:rPr kumimoji="1" lang="en-US" altLang="ja-JP" sz="1000" dirty="0">
                <a:solidFill>
                  <a:schemeClr val="tx1"/>
                </a:solidFill>
              </a:rPr>
            </a:br>
            <a:r>
              <a:rPr kumimoji="1" lang="ja-JP" altLang="en-US" sz="1000" dirty="0">
                <a:solidFill>
                  <a:schemeClr val="tx1"/>
                </a:solidFill>
              </a:rPr>
              <a:t>接続</a:t>
            </a:r>
          </a:p>
        </p:txBody>
      </p:sp>
      <p:sp>
        <p:nvSpPr>
          <p:cNvPr id="24" name="矢印: 五方向 23">
            <a:extLst>
              <a:ext uri="{FF2B5EF4-FFF2-40B4-BE49-F238E27FC236}">
                <a16:creationId xmlns:a16="http://schemas.microsoft.com/office/drawing/2014/main" id="{4A53F9C4-E11D-26C8-785B-6470AE2C4572}"/>
              </a:ext>
            </a:extLst>
          </p:cNvPr>
          <p:cNvSpPr/>
          <p:nvPr/>
        </p:nvSpPr>
        <p:spPr>
          <a:xfrm>
            <a:off x="1880281" y="3213743"/>
            <a:ext cx="4215719" cy="246221"/>
          </a:xfrm>
          <a:prstGeom prst="homePlat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spAutoFit/>
          </a:bodyPr>
          <a:lstStyle/>
          <a:p>
            <a:pPr algn="ctr"/>
            <a:r>
              <a:rPr kumimoji="1" lang="ja-JP" altLang="en-US" sz="1000" dirty="0">
                <a:solidFill>
                  <a:schemeClr val="tx1"/>
                </a:solidFill>
              </a:rPr>
              <a:t>関連システム連携機能</a:t>
            </a:r>
            <a:r>
              <a:rPr kumimoji="1" lang="en-US" altLang="ja-JP" sz="1000" dirty="0">
                <a:solidFill>
                  <a:schemeClr val="tx1"/>
                </a:solidFill>
              </a:rPr>
              <a:t>(</a:t>
            </a:r>
            <a:r>
              <a:rPr kumimoji="1" lang="ja-JP" altLang="en-US" sz="1000" dirty="0">
                <a:solidFill>
                  <a:schemeClr val="tx1"/>
                </a:solidFill>
              </a:rPr>
              <a:t>除</a:t>
            </a:r>
            <a:r>
              <a:rPr kumimoji="1" lang="en-US" altLang="ja-JP" sz="1000" dirty="0">
                <a:solidFill>
                  <a:schemeClr val="tx1"/>
                </a:solidFill>
              </a:rPr>
              <a:t>G-CIS)</a:t>
            </a:r>
            <a:r>
              <a:rPr kumimoji="1" lang="ja-JP" altLang="en-US" sz="1000" dirty="0">
                <a:solidFill>
                  <a:schemeClr val="tx1"/>
                </a:solidFill>
              </a:rPr>
              <a:t> 設計・開発・テスト</a:t>
            </a:r>
          </a:p>
        </p:txBody>
      </p:sp>
      <p:sp>
        <p:nvSpPr>
          <p:cNvPr id="25" name="矢印: 五方向 24">
            <a:extLst>
              <a:ext uri="{FF2B5EF4-FFF2-40B4-BE49-F238E27FC236}">
                <a16:creationId xmlns:a16="http://schemas.microsoft.com/office/drawing/2014/main" id="{18B32A9F-D8BA-60CD-DF99-B34B931FC928}"/>
              </a:ext>
            </a:extLst>
          </p:cNvPr>
          <p:cNvSpPr/>
          <p:nvPr/>
        </p:nvSpPr>
        <p:spPr>
          <a:xfrm>
            <a:off x="9760017" y="3213743"/>
            <a:ext cx="1337911" cy="246221"/>
          </a:xfrm>
          <a:prstGeom prst="homePlat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spAutoFit/>
          </a:bodyPr>
          <a:lstStyle/>
          <a:p>
            <a:pPr algn="ctr"/>
            <a:r>
              <a:rPr kumimoji="1" lang="en-US" altLang="ja-JP" sz="1000" dirty="0">
                <a:solidFill>
                  <a:schemeClr val="tx1"/>
                </a:solidFill>
              </a:rPr>
              <a:t>G-CIS</a:t>
            </a:r>
            <a:r>
              <a:rPr kumimoji="1" lang="ja-JP" altLang="en-US" sz="1000" dirty="0">
                <a:solidFill>
                  <a:schemeClr val="tx1"/>
                </a:solidFill>
              </a:rPr>
              <a:t>連携機能</a:t>
            </a:r>
          </a:p>
        </p:txBody>
      </p:sp>
      <p:sp>
        <p:nvSpPr>
          <p:cNvPr id="26" name="矢印: 五方向 25">
            <a:extLst>
              <a:ext uri="{FF2B5EF4-FFF2-40B4-BE49-F238E27FC236}">
                <a16:creationId xmlns:a16="http://schemas.microsoft.com/office/drawing/2014/main" id="{109165D7-A598-E391-F6E6-EB47A3DE2FCD}"/>
              </a:ext>
            </a:extLst>
          </p:cNvPr>
          <p:cNvSpPr/>
          <p:nvPr/>
        </p:nvSpPr>
        <p:spPr>
          <a:xfrm>
            <a:off x="9721517" y="5249621"/>
            <a:ext cx="1376411" cy="246221"/>
          </a:xfrm>
          <a:prstGeom prst="homePlat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spAutoFit/>
          </a:bodyPr>
          <a:lstStyle/>
          <a:p>
            <a:pPr algn="ctr"/>
            <a:r>
              <a:rPr kumimoji="1" lang="ja-JP" altLang="en-US" sz="1000" dirty="0">
                <a:solidFill>
                  <a:schemeClr val="tx1"/>
                </a:solidFill>
              </a:rPr>
              <a:t>設計・開発・テスト</a:t>
            </a:r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1E520F8-488F-B9F2-4336-1C62A7C38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85899-07DC-4708-B5DD-A200CEE14CAD}" type="slidenum">
              <a:rPr kumimoji="1" lang="ja-JP" altLang="en-US" smtClean="0"/>
              <a:t>12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131431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正方形/長方形 223">
            <a:extLst>
              <a:ext uri="{FF2B5EF4-FFF2-40B4-BE49-F238E27FC236}">
                <a16:creationId xmlns:a16="http://schemas.microsoft.com/office/drawing/2014/main" id="{4ACF3A10-8580-3DEC-70E9-527EDD27BCF3}"/>
              </a:ext>
            </a:extLst>
          </p:cNvPr>
          <p:cNvSpPr/>
          <p:nvPr/>
        </p:nvSpPr>
        <p:spPr>
          <a:xfrm>
            <a:off x="7322820" y="998220"/>
            <a:ext cx="3840475" cy="53035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ja-JP" altLang="en-US" sz="1400" dirty="0">
                <a:solidFill>
                  <a:schemeClr val="tx2"/>
                </a:solidFill>
                <a:latin typeface="+mj-lt"/>
                <a:ea typeface="+mj-ea"/>
              </a:rPr>
              <a:t>ステークホルダー</a:t>
            </a: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2B50CCFB-B267-12A1-881A-092955970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体制</a:t>
            </a:r>
          </a:p>
        </p:txBody>
      </p:sp>
      <p:sp>
        <p:nvSpPr>
          <p:cNvPr id="115" name="テキスト ボックス 114">
            <a:extLst>
              <a:ext uri="{FF2B5EF4-FFF2-40B4-BE49-F238E27FC236}">
                <a16:creationId xmlns:a16="http://schemas.microsoft.com/office/drawing/2014/main" id="{EE65934C-3BD9-971B-010B-44E7A55998C9}"/>
              </a:ext>
            </a:extLst>
          </p:cNvPr>
          <p:cNvSpPr txBox="1"/>
          <p:nvPr/>
        </p:nvSpPr>
        <p:spPr>
          <a:xfrm>
            <a:off x="4919206" y="4613943"/>
            <a:ext cx="14959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800" dirty="0">
                <a:solidFill>
                  <a:schemeClr val="tx2"/>
                </a:solidFill>
              </a:rPr>
              <a:t>※1 </a:t>
            </a:r>
            <a:r>
              <a:rPr kumimoji="1" lang="ja-JP" altLang="en-US" sz="800" dirty="0">
                <a:solidFill>
                  <a:schemeClr val="tx2"/>
                </a:solidFill>
              </a:rPr>
              <a:t>ニジボックス</a:t>
            </a:r>
            <a:endParaRPr kumimoji="1" lang="en-US" altLang="ja-JP" sz="800" dirty="0">
              <a:solidFill>
                <a:schemeClr val="tx2"/>
              </a:solidFill>
            </a:endParaRPr>
          </a:p>
          <a:p>
            <a:r>
              <a:rPr kumimoji="1" lang="en-US" altLang="ja-JP" sz="800" dirty="0">
                <a:solidFill>
                  <a:schemeClr val="tx2"/>
                </a:solidFill>
              </a:rPr>
              <a:t>※2 </a:t>
            </a:r>
            <a:r>
              <a:rPr kumimoji="1" lang="ja-JP" altLang="en-US" sz="800" dirty="0">
                <a:solidFill>
                  <a:schemeClr val="tx2"/>
                </a:solidFill>
              </a:rPr>
              <a:t>トヨタ情報システム愛知</a:t>
            </a:r>
          </a:p>
        </p:txBody>
      </p:sp>
      <p:cxnSp>
        <p:nvCxnSpPr>
          <p:cNvPr id="116" name="直線コネクタ 115">
            <a:extLst>
              <a:ext uri="{FF2B5EF4-FFF2-40B4-BE49-F238E27FC236}">
                <a16:creationId xmlns:a16="http://schemas.microsoft.com/office/drawing/2014/main" id="{72078A14-6791-4A46-EC84-A9244F0FE8DA}"/>
              </a:ext>
            </a:extLst>
          </p:cNvPr>
          <p:cNvCxnSpPr>
            <a:cxnSpLocks/>
            <a:stCxn id="129" idx="2"/>
            <a:endCxn id="126" idx="0"/>
          </p:cNvCxnSpPr>
          <p:nvPr/>
        </p:nvCxnSpPr>
        <p:spPr>
          <a:xfrm>
            <a:off x="1919330" y="2206716"/>
            <a:ext cx="0" cy="117945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線コネクタ 116">
            <a:extLst>
              <a:ext uri="{FF2B5EF4-FFF2-40B4-BE49-F238E27FC236}">
                <a16:creationId xmlns:a16="http://schemas.microsoft.com/office/drawing/2014/main" id="{F9CEE81D-617D-EE1B-A94F-A63ED00CD6CC}"/>
              </a:ext>
            </a:extLst>
          </p:cNvPr>
          <p:cNvCxnSpPr>
            <a:cxnSpLocks/>
            <a:stCxn id="121" idx="2"/>
            <a:endCxn id="120" idx="0"/>
          </p:cNvCxnSpPr>
          <p:nvPr/>
        </p:nvCxnSpPr>
        <p:spPr>
          <a:xfrm>
            <a:off x="3955842" y="2713432"/>
            <a:ext cx="0" cy="1711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正方形/長方形 117">
            <a:extLst>
              <a:ext uri="{FF2B5EF4-FFF2-40B4-BE49-F238E27FC236}">
                <a16:creationId xmlns:a16="http://schemas.microsoft.com/office/drawing/2014/main" id="{0D98157C-65D6-0C62-3D5A-58549B51D8B9}"/>
              </a:ext>
            </a:extLst>
          </p:cNvPr>
          <p:cNvSpPr/>
          <p:nvPr/>
        </p:nvSpPr>
        <p:spPr>
          <a:xfrm>
            <a:off x="3462268" y="3386174"/>
            <a:ext cx="987144" cy="3303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72000" bIns="54000" rtlCol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ja-JP" altLang="en-US" sz="1200" dirty="0">
                <a:solidFill>
                  <a:schemeClr val="tx1"/>
                </a:solidFill>
              </a:rPr>
              <a:t>横山</a:t>
            </a:r>
          </a:p>
        </p:txBody>
      </p:sp>
      <p:sp>
        <p:nvSpPr>
          <p:cNvPr id="120" name="正方形/長方形 119">
            <a:extLst>
              <a:ext uri="{FF2B5EF4-FFF2-40B4-BE49-F238E27FC236}">
                <a16:creationId xmlns:a16="http://schemas.microsoft.com/office/drawing/2014/main" id="{81EB0A3F-7332-4AE9-CFB1-7945644891DB}"/>
              </a:ext>
            </a:extLst>
          </p:cNvPr>
          <p:cNvSpPr/>
          <p:nvPr/>
        </p:nvSpPr>
        <p:spPr>
          <a:xfrm>
            <a:off x="3462270" y="2884621"/>
            <a:ext cx="987144" cy="3303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72000" bIns="54000" rtlCol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ja-JP" altLang="en-US" sz="1200" dirty="0">
                <a:solidFill>
                  <a:schemeClr val="tx1"/>
                </a:solidFill>
              </a:rPr>
              <a:t>髙綱</a:t>
            </a:r>
            <a:r>
              <a:rPr kumimoji="1" lang="en-US" altLang="ja-JP" sz="1200" dirty="0">
                <a:solidFill>
                  <a:schemeClr val="tx1"/>
                </a:solidFill>
              </a:rPr>
              <a:t>GM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21" name="正方形/長方形 120">
            <a:extLst>
              <a:ext uri="{FF2B5EF4-FFF2-40B4-BE49-F238E27FC236}">
                <a16:creationId xmlns:a16="http://schemas.microsoft.com/office/drawing/2014/main" id="{5E37DB28-B575-7CC1-7B45-E3C8B59EFEC6}"/>
              </a:ext>
            </a:extLst>
          </p:cNvPr>
          <p:cNvSpPr/>
          <p:nvPr/>
        </p:nvSpPr>
        <p:spPr>
          <a:xfrm>
            <a:off x="3462270" y="2383069"/>
            <a:ext cx="987144" cy="3303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72000" bIns="54000" rtlCol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ja-JP" altLang="en-US" sz="1200" dirty="0">
                <a:solidFill>
                  <a:schemeClr val="tx1"/>
                </a:solidFill>
              </a:rPr>
              <a:t>植田</a:t>
            </a:r>
            <a:r>
              <a:rPr kumimoji="1" lang="en-US" altLang="ja-JP" sz="1200" dirty="0">
                <a:solidFill>
                  <a:schemeClr val="tx1"/>
                </a:solidFill>
              </a:rPr>
              <a:t>B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26" name="正方形/長方形 125">
            <a:extLst>
              <a:ext uri="{FF2B5EF4-FFF2-40B4-BE49-F238E27FC236}">
                <a16:creationId xmlns:a16="http://schemas.microsoft.com/office/drawing/2014/main" id="{E9E45020-9129-8997-02C3-98951535CA63}"/>
              </a:ext>
            </a:extLst>
          </p:cNvPr>
          <p:cNvSpPr/>
          <p:nvPr/>
        </p:nvSpPr>
        <p:spPr>
          <a:xfrm>
            <a:off x="1425758" y="3386174"/>
            <a:ext cx="987144" cy="33036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72000" bIns="54000" rtlCol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ja-JP" altLang="en-US" sz="1200" dirty="0">
                <a:solidFill>
                  <a:schemeClr val="tx1"/>
                </a:solidFill>
              </a:rPr>
              <a:t>松田</a:t>
            </a:r>
            <a:r>
              <a:rPr kumimoji="1" lang="en-US" altLang="ja-JP" sz="1200" dirty="0">
                <a:solidFill>
                  <a:schemeClr val="tx1"/>
                </a:solidFill>
              </a:rPr>
              <a:t>SN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27" name="正方形/長方形 126">
            <a:extLst>
              <a:ext uri="{FF2B5EF4-FFF2-40B4-BE49-F238E27FC236}">
                <a16:creationId xmlns:a16="http://schemas.microsoft.com/office/drawing/2014/main" id="{EEF05D3C-86CB-9C11-CBB2-B499A8E2FF63}"/>
              </a:ext>
            </a:extLst>
          </p:cNvPr>
          <p:cNvSpPr/>
          <p:nvPr/>
        </p:nvSpPr>
        <p:spPr>
          <a:xfrm>
            <a:off x="1425758" y="2882901"/>
            <a:ext cx="987144" cy="33036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72000" bIns="54000" rtlCol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ja-JP" altLang="en-US" sz="1200" dirty="0">
                <a:solidFill>
                  <a:schemeClr val="tx1"/>
                </a:solidFill>
              </a:rPr>
              <a:t>酒井</a:t>
            </a:r>
            <a:r>
              <a:rPr kumimoji="1" lang="en-US" altLang="ja-JP" sz="1200" dirty="0">
                <a:solidFill>
                  <a:schemeClr val="tx1"/>
                </a:solidFill>
              </a:rPr>
              <a:t>GM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28" name="正方形/長方形 127">
            <a:extLst>
              <a:ext uri="{FF2B5EF4-FFF2-40B4-BE49-F238E27FC236}">
                <a16:creationId xmlns:a16="http://schemas.microsoft.com/office/drawing/2014/main" id="{E5AB4019-E23A-E264-D5A4-422B375F9A7E}"/>
              </a:ext>
            </a:extLst>
          </p:cNvPr>
          <p:cNvSpPr/>
          <p:nvPr/>
        </p:nvSpPr>
        <p:spPr>
          <a:xfrm>
            <a:off x="1425758" y="2379627"/>
            <a:ext cx="987144" cy="33036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72000" bIns="54000" rtlCol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ja-JP" altLang="en-US" sz="1200" dirty="0">
                <a:solidFill>
                  <a:schemeClr val="tx1"/>
                </a:solidFill>
              </a:rPr>
              <a:t>大草</a:t>
            </a:r>
            <a:r>
              <a:rPr kumimoji="1" lang="en-US" altLang="ja-JP" sz="1200" dirty="0">
                <a:solidFill>
                  <a:schemeClr val="tx1"/>
                </a:solidFill>
              </a:rPr>
              <a:t>S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29" name="正方形/長方形 128">
            <a:extLst>
              <a:ext uri="{FF2B5EF4-FFF2-40B4-BE49-F238E27FC236}">
                <a16:creationId xmlns:a16="http://schemas.microsoft.com/office/drawing/2014/main" id="{B6D0740A-235A-E686-7A08-9AEB8A61686C}"/>
              </a:ext>
            </a:extLst>
          </p:cNvPr>
          <p:cNvSpPr/>
          <p:nvPr/>
        </p:nvSpPr>
        <p:spPr>
          <a:xfrm>
            <a:off x="1425758" y="1876353"/>
            <a:ext cx="987144" cy="33036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72000" bIns="54000" rtlCol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ja-JP" altLang="en-US" sz="1200" dirty="0">
                <a:solidFill>
                  <a:schemeClr val="tx1"/>
                </a:solidFill>
              </a:rPr>
              <a:t>稲垣</a:t>
            </a:r>
            <a:r>
              <a:rPr kumimoji="1" lang="en-US" altLang="ja-JP" sz="1200" dirty="0">
                <a:solidFill>
                  <a:schemeClr val="tx1"/>
                </a:solidFill>
              </a:rPr>
              <a:t>B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30" name="正方形/長方形 129">
            <a:extLst>
              <a:ext uri="{FF2B5EF4-FFF2-40B4-BE49-F238E27FC236}">
                <a16:creationId xmlns:a16="http://schemas.microsoft.com/office/drawing/2014/main" id="{7B95AF6D-BD43-999A-E954-AC43E9DCD250}"/>
              </a:ext>
            </a:extLst>
          </p:cNvPr>
          <p:cNvSpPr/>
          <p:nvPr/>
        </p:nvSpPr>
        <p:spPr>
          <a:xfrm>
            <a:off x="4036608" y="3885725"/>
            <a:ext cx="987144" cy="31632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72000" bIns="54000" rtlCol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en-US" altLang="ja-JP" sz="1200" dirty="0">
                <a:solidFill>
                  <a:schemeClr val="tx1"/>
                </a:solidFill>
              </a:rPr>
              <a:t>NBX</a:t>
            </a:r>
            <a:r>
              <a:rPr kumimoji="1" lang="en-US" altLang="ja-JP" sz="1200" baseline="30000" dirty="0">
                <a:solidFill>
                  <a:schemeClr val="tx2"/>
                </a:solidFill>
              </a:rPr>
              <a:t>※1</a:t>
            </a:r>
            <a:r>
              <a:rPr kumimoji="1" lang="en-US" altLang="ja-JP" sz="1200" dirty="0">
                <a:solidFill>
                  <a:schemeClr val="tx1"/>
                </a:solidFill>
              </a:rPr>
              <a:t> 7</a:t>
            </a:r>
            <a:r>
              <a:rPr kumimoji="1" lang="ja-JP" altLang="en-US" sz="1200" dirty="0">
                <a:solidFill>
                  <a:schemeClr val="tx1"/>
                </a:solidFill>
              </a:rPr>
              <a:t>名</a:t>
            </a:r>
          </a:p>
        </p:txBody>
      </p:sp>
      <p:cxnSp>
        <p:nvCxnSpPr>
          <p:cNvPr id="131" name="直線コネクタ 130">
            <a:extLst>
              <a:ext uri="{FF2B5EF4-FFF2-40B4-BE49-F238E27FC236}">
                <a16:creationId xmlns:a16="http://schemas.microsoft.com/office/drawing/2014/main" id="{2B432A4B-68AC-6BA9-B5E2-6D462C0BEED4}"/>
              </a:ext>
            </a:extLst>
          </p:cNvPr>
          <p:cNvCxnSpPr>
            <a:cxnSpLocks/>
            <a:stCxn id="126" idx="3"/>
            <a:endCxn id="118" idx="1"/>
          </p:cNvCxnSpPr>
          <p:nvPr/>
        </p:nvCxnSpPr>
        <p:spPr>
          <a:xfrm>
            <a:off x="2412902" y="3551356"/>
            <a:ext cx="104936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9" name="正方形/長方形 148">
            <a:extLst>
              <a:ext uri="{FF2B5EF4-FFF2-40B4-BE49-F238E27FC236}">
                <a16:creationId xmlns:a16="http://schemas.microsoft.com/office/drawing/2014/main" id="{D0CD5627-7A6D-9737-EB59-363708109933}"/>
              </a:ext>
            </a:extLst>
          </p:cNvPr>
          <p:cNvSpPr/>
          <p:nvPr/>
        </p:nvSpPr>
        <p:spPr>
          <a:xfrm>
            <a:off x="2895790" y="3885725"/>
            <a:ext cx="987144" cy="31632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72000" bIns="54000" rtlCol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ja-JP" altLang="en-US" sz="1200" dirty="0">
                <a:solidFill>
                  <a:schemeClr val="tx1"/>
                </a:solidFill>
              </a:rPr>
              <a:t>山崎</a:t>
            </a:r>
            <a:r>
              <a:rPr kumimoji="1" lang="en-US" altLang="ja-JP" sz="1200" dirty="0">
                <a:solidFill>
                  <a:schemeClr val="tx1"/>
                </a:solidFill>
              </a:rPr>
              <a:t>, </a:t>
            </a:r>
            <a:r>
              <a:rPr kumimoji="1" lang="ja-JP" altLang="en-US" sz="1200" dirty="0">
                <a:solidFill>
                  <a:schemeClr val="tx1"/>
                </a:solidFill>
              </a:rPr>
              <a:t>高木</a:t>
            </a:r>
          </a:p>
        </p:txBody>
      </p:sp>
      <p:cxnSp>
        <p:nvCxnSpPr>
          <p:cNvPr id="150" name="コネクタ: カギ線 149">
            <a:extLst>
              <a:ext uri="{FF2B5EF4-FFF2-40B4-BE49-F238E27FC236}">
                <a16:creationId xmlns:a16="http://schemas.microsoft.com/office/drawing/2014/main" id="{8F7C0BA4-BF4B-5F13-4446-BC5B76D77B74}"/>
              </a:ext>
            </a:extLst>
          </p:cNvPr>
          <p:cNvCxnSpPr>
            <a:cxnSpLocks/>
            <a:stCxn id="118" idx="2"/>
            <a:endCxn id="130" idx="0"/>
          </p:cNvCxnSpPr>
          <p:nvPr/>
        </p:nvCxnSpPr>
        <p:spPr>
          <a:xfrm rot="16200000" flipH="1">
            <a:off x="4158416" y="3513961"/>
            <a:ext cx="169188" cy="574340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コネクタ: カギ線 150">
            <a:extLst>
              <a:ext uri="{FF2B5EF4-FFF2-40B4-BE49-F238E27FC236}">
                <a16:creationId xmlns:a16="http://schemas.microsoft.com/office/drawing/2014/main" id="{54A17723-E5FE-6623-ABAC-C7D2350DE277}"/>
              </a:ext>
            </a:extLst>
          </p:cNvPr>
          <p:cNvCxnSpPr>
            <a:cxnSpLocks/>
            <a:stCxn id="118" idx="2"/>
            <a:endCxn id="149" idx="0"/>
          </p:cNvCxnSpPr>
          <p:nvPr/>
        </p:nvCxnSpPr>
        <p:spPr>
          <a:xfrm rot="5400000">
            <a:off x="3588007" y="3517892"/>
            <a:ext cx="169188" cy="566478"/>
          </a:xfrm>
          <a:prstGeom prst="bentConnector3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正方形/長方形 151">
            <a:extLst>
              <a:ext uri="{FF2B5EF4-FFF2-40B4-BE49-F238E27FC236}">
                <a16:creationId xmlns:a16="http://schemas.microsoft.com/office/drawing/2014/main" id="{40ABDE26-66BA-7CF5-13AC-6C81B79E35C5}"/>
              </a:ext>
            </a:extLst>
          </p:cNvPr>
          <p:cNvSpPr/>
          <p:nvPr/>
        </p:nvSpPr>
        <p:spPr>
          <a:xfrm>
            <a:off x="2776700" y="3309576"/>
            <a:ext cx="3506960" cy="1246908"/>
          </a:xfrm>
          <a:prstGeom prst="rect">
            <a:avLst/>
          </a:prstGeom>
          <a:noFill/>
          <a:ln w="38100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3" name="正方形/長方形 152">
            <a:extLst>
              <a:ext uri="{FF2B5EF4-FFF2-40B4-BE49-F238E27FC236}">
                <a16:creationId xmlns:a16="http://schemas.microsoft.com/office/drawing/2014/main" id="{029BF6D4-2CF8-B891-2B7C-FFB65309BADF}"/>
              </a:ext>
            </a:extLst>
          </p:cNvPr>
          <p:cNvSpPr/>
          <p:nvPr/>
        </p:nvSpPr>
        <p:spPr>
          <a:xfrm>
            <a:off x="2776700" y="4268806"/>
            <a:ext cx="1118814" cy="292526"/>
          </a:xfrm>
          <a:prstGeom prst="rect">
            <a:avLst/>
          </a:prstGeom>
          <a:solidFill>
            <a:schemeClr val="accent2"/>
          </a:solidFill>
          <a:ln w="38100">
            <a:solidFill>
              <a:schemeClr val="accent2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latin typeface="+mj-lt"/>
                <a:ea typeface="+mj-ea"/>
              </a:rPr>
              <a:t>ご提案範囲</a:t>
            </a:r>
          </a:p>
        </p:txBody>
      </p:sp>
      <p:cxnSp>
        <p:nvCxnSpPr>
          <p:cNvPr id="155" name="直線コネクタ 154">
            <a:extLst>
              <a:ext uri="{FF2B5EF4-FFF2-40B4-BE49-F238E27FC236}">
                <a16:creationId xmlns:a16="http://schemas.microsoft.com/office/drawing/2014/main" id="{E3D5E5F3-80D8-1ED9-9A0F-7F95A95301F5}"/>
              </a:ext>
            </a:extLst>
          </p:cNvPr>
          <p:cNvCxnSpPr>
            <a:cxnSpLocks/>
            <a:stCxn id="120" idx="2"/>
            <a:endCxn id="118" idx="0"/>
          </p:cNvCxnSpPr>
          <p:nvPr/>
        </p:nvCxnSpPr>
        <p:spPr>
          <a:xfrm flipH="1">
            <a:off x="3955840" y="3214984"/>
            <a:ext cx="2" cy="17119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3" name="正方形/長方形 192">
            <a:extLst>
              <a:ext uri="{FF2B5EF4-FFF2-40B4-BE49-F238E27FC236}">
                <a16:creationId xmlns:a16="http://schemas.microsoft.com/office/drawing/2014/main" id="{7F4C96E8-1AB0-F69A-FE0C-E6AE449BDD30}"/>
              </a:ext>
            </a:extLst>
          </p:cNvPr>
          <p:cNvSpPr/>
          <p:nvPr/>
        </p:nvSpPr>
        <p:spPr>
          <a:xfrm>
            <a:off x="7490543" y="3217297"/>
            <a:ext cx="3506964" cy="1133986"/>
          </a:xfrm>
          <a:prstGeom prst="rect">
            <a:avLst/>
          </a:prstGeom>
          <a:solidFill>
            <a:schemeClr val="bg1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ja-JP" altLang="en-US" sz="1100" dirty="0">
                <a:solidFill>
                  <a:schemeClr val="tx1"/>
                </a:solidFill>
                <a:latin typeface="+mj-lt"/>
                <a:ea typeface="+mj-ea"/>
              </a:rPr>
              <a:t>法規認証関連システム連携</a:t>
            </a:r>
          </a:p>
        </p:txBody>
      </p:sp>
      <p:sp>
        <p:nvSpPr>
          <p:cNvPr id="194" name="正方形/長方形 193">
            <a:extLst>
              <a:ext uri="{FF2B5EF4-FFF2-40B4-BE49-F238E27FC236}">
                <a16:creationId xmlns:a16="http://schemas.microsoft.com/office/drawing/2014/main" id="{42B11523-5386-F1D2-4DEC-B73116FA3307}"/>
              </a:ext>
            </a:extLst>
          </p:cNvPr>
          <p:cNvSpPr/>
          <p:nvPr/>
        </p:nvSpPr>
        <p:spPr>
          <a:xfrm>
            <a:off x="7643848" y="3528267"/>
            <a:ext cx="3214950" cy="33017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72000" bIns="54000" rtlCol="0" anchor="ctr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ja-JP" altLang="en-US" sz="1200" dirty="0">
                <a:solidFill>
                  <a:schemeClr val="accent3"/>
                </a:solidFill>
              </a:rPr>
              <a:t>法規認証部</a:t>
            </a:r>
            <a:r>
              <a:rPr kumimoji="1" lang="ja-JP" altLang="en-US" sz="1200" dirty="0">
                <a:solidFill>
                  <a:schemeClr val="tx1"/>
                </a:solidFill>
              </a:rPr>
              <a:t> 山崎</a:t>
            </a:r>
            <a:r>
              <a:rPr kumimoji="1" lang="en-US" altLang="ja-JP" sz="1200" dirty="0">
                <a:solidFill>
                  <a:schemeClr val="tx1"/>
                </a:solidFill>
              </a:rPr>
              <a:t>SN, </a:t>
            </a:r>
            <a:r>
              <a:rPr kumimoji="1" lang="ja-JP" altLang="en-US" sz="1200" dirty="0">
                <a:solidFill>
                  <a:schemeClr val="tx1"/>
                </a:solidFill>
              </a:rPr>
              <a:t>川井</a:t>
            </a:r>
          </a:p>
        </p:txBody>
      </p:sp>
      <p:sp>
        <p:nvSpPr>
          <p:cNvPr id="195" name="正方形/長方形 194">
            <a:extLst>
              <a:ext uri="{FF2B5EF4-FFF2-40B4-BE49-F238E27FC236}">
                <a16:creationId xmlns:a16="http://schemas.microsoft.com/office/drawing/2014/main" id="{40C53F72-191C-60E5-95A3-084A3A61ECA0}"/>
              </a:ext>
            </a:extLst>
          </p:cNvPr>
          <p:cNvSpPr/>
          <p:nvPr/>
        </p:nvSpPr>
        <p:spPr>
          <a:xfrm>
            <a:off x="7643848" y="3926105"/>
            <a:ext cx="3214950" cy="3301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72000" bIns="54000" rtlCol="0" anchor="ctr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ja-JP" altLang="en-US" sz="1200" dirty="0">
                <a:solidFill>
                  <a:schemeClr val="accent1"/>
                </a:solidFill>
              </a:rPr>
              <a:t>部品表活用システム部 </a:t>
            </a:r>
            <a:r>
              <a:rPr kumimoji="1" lang="ja-JP" altLang="en-US" sz="1200" dirty="0">
                <a:solidFill>
                  <a:schemeClr val="tx1"/>
                </a:solidFill>
              </a:rPr>
              <a:t>舟橋</a:t>
            </a:r>
            <a:r>
              <a:rPr kumimoji="1" lang="en-US" altLang="ja-JP" sz="1200" dirty="0">
                <a:solidFill>
                  <a:schemeClr val="tx1"/>
                </a:solidFill>
              </a:rPr>
              <a:t>B, </a:t>
            </a:r>
            <a:r>
              <a:rPr kumimoji="1" lang="ja-JP" altLang="en-US" sz="1200" dirty="0">
                <a:solidFill>
                  <a:schemeClr val="tx1"/>
                </a:solidFill>
              </a:rPr>
              <a:t>磯田</a:t>
            </a:r>
            <a:r>
              <a:rPr kumimoji="1" lang="en-US" altLang="ja-JP" sz="1200" dirty="0">
                <a:solidFill>
                  <a:schemeClr val="tx1"/>
                </a:solidFill>
              </a:rPr>
              <a:t>GM, </a:t>
            </a:r>
            <a:r>
              <a:rPr kumimoji="1" lang="ja-JP" altLang="en-US" sz="1200" dirty="0">
                <a:solidFill>
                  <a:schemeClr val="tx1"/>
                </a:solidFill>
              </a:rPr>
              <a:t>大矢</a:t>
            </a:r>
          </a:p>
        </p:txBody>
      </p:sp>
      <p:sp>
        <p:nvSpPr>
          <p:cNvPr id="196" name="正方形/長方形 195">
            <a:extLst>
              <a:ext uri="{FF2B5EF4-FFF2-40B4-BE49-F238E27FC236}">
                <a16:creationId xmlns:a16="http://schemas.microsoft.com/office/drawing/2014/main" id="{14FCDE76-85EB-C7AD-8296-710AAF8ACA98}"/>
              </a:ext>
            </a:extLst>
          </p:cNvPr>
          <p:cNvSpPr/>
          <p:nvPr/>
        </p:nvSpPr>
        <p:spPr>
          <a:xfrm>
            <a:off x="7490543" y="1385642"/>
            <a:ext cx="3506964" cy="776081"/>
          </a:xfrm>
          <a:prstGeom prst="rect">
            <a:avLst/>
          </a:prstGeom>
          <a:solidFill>
            <a:schemeClr val="bg1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ja-JP" sz="1100" dirty="0">
                <a:solidFill>
                  <a:schemeClr val="tx1"/>
                </a:solidFill>
                <a:latin typeface="+mj-lt"/>
                <a:ea typeface="+mj-ea"/>
              </a:rPr>
              <a:t>RxSWIN</a:t>
            </a:r>
            <a:r>
              <a:rPr kumimoji="1" lang="ja-JP" altLang="en-US" sz="1100" dirty="0">
                <a:solidFill>
                  <a:schemeClr val="tx1"/>
                </a:solidFill>
                <a:latin typeface="+mj-lt"/>
                <a:ea typeface="+mj-ea"/>
              </a:rPr>
              <a:t>対応</a:t>
            </a:r>
            <a:r>
              <a:rPr kumimoji="1" lang="en-US" altLang="ja-JP" sz="1100" dirty="0">
                <a:solidFill>
                  <a:schemeClr val="tx1"/>
                </a:solidFill>
                <a:latin typeface="+mj-lt"/>
                <a:ea typeface="+mj-ea"/>
              </a:rPr>
              <a:t>W/G, </a:t>
            </a:r>
            <a:r>
              <a:rPr kumimoji="1" lang="ja-JP" altLang="en-US" sz="1100" dirty="0">
                <a:solidFill>
                  <a:schemeClr val="tx1"/>
                </a:solidFill>
                <a:latin typeface="+mj-lt"/>
                <a:ea typeface="+mj-ea"/>
              </a:rPr>
              <a:t>ユーザー代表</a:t>
            </a:r>
          </a:p>
        </p:txBody>
      </p:sp>
      <p:sp>
        <p:nvSpPr>
          <p:cNvPr id="197" name="正方形/長方形 196">
            <a:extLst>
              <a:ext uri="{FF2B5EF4-FFF2-40B4-BE49-F238E27FC236}">
                <a16:creationId xmlns:a16="http://schemas.microsoft.com/office/drawing/2014/main" id="{F639853E-D2AA-690E-C23D-1D8A2CC7DA84}"/>
              </a:ext>
            </a:extLst>
          </p:cNvPr>
          <p:cNvSpPr/>
          <p:nvPr/>
        </p:nvSpPr>
        <p:spPr>
          <a:xfrm>
            <a:off x="7643848" y="1696612"/>
            <a:ext cx="3214950" cy="33017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72000" bIns="54000" rtlCol="0" anchor="ctr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ja-JP" altLang="en-US" sz="1200" dirty="0">
                <a:solidFill>
                  <a:schemeClr val="accent3"/>
                </a:solidFill>
              </a:rPr>
              <a:t>法規認証部</a:t>
            </a:r>
            <a:r>
              <a:rPr kumimoji="1" lang="ja-JP" altLang="en-US" sz="1200" dirty="0">
                <a:solidFill>
                  <a:schemeClr val="tx1"/>
                </a:solidFill>
              </a:rPr>
              <a:t> 林</a:t>
            </a:r>
            <a:r>
              <a:rPr kumimoji="1" lang="en-US" altLang="ja-JP" sz="1200" dirty="0">
                <a:solidFill>
                  <a:schemeClr val="tx1"/>
                </a:solidFill>
              </a:rPr>
              <a:t>B, </a:t>
            </a:r>
            <a:r>
              <a:rPr kumimoji="1" lang="ja-JP" altLang="en-US" sz="1200" dirty="0">
                <a:solidFill>
                  <a:schemeClr val="tx1"/>
                </a:solidFill>
              </a:rPr>
              <a:t>小泉</a:t>
            </a:r>
            <a:r>
              <a:rPr kumimoji="1" lang="en-US" altLang="ja-JP" sz="1200" dirty="0">
                <a:solidFill>
                  <a:schemeClr val="tx1"/>
                </a:solidFill>
              </a:rPr>
              <a:t>FB, </a:t>
            </a:r>
            <a:r>
              <a:rPr kumimoji="1" lang="ja-JP" altLang="en-US" sz="1200" dirty="0">
                <a:solidFill>
                  <a:schemeClr val="tx1"/>
                </a:solidFill>
              </a:rPr>
              <a:t>木本</a:t>
            </a:r>
            <a:r>
              <a:rPr kumimoji="1" lang="en-US" altLang="ja-JP" sz="1200" dirty="0">
                <a:solidFill>
                  <a:schemeClr val="tx1"/>
                </a:solidFill>
              </a:rPr>
              <a:t>SS, </a:t>
            </a:r>
            <a:r>
              <a:rPr kumimoji="1" lang="ja-JP" altLang="en-US" sz="1200" dirty="0">
                <a:solidFill>
                  <a:schemeClr val="tx1"/>
                </a:solidFill>
              </a:rPr>
              <a:t>三澤</a:t>
            </a:r>
            <a:r>
              <a:rPr kumimoji="1" lang="en-US" altLang="ja-JP" sz="1200" dirty="0">
                <a:solidFill>
                  <a:schemeClr val="tx1"/>
                </a:solidFill>
              </a:rPr>
              <a:t>GM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99" name="正方形/長方形 198">
            <a:extLst>
              <a:ext uri="{FF2B5EF4-FFF2-40B4-BE49-F238E27FC236}">
                <a16:creationId xmlns:a16="http://schemas.microsoft.com/office/drawing/2014/main" id="{7A1DDB75-6234-E27D-63BB-1A0F13B32F48}"/>
              </a:ext>
            </a:extLst>
          </p:cNvPr>
          <p:cNvSpPr/>
          <p:nvPr/>
        </p:nvSpPr>
        <p:spPr>
          <a:xfrm>
            <a:off x="7490543" y="4496092"/>
            <a:ext cx="3506964" cy="776081"/>
          </a:xfrm>
          <a:prstGeom prst="rect">
            <a:avLst/>
          </a:prstGeom>
          <a:solidFill>
            <a:schemeClr val="bg1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ja-JP" altLang="en-US" sz="1100" dirty="0">
                <a:solidFill>
                  <a:schemeClr val="tx1"/>
                </a:solidFill>
                <a:latin typeface="+mj-lt"/>
                <a:ea typeface="+mj-ea"/>
              </a:rPr>
              <a:t>業務検討支援</a:t>
            </a:r>
          </a:p>
        </p:txBody>
      </p:sp>
      <p:sp>
        <p:nvSpPr>
          <p:cNvPr id="200" name="正方形/長方形 199">
            <a:extLst>
              <a:ext uri="{FF2B5EF4-FFF2-40B4-BE49-F238E27FC236}">
                <a16:creationId xmlns:a16="http://schemas.microsoft.com/office/drawing/2014/main" id="{754835D8-30D6-1B85-A003-BBBAE3E057F3}"/>
              </a:ext>
            </a:extLst>
          </p:cNvPr>
          <p:cNvSpPr/>
          <p:nvPr/>
        </p:nvSpPr>
        <p:spPr>
          <a:xfrm>
            <a:off x="7643848" y="4807062"/>
            <a:ext cx="3214950" cy="33017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72000" bIns="54000" rtlCol="0" anchor="ctr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en-US" altLang="ja-JP" sz="1200" dirty="0">
                <a:solidFill>
                  <a:schemeClr val="accent3"/>
                </a:solidFill>
              </a:rPr>
              <a:t>DTPS</a:t>
            </a:r>
            <a:r>
              <a:rPr kumimoji="1" lang="ja-JP" altLang="en-US" sz="1200" dirty="0">
                <a:solidFill>
                  <a:schemeClr val="tx1"/>
                </a:solidFill>
              </a:rPr>
              <a:t> 大熊</a:t>
            </a:r>
            <a:r>
              <a:rPr kumimoji="1" lang="en-US" altLang="ja-JP" sz="1200" dirty="0">
                <a:solidFill>
                  <a:schemeClr val="tx1"/>
                </a:solidFill>
              </a:rPr>
              <a:t>S, </a:t>
            </a:r>
            <a:r>
              <a:rPr kumimoji="1" lang="ja-JP" altLang="en-US" sz="1200" dirty="0">
                <a:solidFill>
                  <a:schemeClr val="tx1"/>
                </a:solidFill>
              </a:rPr>
              <a:t>三嶋</a:t>
            </a:r>
            <a:r>
              <a:rPr kumimoji="1" lang="en-US" altLang="ja-JP" sz="1200" dirty="0">
                <a:solidFill>
                  <a:schemeClr val="tx1"/>
                </a:solidFill>
              </a:rPr>
              <a:t>GM, </a:t>
            </a:r>
            <a:r>
              <a:rPr kumimoji="1" lang="ja-JP" altLang="en-US" sz="1200" dirty="0">
                <a:solidFill>
                  <a:schemeClr val="tx1"/>
                </a:solidFill>
              </a:rPr>
              <a:t>長屋</a:t>
            </a:r>
            <a:r>
              <a:rPr kumimoji="1" lang="en-US" altLang="ja-JP" sz="1200" dirty="0">
                <a:solidFill>
                  <a:schemeClr val="tx1"/>
                </a:solidFill>
              </a:rPr>
              <a:t>GM, </a:t>
            </a:r>
            <a:r>
              <a:rPr kumimoji="1" lang="ja-JP" altLang="en-US" sz="1200" dirty="0">
                <a:solidFill>
                  <a:schemeClr val="tx1"/>
                </a:solidFill>
              </a:rPr>
              <a:t>榊原</a:t>
            </a:r>
            <a:r>
              <a:rPr kumimoji="1" lang="en-US" altLang="ja-JP" sz="1200" dirty="0">
                <a:solidFill>
                  <a:schemeClr val="tx1"/>
                </a:solidFill>
              </a:rPr>
              <a:t>SN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1" name="正方形/長方形 200">
            <a:extLst>
              <a:ext uri="{FF2B5EF4-FFF2-40B4-BE49-F238E27FC236}">
                <a16:creationId xmlns:a16="http://schemas.microsoft.com/office/drawing/2014/main" id="{8438AD39-D098-2411-27EF-8E9C90DA718B}"/>
              </a:ext>
            </a:extLst>
          </p:cNvPr>
          <p:cNvSpPr/>
          <p:nvPr/>
        </p:nvSpPr>
        <p:spPr>
          <a:xfrm>
            <a:off x="7490543" y="5416982"/>
            <a:ext cx="3506964" cy="776081"/>
          </a:xfrm>
          <a:prstGeom prst="rect">
            <a:avLst/>
          </a:prstGeom>
          <a:solidFill>
            <a:schemeClr val="bg1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ja-JP" altLang="en-US" sz="1100" dirty="0">
                <a:solidFill>
                  <a:schemeClr val="tx1"/>
                </a:solidFill>
                <a:latin typeface="+mj-lt"/>
                <a:ea typeface="+mj-ea"/>
              </a:rPr>
              <a:t>後工程</a:t>
            </a:r>
            <a:r>
              <a:rPr kumimoji="1" lang="en-US" altLang="ja-JP" sz="1100" dirty="0">
                <a:solidFill>
                  <a:schemeClr val="tx1"/>
                </a:solidFill>
                <a:latin typeface="+mj-lt"/>
                <a:ea typeface="+mj-ea"/>
              </a:rPr>
              <a:t>(VIN×SWIN</a:t>
            </a:r>
            <a:r>
              <a:rPr kumimoji="1" lang="ja-JP" altLang="en-US" sz="1100" dirty="0">
                <a:solidFill>
                  <a:schemeClr val="tx1"/>
                </a:solidFill>
                <a:latin typeface="+mj-lt"/>
                <a:ea typeface="+mj-ea"/>
              </a:rPr>
              <a:t>対応</a:t>
            </a:r>
            <a:r>
              <a:rPr kumimoji="1" lang="en-US" altLang="ja-JP" sz="1100" dirty="0">
                <a:solidFill>
                  <a:schemeClr val="tx1"/>
                </a:solidFill>
                <a:latin typeface="+mj-lt"/>
                <a:ea typeface="+mj-ea"/>
              </a:rPr>
              <a:t>)</a:t>
            </a:r>
            <a:r>
              <a:rPr kumimoji="1" lang="ja-JP" altLang="en-US" sz="1100" dirty="0">
                <a:solidFill>
                  <a:schemeClr val="tx1"/>
                </a:solidFill>
                <a:latin typeface="+mj-lt"/>
                <a:ea typeface="+mj-ea"/>
              </a:rPr>
              <a:t>検討</a:t>
            </a:r>
            <a:r>
              <a:rPr kumimoji="1" lang="en-US" altLang="ja-JP" sz="1100" dirty="0">
                <a:solidFill>
                  <a:schemeClr val="tx1"/>
                </a:solidFill>
                <a:latin typeface="+mj-lt"/>
                <a:ea typeface="+mj-ea"/>
              </a:rPr>
              <a:t>, </a:t>
            </a:r>
            <a:r>
              <a:rPr kumimoji="1" lang="ja-JP" altLang="en-US" sz="1100" dirty="0">
                <a:solidFill>
                  <a:schemeClr val="tx1"/>
                </a:solidFill>
                <a:latin typeface="+mj-lt"/>
                <a:ea typeface="+mj-ea"/>
              </a:rPr>
              <a:t>連携</a:t>
            </a:r>
          </a:p>
        </p:txBody>
      </p:sp>
      <p:sp>
        <p:nvSpPr>
          <p:cNvPr id="203" name="正方形/長方形 202">
            <a:extLst>
              <a:ext uri="{FF2B5EF4-FFF2-40B4-BE49-F238E27FC236}">
                <a16:creationId xmlns:a16="http://schemas.microsoft.com/office/drawing/2014/main" id="{6C3C450C-BA5D-02FA-D4B7-682F7B0088EC}"/>
              </a:ext>
            </a:extLst>
          </p:cNvPr>
          <p:cNvSpPr/>
          <p:nvPr/>
        </p:nvSpPr>
        <p:spPr>
          <a:xfrm>
            <a:off x="7636550" y="5729785"/>
            <a:ext cx="3214950" cy="3301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72000" bIns="54000" rtlCol="0" anchor="ctr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ja-JP" altLang="en-US" sz="1200" dirty="0">
                <a:solidFill>
                  <a:schemeClr val="accent1"/>
                </a:solidFill>
              </a:rPr>
              <a:t>部品表情報システム部 </a:t>
            </a:r>
            <a:r>
              <a:rPr kumimoji="1" lang="ja-JP" altLang="en-US" sz="1200" dirty="0">
                <a:solidFill>
                  <a:schemeClr val="tx1"/>
                </a:solidFill>
              </a:rPr>
              <a:t>佐藤</a:t>
            </a:r>
            <a:r>
              <a:rPr kumimoji="1" lang="en-US" altLang="ja-JP" sz="1200" dirty="0">
                <a:solidFill>
                  <a:schemeClr val="tx1"/>
                </a:solidFill>
              </a:rPr>
              <a:t>B, </a:t>
            </a:r>
            <a:r>
              <a:rPr kumimoji="1" lang="ja-JP" altLang="en-US" sz="1200" dirty="0">
                <a:solidFill>
                  <a:schemeClr val="tx1"/>
                </a:solidFill>
              </a:rPr>
              <a:t>大江</a:t>
            </a:r>
            <a:r>
              <a:rPr kumimoji="1" lang="en-US" altLang="ja-JP" sz="1200" dirty="0">
                <a:solidFill>
                  <a:schemeClr val="tx1"/>
                </a:solidFill>
              </a:rPr>
              <a:t>GM, </a:t>
            </a:r>
            <a:r>
              <a:rPr kumimoji="1" lang="ja-JP" altLang="en-US" sz="1200" dirty="0">
                <a:solidFill>
                  <a:schemeClr val="tx1"/>
                </a:solidFill>
              </a:rPr>
              <a:t>古田</a:t>
            </a:r>
          </a:p>
        </p:txBody>
      </p:sp>
      <p:sp>
        <p:nvSpPr>
          <p:cNvPr id="204" name="正方形/長方形 203">
            <a:extLst>
              <a:ext uri="{FF2B5EF4-FFF2-40B4-BE49-F238E27FC236}">
                <a16:creationId xmlns:a16="http://schemas.microsoft.com/office/drawing/2014/main" id="{781FA907-5F2B-93B4-4E45-D91613D27A89}"/>
              </a:ext>
            </a:extLst>
          </p:cNvPr>
          <p:cNvSpPr/>
          <p:nvPr/>
        </p:nvSpPr>
        <p:spPr>
          <a:xfrm>
            <a:off x="933632" y="793288"/>
            <a:ext cx="531044" cy="28477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72000" bIns="54000" rtlCol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en-US" altLang="ja-JP" sz="1000" dirty="0">
                <a:solidFill>
                  <a:schemeClr val="tx1"/>
                </a:solidFill>
              </a:rPr>
              <a:t>TS</a:t>
            </a:r>
            <a:endParaRPr kumimoji="1" lang="ja-JP" altLang="en-US" sz="1000" dirty="0">
              <a:solidFill>
                <a:schemeClr val="tx1"/>
              </a:solidFill>
            </a:endParaRPr>
          </a:p>
        </p:txBody>
      </p:sp>
      <p:sp>
        <p:nvSpPr>
          <p:cNvPr id="205" name="正方形/長方形 204">
            <a:extLst>
              <a:ext uri="{FF2B5EF4-FFF2-40B4-BE49-F238E27FC236}">
                <a16:creationId xmlns:a16="http://schemas.microsoft.com/office/drawing/2014/main" id="{8D06C110-2C13-7DA9-D283-CF2FF88FA138}"/>
              </a:ext>
            </a:extLst>
          </p:cNvPr>
          <p:cNvSpPr/>
          <p:nvPr/>
        </p:nvSpPr>
        <p:spPr>
          <a:xfrm>
            <a:off x="340242" y="793288"/>
            <a:ext cx="531044" cy="28477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72000" bIns="54000" rtlCol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en-US" altLang="ja-JP" sz="1000" dirty="0">
                <a:solidFill>
                  <a:schemeClr val="tx1"/>
                </a:solidFill>
              </a:rPr>
              <a:t>TMC</a:t>
            </a:r>
            <a:endParaRPr kumimoji="1" lang="ja-JP" altLang="en-US" sz="1000" dirty="0">
              <a:solidFill>
                <a:schemeClr val="tx1"/>
              </a:solidFill>
            </a:endParaRPr>
          </a:p>
        </p:txBody>
      </p:sp>
      <p:sp>
        <p:nvSpPr>
          <p:cNvPr id="206" name="正方形/長方形 205">
            <a:extLst>
              <a:ext uri="{FF2B5EF4-FFF2-40B4-BE49-F238E27FC236}">
                <a16:creationId xmlns:a16="http://schemas.microsoft.com/office/drawing/2014/main" id="{DF80858E-3ECB-2A37-24D8-B8244E07B822}"/>
              </a:ext>
            </a:extLst>
          </p:cNvPr>
          <p:cNvSpPr/>
          <p:nvPr/>
        </p:nvSpPr>
        <p:spPr>
          <a:xfrm>
            <a:off x="1533182" y="793288"/>
            <a:ext cx="531044" cy="28477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72000" bIns="54000" rtlCol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en-US" altLang="ja-JP" sz="1000" dirty="0">
                <a:solidFill>
                  <a:schemeClr val="tx1"/>
                </a:solidFill>
              </a:rPr>
              <a:t>BP</a:t>
            </a:r>
            <a:endParaRPr kumimoji="1" lang="ja-JP" altLang="en-US" sz="1000" dirty="0">
              <a:solidFill>
                <a:schemeClr val="tx1"/>
              </a:solidFill>
            </a:endParaRPr>
          </a:p>
        </p:txBody>
      </p:sp>
      <p:sp>
        <p:nvSpPr>
          <p:cNvPr id="207" name="正方形/長方形 206">
            <a:extLst>
              <a:ext uri="{FF2B5EF4-FFF2-40B4-BE49-F238E27FC236}">
                <a16:creationId xmlns:a16="http://schemas.microsoft.com/office/drawing/2014/main" id="{03F63466-09E0-74C5-BB32-8DC7F0937677}"/>
              </a:ext>
            </a:extLst>
          </p:cNvPr>
          <p:cNvSpPr/>
          <p:nvPr/>
        </p:nvSpPr>
        <p:spPr>
          <a:xfrm>
            <a:off x="7490543" y="2299779"/>
            <a:ext cx="3506964" cy="776081"/>
          </a:xfrm>
          <a:prstGeom prst="rect">
            <a:avLst/>
          </a:prstGeom>
          <a:solidFill>
            <a:schemeClr val="bg1"/>
          </a:solidFill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ja-JP" altLang="en-US" sz="1100" dirty="0">
                <a:solidFill>
                  <a:schemeClr val="tx1"/>
                </a:solidFill>
                <a:latin typeface="+mj-lt"/>
                <a:ea typeface="+mj-ea"/>
              </a:rPr>
              <a:t>設計側ユーザー</a:t>
            </a:r>
          </a:p>
        </p:txBody>
      </p:sp>
      <p:sp>
        <p:nvSpPr>
          <p:cNvPr id="208" name="正方形/長方形 207">
            <a:extLst>
              <a:ext uri="{FF2B5EF4-FFF2-40B4-BE49-F238E27FC236}">
                <a16:creationId xmlns:a16="http://schemas.microsoft.com/office/drawing/2014/main" id="{F133A189-A147-BF09-69C0-365B68859EE0}"/>
              </a:ext>
            </a:extLst>
          </p:cNvPr>
          <p:cNvSpPr/>
          <p:nvPr/>
        </p:nvSpPr>
        <p:spPr>
          <a:xfrm>
            <a:off x="7643848" y="2610749"/>
            <a:ext cx="3214950" cy="33017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72000" bIns="54000" rtlCol="0" anchor="ctr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en-US" altLang="ja-JP" sz="1200" dirty="0">
                <a:solidFill>
                  <a:schemeClr val="accent3"/>
                </a:solidFill>
              </a:rPr>
              <a:t>ECU, SW</a:t>
            </a:r>
            <a:r>
              <a:rPr kumimoji="1" lang="ja-JP" altLang="en-US" sz="1200" dirty="0">
                <a:solidFill>
                  <a:schemeClr val="accent3"/>
                </a:solidFill>
              </a:rPr>
              <a:t>設計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2" name="正方形/長方形 211">
            <a:extLst>
              <a:ext uri="{FF2B5EF4-FFF2-40B4-BE49-F238E27FC236}">
                <a16:creationId xmlns:a16="http://schemas.microsoft.com/office/drawing/2014/main" id="{AAF80A49-B0F0-6973-1B39-72CD0F6C4834}"/>
              </a:ext>
            </a:extLst>
          </p:cNvPr>
          <p:cNvSpPr/>
          <p:nvPr/>
        </p:nvSpPr>
        <p:spPr>
          <a:xfrm>
            <a:off x="3462270" y="1884512"/>
            <a:ext cx="987144" cy="31632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72000" bIns="54000" rtlCol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ja-JP" altLang="en-US" sz="1200" dirty="0">
                <a:solidFill>
                  <a:schemeClr val="tx1"/>
                </a:solidFill>
              </a:rPr>
              <a:t>大橋</a:t>
            </a:r>
            <a:r>
              <a:rPr kumimoji="1" lang="en-US" altLang="ja-JP" sz="1200" dirty="0">
                <a:solidFill>
                  <a:schemeClr val="tx1"/>
                </a:solidFill>
              </a:rPr>
              <a:t>HB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4" name="正方形/長方形 213">
            <a:extLst>
              <a:ext uri="{FF2B5EF4-FFF2-40B4-BE49-F238E27FC236}">
                <a16:creationId xmlns:a16="http://schemas.microsoft.com/office/drawing/2014/main" id="{8655F54C-838A-91D5-C68E-69AD253E17F0}"/>
              </a:ext>
            </a:extLst>
          </p:cNvPr>
          <p:cNvSpPr/>
          <p:nvPr/>
        </p:nvSpPr>
        <p:spPr>
          <a:xfrm>
            <a:off x="5173595" y="3885725"/>
            <a:ext cx="987144" cy="31632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72000" bIns="54000" rtlCol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en-US" altLang="ja-JP" sz="1200" dirty="0">
                <a:solidFill>
                  <a:schemeClr val="tx1"/>
                </a:solidFill>
              </a:rPr>
              <a:t>TISA</a:t>
            </a:r>
            <a:r>
              <a:rPr kumimoji="1" lang="en-US" altLang="ja-JP" sz="1200" baseline="30000" dirty="0">
                <a:solidFill>
                  <a:schemeClr val="tx2"/>
                </a:solidFill>
              </a:rPr>
              <a:t>※2</a:t>
            </a:r>
            <a:r>
              <a:rPr kumimoji="1" lang="en-US" altLang="ja-JP" sz="1200" dirty="0">
                <a:solidFill>
                  <a:schemeClr val="tx1"/>
                </a:solidFill>
              </a:rPr>
              <a:t> 1</a:t>
            </a:r>
            <a:r>
              <a:rPr kumimoji="1" lang="ja-JP" altLang="en-US" sz="1200" dirty="0">
                <a:solidFill>
                  <a:schemeClr val="tx1"/>
                </a:solidFill>
              </a:rPr>
              <a:t>名</a:t>
            </a:r>
            <a:endParaRPr kumimoji="1" lang="ja-JP" altLang="en-US" sz="1200" baseline="30000" dirty="0">
              <a:solidFill>
                <a:schemeClr val="tx1"/>
              </a:solidFill>
            </a:endParaRPr>
          </a:p>
        </p:txBody>
      </p:sp>
      <p:cxnSp>
        <p:nvCxnSpPr>
          <p:cNvPr id="215" name="コネクタ: カギ線 214">
            <a:extLst>
              <a:ext uri="{FF2B5EF4-FFF2-40B4-BE49-F238E27FC236}">
                <a16:creationId xmlns:a16="http://schemas.microsoft.com/office/drawing/2014/main" id="{967882A3-2899-58AA-0D1C-350753922FB0}"/>
              </a:ext>
            </a:extLst>
          </p:cNvPr>
          <p:cNvCxnSpPr>
            <a:cxnSpLocks/>
            <a:stCxn id="118" idx="2"/>
            <a:endCxn id="214" idx="0"/>
          </p:cNvCxnSpPr>
          <p:nvPr/>
        </p:nvCxnSpPr>
        <p:spPr>
          <a:xfrm rot="16200000" flipH="1">
            <a:off x="4726909" y="2945467"/>
            <a:ext cx="169188" cy="1711327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8" name="テキスト ボックス 217">
            <a:extLst>
              <a:ext uri="{FF2B5EF4-FFF2-40B4-BE49-F238E27FC236}">
                <a16:creationId xmlns:a16="http://schemas.microsoft.com/office/drawing/2014/main" id="{A53483DB-29C1-2722-BFFD-4A3ADCE4B4CB}"/>
              </a:ext>
            </a:extLst>
          </p:cNvPr>
          <p:cNvSpPr txBox="1"/>
          <p:nvPr/>
        </p:nvSpPr>
        <p:spPr>
          <a:xfrm>
            <a:off x="1425758" y="1501140"/>
            <a:ext cx="299762" cy="307777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kumimoji="1" lang="en-US" altLang="ja-JP" sz="1400" dirty="0">
                <a:solidFill>
                  <a:schemeClr val="accent3"/>
                </a:solidFill>
                <a:latin typeface="+mj-lt"/>
                <a:ea typeface="+mj-ea"/>
              </a:rPr>
              <a:t>DIT</a:t>
            </a:r>
            <a:endParaRPr kumimoji="1" lang="ja-JP" altLang="en-US" sz="1400" dirty="0">
              <a:solidFill>
                <a:schemeClr val="accent3"/>
              </a:solidFill>
              <a:latin typeface="+mj-lt"/>
              <a:ea typeface="+mj-ea"/>
            </a:endParaRPr>
          </a:p>
        </p:txBody>
      </p:sp>
      <p:sp>
        <p:nvSpPr>
          <p:cNvPr id="219" name="テキスト ボックス 218">
            <a:extLst>
              <a:ext uri="{FF2B5EF4-FFF2-40B4-BE49-F238E27FC236}">
                <a16:creationId xmlns:a16="http://schemas.microsoft.com/office/drawing/2014/main" id="{8FD6F2F2-B95A-EE8A-5808-414974CFD708}"/>
              </a:ext>
            </a:extLst>
          </p:cNvPr>
          <p:cNvSpPr txBox="1"/>
          <p:nvPr/>
        </p:nvSpPr>
        <p:spPr>
          <a:xfrm>
            <a:off x="3462268" y="1501140"/>
            <a:ext cx="1256754" cy="307777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kumimoji="1" lang="ja-JP" altLang="en-US" sz="1400" dirty="0">
                <a:solidFill>
                  <a:schemeClr val="accent1"/>
                </a:solidFill>
                <a:latin typeface="+mj-lt"/>
                <a:ea typeface="+mj-ea"/>
              </a:rPr>
              <a:t>電技改革支援部</a:t>
            </a:r>
          </a:p>
        </p:txBody>
      </p:sp>
      <p:cxnSp>
        <p:nvCxnSpPr>
          <p:cNvPr id="220" name="直線コネクタ 219">
            <a:extLst>
              <a:ext uri="{FF2B5EF4-FFF2-40B4-BE49-F238E27FC236}">
                <a16:creationId xmlns:a16="http://schemas.microsoft.com/office/drawing/2014/main" id="{DFADF5B2-68C4-BFFA-5088-8264C458056F}"/>
              </a:ext>
            </a:extLst>
          </p:cNvPr>
          <p:cNvCxnSpPr>
            <a:cxnSpLocks/>
            <a:stCxn id="212" idx="2"/>
            <a:endCxn id="121" idx="0"/>
          </p:cNvCxnSpPr>
          <p:nvPr/>
        </p:nvCxnSpPr>
        <p:spPr>
          <a:xfrm>
            <a:off x="3955842" y="2200833"/>
            <a:ext cx="0" cy="1822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10900B22-8695-D89E-023E-2AEAEC0E3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85899-07DC-4708-B5DD-A200CEE14CAD}" type="slidenum">
              <a:rPr kumimoji="1" lang="ja-JP" altLang="en-US" smtClean="0"/>
              <a:t>13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047869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41860A7-3BCC-4847-2C4B-67D3A2A7B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ご契約内容・お見積り</a:t>
            </a:r>
          </a:p>
        </p:txBody>
      </p:sp>
      <p:graphicFrame>
        <p:nvGraphicFramePr>
          <p:cNvPr id="5" name="表 4">
            <a:extLst>
              <a:ext uri="{FF2B5EF4-FFF2-40B4-BE49-F238E27FC236}">
                <a16:creationId xmlns:a16="http://schemas.microsoft.com/office/drawing/2014/main" id="{D1195EC8-5318-E166-9C1B-E399B73D42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553831"/>
              </p:ext>
            </p:extLst>
          </p:nvPr>
        </p:nvGraphicFramePr>
        <p:xfrm>
          <a:off x="7015267" y="1345699"/>
          <a:ext cx="3917355" cy="3016727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73793">
                  <a:extLst>
                    <a:ext uri="{9D8B030D-6E8A-4147-A177-3AD203B41FA5}">
                      <a16:colId xmlns:a16="http://schemas.microsoft.com/office/drawing/2014/main" val="1312301205"/>
                    </a:ext>
                  </a:extLst>
                </a:gridCol>
                <a:gridCol w="673793">
                  <a:extLst>
                    <a:ext uri="{9D8B030D-6E8A-4147-A177-3AD203B41FA5}">
                      <a16:colId xmlns:a16="http://schemas.microsoft.com/office/drawing/2014/main" val="2039492990"/>
                    </a:ext>
                  </a:extLst>
                </a:gridCol>
                <a:gridCol w="826059">
                  <a:extLst>
                    <a:ext uri="{9D8B030D-6E8A-4147-A177-3AD203B41FA5}">
                      <a16:colId xmlns:a16="http://schemas.microsoft.com/office/drawing/2014/main" val="2197032166"/>
                    </a:ext>
                  </a:extLst>
                </a:gridCol>
                <a:gridCol w="778192">
                  <a:extLst>
                    <a:ext uri="{9D8B030D-6E8A-4147-A177-3AD203B41FA5}">
                      <a16:colId xmlns:a16="http://schemas.microsoft.com/office/drawing/2014/main" val="2343113309"/>
                    </a:ext>
                  </a:extLst>
                </a:gridCol>
                <a:gridCol w="965518">
                  <a:extLst>
                    <a:ext uri="{9D8B030D-6E8A-4147-A177-3AD203B41FA5}">
                      <a16:colId xmlns:a16="http://schemas.microsoft.com/office/drawing/2014/main" val="16514328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endParaRPr kumimoji="1" lang="ja-JP" altLang="en-US" sz="1050" b="0" baseline="0" dirty="0">
                        <a:latin typeface="+mj-lt"/>
                        <a:ea typeface="+mj-ea"/>
                      </a:endParaRPr>
                    </a:p>
                  </a:txBody>
                  <a:tcPr marT="72000" marB="7200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kumimoji="1" lang="ja-JP" altLang="en-US" sz="1050" b="0" baseline="0" dirty="0">
                          <a:latin typeface="+mj-lt"/>
                          <a:ea typeface="+mj-ea"/>
                        </a:rPr>
                        <a:t>ランク</a:t>
                      </a:r>
                    </a:p>
                  </a:txBody>
                  <a:tcPr marT="72000" marB="72000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kumimoji="1" lang="ja-JP" altLang="en-US" sz="1050" b="0" baseline="0" dirty="0">
                          <a:latin typeface="+mj-lt"/>
                          <a:ea typeface="+mj-ea"/>
                        </a:rPr>
                        <a:t>単価 </a:t>
                      </a:r>
                      <a:r>
                        <a:rPr kumimoji="1" lang="en-US" altLang="ja-JP" sz="800" b="0" baseline="0" dirty="0">
                          <a:latin typeface="+mj-lt"/>
                          <a:ea typeface="+mj-ea"/>
                        </a:rPr>
                        <a:t>(</a:t>
                      </a:r>
                      <a:r>
                        <a:rPr kumimoji="1" lang="ja-JP" altLang="en-US" sz="800" b="0" baseline="0" dirty="0">
                          <a:latin typeface="+mj-lt"/>
                          <a:ea typeface="+mj-ea"/>
                        </a:rPr>
                        <a:t>千円</a:t>
                      </a:r>
                      <a:r>
                        <a:rPr kumimoji="1" lang="en-US" altLang="ja-JP" sz="800" b="0" baseline="0" dirty="0">
                          <a:latin typeface="+mj-lt"/>
                          <a:ea typeface="+mj-ea"/>
                        </a:rPr>
                        <a:t>/</a:t>
                      </a:r>
                      <a:r>
                        <a:rPr kumimoji="1" lang="ja-JP" altLang="en-US" sz="800" b="0" baseline="0" dirty="0">
                          <a:latin typeface="+mj-lt"/>
                          <a:ea typeface="+mj-ea"/>
                        </a:rPr>
                        <a:t>人月</a:t>
                      </a:r>
                      <a:r>
                        <a:rPr kumimoji="1" lang="en-US" altLang="ja-JP" sz="800" b="0" baseline="0" dirty="0">
                          <a:latin typeface="+mj-lt"/>
                          <a:ea typeface="+mj-ea"/>
                        </a:rPr>
                        <a:t>)</a:t>
                      </a:r>
                      <a:endParaRPr kumimoji="1" lang="ja-JP" altLang="en-US" sz="1050" b="0" baseline="0" dirty="0">
                        <a:latin typeface="+mj-lt"/>
                        <a:ea typeface="+mj-ea"/>
                      </a:endParaRPr>
                    </a:p>
                  </a:txBody>
                  <a:tcPr marT="72000" marB="72000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kumimoji="1" lang="ja-JP" altLang="en-US" sz="1050" b="0" baseline="0" dirty="0">
                          <a:latin typeface="+mj-lt"/>
                          <a:ea typeface="+mj-ea"/>
                        </a:rPr>
                        <a:t>工数 </a:t>
                      </a:r>
                      <a:r>
                        <a:rPr kumimoji="1" lang="en-US" altLang="ja-JP" sz="800" b="0" baseline="0" dirty="0">
                          <a:latin typeface="+mj-lt"/>
                          <a:ea typeface="+mj-ea"/>
                        </a:rPr>
                        <a:t>(</a:t>
                      </a:r>
                      <a:r>
                        <a:rPr kumimoji="1" lang="ja-JP" altLang="en-US" sz="800" b="0" baseline="0" dirty="0">
                          <a:latin typeface="+mj-lt"/>
                          <a:ea typeface="+mj-ea"/>
                        </a:rPr>
                        <a:t>人月</a:t>
                      </a:r>
                      <a:r>
                        <a:rPr kumimoji="1" lang="en-US" altLang="ja-JP" sz="800" b="0" baseline="0" dirty="0">
                          <a:latin typeface="+mj-lt"/>
                          <a:ea typeface="+mj-ea"/>
                        </a:rPr>
                        <a:t>)</a:t>
                      </a:r>
                      <a:endParaRPr kumimoji="1" lang="ja-JP" altLang="en-US" sz="1050" b="0" baseline="0" dirty="0">
                        <a:latin typeface="+mj-lt"/>
                        <a:ea typeface="+mj-ea"/>
                      </a:endParaRPr>
                    </a:p>
                  </a:txBody>
                  <a:tcPr marT="72000" marB="72000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kumimoji="1" lang="ja-JP" altLang="en-US" sz="1050" b="0" baseline="0" dirty="0">
                          <a:latin typeface="+mj-lt"/>
                          <a:ea typeface="+mj-ea"/>
                        </a:rPr>
                        <a:t>金額 </a:t>
                      </a:r>
                      <a:r>
                        <a:rPr kumimoji="1" lang="en-US" altLang="ja-JP" sz="800" b="0" baseline="0" dirty="0">
                          <a:latin typeface="+mj-lt"/>
                          <a:ea typeface="+mj-ea"/>
                        </a:rPr>
                        <a:t>(</a:t>
                      </a:r>
                      <a:r>
                        <a:rPr kumimoji="1" lang="ja-JP" altLang="en-US" sz="800" b="0" baseline="0" dirty="0">
                          <a:latin typeface="+mj-lt"/>
                          <a:ea typeface="+mj-ea"/>
                        </a:rPr>
                        <a:t>千円</a:t>
                      </a:r>
                      <a:r>
                        <a:rPr kumimoji="1" lang="en-US" altLang="ja-JP" sz="800" b="0" baseline="0" dirty="0">
                          <a:latin typeface="+mj-lt"/>
                          <a:ea typeface="+mj-ea"/>
                        </a:rPr>
                        <a:t>)</a:t>
                      </a:r>
                      <a:endParaRPr kumimoji="1" lang="ja-JP" altLang="en-US" sz="1050" b="0" baseline="0" dirty="0">
                        <a:latin typeface="+mj-lt"/>
                        <a:ea typeface="+mj-ea"/>
                      </a:endParaRPr>
                    </a:p>
                  </a:txBody>
                  <a:tcPr marT="72000" marB="72000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25612"/>
                  </a:ext>
                </a:extLst>
              </a:tr>
              <a:tr h="0">
                <a:tc rowSpan="6"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kumimoji="1" lang="ja-JP" altLang="en-US" sz="1100" dirty="0"/>
                        <a:t>要員</a:t>
                      </a:r>
                    </a:p>
                  </a:txBody>
                  <a:tcPr marT="72000" marB="72000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kumimoji="1" lang="ja-JP" altLang="en-US" sz="1100" dirty="0"/>
                        <a:t>上級</a:t>
                      </a:r>
                      <a:r>
                        <a:rPr kumimoji="1" lang="en-US" altLang="ja-JP" sz="1100" dirty="0"/>
                        <a:t>PM</a:t>
                      </a:r>
                      <a:endParaRPr kumimoji="1" lang="ja-JP" altLang="en-US" sz="1100" dirty="0"/>
                    </a:p>
                  </a:txBody>
                  <a:tcPr marT="72000" marB="7200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0000"/>
                        </a:lnSpc>
                      </a:pPr>
                      <a:r>
                        <a:rPr kumimoji="1" lang="en-US" altLang="ja-JP" sz="1100" dirty="0"/>
                        <a:t>1,920</a:t>
                      </a:r>
                      <a:endParaRPr kumimoji="1" lang="ja-JP" altLang="en-US" sz="1100" dirty="0"/>
                    </a:p>
                  </a:txBody>
                  <a:tcPr marT="72000" marB="7200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0000"/>
                        </a:lnSpc>
                      </a:pPr>
                      <a:r>
                        <a:rPr kumimoji="1" lang="en-US" altLang="ja-JP" sz="1100" dirty="0"/>
                        <a:t>1.45</a:t>
                      </a:r>
                      <a:endParaRPr kumimoji="1" lang="ja-JP" altLang="en-US" sz="1100" dirty="0"/>
                    </a:p>
                  </a:txBody>
                  <a:tcPr marT="72000" marB="7200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0000"/>
                        </a:lnSpc>
                      </a:pPr>
                      <a:r>
                        <a:rPr kumimoji="1" lang="en-US" altLang="ja-JP" sz="1100" dirty="0"/>
                        <a:t>2,784</a:t>
                      </a:r>
                      <a:endParaRPr kumimoji="1" lang="ja-JP" altLang="en-US" sz="1100" dirty="0"/>
                    </a:p>
                  </a:txBody>
                  <a:tcPr marT="72000" marB="7200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14335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endParaRPr kumimoji="1" lang="ja-JP" altLang="en-US" sz="1100" dirty="0"/>
                    </a:p>
                  </a:txBody>
                  <a:tcPr marT="72000" marB="7200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kumimoji="1" lang="ja-JP" altLang="en-US" sz="1100" dirty="0"/>
                        <a:t>初級</a:t>
                      </a:r>
                      <a:r>
                        <a:rPr kumimoji="1" lang="en-US" altLang="ja-JP" sz="1100" dirty="0"/>
                        <a:t>PM</a:t>
                      </a:r>
                      <a:endParaRPr kumimoji="1" lang="ja-JP" altLang="en-US" sz="1100" dirty="0"/>
                    </a:p>
                  </a:txBody>
                  <a:tcPr marT="72000" marB="7200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0000"/>
                        </a:lnSpc>
                      </a:pPr>
                      <a:r>
                        <a:rPr kumimoji="1" lang="en-US" altLang="ja-JP" sz="1100" dirty="0"/>
                        <a:t>1,600</a:t>
                      </a:r>
                      <a:endParaRPr kumimoji="1" lang="ja-JP" altLang="en-US" sz="1100" dirty="0"/>
                    </a:p>
                  </a:txBody>
                  <a:tcPr marT="72000" marB="7200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0000"/>
                        </a:lnSpc>
                      </a:pPr>
                      <a:r>
                        <a:rPr kumimoji="1" lang="en-US" altLang="ja-JP" sz="1100" dirty="0"/>
                        <a:t>0.30</a:t>
                      </a:r>
                      <a:endParaRPr kumimoji="1" lang="ja-JP" altLang="en-US" sz="1100" dirty="0"/>
                    </a:p>
                  </a:txBody>
                  <a:tcPr marT="72000" marB="7200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0000"/>
                        </a:lnSpc>
                      </a:pPr>
                      <a:r>
                        <a:rPr kumimoji="1" lang="en-US" altLang="ja-JP" sz="1100" dirty="0"/>
                        <a:t>480</a:t>
                      </a:r>
                      <a:endParaRPr kumimoji="1" lang="ja-JP" altLang="en-US" sz="1100" dirty="0"/>
                    </a:p>
                  </a:txBody>
                  <a:tcPr marT="72000" marB="7200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073203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endParaRPr kumimoji="1" lang="ja-JP" altLang="en-US" sz="1100" dirty="0"/>
                    </a:p>
                  </a:txBody>
                  <a:tcPr marT="72000" marB="7200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kumimoji="1" lang="ja-JP" altLang="en-US" sz="1100" dirty="0"/>
                        <a:t>上級</a:t>
                      </a:r>
                      <a:r>
                        <a:rPr kumimoji="1" lang="en-US" altLang="ja-JP" sz="1100" dirty="0"/>
                        <a:t>SA</a:t>
                      </a:r>
                      <a:endParaRPr kumimoji="1" lang="ja-JP" altLang="en-US" sz="1100" dirty="0"/>
                    </a:p>
                  </a:txBody>
                  <a:tcPr marT="72000" marB="7200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0000"/>
                        </a:lnSpc>
                      </a:pPr>
                      <a:r>
                        <a:rPr kumimoji="1" lang="en-US" altLang="ja-JP" sz="1100" dirty="0"/>
                        <a:t>1,920</a:t>
                      </a:r>
                      <a:endParaRPr kumimoji="1" lang="ja-JP" altLang="en-US" sz="1100" dirty="0"/>
                    </a:p>
                  </a:txBody>
                  <a:tcPr marT="72000" marB="7200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0000"/>
                        </a:lnSpc>
                      </a:pPr>
                      <a:r>
                        <a:rPr kumimoji="1" lang="en-US" altLang="ja-JP" sz="1100" dirty="0"/>
                        <a:t>3.30</a:t>
                      </a:r>
                      <a:endParaRPr kumimoji="1" lang="ja-JP" altLang="en-US" sz="1100" dirty="0"/>
                    </a:p>
                  </a:txBody>
                  <a:tcPr marT="72000" marB="7200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100" dirty="0"/>
                        <a:t>6,336</a:t>
                      </a:r>
                      <a:endParaRPr kumimoji="1" lang="ja-JP" altLang="en-US" sz="1100" dirty="0"/>
                    </a:p>
                  </a:txBody>
                  <a:tcPr marT="72000" marB="7200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336592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endParaRPr kumimoji="1" lang="ja-JP" altLang="en-US" sz="1100" dirty="0"/>
                    </a:p>
                  </a:txBody>
                  <a:tcPr marT="72000" marB="7200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kumimoji="1" lang="ja-JP" altLang="en-US" sz="1100" dirty="0"/>
                        <a:t>初級</a:t>
                      </a:r>
                      <a:r>
                        <a:rPr kumimoji="1" lang="en-US" altLang="ja-JP" sz="1100" dirty="0"/>
                        <a:t>SA</a:t>
                      </a:r>
                      <a:endParaRPr kumimoji="1" lang="ja-JP" altLang="en-US" sz="1100" dirty="0"/>
                    </a:p>
                  </a:txBody>
                  <a:tcPr marT="72000" marB="7200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0000"/>
                        </a:lnSpc>
                      </a:pPr>
                      <a:r>
                        <a:rPr kumimoji="1" lang="en-US" altLang="ja-JP" sz="1100" dirty="0"/>
                        <a:t>1,600</a:t>
                      </a:r>
                      <a:endParaRPr kumimoji="1" lang="ja-JP" altLang="en-US" sz="1100" dirty="0"/>
                    </a:p>
                  </a:txBody>
                  <a:tcPr marT="72000" marB="7200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0000"/>
                        </a:lnSpc>
                      </a:pPr>
                      <a:r>
                        <a:rPr kumimoji="1" lang="en-US" altLang="ja-JP" sz="1100" dirty="0"/>
                        <a:t>16.20</a:t>
                      </a:r>
                      <a:endParaRPr kumimoji="1" lang="ja-JP" altLang="en-US" sz="1100" dirty="0"/>
                    </a:p>
                  </a:txBody>
                  <a:tcPr marT="72000" marB="7200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0000"/>
                        </a:lnSpc>
                      </a:pPr>
                      <a:r>
                        <a:rPr kumimoji="1" lang="en-US" altLang="ja-JP" sz="1100" dirty="0"/>
                        <a:t>25,920</a:t>
                      </a:r>
                      <a:endParaRPr kumimoji="1" lang="ja-JP" altLang="en-US" sz="1100" dirty="0"/>
                    </a:p>
                  </a:txBody>
                  <a:tcPr marT="72000" marB="7200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303320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endParaRPr kumimoji="1" lang="ja-JP" altLang="en-US" sz="1100" dirty="0"/>
                    </a:p>
                  </a:txBody>
                  <a:tcPr marT="72000" marB="7200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kumimoji="1" lang="ja-JP" altLang="en-US" sz="1100" dirty="0"/>
                        <a:t>上級</a:t>
                      </a:r>
                      <a:r>
                        <a:rPr kumimoji="1" lang="en-US" altLang="ja-JP" sz="1100" dirty="0"/>
                        <a:t>SE</a:t>
                      </a:r>
                      <a:endParaRPr kumimoji="1" lang="ja-JP" altLang="en-US" sz="1100" dirty="0"/>
                    </a:p>
                  </a:txBody>
                  <a:tcPr marT="72000" marB="7200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0000"/>
                        </a:lnSpc>
                      </a:pPr>
                      <a:r>
                        <a:rPr kumimoji="1" lang="en-US" altLang="ja-JP" sz="1100" dirty="0"/>
                        <a:t>1,380</a:t>
                      </a:r>
                      <a:endParaRPr kumimoji="1" lang="ja-JP" altLang="en-US" sz="1100" dirty="0"/>
                    </a:p>
                  </a:txBody>
                  <a:tcPr marT="72000" marB="7200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0000"/>
                        </a:lnSpc>
                      </a:pPr>
                      <a:r>
                        <a:rPr kumimoji="1" lang="en-US" altLang="ja-JP" sz="1100" dirty="0"/>
                        <a:t>1.80</a:t>
                      </a:r>
                      <a:endParaRPr kumimoji="1" lang="ja-JP" altLang="en-US" sz="1100" dirty="0"/>
                    </a:p>
                  </a:txBody>
                  <a:tcPr marT="72000" marB="7200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0000"/>
                        </a:lnSpc>
                      </a:pPr>
                      <a:r>
                        <a:rPr kumimoji="1" lang="en-US" altLang="ja-JP" sz="1100" dirty="0"/>
                        <a:t>2,484</a:t>
                      </a:r>
                      <a:endParaRPr kumimoji="1" lang="ja-JP" altLang="en-US" sz="1100" dirty="0"/>
                    </a:p>
                  </a:txBody>
                  <a:tcPr marT="72000" marB="7200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154370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endParaRPr kumimoji="1" lang="ja-JP" altLang="en-US" sz="1100" dirty="0"/>
                    </a:p>
                  </a:txBody>
                  <a:tcPr marT="72000" marB="7200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kumimoji="1" lang="ja-JP" altLang="en-US" sz="1100" dirty="0"/>
                        <a:t>初級</a:t>
                      </a:r>
                      <a:r>
                        <a:rPr kumimoji="1" lang="en-US" altLang="ja-JP" sz="1100" dirty="0"/>
                        <a:t>SE</a:t>
                      </a:r>
                      <a:endParaRPr kumimoji="1" lang="ja-JP" altLang="en-US" sz="1100" dirty="0"/>
                    </a:p>
                  </a:txBody>
                  <a:tcPr marT="72000" marB="7200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0000"/>
                        </a:lnSpc>
                      </a:pPr>
                      <a:r>
                        <a:rPr kumimoji="1" lang="en-US" altLang="ja-JP" sz="1100" dirty="0"/>
                        <a:t>1,140</a:t>
                      </a:r>
                      <a:endParaRPr kumimoji="1" lang="ja-JP" altLang="en-US" sz="1100" dirty="0"/>
                    </a:p>
                  </a:txBody>
                  <a:tcPr marT="72000" marB="7200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0000"/>
                        </a:lnSpc>
                      </a:pPr>
                      <a:r>
                        <a:rPr kumimoji="1" lang="en-US" altLang="ja-JP" sz="1100" dirty="0"/>
                        <a:t>5.40</a:t>
                      </a:r>
                      <a:endParaRPr kumimoji="1" lang="ja-JP" altLang="en-US" sz="1100" dirty="0"/>
                    </a:p>
                  </a:txBody>
                  <a:tcPr marT="72000" marB="7200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0000"/>
                        </a:lnSpc>
                      </a:pPr>
                      <a:r>
                        <a:rPr kumimoji="1" lang="en-US" altLang="ja-JP" sz="1100" dirty="0"/>
                        <a:t>6,156</a:t>
                      </a:r>
                      <a:endParaRPr kumimoji="1" lang="ja-JP" altLang="en-US" sz="1100" dirty="0"/>
                    </a:p>
                  </a:txBody>
                  <a:tcPr marT="72000" marB="7200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5041382"/>
                  </a:ext>
                </a:extLst>
              </a:tr>
              <a:tr h="0">
                <a:tc gridSpan="4"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kumimoji="1" lang="ja-JP" altLang="en-US" sz="1100" dirty="0"/>
                        <a:t>経費 </a:t>
                      </a:r>
                      <a:r>
                        <a:rPr kumimoji="1" lang="en-US" altLang="ja-JP" sz="800" baseline="0" dirty="0">
                          <a:solidFill>
                            <a:schemeClr val="tx2"/>
                          </a:solidFill>
                          <a:latin typeface="+mn-lt"/>
                          <a:ea typeface="+mn-ea"/>
                        </a:rPr>
                        <a:t>(GitHub, Claude, Figma, </a:t>
                      </a:r>
                      <a:r>
                        <a:rPr kumimoji="1" lang="ja-JP" altLang="en-US" sz="800" baseline="0" dirty="0">
                          <a:solidFill>
                            <a:schemeClr val="tx2"/>
                          </a:solidFill>
                          <a:latin typeface="+mn-lt"/>
                          <a:ea typeface="+mn-ea"/>
                        </a:rPr>
                        <a:t>会議交通費</a:t>
                      </a:r>
                      <a:r>
                        <a:rPr kumimoji="1" lang="en-US" altLang="ja-JP" sz="800" baseline="0" dirty="0">
                          <a:solidFill>
                            <a:schemeClr val="tx2"/>
                          </a:solidFill>
                          <a:latin typeface="+mn-lt"/>
                          <a:ea typeface="+mn-ea"/>
                        </a:rPr>
                        <a:t>)</a:t>
                      </a:r>
                      <a:endParaRPr kumimoji="1" lang="ja-JP" altLang="en-US" sz="1100" baseline="0" dirty="0">
                        <a:solidFill>
                          <a:schemeClr val="tx2"/>
                        </a:solidFill>
                        <a:latin typeface="+mn-lt"/>
                        <a:ea typeface="+mn-ea"/>
                      </a:endParaRPr>
                    </a:p>
                  </a:txBody>
                  <a:tcPr marT="72000" marB="72000"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endParaRPr kumimoji="1" lang="ja-JP" altLang="en-US" sz="1100" dirty="0"/>
                    </a:p>
                  </a:txBody>
                  <a:tcPr marT="72000" marB="72000"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>
                        <a:lnSpc>
                          <a:spcPct val="110000"/>
                        </a:lnSpc>
                      </a:pPr>
                      <a:endParaRPr kumimoji="1" lang="ja-JP" altLang="en-US" sz="1100" dirty="0"/>
                    </a:p>
                  </a:txBody>
                  <a:tcPr marT="72000" marB="72000"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>
                        <a:lnSpc>
                          <a:spcPct val="110000"/>
                        </a:lnSpc>
                      </a:pPr>
                      <a:endParaRPr kumimoji="1" lang="ja-JP" altLang="en-US" sz="1100" dirty="0"/>
                    </a:p>
                  </a:txBody>
                  <a:tcPr marT="72000" marB="7200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0000"/>
                        </a:lnSpc>
                      </a:pPr>
                      <a:r>
                        <a:rPr kumimoji="1" lang="en-US" altLang="ja-JP" sz="1100" dirty="0"/>
                        <a:t>638</a:t>
                      </a:r>
                      <a:endParaRPr kumimoji="1" lang="ja-JP" altLang="en-US" sz="1100" dirty="0"/>
                    </a:p>
                  </a:txBody>
                  <a:tcPr marT="72000" marB="7200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5889031"/>
                  </a:ext>
                </a:extLst>
              </a:tr>
              <a:tr h="0">
                <a:tc gridSpan="3"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kumimoji="1" lang="ja-JP" altLang="en-US" sz="1400" b="0" baseline="0" dirty="0">
                          <a:latin typeface="+mj-lt"/>
                          <a:ea typeface="+mj-ea"/>
                        </a:rPr>
                        <a:t>合計</a:t>
                      </a:r>
                    </a:p>
                  </a:txBody>
                  <a:tcPr marT="72000" marB="72000"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T="72000" marB="72000"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>
                        <a:lnSpc>
                          <a:spcPct val="110000"/>
                        </a:lnSpc>
                      </a:pPr>
                      <a:endParaRPr kumimoji="1" lang="ja-JP" altLang="en-US" sz="1400" dirty="0"/>
                    </a:p>
                  </a:txBody>
                  <a:tcPr marT="108000" marB="10800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0000"/>
                        </a:lnSpc>
                      </a:pPr>
                      <a:r>
                        <a:rPr kumimoji="1" lang="en-US" altLang="ja-JP" sz="1400" b="0" baseline="0" dirty="0">
                          <a:latin typeface="+mj-lt"/>
                          <a:ea typeface="+mj-ea"/>
                        </a:rPr>
                        <a:t>28.45</a:t>
                      </a:r>
                      <a:endParaRPr kumimoji="1" lang="ja-JP" altLang="en-US" sz="1400" b="0" baseline="0" dirty="0">
                        <a:latin typeface="+mj-lt"/>
                        <a:ea typeface="+mj-ea"/>
                      </a:endParaRPr>
                    </a:p>
                  </a:txBody>
                  <a:tcPr marT="72000" marB="7200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0000"/>
                        </a:lnSpc>
                      </a:pPr>
                      <a:r>
                        <a:rPr kumimoji="1" lang="en-US" altLang="ja-JP" sz="1400" b="0" baseline="0" dirty="0">
                          <a:latin typeface="+mj-lt"/>
                          <a:ea typeface="+mj-ea"/>
                        </a:rPr>
                        <a:t>44,798</a:t>
                      </a:r>
                      <a:endParaRPr kumimoji="1" lang="ja-JP" altLang="en-US" sz="1400" b="0" baseline="0" dirty="0">
                        <a:latin typeface="+mj-lt"/>
                        <a:ea typeface="+mj-ea"/>
                      </a:endParaRPr>
                    </a:p>
                  </a:txBody>
                  <a:tcPr marT="72000" marB="7200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829108"/>
                  </a:ext>
                </a:extLst>
              </a:tr>
            </a:tbl>
          </a:graphicData>
        </a:graphic>
      </p:graphicFrame>
      <p:graphicFrame>
        <p:nvGraphicFramePr>
          <p:cNvPr id="6" name="表 5">
            <a:extLst>
              <a:ext uri="{FF2B5EF4-FFF2-40B4-BE49-F238E27FC236}">
                <a16:creationId xmlns:a16="http://schemas.microsoft.com/office/drawing/2014/main" id="{A48B17B5-E747-23F1-3449-87F231C9C6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1380"/>
              </p:ext>
            </p:extLst>
          </p:nvPr>
        </p:nvGraphicFramePr>
        <p:xfrm>
          <a:off x="521269" y="995289"/>
          <a:ext cx="5276567" cy="362539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94887">
                  <a:extLst>
                    <a:ext uri="{9D8B030D-6E8A-4147-A177-3AD203B41FA5}">
                      <a16:colId xmlns:a16="http://schemas.microsoft.com/office/drawing/2014/main" val="2039492990"/>
                    </a:ext>
                  </a:extLst>
                </a:gridCol>
                <a:gridCol w="4381680">
                  <a:extLst>
                    <a:ext uri="{9D8B030D-6E8A-4147-A177-3AD203B41FA5}">
                      <a16:colId xmlns:a16="http://schemas.microsoft.com/office/drawing/2014/main" val="2197032166"/>
                    </a:ext>
                  </a:extLst>
                </a:gridCol>
              </a:tblGrid>
              <a:tr h="297046">
                <a:tc>
                  <a:txBody>
                    <a:bodyPr/>
                    <a:lstStyle/>
                    <a:p>
                      <a:pPr algn="r">
                        <a:lnSpc>
                          <a:spcPct val="110000"/>
                        </a:lnSpc>
                      </a:pPr>
                      <a:r>
                        <a:rPr kumimoji="1" lang="ja-JP" altLang="en-US" sz="1400" b="0" i="0" baseline="0" dirty="0">
                          <a:solidFill>
                            <a:schemeClr val="tx2"/>
                          </a:solidFill>
                          <a:latin typeface="+mj-lt"/>
                          <a:ea typeface="+mj-ea"/>
                        </a:rPr>
                        <a:t>前提条件</a:t>
                      </a:r>
                    </a:p>
                  </a:txBody>
                  <a:tcPr marL="72000" marR="72000" marT="108000" marB="108000"/>
                </a:tc>
                <a:tc>
                  <a:txBody>
                    <a:bodyPr/>
                    <a:lstStyle/>
                    <a:p>
                      <a:pPr marL="182563" indent="-182563" algn="l">
                        <a:lnSpc>
                          <a:spcPct val="11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kumimoji="1" lang="ja-JP" altLang="en-US" sz="1400" dirty="0"/>
                        <a:t>必要に応じて、作業で使用するデータや環境等をご提供いただけるものとします。</a:t>
                      </a:r>
                    </a:p>
                    <a:p>
                      <a:pPr marL="182563" indent="-182563" algn="l">
                        <a:lnSpc>
                          <a:spcPct val="11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kumimoji="1" lang="ja-JP" altLang="en-US" sz="1400" dirty="0"/>
                        <a:t>プロジェクト状況によって、作業優先度が前後する場合は、計画の見直しをさせていただけるものとします。</a:t>
                      </a:r>
                    </a:p>
                  </a:txBody>
                  <a:tcPr marL="72000" marR="72000" marT="108000" marB="108000"/>
                </a:tc>
                <a:extLst>
                  <a:ext uri="{0D108BD9-81ED-4DB2-BD59-A6C34878D82A}">
                    <a16:rowId xmlns:a16="http://schemas.microsoft.com/office/drawing/2014/main" val="2558487371"/>
                  </a:ext>
                </a:extLst>
              </a:tr>
              <a:tr h="297046">
                <a:tc>
                  <a:txBody>
                    <a:bodyPr/>
                    <a:lstStyle/>
                    <a:p>
                      <a:pPr algn="r">
                        <a:lnSpc>
                          <a:spcPct val="110000"/>
                        </a:lnSpc>
                      </a:pPr>
                      <a:r>
                        <a:rPr kumimoji="1" lang="ja-JP" altLang="en-US" sz="1400" b="0" i="0" baseline="0" dirty="0">
                          <a:solidFill>
                            <a:schemeClr val="tx2"/>
                          </a:solidFill>
                          <a:latin typeface="+mj-lt"/>
                          <a:ea typeface="+mj-ea"/>
                        </a:rPr>
                        <a:t>契約形式</a:t>
                      </a:r>
                    </a:p>
                  </a:txBody>
                  <a:tcPr marL="72000" marR="72000" marT="108000" marB="10800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kumimoji="1" lang="ja-JP" altLang="en-US" sz="1400" dirty="0"/>
                        <a:t>準委任契約</a:t>
                      </a:r>
                    </a:p>
                  </a:txBody>
                  <a:tcPr marL="72000" marR="72000" marT="108000" marB="108000"/>
                </a:tc>
                <a:extLst>
                  <a:ext uri="{0D108BD9-81ED-4DB2-BD59-A6C34878D82A}">
                    <a16:rowId xmlns:a16="http://schemas.microsoft.com/office/drawing/2014/main" val="1103033202"/>
                  </a:ext>
                </a:extLst>
              </a:tr>
              <a:tr h="297046">
                <a:tc>
                  <a:txBody>
                    <a:bodyPr/>
                    <a:lstStyle/>
                    <a:p>
                      <a:pPr algn="r">
                        <a:lnSpc>
                          <a:spcPct val="110000"/>
                        </a:lnSpc>
                      </a:pPr>
                      <a:r>
                        <a:rPr kumimoji="1" lang="ja-JP" altLang="en-US" sz="1400" b="0" i="0" baseline="0" dirty="0">
                          <a:solidFill>
                            <a:schemeClr val="tx2"/>
                          </a:solidFill>
                          <a:latin typeface="+mj-lt"/>
                          <a:ea typeface="+mj-ea"/>
                        </a:rPr>
                        <a:t>作業期間</a:t>
                      </a:r>
                    </a:p>
                  </a:txBody>
                  <a:tcPr marL="72000" marR="72000" marT="108000" marB="10800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kumimoji="1" lang="en-US" altLang="ja-JP" sz="1400" dirty="0"/>
                        <a:t>2026</a:t>
                      </a:r>
                      <a:r>
                        <a:rPr kumimoji="1" lang="ja-JP" altLang="en-US" sz="1400" dirty="0"/>
                        <a:t>年</a:t>
                      </a:r>
                      <a:r>
                        <a:rPr kumimoji="1" lang="en-US" altLang="ja-JP" sz="1400" dirty="0"/>
                        <a:t>1</a:t>
                      </a:r>
                      <a:r>
                        <a:rPr kumimoji="1" lang="ja-JP" altLang="en-US" sz="1400" dirty="0"/>
                        <a:t>月</a:t>
                      </a:r>
                      <a:r>
                        <a:rPr kumimoji="1" lang="en-US" altLang="ja-JP" sz="1400" dirty="0"/>
                        <a:t>5</a:t>
                      </a:r>
                      <a:r>
                        <a:rPr kumimoji="1" lang="ja-JP" altLang="en-US" sz="1400" dirty="0"/>
                        <a:t>日 ～ </a:t>
                      </a:r>
                      <a:r>
                        <a:rPr kumimoji="1" lang="en-US" altLang="ja-JP" sz="1400" dirty="0"/>
                        <a:t>3</a:t>
                      </a:r>
                      <a:r>
                        <a:rPr kumimoji="1" lang="ja-JP" altLang="en-US" sz="1400" dirty="0"/>
                        <a:t>月</a:t>
                      </a:r>
                      <a:r>
                        <a:rPr kumimoji="1" lang="en-US" altLang="ja-JP" sz="1400" dirty="0"/>
                        <a:t>31</a:t>
                      </a:r>
                      <a:r>
                        <a:rPr kumimoji="1" lang="ja-JP" altLang="en-US" sz="1400" dirty="0"/>
                        <a:t>日</a:t>
                      </a:r>
                    </a:p>
                  </a:txBody>
                  <a:tcPr marL="72000" marR="72000" marT="108000" marB="108000"/>
                </a:tc>
                <a:extLst>
                  <a:ext uri="{0D108BD9-81ED-4DB2-BD59-A6C34878D82A}">
                    <a16:rowId xmlns:a16="http://schemas.microsoft.com/office/drawing/2014/main" val="2956173603"/>
                  </a:ext>
                </a:extLst>
              </a:tr>
              <a:tr h="488301">
                <a:tc>
                  <a:txBody>
                    <a:bodyPr/>
                    <a:lstStyle/>
                    <a:p>
                      <a:pPr algn="r">
                        <a:lnSpc>
                          <a:spcPct val="110000"/>
                        </a:lnSpc>
                      </a:pPr>
                      <a:r>
                        <a:rPr kumimoji="1" lang="ja-JP" altLang="en-US" sz="1400" b="0" i="0" baseline="0" dirty="0">
                          <a:solidFill>
                            <a:schemeClr val="tx2"/>
                          </a:solidFill>
                          <a:latin typeface="+mj-lt"/>
                          <a:ea typeface="+mj-ea"/>
                        </a:rPr>
                        <a:t>作業場所</a:t>
                      </a:r>
                    </a:p>
                  </a:txBody>
                  <a:tcPr marL="72000" marR="72000" marT="108000" marB="108000"/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6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kumimoji="1" lang="en-US" altLang="ja-JP" sz="1400" dirty="0"/>
                        <a:t>TMC</a:t>
                      </a:r>
                      <a:r>
                        <a:rPr kumimoji="1" lang="ja-JP" altLang="en-US" sz="1400" dirty="0"/>
                        <a:t>本社、弊社ミッドランドオフィス、作業者自宅</a:t>
                      </a:r>
                      <a:endParaRPr kumimoji="1" lang="en-US" altLang="ja-JP" sz="1400" dirty="0"/>
                    </a:p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6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kumimoji="1" lang="en-US" altLang="ja-JP" sz="1200" dirty="0">
                          <a:solidFill>
                            <a:schemeClr val="tx2"/>
                          </a:solidFill>
                        </a:rPr>
                        <a:t>TS</a:t>
                      </a:r>
                      <a:r>
                        <a:rPr kumimoji="1" lang="ja-JP" altLang="en-US" sz="1200" dirty="0">
                          <a:solidFill>
                            <a:schemeClr val="tx2"/>
                          </a:solidFill>
                        </a:rPr>
                        <a:t>再委託メンバーは、原則オンライン対応といたします</a:t>
                      </a:r>
                      <a:endParaRPr kumimoji="1" lang="ja-JP" altLang="en-US" sz="1400" dirty="0">
                        <a:solidFill>
                          <a:schemeClr val="tx2"/>
                        </a:solidFill>
                      </a:endParaRPr>
                    </a:p>
                  </a:txBody>
                  <a:tcPr marL="72000" marR="72000" marT="108000" marB="108000"/>
                </a:tc>
                <a:extLst>
                  <a:ext uri="{0D108BD9-81ED-4DB2-BD59-A6C34878D82A}">
                    <a16:rowId xmlns:a16="http://schemas.microsoft.com/office/drawing/2014/main" val="807242224"/>
                  </a:ext>
                </a:extLst>
              </a:tr>
              <a:tr h="297046">
                <a:tc>
                  <a:txBody>
                    <a:bodyPr/>
                    <a:lstStyle/>
                    <a:p>
                      <a:pPr algn="r">
                        <a:lnSpc>
                          <a:spcPct val="110000"/>
                        </a:lnSpc>
                      </a:pPr>
                      <a:r>
                        <a:rPr kumimoji="1" lang="ja-JP" altLang="en-US" sz="1400" b="0" i="0" baseline="0" dirty="0">
                          <a:solidFill>
                            <a:schemeClr val="tx2"/>
                          </a:solidFill>
                          <a:latin typeface="+mj-lt"/>
                          <a:ea typeface="+mj-ea"/>
                        </a:rPr>
                        <a:t>検収条件</a:t>
                      </a:r>
                    </a:p>
                  </a:txBody>
                  <a:tcPr marL="72000" marR="72000" marT="108000" marB="108000"/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6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kumimoji="1" lang="zh-TW" altLang="en-US" sz="1400" dirty="0"/>
                        <a:t>活動結果</a:t>
                      </a:r>
                      <a:r>
                        <a:rPr kumimoji="1" lang="ja-JP" altLang="en-US" sz="1400" dirty="0"/>
                        <a:t>に対し貴社レビューを受け、合意できていること</a:t>
                      </a:r>
                    </a:p>
                  </a:txBody>
                  <a:tcPr marL="72000" marR="72000" marT="108000" marB="108000"/>
                </a:tc>
                <a:extLst>
                  <a:ext uri="{0D108BD9-81ED-4DB2-BD59-A6C34878D82A}">
                    <a16:rowId xmlns:a16="http://schemas.microsoft.com/office/drawing/2014/main" val="264024277"/>
                  </a:ext>
                </a:extLst>
              </a:tr>
            </a:tbl>
          </a:graphicData>
        </a:graphic>
      </p:graphicFrame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6AEAB18E-320E-4008-6A26-12FD436449B3}"/>
              </a:ext>
            </a:extLst>
          </p:cNvPr>
          <p:cNvSpPr txBox="1"/>
          <p:nvPr/>
        </p:nvSpPr>
        <p:spPr>
          <a:xfrm>
            <a:off x="7015268" y="4362426"/>
            <a:ext cx="3917354" cy="302950"/>
          </a:xfrm>
          <a:prstGeom prst="rect">
            <a:avLst/>
          </a:prstGeom>
          <a:noFill/>
        </p:spPr>
        <p:txBody>
          <a:bodyPr wrap="square" lIns="108000" tIns="72000" rIns="108000" bIns="72000" rtlCol="0">
            <a:spAutoFit/>
          </a:bodyPr>
          <a:lstStyle/>
          <a:p>
            <a:pPr algn="r">
              <a:lnSpc>
                <a:spcPct val="110000"/>
              </a:lnSpc>
              <a:spcBef>
                <a:spcPts val="200"/>
              </a:spcBef>
            </a:pPr>
            <a:r>
              <a:rPr kumimoji="1" lang="en-US" altLang="ja-JP" sz="1000" dirty="0">
                <a:solidFill>
                  <a:schemeClr val="tx2"/>
                </a:solidFill>
              </a:rPr>
              <a:t>※</a:t>
            </a:r>
            <a:r>
              <a:rPr kumimoji="1" lang="ja-JP" altLang="en-US" sz="1000" dirty="0">
                <a:solidFill>
                  <a:schemeClr val="tx2"/>
                </a:solidFill>
              </a:rPr>
              <a:t>ドル決済の経費は</a:t>
            </a:r>
            <a:r>
              <a:rPr kumimoji="1" lang="en-US" altLang="ja-JP" sz="1000" dirty="0">
                <a:solidFill>
                  <a:schemeClr val="tx2"/>
                </a:solidFill>
              </a:rPr>
              <a:t>1</a:t>
            </a:r>
            <a:r>
              <a:rPr kumimoji="1" lang="ja-JP" altLang="en-US" sz="1000" dirty="0">
                <a:solidFill>
                  <a:schemeClr val="tx2"/>
                </a:solidFill>
              </a:rPr>
              <a:t>ドル</a:t>
            </a:r>
            <a:r>
              <a:rPr kumimoji="1" lang="en-US" altLang="ja-JP" sz="1000" dirty="0">
                <a:solidFill>
                  <a:schemeClr val="tx2"/>
                </a:solidFill>
              </a:rPr>
              <a:t>=160</a:t>
            </a:r>
            <a:r>
              <a:rPr kumimoji="1" lang="ja-JP" altLang="en-US" sz="1000" dirty="0">
                <a:solidFill>
                  <a:schemeClr val="tx2"/>
                </a:solidFill>
              </a:rPr>
              <a:t>円で換算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2333390D-4D11-B0C7-AE38-F092FC0D0027}"/>
              </a:ext>
            </a:extLst>
          </p:cNvPr>
          <p:cNvSpPr txBox="1"/>
          <p:nvPr/>
        </p:nvSpPr>
        <p:spPr>
          <a:xfrm>
            <a:off x="7015267" y="4665376"/>
            <a:ext cx="3917354" cy="172103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lIns="108000" tIns="72000" rIns="108000" bIns="72000" rtlCol="0">
            <a:spAutoFit/>
          </a:bodyPr>
          <a:lstStyle/>
          <a:p>
            <a:pPr>
              <a:lnSpc>
                <a:spcPct val="120000"/>
              </a:lnSpc>
              <a:spcBef>
                <a:spcPts val="200"/>
              </a:spcBef>
            </a:pPr>
            <a:r>
              <a:rPr kumimoji="1" lang="en-US" altLang="ja-JP" sz="1200" dirty="0">
                <a:latin typeface="+mj-lt"/>
                <a:ea typeface="+mj-ea"/>
              </a:rPr>
              <a:t>IT</a:t>
            </a:r>
            <a:r>
              <a:rPr kumimoji="1" lang="ja-JP" altLang="en-US" sz="1200" dirty="0">
                <a:latin typeface="+mj-lt"/>
                <a:ea typeface="+mj-ea"/>
              </a:rPr>
              <a:t>費用低減 ▲</a:t>
            </a:r>
            <a:r>
              <a:rPr kumimoji="1" lang="en-US" altLang="ja-JP" sz="1200" dirty="0">
                <a:latin typeface="+mj-lt"/>
                <a:ea typeface="+mj-ea"/>
              </a:rPr>
              <a:t>9,730</a:t>
            </a:r>
            <a:r>
              <a:rPr kumimoji="1" lang="ja-JP" altLang="en-US" sz="1200" dirty="0">
                <a:latin typeface="+mj-lt"/>
                <a:ea typeface="+mj-ea"/>
              </a:rPr>
              <a:t>千円</a:t>
            </a:r>
            <a:endParaRPr kumimoji="1" lang="en-US" altLang="ja-JP" sz="1200" dirty="0">
              <a:latin typeface="+mj-lt"/>
              <a:ea typeface="+mj-ea"/>
            </a:endParaRPr>
          </a:p>
          <a:p>
            <a:pPr marL="88900" indent="-88900">
              <a:lnSpc>
                <a:spcPct val="120000"/>
              </a:lnSpc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ja-JP" alt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コーディング、テスト工程への生成</a:t>
            </a:r>
            <a:r>
              <a:rPr kumimoji="1" lang="en-US" altLang="ja-JP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AI</a:t>
            </a:r>
            <a:r>
              <a:rPr kumimoji="1" lang="ja-JP" alt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活用による工数低減</a:t>
            </a:r>
            <a:br>
              <a:rPr kumimoji="1" lang="en-US" altLang="ja-JP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kumimoji="1" lang="ja-JP" alt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→ ▲</a:t>
            </a:r>
            <a:r>
              <a:rPr kumimoji="1" lang="en-US" altLang="ja-JP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7,364</a:t>
            </a:r>
            <a:r>
              <a:rPr kumimoji="1" lang="ja-JP" alt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千円</a:t>
            </a:r>
            <a:endParaRPr kumimoji="1" lang="en-US" altLang="ja-JP" sz="1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88900" indent="-88900">
              <a:lnSpc>
                <a:spcPct val="120000"/>
              </a:lnSpc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ja-JP" alt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コンテナ管理ツールを</a:t>
            </a:r>
            <a:r>
              <a:rPr kumimoji="1" lang="en-US" altLang="ja-JP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Docker</a:t>
            </a:r>
            <a:r>
              <a:rPr kumimoji="1" lang="ja-JP" alt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から無償の</a:t>
            </a:r>
            <a:r>
              <a:rPr kumimoji="1" lang="en-US" altLang="ja-JP" sz="1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Podman</a:t>
            </a:r>
            <a:r>
              <a:rPr kumimoji="1" lang="ja-JP" alt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に見直し</a:t>
            </a:r>
            <a:br>
              <a:rPr kumimoji="1" lang="en-US" altLang="ja-JP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kumimoji="1" lang="ja-JP" alt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→ ▲</a:t>
            </a:r>
            <a:r>
              <a:rPr kumimoji="1" lang="en-US" altLang="ja-JP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154</a:t>
            </a:r>
            <a:r>
              <a:rPr kumimoji="1" lang="ja-JP" alt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千円</a:t>
            </a:r>
            <a:endParaRPr kumimoji="1" lang="en-US" altLang="ja-JP" sz="1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88900" indent="-88900">
              <a:lnSpc>
                <a:spcPct val="120000"/>
              </a:lnSpc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ja-JP" alt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既存</a:t>
            </a:r>
            <a:r>
              <a:rPr kumimoji="1" lang="en-US" altLang="ja-JP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BP</a:t>
            </a:r>
            <a:r>
              <a:rPr kumimoji="1" lang="ja-JP" alt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で固めず、最適な体制を検討し、低単価の</a:t>
            </a:r>
            <a:r>
              <a:rPr kumimoji="1" lang="en-US" altLang="ja-JP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BP</a:t>
            </a:r>
            <a:r>
              <a:rPr kumimoji="1" lang="ja-JP" alt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を配置</a:t>
            </a:r>
            <a:br>
              <a:rPr kumimoji="1" lang="en-US" altLang="ja-JP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kumimoji="1" lang="en-US" altLang="ja-JP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</a:t>
            </a:r>
            <a:r>
              <a:rPr kumimoji="1" lang="ja-JP" alt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既存</a:t>
            </a:r>
            <a:r>
              <a:rPr kumimoji="1" lang="en-US" altLang="ja-JP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BP</a:t>
            </a:r>
            <a:r>
              <a:rPr kumimoji="1" lang="ja-JP" alt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との協業経験あり、連携の問題なし</a:t>
            </a:r>
            <a:r>
              <a:rPr kumimoji="1" lang="en-US" altLang="ja-JP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  <a:br>
              <a:rPr kumimoji="1" lang="en-US" altLang="ja-JP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kumimoji="1" lang="ja-JP" alt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→ ▲</a:t>
            </a:r>
            <a:r>
              <a:rPr kumimoji="1" lang="en-US" altLang="ja-JP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2,484</a:t>
            </a:r>
            <a:r>
              <a:rPr kumimoji="1" lang="ja-JP" alt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千円</a:t>
            </a:r>
            <a:endParaRPr kumimoji="1" lang="en-US" altLang="ja-JP" sz="1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01A1CB4E-1CB4-0AB0-A5E3-BFCAB50E059E}"/>
              </a:ext>
            </a:extLst>
          </p:cNvPr>
          <p:cNvSpPr txBox="1"/>
          <p:nvPr/>
        </p:nvSpPr>
        <p:spPr>
          <a:xfrm>
            <a:off x="7015267" y="995289"/>
            <a:ext cx="718145" cy="307777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kumimoji="1" lang="ja-JP" altLang="en-US" sz="1400" dirty="0">
                <a:solidFill>
                  <a:schemeClr val="tx2"/>
                </a:solidFill>
                <a:latin typeface="+mj-lt"/>
                <a:ea typeface="+mj-ea"/>
              </a:rPr>
              <a:t>お見積り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64184A95-49C8-75D9-270F-9530A9AB9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85899-07DC-4708-B5DD-A200CEE14CAD}" type="slidenum">
              <a:rPr kumimoji="1" lang="ja-JP" altLang="en-US" smtClean="0"/>
              <a:t>14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34018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A18F080-563B-E8C6-3254-CCF4D11E3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リスクと対策</a:t>
            </a:r>
          </a:p>
        </p:txBody>
      </p:sp>
      <p:graphicFrame>
        <p:nvGraphicFramePr>
          <p:cNvPr id="4" name="表 3">
            <a:extLst>
              <a:ext uri="{FF2B5EF4-FFF2-40B4-BE49-F238E27FC236}">
                <a16:creationId xmlns:a16="http://schemas.microsoft.com/office/drawing/2014/main" id="{B3870057-6619-5DF9-6084-BB6F4B0326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393573"/>
              </p:ext>
            </p:extLst>
          </p:nvPr>
        </p:nvGraphicFramePr>
        <p:xfrm>
          <a:off x="924300" y="2081580"/>
          <a:ext cx="10343399" cy="29121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343">
                  <a:extLst>
                    <a:ext uri="{9D8B030D-6E8A-4147-A177-3AD203B41FA5}">
                      <a16:colId xmlns:a16="http://schemas.microsoft.com/office/drawing/2014/main" val="311185762"/>
                    </a:ext>
                  </a:extLst>
                </a:gridCol>
                <a:gridCol w="2567088">
                  <a:extLst>
                    <a:ext uri="{9D8B030D-6E8A-4147-A177-3AD203B41FA5}">
                      <a16:colId xmlns:a16="http://schemas.microsoft.com/office/drawing/2014/main" val="3965916806"/>
                    </a:ext>
                  </a:extLst>
                </a:gridCol>
                <a:gridCol w="2513330">
                  <a:extLst>
                    <a:ext uri="{9D8B030D-6E8A-4147-A177-3AD203B41FA5}">
                      <a16:colId xmlns:a16="http://schemas.microsoft.com/office/drawing/2014/main" val="2118651781"/>
                    </a:ext>
                  </a:extLst>
                </a:gridCol>
                <a:gridCol w="4935638">
                  <a:extLst>
                    <a:ext uri="{9D8B030D-6E8A-4147-A177-3AD203B41FA5}">
                      <a16:colId xmlns:a16="http://schemas.microsoft.com/office/drawing/2014/main" val="11408107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kumimoji="1" lang="en-US" altLang="ja-JP" sz="1200" dirty="0">
                          <a:solidFill>
                            <a:schemeClr val="bg2"/>
                          </a:solidFill>
                        </a:rPr>
                        <a:t>#</a:t>
                      </a:r>
                      <a:endParaRPr kumimoji="1" lang="ja-JP" altLang="en-US" sz="1200" dirty="0">
                        <a:solidFill>
                          <a:schemeClr val="bg2"/>
                        </a:solidFill>
                      </a:endParaRPr>
                    </a:p>
                  </a:txBody>
                  <a:tcPr marL="108000" marR="108000" marT="108000" marB="108000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kumimoji="1" lang="ja-JP" altLang="en-US" sz="1200" dirty="0">
                          <a:solidFill>
                            <a:schemeClr val="bg2"/>
                          </a:solidFill>
                        </a:rPr>
                        <a:t>リスク</a:t>
                      </a:r>
                    </a:p>
                  </a:txBody>
                  <a:tcPr marL="108000" marR="108000" marT="108000" marB="108000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kumimoji="1" lang="ja-JP" altLang="en-US" sz="1200" dirty="0">
                          <a:solidFill>
                            <a:schemeClr val="bg2"/>
                          </a:solidFill>
                        </a:rPr>
                        <a:t>影響</a:t>
                      </a:r>
                    </a:p>
                  </a:txBody>
                  <a:tcPr marL="108000" marR="108000" marT="108000" marB="108000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kumimoji="1" lang="ja-JP" altLang="en-US" sz="1200" dirty="0">
                          <a:solidFill>
                            <a:schemeClr val="bg2"/>
                          </a:solidFill>
                        </a:rPr>
                        <a:t>対策</a:t>
                      </a:r>
                    </a:p>
                  </a:txBody>
                  <a:tcPr marL="108000" marR="108000" marT="108000" marB="108000" anchor="ctr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45715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kumimoji="1" lang="en-US" altLang="ja-JP" sz="1400" b="1" dirty="0"/>
                        <a:t>1</a:t>
                      </a:r>
                      <a:endParaRPr kumimoji="1" lang="ja-JP" altLang="en-US" sz="1400" b="1" dirty="0"/>
                    </a:p>
                  </a:txBody>
                  <a:tcPr marL="108000" marR="108000" marT="108000" marB="10800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Bef>
                          <a:spcPts val="200"/>
                        </a:spcBef>
                      </a:pPr>
                      <a:r>
                        <a:rPr kumimoji="1" lang="ja-JP" altLang="en-US" sz="1400" b="1" dirty="0"/>
                        <a:t>ステークホルダーが多いため</a:t>
                      </a:r>
                      <a:br>
                        <a:rPr kumimoji="1" lang="en-US" altLang="ja-JP" sz="1400" b="1" dirty="0"/>
                      </a:br>
                      <a:r>
                        <a:rPr kumimoji="1" lang="ja-JP" altLang="en-US" sz="1400" b="1" dirty="0"/>
                        <a:t>要件・仕様調整の長期化</a:t>
                      </a:r>
                    </a:p>
                  </a:txBody>
                  <a:tcPr marL="108000" marR="108000" marT="108000" marB="10800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20000"/>
                        </a:lnSpc>
                        <a:spcBef>
                          <a:spcPts val="2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kumimoji="1" lang="ja-JP" altLang="en-US" sz="1400" dirty="0"/>
                        <a:t>リリース遅れ</a:t>
                      </a:r>
                      <a:endParaRPr kumimoji="1" lang="en-US" altLang="ja-JP" sz="1400" dirty="0"/>
                    </a:p>
                  </a:txBody>
                  <a:tcPr marL="108000" marR="108000" marT="108000" marB="10800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20000"/>
                        </a:lnSpc>
                        <a:spcBef>
                          <a:spcPts val="2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</a:rPr>
                        <a:t>SU</a:t>
                      </a:r>
                      <a:r>
                        <a:rPr kumimoji="1" lang="ja-JP" altLang="en-US" sz="1400" dirty="0">
                          <a:solidFill>
                            <a:schemeClr val="tx1"/>
                          </a:solidFill>
                        </a:rPr>
                        <a:t>認証などをベースに、こちらで仮説を立てて</a:t>
                      </a:r>
                      <a:br>
                        <a:rPr kumimoji="1" lang="en-US" altLang="ja-JP" sz="1400" dirty="0">
                          <a:solidFill>
                            <a:schemeClr val="tx1"/>
                          </a:solidFill>
                        </a:rPr>
                      </a:br>
                      <a:r>
                        <a:rPr kumimoji="1" lang="ja-JP" altLang="en-US" sz="1400" dirty="0">
                          <a:solidFill>
                            <a:schemeClr val="tx1"/>
                          </a:solidFill>
                        </a:rPr>
                        <a:t>実際に動くものを見せて議論を推進</a:t>
                      </a:r>
                      <a:br>
                        <a:rPr kumimoji="1" lang="en-US" altLang="ja-JP" sz="1400" dirty="0">
                          <a:solidFill>
                            <a:schemeClr val="tx1"/>
                          </a:solidFill>
                        </a:rPr>
                      </a:br>
                      <a:r>
                        <a:rPr kumimoji="1" lang="ja-JP" altLang="en-US" sz="1400" dirty="0">
                          <a:solidFill>
                            <a:schemeClr val="tx1"/>
                          </a:solidFill>
                        </a:rPr>
                        <a:t>（フィードバックを多くもらう）</a:t>
                      </a:r>
                      <a:endParaRPr kumimoji="1" lang="en-US" altLang="ja-JP" sz="1400" dirty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>
                        <a:lnSpc>
                          <a:spcPct val="120000"/>
                        </a:lnSpc>
                        <a:spcBef>
                          <a:spcPts val="2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kumimoji="1" lang="ja-JP" altLang="en-US" sz="1400" dirty="0">
                          <a:solidFill>
                            <a:schemeClr val="tx1"/>
                          </a:solidFill>
                        </a:rPr>
                        <a:t>回のトライをマイルストーンに進捗を明らかにし</a:t>
                      </a:r>
                      <a:br>
                        <a:rPr kumimoji="1" lang="en-US" altLang="ja-JP" sz="1400" dirty="0">
                          <a:solidFill>
                            <a:schemeClr val="tx1"/>
                          </a:solidFill>
                        </a:rPr>
                      </a:br>
                      <a:r>
                        <a:rPr kumimoji="1" lang="ja-JP" altLang="en-US" sz="1400" dirty="0">
                          <a:solidFill>
                            <a:schemeClr val="tx1"/>
                          </a:solidFill>
                        </a:rPr>
                        <a:t>リソース、スコープを見直しを行う</a:t>
                      </a:r>
                      <a:endParaRPr kumimoji="1" lang="en-US" altLang="ja-JP" sz="1400" dirty="0">
                        <a:solidFill>
                          <a:schemeClr val="tx1"/>
                        </a:solidFill>
                      </a:endParaRPr>
                    </a:p>
                  </a:txBody>
                  <a:tcPr marL="108000" marR="108000" marT="108000" marB="10800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28072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kumimoji="1" lang="en-US" altLang="ja-JP" sz="1400" b="1" dirty="0"/>
                        <a:t>2</a:t>
                      </a:r>
                      <a:endParaRPr kumimoji="1" lang="ja-JP" altLang="en-US" sz="1400" b="1" dirty="0"/>
                    </a:p>
                  </a:txBody>
                  <a:tcPr marL="108000" marR="108000" marT="108000" marB="10800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Bef>
                          <a:spcPts val="200"/>
                        </a:spcBef>
                      </a:pPr>
                      <a:r>
                        <a:rPr kumimoji="1" lang="ja-JP" altLang="en-US" sz="1400" b="1" dirty="0"/>
                        <a:t>要件漏れ</a:t>
                      </a:r>
                    </a:p>
                  </a:txBody>
                  <a:tcPr marL="108000" marR="108000" marT="108000" marB="10800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20000"/>
                        </a:lnSpc>
                        <a:spcBef>
                          <a:spcPts val="2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kumimoji="1" lang="ja-JP" altLang="en-US" sz="1400" dirty="0"/>
                        <a:t>手戻り</a:t>
                      </a:r>
                      <a:endParaRPr kumimoji="1" lang="en-US" altLang="ja-JP" sz="1400" dirty="0"/>
                    </a:p>
                    <a:p>
                      <a:pPr marL="171450" indent="-171450">
                        <a:lnSpc>
                          <a:spcPct val="120000"/>
                        </a:lnSpc>
                        <a:spcBef>
                          <a:spcPts val="2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kumimoji="1" lang="ja-JP" altLang="en-US" sz="1400" dirty="0"/>
                        <a:t>手戻りによるリリース遅れ</a:t>
                      </a:r>
                      <a:endParaRPr kumimoji="1" lang="en-US" altLang="ja-JP" sz="1400" dirty="0"/>
                    </a:p>
                  </a:txBody>
                  <a:tcPr marL="108000" marR="108000" marT="108000" marB="10800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20000"/>
                        </a:lnSpc>
                        <a:spcBef>
                          <a:spcPts val="2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kumimoji="1" lang="ja-JP" altLang="en-US" sz="1400" dirty="0">
                          <a:solidFill>
                            <a:schemeClr val="tx1"/>
                          </a:solidFill>
                        </a:rPr>
                        <a:t>回のトライで要件出し切り</a:t>
                      </a:r>
                      <a:endParaRPr kumimoji="1" lang="en-US" altLang="ja-JP" sz="1400" dirty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>
                        <a:lnSpc>
                          <a:spcPct val="120000"/>
                        </a:lnSpc>
                        <a:spcBef>
                          <a:spcPts val="2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</a:rPr>
                        <a:t>DTPS</a:t>
                      </a:r>
                      <a:r>
                        <a:rPr kumimoji="1" lang="ja-JP" altLang="en-US" sz="1400" dirty="0">
                          <a:solidFill>
                            <a:schemeClr val="tx1"/>
                          </a:solidFill>
                        </a:rPr>
                        <a:t>との連携で、既存認証業務の要件を参照</a:t>
                      </a:r>
                      <a:endParaRPr kumimoji="1" lang="en-US" altLang="ja-JP" sz="1400" dirty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>
                        <a:lnSpc>
                          <a:spcPct val="120000"/>
                        </a:lnSpc>
                        <a:spcBef>
                          <a:spcPts val="2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kumimoji="1" lang="ja-JP" altLang="en-US" sz="1400" dirty="0">
                          <a:solidFill>
                            <a:schemeClr val="tx1"/>
                          </a:solidFill>
                        </a:rPr>
                        <a:t>深く業務を理解</a:t>
                      </a:r>
                      <a:endParaRPr kumimoji="1" lang="en-US" altLang="ja-JP" sz="1400" dirty="0">
                        <a:solidFill>
                          <a:schemeClr val="tx1"/>
                        </a:solidFill>
                      </a:endParaRPr>
                    </a:p>
                  </a:txBody>
                  <a:tcPr marL="108000" marR="108000" marT="108000" marB="10800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5414692"/>
                  </a:ext>
                </a:extLst>
              </a:tr>
            </a:tbl>
          </a:graphicData>
        </a:graphic>
      </p:graphicFrame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A6145146-7607-5481-5D6C-3F88DF044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85899-07DC-4708-B5DD-A200CEE14CAD}" type="slidenum">
              <a:rPr kumimoji="1" lang="ja-JP" altLang="en-US" smtClean="0"/>
              <a:t>15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146429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4F9CC5D-7AA0-B3F9-437D-E0DA55C15AE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ja-JP" altLang="en-US" dirty="0"/>
              <a:t>以上</a:t>
            </a:r>
          </a:p>
        </p:txBody>
      </p:sp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798CECEB-6CDF-9B00-C76E-9C1BA61D4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85899-07DC-4708-B5DD-A200CEE14CAD}" type="slidenum">
              <a:rPr kumimoji="1" lang="ja-JP" altLang="en-US" smtClean="0"/>
              <a:t>16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411546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B38650A3-B59C-CCE8-BA03-4139F6852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85899-07DC-4708-B5DD-A200CEE14CAD}" type="slidenum">
              <a:rPr kumimoji="1" lang="ja-JP" altLang="en-US" smtClean="0"/>
              <a:t>17</a:t>
            </a:fld>
            <a:endParaRPr kumimoji="1" lang="ja-JP" altLang="en-US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F391C02-00C8-26EA-918F-0EFD10ABDB8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kumimoji="1" lang="en-US" altLang="ja-JP" dirty="0"/>
              <a:t>Appendix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3410983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AE2C0FFC-7A64-614B-5D1E-28371515F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85899-07DC-4708-B5DD-A200CEE14CAD}" type="slidenum">
              <a:rPr kumimoji="1" lang="ja-JP" altLang="en-US" smtClean="0"/>
              <a:t>18</a:t>
            </a:fld>
            <a:endParaRPr kumimoji="1" lang="ja-JP" altLang="en-US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F970FFDC-F331-0F4B-22B6-6F2B12BC0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体制詳細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B2B5F944-1E5C-D6F1-1D77-696E03531224}"/>
              </a:ext>
            </a:extLst>
          </p:cNvPr>
          <p:cNvSpPr/>
          <p:nvPr/>
        </p:nvSpPr>
        <p:spPr>
          <a:xfrm>
            <a:off x="5931720" y="1822691"/>
            <a:ext cx="1145460" cy="49069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54000" rIns="36000" bIns="54000" rtlCol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200"/>
              </a:spcBef>
            </a:pPr>
            <a:r>
              <a:rPr kumimoji="1" lang="en-US" altLang="ja-JP" sz="800" dirty="0">
                <a:solidFill>
                  <a:schemeClr val="tx2"/>
                </a:solidFill>
              </a:rPr>
              <a:t>PM</a:t>
            </a:r>
          </a:p>
          <a:p>
            <a:pPr algn="ctr">
              <a:lnSpc>
                <a:spcPct val="110000"/>
              </a:lnSpc>
              <a:spcBef>
                <a:spcPts val="200"/>
              </a:spcBef>
            </a:pPr>
            <a:r>
              <a:rPr kumimoji="1" lang="en-US" altLang="ja-JP" sz="1400" dirty="0">
                <a:solidFill>
                  <a:schemeClr val="accent1"/>
                </a:solidFill>
                <a:latin typeface="+mj-lt"/>
                <a:ea typeface="+mj-ea"/>
              </a:rPr>
              <a:t>TS</a:t>
            </a:r>
            <a:r>
              <a:rPr kumimoji="1" lang="en-US" altLang="ja-JP" sz="1400" dirty="0">
                <a:solidFill>
                  <a:schemeClr val="tx1"/>
                </a:solidFill>
                <a:latin typeface="+mj-lt"/>
                <a:ea typeface="+mj-ea"/>
              </a:rPr>
              <a:t> </a:t>
            </a:r>
            <a:r>
              <a:rPr kumimoji="1" lang="ja-JP" altLang="en-US" sz="1400" dirty="0">
                <a:solidFill>
                  <a:schemeClr val="tx1"/>
                </a:solidFill>
                <a:latin typeface="+mj-lt"/>
                <a:ea typeface="+mj-ea"/>
              </a:rPr>
              <a:t>横山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7E084F11-C82B-E803-7A83-C9057F2291FD}"/>
              </a:ext>
            </a:extLst>
          </p:cNvPr>
          <p:cNvSpPr/>
          <p:nvPr/>
        </p:nvSpPr>
        <p:spPr>
          <a:xfrm>
            <a:off x="6951376" y="3595080"/>
            <a:ext cx="1145460" cy="49069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54000" rIns="36000" bIns="54000" rtlCol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200"/>
              </a:spcBef>
            </a:pPr>
            <a:r>
              <a:rPr kumimoji="1" lang="ja-JP" altLang="en-US" sz="800" dirty="0">
                <a:solidFill>
                  <a:schemeClr val="tx2"/>
                </a:solidFill>
              </a:rPr>
              <a:t>インフラ</a:t>
            </a:r>
            <a:r>
              <a:rPr kumimoji="1" lang="en-US" altLang="ja-JP" sz="800" dirty="0">
                <a:solidFill>
                  <a:schemeClr val="tx2"/>
                </a:solidFill>
              </a:rPr>
              <a:t>/</a:t>
            </a:r>
            <a:r>
              <a:rPr kumimoji="1" lang="ja-JP" altLang="en-US" sz="800" dirty="0">
                <a:solidFill>
                  <a:schemeClr val="tx2"/>
                </a:solidFill>
              </a:rPr>
              <a:t>バックエンド</a:t>
            </a:r>
            <a:endParaRPr kumimoji="1" lang="en-US" altLang="ja-JP" sz="800" dirty="0">
              <a:solidFill>
                <a:schemeClr val="tx2"/>
              </a:solidFill>
            </a:endParaRPr>
          </a:p>
          <a:p>
            <a:pPr algn="ctr">
              <a:lnSpc>
                <a:spcPct val="110000"/>
              </a:lnSpc>
              <a:spcBef>
                <a:spcPts val="200"/>
              </a:spcBef>
            </a:pPr>
            <a:r>
              <a:rPr kumimoji="1" lang="en-US" altLang="ja-JP" sz="1400" dirty="0">
                <a:solidFill>
                  <a:schemeClr val="accent1"/>
                </a:solidFill>
                <a:latin typeface="+mj-lt"/>
                <a:ea typeface="+mj-ea"/>
              </a:rPr>
              <a:t>TS</a:t>
            </a:r>
            <a:r>
              <a:rPr kumimoji="1" lang="en-US" altLang="ja-JP" sz="1400" dirty="0">
                <a:solidFill>
                  <a:schemeClr val="tx1"/>
                </a:solidFill>
                <a:latin typeface="+mj-lt"/>
                <a:ea typeface="+mj-ea"/>
              </a:rPr>
              <a:t> </a:t>
            </a:r>
            <a:r>
              <a:rPr kumimoji="1" lang="ja-JP" altLang="en-US" sz="1400" dirty="0">
                <a:solidFill>
                  <a:schemeClr val="tx1"/>
                </a:solidFill>
                <a:latin typeface="+mj-lt"/>
                <a:ea typeface="+mj-ea"/>
              </a:rPr>
              <a:t>高木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F75C88EB-B260-4A54-0EE0-C32BF06B49D4}"/>
              </a:ext>
            </a:extLst>
          </p:cNvPr>
          <p:cNvSpPr/>
          <p:nvPr/>
        </p:nvSpPr>
        <p:spPr>
          <a:xfrm>
            <a:off x="8384712" y="3594032"/>
            <a:ext cx="1145460" cy="49069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54000" rIns="36000" bIns="54000" rtlCol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200"/>
              </a:spcBef>
            </a:pPr>
            <a:r>
              <a:rPr kumimoji="1" lang="ja-JP" altLang="en-US" sz="800" dirty="0">
                <a:solidFill>
                  <a:schemeClr val="tx2"/>
                </a:solidFill>
              </a:rPr>
              <a:t>リードエンジニア</a:t>
            </a:r>
            <a:endParaRPr kumimoji="1" lang="en-US" altLang="ja-JP" sz="800" dirty="0">
              <a:solidFill>
                <a:schemeClr val="tx2"/>
              </a:solidFill>
            </a:endParaRPr>
          </a:p>
          <a:p>
            <a:pPr algn="ctr">
              <a:lnSpc>
                <a:spcPct val="110000"/>
              </a:lnSpc>
              <a:spcBef>
                <a:spcPts val="200"/>
              </a:spcBef>
            </a:pPr>
            <a:r>
              <a:rPr kumimoji="1" lang="en-US" altLang="ja-JP" sz="1400" dirty="0">
                <a:solidFill>
                  <a:schemeClr val="accent4">
                    <a:lumMod val="75000"/>
                  </a:schemeClr>
                </a:solidFill>
                <a:latin typeface="+mj-lt"/>
                <a:ea typeface="+mj-ea"/>
              </a:rPr>
              <a:t>NBX</a:t>
            </a:r>
            <a:r>
              <a:rPr kumimoji="1" lang="en-US" altLang="ja-JP" sz="1400" dirty="0">
                <a:solidFill>
                  <a:schemeClr val="tx1"/>
                </a:solidFill>
                <a:latin typeface="+mj-lt"/>
                <a:ea typeface="+mj-ea"/>
              </a:rPr>
              <a:t> </a:t>
            </a:r>
            <a:r>
              <a:rPr kumimoji="1" lang="ja-JP" altLang="en-US" sz="1400" dirty="0">
                <a:solidFill>
                  <a:schemeClr val="tx1"/>
                </a:solidFill>
                <a:latin typeface="+mj-lt"/>
                <a:ea typeface="+mj-ea"/>
              </a:rPr>
              <a:t>那谷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2E87CCC0-6671-38B9-6AFE-19ECF1D93C72}"/>
              </a:ext>
            </a:extLst>
          </p:cNvPr>
          <p:cNvSpPr/>
          <p:nvPr/>
        </p:nvSpPr>
        <p:spPr>
          <a:xfrm>
            <a:off x="7428741" y="2225551"/>
            <a:ext cx="1145460" cy="49069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54000" rIns="36000" bIns="54000" rtlCol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200"/>
              </a:spcBef>
            </a:pPr>
            <a:r>
              <a:rPr kumimoji="1" lang="ja-JP" altLang="en-US" sz="800" dirty="0">
                <a:solidFill>
                  <a:schemeClr val="tx2"/>
                </a:solidFill>
              </a:rPr>
              <a:t>アドバイザー</a:t>
            </a:r>
            <a:endParaRPr kumimoji="1" lang="en-US" altLang="ja-JP" sz="800" dirty="0">
              <a:solidFill>
                <a:schemeClr val="tx2"/>
              </a:solidFill>
            </a:endParaRPr>
          </a:p>
          <a:p>
            <a:pPr algn="ctr">
              <a:lnSpc>
                <a:spcPct val="110000"/>
              </a:lnSpc>
              <a:spcBef>
                <a:spcPts val="200"/>
              </a:spcBef>
            </a:pPr>
            <a:r>
              <a:rPr kumimoji="1" lang="en-US" altLang="ja-JP" sz="1400" dirty="0">
                <a:solidFill>
                  <a:schemeClr val="accent1"/>
                </a:solidFill>
                <a:latin typeface="+mj-lt"/>
                <a:ea typeface="+mj-ea"/>
              </a:rPr>
              <a:t>TS</a:t>
            </a:r>
            <a:r>
              <a:rPr kumimoji="1" lang="en-US" altLang="ja-JP" sz="1400" dirty="0">
                <a:solidFill>
                  <a:schemeClr val="tx1"/>
                </a:solidFill>
                <a:latin typeface="+mj-lt"/>
                <a:ea typeface="+mj-ea"/>
              </a:rPr>
              <a:t> </a:t>
            </a:r>
            <a:r>
              <a:rPr kumimoji="1" lang="ja-JP" altLang="en-US" sz="1400" dirty="0">
                <a:solidFill>
                  <a:schemeClr val="tx1"/>
                </a:solidFill>
                <a:latin typeface="+mj-lt"/>
                <a:ea typeface="+mj-ea"/>
              </a:rPr>
              <a:t>山崎</a:t>
            </a:r>
            <a:r>
              <a:rPr kumimoji="1" lang="en-US" altLang="ja-JP" sz="1400" dirty="0">
                <a:solidFill>
                  <a:schemeClr val="tx1"/>
                </a:solidFill>
                <a:latin typeface="+mj-lt"/>
                <a:ea typeface="+mj-ea"/>
              </a:rPr>
              <a:t>SK</a:t>
            </a:r>
            <a:endParaRPr kumimoji="1" lang="ja-JP" altLang="en-US" sz="1400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1EF62889-F353-E2FF-6901-5409A58DAD3A}"/>
              </a:ext>
            </a:extLst>
          </p:cNvPr>
          <p:cNvSpPr/>
          <p:nvPr/>
        </p:nvSpPr>
        <p:spPr>
          <a:xfrm>
            <a:off x="3633021" y="4397974"/>
            <a:ext cx="1145460" cy="49069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54000" rIns="36000" bIns="54000" rtlCol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200"/>
              </a:spcBef>
            </a:pPr>
            <a:r>
              <a:rPr kumimoji="1" lang="ja-JP" altLang="en-US" sz="800" dirty="0">
                <a:solidFill>
                  <a:schemeClr val="tx2"/>
                </a:solidFill>
              </a:rPr>
              <a:t>要求・要件整理</a:t>
            </a:r>
            <a:endParaRPr kumimoji="1" lang="en-US" altLang="ja-JP" sz="800" dirty="0">
              <a:solidFill>
                <a:schemeClr val="tx2"/>
              </a:solidFill>
            </a:endParaRPr>
          </a:p>
          <a:p>
            <a:pPr algn="ctr">
              <a:lnSpc>
                <a:spcPct val="110000"/>
              </a:lnSpc>
              <a:spcBef>
                <a:spcPts val="200"/>
              </a:spcBef>
            </a:pPr>
            <a:r>
              <a:rPr kumimoji="1" lang="en-US" altLang="ja-JP" sz="1400" dirty="0">
                <a:solidFill>
                  <a:schemeClr val="accent4">
                    <a:lumMod val="75000"/>
                  </a:schemeClr>
                </a:solidFill>
                <a:latin typeface="+mj-lt"/>
                <a:ea typeface="+mj-ea"/>
              </a:rPr>
              <a:t>NBX</a:t>
            </a:r>
            <a:r>
              <a:rPr kumimoji="1" lang="en-US" altLang="ja-JP" sz="1400" dirty="0">
                <a:solidFill>
                  <a:schemeClr val="tx1"/>
                </a:solidFill>
                <a:latin typeface="+mj-lt"/>
                <a:ea typeface="+mj-ea"/>
              </a:rPr>
              <a:t> </a:t>
            </a:r>
            <a:r>
              <a:rPr kumimoji="1" lang="ja-JP" altLang="en-US" sz="1400" dirty="0">
                <a:solidFill>
                  <a:schemeClr val="tx1"/>
                </a:solidFill>
                <a:latin typeface="+mj-lt"/>
                <a:ea typeface="+mj-ea"/>
              </a:rPr>
              <a:t>内藤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C82C6382-84DE-9146-30DB-929CD1B9AB24}"/>
              </a:ext>
            </a:extLst>
          </p:cNvPr>
          <p:cNvSpPr/>
          <p:nvPr/>
        </p:nvSpPr>
        <p:spPr>
          <a:xfrm>
            <a:off x="3627842" y="3597699"/>
            <a:ext cx="1145460" cy="49069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54000" rIns="36000" bIns="54000" rtlCol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200"/>
              </a:spcBef>
            </a:pPr>
            <a:r>
              <a:rPr kumimoji="1" lang="ja-JP" altLang="en-US" sz="800" dirty="0">
                <a:solidFill>
                  <a:schemeClr val="tx2"/>
                </a:solidFill>
              </a:rPr>
              <a:t>要求・要件整理</a:t>
            </a:r>
            <a:endParaRPr kumimoji="1" lang="en-US" altLang="ja-JP" sz="800" dirty="0">
              <a:solidFill>
                <a:schemeClr val="tx2"/>
              </a:solidFill>
            </a:endParaRPr>
          </a:p>
          <a:p>
            <a:pPr algn="ctr">
              <a:lnSpc>
                <a:spcPct val="110000"/>
              </a:lnSpc>
              <a:spcBef>
                <a:spcPts val="200"/>
              </a:spcBef>
            </a:pPr>
            <a:r>
              <a:rPr kumimoji="1" lang="en-US" altLang="ja-JP" sz="1400" dirty="0">
                <a:solidFill>
                  <a:schemeClr val="accent4">
                    <a:lumMod val="75000"/>
                  </a:schemeClr>
                </a:solidFill>
                <a:latin typeface="+mj-lt"/>
                <a:ea typeface="+mj-ea"/>
              </a:rPr>
              <a:t>NBX</a:t>
            </a:r>
            <a:r>
              <a:rPr kumimoji="1" lang="en-US" altLang="ja-JP" sz="1400" dirty="0">
                <a:solidFill>
                  <a:schemeClr val="tx1"/>
                </a:solidFill>
                <a:latin typeface="+mj-lt"/>
                <a:ea typeface="+mj-ea"/>
              </a:rPr>
              <a:t> </a:t>
            </a:r>
            <a:r>
              <a:rPr kumimoji="1" lang="ja-JP" altLang="en-US" sz="1400" dirty="0">
                <a:solidFill>
                  <a:schemeClr val="tx1"/>
                </a:solidFill>
                <a:latin typeface="+mj-lt"/>
                <a:ea typeface="+mj-ea"/>
              </a:rPr>
              <a:t>奥地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56150A97-4693-C914-FA2B-B2E7679C2502}"/>
              </a:ext>
            </a:extLst>
          </p:cNvPr>
          <p:cNvSpPr/>
          <p:nvPr/>
        </p:nvSpPr>
        <p:spPr>
          <a:xfrm>
            <a:off x="5069791" y="4397974"/>
            <a:ext cx="1145460" cy="49069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54000" rIns="36000" bIns="54000" rtlCol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200"/>
              </a:spcBef>
            </a:pPr>
            <a:r>
              <a:rPr kumimoji="1" lang="en-US" altLang="ja-JP" sz="800" dirty="0">
                <a:solidFill>
                  <a:schemeClr val="tx2"/>
                </a:solidFill>
              </a:rPr>
              <a:t>UI</a:t>
            </a:r>
            <a:r>
              <a:rPr kumimoji="1" lang="ja-JP" altLang="en-US" sz="800" dirty="0">
                <a:solidFill>
                  <a:schemeClr val="tx2"/>
                </a:solidFill>
              </a:rPr>
              <a:t>デザイナー</a:t>
            </a:r>
            <a:endParaRPr kumimoji="1" lang="en-US" altLang="ja-JP" sz="800" dirty="0">
              <a:solidFill>
                <a:schemeClr val="tx2"/>
              </a:solidFill>
            </a:endParaRPr>
          </a:p>
          <a:p>
            <a:pPr algn="ctr">
              <a:lnSpc>
                <a:spcPct val="110000"/>
              </a:lnSpc>
              <a:spcBef>
                <a:spcPts val="200"/>
              </a:spcBef>
            </a:pPr>
            <a:r>
              <a:rPr kumimoji="1" lang="en-US" altLang="ja-JP" sz="1400" dirty="0">
                <a:solidFill>
                  <a:schemeClr val="accent4">
                    <a:lumMod val="75000"/>
                  </a:schemeClr>
                </a:solidFill>
                <a:latin typeface="+mj-lt"/>
                <a:ea typeface="+mj-ea"/>
              </a:rPr>
              <a:t>NBX</a:t>
            </a:r>
            <a:r>
              <a:rPr kumimoji="1" lang="en-US" altLang="ja-JP" sz="1400" dirty="0">
                <a:solidFill>
                  <a:schemeClr val="tx1"/>
                </a:solidFill>
                <a:latin typeface="+mj-lt"/>
                <a:ea typeface="+mj-ea"/>
              </a:rPr>
              <a:t> </a:t>
            </a:r>
            <a:r>
              <a:rPr kumimoji="1" lang="ja-JP" altLang="en-US" sz="1400" dirty="0">
                <a:solidFill>
                  <a:schemeClr val="tx1"/>
                </a:solidFill>
                <a:latin typeface="+mj-lt"/>
                <a:ea typeface="+mj-ea"/>
              </a:rPr>
              <a:t>木島</a:t>
            </a:r>
          </a:p>
        </p:txBody>
      </p:sp>
      <p:cxnSp>
        <p:nvCxnSpPr>
          <p:cNvPr id="12" name="コネクタ: カギ線 11">
            <a:extLst>
              <a:ext uri="{FF2B5EF4-FFF2-40B4-BE49-F238E27FC236}">
                <a16:creationId xmlns:a16="http://schemas.microsoft.com/office/drawing/2014/main" id="{44163EB7-6F2A-BBEA-B6B1-146F166490B1}"/>
              </a:ext>
            </a:extLst>
          </p:cNvPr>
          <p:cNvCxnSpPr>
            <a:cxnSpLocks/>
            <a:stCxn id="5" idx="2"/>
            <a:endCxn id="26" idx="0"/>
          </p:cNvCxnSpPr>
          <p:nvPr/>
        </p:nvCxnSpPr>
        <p:spPr>
          <a:xfrm rot="5400000">
            <a:off x="5297469" y="1955030"/>
            <a:ext cx="848623" cy="1565340"/>
          </a:xfrm>
          <a:prstGeom prst="bentConnector3">
            <a:avLst>
              <a:gd name="adj1" fmla="val 61443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コネクタ: カギ線 12">
            <a:extLst>
              <a:ext uri="{FF2B5EF4-FFF2-40B4-BE49-F238E27FC236}">
                <a16:creationId xmlns:a16="http://schemas.microsoft.com/office/drawing/2014/main" id="{B2DA4704-9B4E-D6AB-AC0A-2A9B73AEA6B4}"/>
              </a:ext>
            </a:extLst>
          </p:cNvPr>
          <p:cNvCxnSpPr>
            <a:cxnSpLocks/>
            <a:stCxn id="5" idx="2"/>
            <a:endCxn id="25" idx="0"/>
          </p:cNvCxnSpPr>
          <p:nvPr/>
        </p:nvCxnSpPr>
        <p:spPr>
          <a:xfrm rot="16200000" flipH="1">
            <a:off x="6952679" y="1865159"/>
            <a:ext cx="848623" cy="1745081"/>
          </a:xfrm>
          <a:prstGeom prst="bentConnector3">
            <a:avLst>
              <a:gd name="adj1" fmla="val 61443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コネクタ: カギ線 13">
            <a:extLst>
              <a:ext uri="{FF2B5EF4-FFF2-40B4-BE49-F238E27FC236}">
                <a16:creationId xmlns:a16="http://schemas.microsoft.com/office/drawing/2014/main" id="{A118DD8A-7B33-0F25-902B-01037F54D041}"/>
              </a:ext>
            </a:extLst>
          </p:cNvPr>
          <p:cNvCxnSpPr>
            <a:cxnSpLocks/>
            <a:stCxn id="5" idx="2"/>
            <a:endCxn id="8" idx="1"/>
          </p:cNvCxnSpPr>
          <p:nvPr/>
        </p:nvCxnSpPr>
        <p:spPr>
          <a:xfrm rot="16200000" flipH="1">
            <a:off x="6887840" y="1929998"/>
            <a:ext cx="157511" cy="924291"/>
          </a:xfrm>
          <a:prstGeom prst="bentConnector2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952B66B4-A82D-675C-5670-F0F2EF0207F7}"/>
              </a:ext>
            </a:extLst>
          </p:cNvPr>
          <p:cNvSpPr/>
          <p:nvPr/>
        </p:nvSpPr>
        <p:spPr>
          <a:xfrm>
            <a:off x="5069791" y="3603499"/>
            <a:ext cx="1145460" cy="49069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54000" rIns="36000" bIns="54000" rtlCol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200"/>
              </a:spcBef>
            </a:pPr>
            <a:r>
              <a:rPr kumimoji="1" lang="ja-JP" altLang="en-US" sz="800" dirty="0">
                <a:solidFill>
                  <a:schemeClr val="tx2"/>
                </a:solidFill>
              </a:rPr>
              <a:t>要件定義・開発管理</a:t>
            </a:r>
            <a:endParaRPr kumimoji="1" lang="en-US" altLang="ja-JP" sz="800" dirty="0">
              <a:solidFill>
                <a:schemeClr val="tx2"/>
              </a:solidFill>
            </a:endParaRPr>
          </a:p>
          <a:p>
            <a:pPr algn="ctr">
              <a:lnSpc>
                <a:spcPct val="110000"/>
              </a:lnSpc>
              <a:spcBef>
                <a:spcPts val="200"/>
              </a:spcBef>
            </a:pPr>
            <a:r>
              <a:rPr kumimoji="1" lang="en-US" altLang="ja-JP" sz="1400" dirty="0">
                <a:solidFill>
                  <a:schemeClr val="accent4">
                    <a:lumMod val="75000"/>
                  </a:schemeClr>
                </a:solidFill>
                <a:latin typeface="+mj-lt"/>
                <a:ea typeface="+mj-ea"/>
              </a:rPr>
              <a:t>NBX</a:t>
            </a:r>
            <a:r>
              <a:rPr kumimoji="1" lang="en-US" altLang="ja-JP" sz="1400" dirty="0">
                <a:solidFill>
                  <a:schemeClr val="tx1"/>
                </a:solidFill>
                <a:latin typeface="+mj-lt"/>
                <a:ea typeface="+mj-ea"/>
              </a:rPr>
              <a:t> </a:t>
            </a:r>
            <a:r>
              <a:rPr kumimoji="1" lang="en-US" altLang="ja-JP" sz="1400" dirty="0">
                <a:solidFill>
                  <a:schemeClr val="tx2"/>
                </a:solidFill>
                <a:latin typeface="+mj-lt"/>
                <a:ea typeface="+mj-ea"/>
              </a:rPr>
              <a:t>TBA</a:t>
            </a:r>
            <a:endParaRPr kumimoji="1" lang="ja-JP" altLang="en-US" sz="1400" dirty="0">
              <a:solidFill>
                <a:schemeClr val="tx2"/>
              </a:solidFill>
              <a:latin typeface="+mj-lt"/>
              <a:ea typeface="+mj-ea"/>
            </a:endParaRP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E778642E-D1C9-D47A-F2EE-1ECD3F380CC2}"/>
              </a:ext>
            </a:extLst>
          </p:cNvPr>
          <p:cNvSpPr/>
          <p:nvPr/>
        </p:nvSpPr>
        <p:spPr>
          <a:xfrm>
            <a:off x="8384712" y="4403961"/>
            <a:ext cx="1145460" cy="49069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54000" rIns="36000" bIns="54000" rtlCol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200"/>
              </a:spcBef>
            </a:pPr>
            <a:r>
              <a:rPr kumimoji="1" lang="ja-JP" altLang="en-US" sz="800" dirty="0">
                <a:solidFill>
                  <a:schemeClr val="tx2"/>
                </a:solidFill>
              </a:rPr>
              <a:t>エンジニア</a:t>
            </a:r>
            <a:endParaRPr kumimoji="1" lang="en-US" altLang="ja-JP" sz="800" dirty="0">
              <a:solidFill>
                <a:schemeClr val="tx2"/>
              </a:solidFill>
            </a:endParaRPr>
          </a:p>
          <a:p>
            <a:pPr algn="ctr">
              <a:lnSpc>
                <a:spcPct val="110000"/>
              </a:lnSpc>
              <a:spcBef>
                <a:spcPts val="200"/>
              </a:spcBef>
            </a:pPr>
            <a:r>
              <a:rPr kumimoji="1" lang="en-US" altLang="ja-JP" sz="1400" dirty="0">
                <a:solidFill>
                  <a:schemeClr val="accent4">
                    <a:lumMod val="75000"/>
                  </a:schemeClr>
                </a:solidFill>
                <a:latin typeface="+mj-lt"/>
                <a:ea typeface="+mj-ea"/>
              </a:rPr>
              <a:t>NBX</a:t>
            </a:r>
            <a:r>
              <a:rPr kumimoji="1" lang="en-US" altLang="ja-JP" sz="1400" dirty="0">
                <a:solidFill>
                  <a:schemeClr val="tx1"/>
                </a:solidFill>
                <a:latin typeface="+mj-lt"/>
                <a:ea typeface="+mj-ea"/>
              </a:rPr>
              <a:t> </a:t>
            </a:r>
            <a:r>
              <a:rPr kumimoji="1" lang="en-US" altLang="ja-JP" sz="1400" dirty="0">
                <a:solidFill>
                  <a:schemeClr val="tx2"/>
                </a:solidFill>
                <a:latin typeface="+mj-lt"/>
                <a:ea typeface="+mj-ea"/>
              </a:rPr>
              <a:t>TBA</a:t>
            </a:r>
            <a:endParaRPr kumimoji="1" lang="ja-JP" altLang="en-US" sz="1400" dirty="0">
              <a:solidFill>
                <a:schemeClr val="tx2"/>
              </a:solidFill>
              <a:latin typeface="+mj-lt"/>
              <a:ea typeface="+mj-ea"/>
            </a:endParaRP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8F499CFA-9D4D-F199-6653-D30E1A5C512B}"/>
              </a:ext>
            </a:extLst>
          </p:cNvPr>
          <p:cNvSpPr/>
          <p:nvPr/>
        </p:nvSpPr>
        <p:spPr>
          <a:xfrm>
            <a:off x="6903710" y="1348832"/>
            <a:ext cx="1840567" cy="27834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kumimoji="1" lang="en-US" altLang="ja-JP" sz="1100" dirty="0"/>
              <a:t>SU</a:t>
            </a:r>
            <a:r>
              <a:rPr kumimoji="1" lang="ja-JP" altLang="en-US" sz="1100" dirty="0"/>
              <a:t>認証 </a:t>
            </a:r>
            <a:r>
              <a:rPr kumimoji="1" lang="en-US" altLang="ja-JP" sz="1100" dirty="0"/>
              <a:t>(DTPS</a:t>
            </a:r>
            <a:r>
              <a:rPr kumimoji="1" lang="ja-JP" altLang="en-US" sz="1100" dirty="0"/>
              <a:t>案件</a:t>
            </a:r>
            <a:r>
              <a:rPr kumimoji="1" lang="en-US" altLang="ja-JP" sz="1100" dirty="0"/>
              <a:t>)</a:t>
            </a:r>
            <a:r>
              <a:rPr kumimoji="1" lang="ja-JP" altLang="en-US" sz="1100" dirty="0"/>
              <a:t>を兼任</a:t>
            </a:r>
          </a:p>
        </p:txBody>
      </p: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FE38242B-8AF3-02A6-F9F2-6563BD4015F3}"/>
              </a:ext>
            </a:extLst>
          </p:cNvPr>
          <p:cNvCxnSpPr>
            <a:cxnSpLocks/>
            <a:stCxn id="17" idx="2"/>
          </p:cNvCxnSpPr>
          <p:nvPr/>
        </p:nvCxnSpPr>
        <p:spPr>
          <a:xfrm flipH="1">
            <a:off x="6903710" y="1627178"/>
            <a:ext cx="920284" cy="270139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16C69231-D9F1-2A68-25F3-E453AD2AB886}"/>
              </a:ext>
            </a:extLst>
          </p:cNvPr>
          <p:cNvCxnSpPr>
            <a:cxnSpLocks/>
            <a:stCxn id="27" idx="3"/>
          </p:cNvCxnSpPr>
          <p:nvPr/>
        </p:nvCxnSpPr>
        <p:spPr>
          <a:xfrm flipV="1">
            <a:off x="3029089" y="4524084"/>
            <a:ext cx="720673" cy="33671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9C2031B3-C144-B195-841B-8B0F22C79F5C}"/>
              </a:ext>
            </a:extLst>
          </p:cNvPr>
          <p:cNvSpPr/>
          <p:nvPr/>
        </p:nvSpPr>
        <p:spPr>
          <a:xfrm>
            <a:off x="1111872" y="3271911"/>
            <a:ext cx="2018501" cy="48147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kumimoji="1" lang="ja-JP" altLang="en-US" sz="1100" dirty="0"/>
              <a:t>情報設計スキルにより</a:t>
            </a:r>
            <a:br>
              <a:rPr kumimoji="1" lang="en-US" altLang="ja-JP" sz="1100" dirty="0"/>
            </a:br>
            <a:r>
              <a:rPr kumimoji="1" lang="ja-JP" altLang="en-US" sz="1100" dirty="0"/>
              <a:t>要求・要件整理を円滑に推進</a:t>
            </a: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9B139EE2-2FDB-1BF4-1E30-A451B5F50E0A}"/>
              </a:ext>
            </a:extLst>
          </p:cNvPr>
          <p:cNvSpPr txBox="1"/>
          <p:nvPr/>
        </p:nvSpPr>
        <p:spPr>
          <a:xfrm>
            <a:off x="1265845" y="3753391"/>
            <a:ext cx="1612621" cy="353751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en-US" altLang="ja-JP" sz="800" dirty="0">
                <a:solidFill>
                  <a:schemeClr val="tx2"/>
                </a:solidFill>
              </a:rPr>
              <a:t>※</a:t>
            </a:r>
            <a:r>
              <a:rPr kumimoji="1" lang="ja-JP" altLang="en-US" sz="800" dirty="0">
                <a:solidFill>
                  <a:schemeClr val="tx2"/>
                </a:solidFill>
              </a:rPr>
              <a:t> </a:t>
            </a:r>
            <a:r>
              <a:rPr kumimoji="1" lang="ja-JP" altLang="en-US" sz="800" dirty="0">
                <a:solidFill>
                  <a:schemeClr val="tx2"/>
                </a:solidFill>
                <a:latin typeface="+mj-lt"/>
                <a:ea typeface="+mj-ea"/>
              </a:rPr>
              <a:t>情報設計</a:t>
            </a:r>
            <a:r>
              <a:rPr kumimoji="1" lang="en-US" altLang="ja-JP" sz="800" dirty="0">
                <a:solidFill>
                  <a:schemeClr val="tx2"/>
                </a:solidFill>
              </a:rPr>
              <a:t>: </a:t>
            </a:r>
            <a:r>
              <a:rPr kumimoji="1" lang="ja-JP" altLang="en-US" sz="800" dirty="0">
                <a:solidFill>
                  <a:schemeClr val="tx2"/>
                </a:solidFill>
              </a:rPr>
              <a:t>情報を整理・構造化し</a:t>
            </a:r>
            <a:br>
              <a:rPr kumimoji="1" lang="en-US" altLang="ja-JP" sz="800" dirty="0">
                <a:solidFill>
                  <a:schemeClr val="tx2"/>
                </a:solidFill>
              </a:rPr>
            </a:br>
            <a:r>
              <a:rPr kumimoji="1" lang="ja-JP" altLang="en-US" sz="800" dirty="0">
                <a:solidFill>
                  <a:schemeClr val="tx2"/>
                </a:solidFill>
              </a:rPr>
              <a:t>わかりやすく伝える表現技術</a:t>
            </a:r>
          </a:p>
        </p:txBody>
      </p:sp>
      <p:cxnSp>
        <p:nvCxnSpPr>
          <p:cNvPr id="22" name="直線コネクタ 21">
            <a:extLst>
              <a:ext uri="{FF2B5EF4-FFF2-40B4-BE49-F238E27FC236}">
                <a16:creationId xmlns:a16="http://schemas.microsoft.com/office/drawing/2014/main" id="{3528375B-687F-2E56-EDCA-FAC3108EB69F}"/>
              </a:ext>
            </a:extLst>
          </p:cNvPr>
          <p:cNvCxnSpPr>
            <a:cxnSpLocks/>
            <a:endCxn id="20" idx="3"/>
          </p:cNvCxnSpPr>
          <p:nvPr/>
        </p:nvCxnSpPr>
        <p:spPr>
          <a:xfrm flipH="1" flipV="1">
            <a:off x="3130373" y="3512650"/>
            <a:ext cx="666340" cy="201975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37A75EEB-1821-9D96-2508-D7D815E183D4}"/>
              </a:ext>
            </a:extLst>
          </p:cNvPr>
          <p:cNvSpPr/>
          <p:nvPr/>
        </p:nvSpPr>
        <p:spPr>
          <a:xfrm>
            <a:off x="10025044" y="3575452"/>
            <a:ext cx="1840568" cy="27834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kumimoji="1" lang="en-US" altLang="ja-JP" sz="1100" dirty="0"/>
              <a:t>SU</a:t>
            </a:r>
            <a:r>
              <a:rPr kumimoji="1" lang="ja-JP" altLang="en-US" sz="1100" dirty="0"/>
              <a:t>認証</a:t>
            </a:r>
            <a:r>
              <a:rPr kumimoji="1" lang="en-US" altLang="ja-JP" sz="1100" dirty="0"/>
              <a:t> (DTPS</a:t>
            </a:r>
            <a:r>
              <a:rPr kumimoji="1" lang="ja-JP" altLang="en-US" sz="1100" dirty="0"/>
              <a:t>案件</a:t>
            </a:r>
            <a:r>
              <a:rPr kumimoji="1" lang="en-US" altLang="ja-JP" sz="1100" dirty="0"/>
              <a:t>)</a:t>
            </a:r>
            <a:r>
              <a:rPr kumimoji="1" lang="ja-JP" altLang="en-US" sz="1100" dirty="0"/>
              <a:t>を前任</a:t>
            </a:r>
          </a:p>
        </p:txBody>
      </p:sp>
      <p:cxnSp>
        <p:nvCxnSpPr>
          <p:cNvPr id="24" name="直線コネクタ 23">
            <a:extLst>
              <a:ext uri="{FF2B5EF4-FFF2-40B4-BE49-F238E27FC236}">
                <a16:creationId xmlns:a16="http://schemas.microsoft.com/office/drawing/2014/main" id="{645B73BC-AF82-104A-1211-55B150274F5C}"/>
              </a:ext>
            </a:extLst>
          </p:cNvPr>
          <p:cNvCxnSpPr>
            <a:cxnSpLocks/>
            <a:endCxn id="23" idx="1"/>
          </p:cNvCxnSpPr>
          <p:nvPr/>
        </p:nvCxnSpPr>
        <p:spPr>
          <a:xfrm flipV="1">
            <a:off x="9395617" y="3714625"/>
            <a:ext cx="629427" cy="38764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四角形: 角を丸くする 24">
            <a:extLst>
              <a:ext uri="{FF2B5EF4-FFF2-40B4-BE49-F238E27FC236}">
                <a16:creationId xmlns:a16="http://schemas.microsoft.com/office/drawing/2014/main" id="{144E6D7D-1DEA-1303-D8D0-504BEAA6BA58}"/>
              </a:ext>
            </a:extLst>
          </p:cNvPr>
          <p:cNvSpPr/>
          <p:nvPr/>
        </p:nvSpPr>
        <p:spPr>
          <a:xfrm>
            <a:off x="6725583" y="3162012"/>
            <a:ext cx="3047895" cy="2784215"/>
          </a:xfrm>
          <a:prstGeom prst="roundRect">
            <a:avLst>
              <a:gd name="adj" fmla="val 2586"/>
            </a:avLst>
          </a:prstGeom>
          <a:noFill/>
          <a:ln w="38100">
            <a:solidFill>
              <a:schemeClr val="accent6">
                <a:alpha val="32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ja-JP" altLang="en-US" sz="1400" dirty="0">
                <a:solidFill>
                  <a:schemeClr val="accent6"/>
                </a:solidFill>
                <a:latin typeface="+mj-lt"/>
                <a:ea typeface="+mj-ea"/>
              </a:rPr>
              <a:t>デリバリー</a:t>
            </a:r>
            <a:r>
              <a:rPr kumimoji="1" lang="en-US" altLang="ja-JP" sz="1400" dirty="0">
                <a:solidFill>
                  <a:schemeClr val="accent6"/>
                </a:solidFill>
                <a:latin typeface="+mj-lt"/>
                <a:ea typeface="+mj-ea"/>
              </a:rPr>
              <a:t>(</a:t>
            </a:r>
            <a:r>
              <a:rPr kumimoji="1" lang="ja-JP" altLang="en-US" sz="1400" dirty="0">
                <a:solidFill>
                  <a:schemeClr val="accent6"/>
                </a:solidFill>
                <a:latin typeface="+mj-lt"/>
                <a:ea typeface="+mj-ea"/>
              </a:rPr>
              <a:t>開発</a:t>
            </a:r>
            <a:r>
              <a:rPr kumimoji="1" lang="en-US" altLang="ja-JP" sz="1400" dirty="0">
                <a:solidFill>
                  <a:schemeClr val="accent6"/>
                </a:solidFill>
                <a:latin typeface="+mj-lt"/>
                <a:ea typeface="+mj-ea"/>
              </a:rPr>
              <a:t>)</a:t>
            </a:r>
            <a:r>
              <a:rPr kumimoji="1" lang="ja-JP" altLang="en-US" sz="1400" dirty="0">
                <a:solidFill>
                  <a:schemeClr val="accent6"/>
                </a:solidFill>
                <a:latin typeface="+mj-lt"/>
                <a:ea typeface="+mj-ea"/>
              </a:rPr>
              <a:t>チーム</a:t>
            </a:r>
          </a:p>
        </p:txBody>
      </p:sp>
      <p:sp>
        <p:nvSpPr>
          <p:cNvPr id="26" name="四角形: 角を丸くする 25">
            <a:extLst>
              <a:ext uri="{FF2B5EF4-FFF2-40B4-BE49-F238E27FC236}">
                <a16:creationId xmlns:a16="http://schemas.microsoft.com/office/drawing/2014/main" id="{AA6EC383-6F48-6862-D6B9-2615EF943D21}"/>
              </a:ext>
            </a:extLst>
          </p:cNvPr>
          <p:cNvSpPr/>
          <p:nvPr/>
        </p:nvSpPr>
        <p:spPr>
          <a:xfrm>
            <a:off x="3414510" y="3162012"/>
            <a:ext cx="3049200" cy="2784215"/>
          </a:xfrm>
          <a:prstGeom prst="roundRect">
            <a:avLst>
              <a:gd name="adj" fmla="val 4147"/>
            </a:avLst>
          </a:prstGeom>
          <a:noFill/>
          <a:ln w="38100">
            <a:solidFill>
              <a:schemeClr val="accent2">
                <a:alpha val="32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ja-JP" altLang="en-US" sz="1400" dirty="0">
                <a:solidFill>
                  <a:schemeClr val="accent2"/>
                </a:solidFill>
                <a:latin typeface="+mj-lt"/>
                <a:ea typeface="+mj-ea"/>
              </a:rPr>
              <a:t>ディスカバリー</a:t>
            </a:r>
            <a:r>
              <a:rPr kumimoji="1" lang="en-US" altLang="ja-JP" sz="1400" dirty="0">
                <a:solidFill>
                  <a:schemeClr val="accent2"/>
                </a:solidFill>
                <a:latin typeface="+mj-lt"/>
                <a:ea typeface="+mj-ea"/>
              </a:rPr>
              <a:t>(SE)</a:t>
            </a:r>
            <a:r>
              <a:rPr kumimoji="1" lang="ja-JP" altLang="en-US" sz="1400" dirty="0">
                <a:solidFill>
                  <a:schemeClr val="accent2"/>
                </a:solidFill>
                <a:latin typeface="+mj-lt"/>
                <a:ea typeface="+mj-ea"/>
              </a:rPr>
              <a:t>チーム</a:t>
            </a:r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33EC3B52-1158-672E-753C-1E885E89F21B}"/>
              </a:ext>
            </a:extLst>
          </p:cNvPr>
          <p:cNvSpPr/>
          <p:nvPr/>
        </p:nvSpPr>
        <p:spPr>
          <a:xfrm>
            <a:off x="1047456" y="4418582"/>
            <a:ext cx="1981633" cy="27834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kumimoji="1" lang="en-US" altLang="ja-JP" sz="1100" dirty="0"/>
              <a:t>SU</a:t>
            </a:r>
            <a:r>
              <a:rPr kumimoji="1" lang="ja-JP" altLang="en-US" sz="1100" dirty="0"/>
              <a:t>認証 </a:t>
            </a:r>
            <a:r>
              <a:rPr kumimoji="1" lang="en-US" altLang="ja-JP" sz="1100" dirty="0"/>
              <a:t>(DTPS</a:t>
            </a:r>
            <a:r>
              <a:rPr kumimoji="1" lang="ja-JP" altLang="en-US" sz="1100" dirty="0"/>
              <a:t>案件</a:t>
            </a:r>
            <a:r>
              <a:rPr kumimoji="1" lang="en-US" altLang="ja-JP" sz="1100" dirty="0"/>
              <a:t>)</a:t>
            </a:r>
            <a:r>
              <a:rPr kumimoji="1" lang="ja-JP" altLang="en-US" sz="1100" dirty="0"/>
              <a:t>を主担当</a:t>
            </a:r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8B0CF358-0C96-6228-6FFA-5B3982EC48B1}"/>
              </a:ext>
            </a:extLst>
          </p:cNvPr>
          <p:cNvSpPr/>
          <p:nvPr/>
        </p:nvSpPr>
        <p:spPr>
          <a:xfrm>
            <a:off x="9137358" y="1934159"/>
            <a:ext cx="1245854" cy="27834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kumimoji="1" lang="en-US" altLang="ja-JP" sz="1100" dirty="0"/>
              <a:t>DTPS</a:t>
            </a:r>
            <a:r>
              <a:rPr kumimoji="1" lang="ja-JP" altLang="en-US" sz="1100" dirty="0"/>
              <a:t>案件を兼任</a:t>
            </a:r>
          </a:p>
        </p:txBody>
      </p:sp>
      <p:cxnSp>
        <p:nvCxnSpPr>
          <p:cNvPr id="29" name="直線コネクタ 28">
            <a:extLst>
              <a:ext uri="{FF2B5EF4-FFF2-40B4-BE49-F238E27FC236}">
                <a16:creationId xmlns:a16="http://schemas.microsoft.com/office/drawing/2014/main" id="{81C57B6D-94E7-C49D-1638-4A3AEAD1AB65}"/>
              </a:ext>
            </a:extLst>
          </p:cNvPr>
          <p:cNvCxnSpPr>
            <a:cxnSpLocks/>
          </p:cNvCxnSpPr>
          <p:nvPr/>
        </p:nvCxnSpPr>
        <p:spPr>
          <a:xfrm flipH="1">
            <a:off x="8452058" y="2212505"/>
            <a:ext cx="920284" cy="270139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BE4F03D1-5CE2-6861-27D9-9697D314154C}"/>
              </a:ext>
            </a:extLst>
          </p:cNvPr>
          <p:cNvSpPr/>
          <p:nvPr/>
        </p:nvSpPr>
        <p:spPr>
          <a:xfrm>
            <a:off x="340242" y="1036544"/>
            <a:ext cx="5139328" cy="156591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08000" tIns="108000" rIns="108000" bIns="108000" rtlCol="0" anchor="ctr">
            <a:spAutoFit/>
          </a:bodyPr>
          <a:lstStyle/>
          <a:p>
            <a:pPr marL="171450" indent="-171450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kumimoji="1" lang="ja-JP" altLang="en-US" sz="1400" dirty="0">
                <a:solidFill>
                  <a:schemeClr val="tx1"/>
                </a:solidFill>
              </a:rPr>
              <a:t>業務運用が柔らかい中、期限までに開発を進めるため</a:t>
            </a:r>
            <a:br>
              <a:rPr kumimoji="1" lang="en-US" altLang="ja-JP" sz="1400" dirty="0">
                <a:solidFill>
                  <a:schemeClr val="tx1"/>
                </a:solidFill>
              </a:rPr>
            </a:br>
            <a:r>
              <a:rPr kumimoji="1" lang="en-US" altLang="ja-JP" sz="1400" dirty="0">
                <a:solidFill>
                  <a:schemeClr val="tx1"/>
                </a:solidFill>
              </a:rPr>
              <a:t>SE</a:t>
            </a:r>
            <a:r>
              <a:rPr kumimoji="1" lang="ja-JP" altLang="en-US" sz="1400" dirty="0">
                <a:solidFill>
                  <a:schemeClr val="tx1"/>
                </a:solidFill>
              </a:rPr>
              <a:t>チームで要件が固まったものから</a:t>
            </a:r>
            <a:br>
              <a:rPr kumimoji="1" lang="en-US" altLang="ja-JP" sz="1400" dirty="0">
                <a:solidFill>
                  <a:schemeClr val="tx1"/>
                </a:solidFill>
              </a:rPr>
            </a:br>
            <a:r>
              <a:rPr kumimoji="1" lang="ja-JP" altLang="en-US" sz="1400" dirty="0">
                <a:solidFill>
                  <a:schemeClr val="tx1"/>
                </a:solidFill>
              </a:rPr>
              <a:t>開発チームが製造していく</a:t>
            </a:r>
            <a:r>
              <a:rPr kumimoji="1" lang="en-US" altLang="ja-JP" sz="1400" dirty="0">
                <a:solidFill>
                  <a:schemeClr val="tx1"/>
                </a:solidFill>
              </a:rPr>
              <a:t>2</a:t>
            </a:r>
            <a:r>
              <a:rPr kumimoji="1" lang="ja-JP" altLang="en-US" sz="1400" dirty="0">
                <a:solidFill>
                  <a:schemeClr val="tx1"/>
                </a:solidFill>
              </a:rPr>
              <a:t>チーム体制で進行</a:t>
            </a:r>
            <a:endParaRPr kumimoji="1" lang="en-US" altLang="ja-JP" sz="1400" dirty="0">
              <a:solidFill>
                <a:schemeClr val="tx1"/>
              </a:solidFill>
            </a:endParaRPr>
          </a:p>
          <a:p>
            <a:pPr marL="171450" indent="-171450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kumimoji="1" lang="ja-JP" altLang="en-US" sz="1400" dirty="0">
                <a:solidFill>
                  <a:schemeClr val="tx1"/>
                </a:solidFill>
              </a:rPr>
              <a:t>参考とする</a:t>
            </a:r>
            <a:r>
              <a:rPr kumimoji="1" lang="en-US" altLang="ja-JP" sz="1400" dirty="0">
                <a:solidFill>
                  <a:schemeClr val="tx1"/>
                </a:solidFill>
              </a:rPr>
              <a:t>DTPS</a:t>
            </a:r>
            <a:r>
              <a:rPr kumimoji="1" lang="ja-JP" altLang="en-US" sz="1400" dirty="0">
                <a:solidFill>
                  <a:schemeClr val="tx1"/>
                </a:solidFill>
              </a:rPr>
              <a:t>の認証案件の兼任・前任メンバーを配置し</a:t>
            </a:r>
            <a:br>
              <a:rPr kumimoji="1" lang="en-US" altLang="ja-JP" sz="1400" dirty="0">
                <a:solidFill>
                  <a:schemeClr val="tx1"/>
                </a:solidFill>
              </a:rPr>
            </a:br>
            <a:r>
              <a:rPr kumimoji="1" lang="ja-JP" altLang="en-US" sz="1400" dirty="0">
                <a:solidFill>
                  <a:schemeClr val="tx1"/>
                </a:solidFill>
              </a:rPr>
              <a:t>知見を共有しながら推進</a:t>
            </a:r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7DC4D9C2-54BD-7D32-4360-9739734D66B1}"/>
              </a:ext>
            </a:extLst>
          </p:cNvPr>
          <p:cNvSpPr/>
          <p:nvPr/>
        </p:nvSpPr>
        <p:spPr>
          <a:xfrm>
            <a:off x="6951376" y="4397974"/>
            <a:ext cx="1145460" cy="49069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54000" rIns="36000" bIns="54000" rtlCol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200"/>
              </a:spcBef>
            </a:pPr>
            <a:r>
              <a:rPr kumimoji="1" lang="ja-JP" altLang="en-US" sz="800" dirty="0">
                <a:solidFill>
                  <a:schemeClr val="tx2"/>
                </a:solidFill>
              </a:rPr>
              <a:t>エンジニア</a:t>
            </a:r>
            <a:endParaRPr kumimoji="1" lang="en-US" altLang="ja-JP" sz="800" dirty="0">
              <a:solidFill>
                <a:schemeClr val="tx2"/>
              </a:solidFill>
            </a:endParaRPr>
          </a:p>
          <a:p>
            <a:pPr algn="ctr">
              <a:lnSpc>
                <a:spcPct val="110000"/>
              </a:lnSpc>
              <a:spcBef>
                <a:spcPts val="200"/>
              </a:spcBef>
            </a:pPr>
            <a:r>
              <a:rPr kumimoji="1" lang="en-US" altLang="ja-JP" sz="1400" dirty="0">
                <a:solidFill>
                  <a:schemeClr val="accent4">
                    <a:lumMod val="75000"/>
                  </a:schemeClr>
                </a:solidFill>
                <a:latin typeface="+mj-lt"/>
                <a:ea typeface="+mj-ea"/>
              </a:rPr>
              <a:t>NBX</a:t>
            </a:r>
            <a:r>
              <a:rPr kumimoji="1" lang="en-US" altLang="ja-JP" sz="1400" dirty="0">
                <a:solidFill>
                  <a:schemeClr val="tx1"/>
                </a:solidFill>
                <a:latin typeface="+mj-lt"/>
                <a:ea typeface="+mj-ea"/>
              </a:rPr>
              <a:t> </a:t>
            </a:r>
            <a:r>
              <a:rPr kumimoji="1" lang="en-US" altLang="ja-JP" sz="1400" dirty="0">
                <a:solidFill>
                  <a:schemeClr val="tx2"/>
                </a:solidFill>
                <a:latin typeface="+mj-lt"/>
                <a:ea typeface="+mj-ea"/>
              </a:rPr>
              <a:t>TBA</a:t>
            </a:r>
            <a:endParaRPr kumimoji="1" lang="ja-JP" altLang="en-US" sz="1400" dirty="0">
              <a:solidFill>
                <a:schemeClr val="tx2"/>
              </a:solidFill>
              <a:latin typeface="+mj-lt"/>
              <a:ea typeface="+mj-ea"/>
            </a:endParaRPr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7EA2BCC7-C517-6852-EA44-9A6BFFBC1AF8}"/>
              </a:ext>
            </a:extLst>
          </p:cNvPr>
          <p:cNvSpPr/>
          <p:nvPr/>
        </p:nvSpPr>
        <p:spPr>
          <a:xfrm>
            <a:off x="8384712" y="5187933"/>
            <a:ext cx="1145460" cy="49069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54000" rIns="36000" bIns="54000" rtlCol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200"/>
              </a:spcBef>
            </a:pPr>
            <a:r>
              <a:rPr kumimoji="1" lang="ja-JP" altLang="en-US" sz="800" dirty="0">
                <a:solidFill>
                  <a:schemeClr val="tx2"/>
                </a:solidFill>
              </a:rPr>
              <a:t>エンジニア</a:t>
            </a:r>
            <a:endParaRPr kumimoji="1" lang="en-US" altLang="ja-JP" sz="800" dirty="0">
              <a:solidFill>
                <a:schemeClr val="tx2"/>
              </a:solidFill>
            </a:endParaRPr>
          </a:p>
          <a:p>
            <a:pPr algn="ctr">
              <a:lnSpc>
                <a:spcPct val="110000"/>
              </a:lnSpc>
              <a:spcBef>
                <a:spcPts val="200"/>
              </a:spcBef>
            </a:pPr>
            <a:r>
              <a:rPr kumimoji="1" lang="en-US" altLang="ja-JP" sz="1400" dirty="0">
                <a:solidFill>
                  <a:schemeClr val="accent5">
                    <a:lumMod val="75000"/>
                  </a:schemeClr>
                </a:solidFill>
                <a:latin typeface="+mj-lt"/>
                <a:ea typeface="+mj-ea"/>
              </a:rPr>
              <a:t>TISA</a:t>
            </a:r>
            <a:r>
              <a:rPr kumimoji="1" lang="en-US" altLang="ja-JP" sz="1400" dirty="0">
                <a:solidFill>
                  <a:schemeClr val="tx1"/>
                </a:solidFill>
                <a:latin typeface="+mj-lt"/>
                <a:ea typeface="+mj-ea"/>
              </a:rPr>
              <a:t> </a:t>
            </a:r>
            <a:r>
              <a:rPr kumimoji="1" lang="ja-JP" altLang="en-US" sz="1400" dirty="0">
                <a:solidFill>
                  <a:schemeClr val="tx1"/>
                </a:solidFill>
                <a:latin typeface="+mj-lt"/>
                <a:ea typeface="+mj-ea"/>
              </a:rPr>
              <a:t>高井</a:t>
            </a:r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B0994D43-0972-C37A-616C-986F63E079EE}"/>
              </a:ext>
            </a:extLst>
          </p:cNvPr>
          <p:cNvSpPr/>
          <p:nvPr/>
        </p:nvSpPr>
        <p:spPr>
          <a:xfrm>
            <a:off x="9886408" y="4839814"/>
            <a:ext cx="2024913" cy="68461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kumimoji="1" lang="en-US" altLang="ja-JP" sz="1100" dirty="0"/>
              <a:t>SU</a:t>
            </a:r>
            <a:r>
              <a:rPr kumimoji="1" lang="ja-JP" altLang="en-US" sz="1100" dirty="0"/>
              <a:t>認証</a:t>
            </a:r>
            <a:r>
              <a:rPr kumimoji="1" lang="en-US" altLang="ja-JP" sz="1100" dirty="0"/>
              <a:t>(DTPS</a:t>
            </a:r>
            <a:r>
              <a:rPr kumimoji="1" lang="ja-JP" altLang="en-US" sz="1100" dirty="0"/>
              <a:t>案件</a:t>
            </a:r>
            <a:r>
              <a:rPr kumimoji="1" lang="en-US" altLang="ja-JP" sz="1100" dirty="0"/>
              <a:t>)</a:t>
            </a:r>
            <a:r>
              <a:rPr kumimoji="1" lang="ja-JP" altLang="en-US" sz="1100" dirty="0"/>
              <a:t>を前任</a:t>
            </a:r>
            <a:br>
              <a:rPr kumimoji="1" lang="en-US" altLang="ja-JP" sz="1100" dirty="0"/>
            </a:br>
            <a:r>
              <a:rPr kumimoji="1" lang="en-US" altLang="ja-JP" sz="1100" dirty="0"/>
              <a:t>NBX</a:t>
            </a:r>
            <a:r>
              <a:rPr kumimoji="1" lang="ja-JP" altLang="en-US" sz="1100" dirty="0"/>
              <a:t>と協業経験あり</a:t>
            </a:r>
            <a:endParaRPr kumimoji="1" lang="en-US" altLang="ja-JP" sz="1100" dirty="0"/>
          </a:p>
          <a:p>
            <a:pPr algn="ctr">
              <a:lnSpc>
                <a:spcPct val="120000"/>
              </a:lnSpc>
            </a:pPr>
            <a:r>
              <a:rPr kumimoji="1" lang="en-US" altLang="ja-JP" sz="1100" dirty="0"/>
              <a:t>TMC</a:t>
            </a:r>
            <a:r>
              <a:rPr kumimoji="1" lang="ja-JP" altLang="en-US" sz="1100" dirty="0"/>
              <a:t>システム開発が長い会社</a:t>
            </a:r>
          </a:p>
        </p:txBody>
      </p:sp>
      <p:cxnSp>
        <p:nvCxnSpPr>
          <p:cNvPr id="34" name="直線コネクタ 33">
            <a:extLst>
              <a:ext uri="{FF2B5EF4-FFF2-40B4-BE49-F238E27FC236}">
                <a16:creationId xmlns:a16="http://schemas.microsoft.com/office/drawing/2014/main" id="{3DF294AF-76FB-48E1-C2BD-0040138766BD}"/>
              </a:ext>
            </a:extLst>
          </p:cNvPr>
          <p:cNvCxnSpPr>
            <a:cxnSpLocks/>
            <a:endCxn id="33" idx="1"/>
          </p:cNvCxnSpPr>
          <p:nvPr/>
        </p:nvCxnSpPr>
        <p:spPr>
          <a:xfrm flipV="1">
            <a:off x="9349147" y="5182120"/>
            <a:ext cx="537261" cy="86563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4383951"/>
      </p:ext>
    </p:extLst>
  </p:cSld>
  <p:clrMapOvr>
    <a:masterClrMapping/>
  </p:clrMapOvr>
</p:sld>
</file>

<file path=ppt/theme/theme1.xml><?xml version="1.0" encoding="utf-8"?>
<a:theme xmlns:a="http://schemas.openxmlformats.org/drawingml/2006/main" name="シンプル2">
  <a:themeElements>
    <a:clrScheme name="ユーザー定義 2">
      <a:dk1>
        <a:srgbClr val="292929"/>
      </a:dk1>
      <a:lt1>
        <a:sysClr val="window" lastClr="FFFFFF"/>
      </a:lt1>
      <a:dk2>
        <a:srgbClr val="777777"/>
      </a:dk2>
      <a:lt2>
        <a:srgbClr val="E7E6E6"/>
      </a:lt2>
      <a:accent1>
        <a:srgbClr val="E06A3B"/>
      </a:accent1>
      <a:accent2>
        <a:srgbClr val="197993"/>
      </a:accent2>
      <a:accent3>
        <a:srgbClr val="B3261E"/>
      </a:accent3>
      <a:accent4>
        <a:srgbClr val="EDAD0B"/>
      </a:accent4>
      <a:accent5>
        <a:srgbClr val="3261AB"/>
      </a:accent5>
      <a:accent6>
        <a:srgbClr val="188855"/>
      </a:accent6>
      <a:hlink>
        <a:srgbClr val="0563C1"/>
      </a:hlink>
      <a:folHlink>
        <a:srgbClr val="954F72"/>
      </a:folHlink>
    </a:clrScheme>
    <a:fontScheme name="Noto Sans JP">
      <a:majorFont>
        <a:latin typeface="Noto Sans JP Bold"/>
        <a:ea typeface="Noto Sans JP Bold"/>
        <a:cs typeface=""/>
      </a:majorFont>
      <a:minorFont>
        <a:latin typeface="Noto Sans JP"/>
        <a:ea typeface="Noto Sans JP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シンプル2" id="{6C4F4973-0DAD-4B63-B7DA-420AEA997736}" vid="{F1F22783-C61C-441F-BC48-4F4B545BD605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B8ED8A1214FEF642906783F3A789F102" ma:contentTypeVersion="19" ma:contentTypeDescription="新しいドキュメントを作成します。" ma:contentTypeScope="" ma:versionID="af3cab0ba461f875ab5d3ea03ca3e26d">
  <xsd:schema xmlns:xsd="http://www.w3.org/2001/XMLSchema" xmlns:xs="http://www.w3.org/2001/XMLSchema" xmlns:p="http://schemas.microsoft.com/office/2006/metadata/properties" xmlns:ns2="e92e7d18-4867-4b99-8692-27845fd3fde2" xmlns:ns3="a1ebcb03-1241-4a17-8970-a21c81be15bd" targetNamespace="http://schemas.microsoft.com/office/2006/metadata/properties" ma:root="true" ma:fieldsID="e194d1560cb8b72c20787e7210902380" ns2:_="" ns3:_="">
    <xsd:import namespace="e92e7d18-4867-4b99-8692-27845fd3fde2"/>
    <xsd:import namespace="a1ebcb03-1241-4a17-8970-a21c81be15b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92e7d18-4867-4b99-8692-27845fd3fde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画像タグ" ma:readOnly="false" ma:fieldId="{5cf76f15-5ced-4ddc-b409-7134ff3c332f}" ma:taxonomyMulti="true" ma:sspId="12ff8844-7f78-48cf-b5c5-6eb2e72d678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1ebcb03-1241-4a17-8970-a21c81be15bd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共有相手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共有相手の詳細情報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8b825b40-9d67-42b8-bce7-df8eff999c39}" ma:internalName="TaxCatchAll" ma:showField="CatchAllData" ma:web="a1ebcb03-1241-4a17-8970-a21c81be15b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92e7d18-4867-4b99-8692-27845fd3fde2">
      <Terms xmlns="http://schemas.microsoft.com/office/infopath/2007/PartnerControls"/>
    </lcf76f155ced4ddcb4097134ff3c332f>
    <TaxCatchAll xmlns="a1ebcb03-1241-4a17-8970-a21c81be15bd" xsi:nil="true"/>
  </documentManagement>
</p:properties>
</file>

<file path=customXml/itemProps1.xml><?xml version="1.0" encoding="utf-8"?>
<ds:datastoreItem xmlns:ds="http://schemas.openxmlformats.org/officeDocument/2006/customXml" ds:itemID="{B6401116-D1FE-4432-947E-1BC997878765}"/>
</file>

<file path=customXml/itemProps2.xml><?xml version="1.0" encoding="utf-8"?>
<ds:datastoreItem xmlns:ds="http://schemas.openxmlformats.org/officeDocument/2006/customXml" ds:itemID="{D9AC355A-F479-48FC-A9C4-D0705771787B}"/>
</file>

<file path=customXml/itemProps3.xml><?xml version="1.0" encoding="utf-8"?>
<ds:datastoreItem xmlns:ds="http://schemas.openxmlformats.org/officeDocument/2006/customXml" ds:itemID="{81B5E0C1-DD71-40B7-B8D4-336AF15E4A73}"/>
</file>

<file path=docMetadata/LabelInfo.xml><?xml version="1.0" encoding="utf-8"?>
<clbl:labelList xmlns:clbl="http://schemas.microsoft.com/office/2020/mipLabelMetadata">
  <clbl:label id="{d4c93307-c3b3-4337-9766-0ef0b5644b19}" enabled="1" method="Standard" siteId="{02b02150-dbc8-4a3b-be71-e3eba060a81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シンプル2</Template>
  <TotalTime>3177</TotalTime>
  <Words>1929</Words>
  <Application>Microsoft Office PowerPoint</Application>
  <PresentationFormat>ワイド画面</PresentationFormat>
  <Paragraphs>367</Paragraphs>
  <Slides>19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19</vt:i4>
      </vt:variant>
    </vt:vector>
  </HeadingPairs>
  <TitlesOfParts>
    <vt:vector size="26" baseType="lpstr">
      <vt:lpstr>Noto Sans JP</vt:lpstr>
      <vt:lpstr>Noto Sans JP Bold</vt:lpstr>
      <vt:lpstr>メイリオ</vt:lpstr>
      <vt:lpstr>游ゴシック</vt:lpstr>
      <vt:lpstr>Arial</vt:lpstr>
      <vt:lpstr>Wingdings 2</vt:lpstr>
      <vt:lpstr>シンプル2</vt:lpstr>
      <vt:lpstr>RXSWIN認証業務_トライ向け開発 25年度4Q分</vt:lpstr>
      <vt:lpstr>ご提案概要</vt:lpstr>
      <vt:lpstr>活動背景</vt:lpstr>
      <vt:lpstr>活動背景</vt:lpstr>
      <vt:lpstr>活動背景</vt:lpstr>
      <vt:lpstr>活動背景</vt:lpstr>
      <vt:lpstr>活動背景</vt:lpstr>
      <vt:lpstr>大日程</vt:lpstr>
      <vt:lpstr>これまでの実施事項</vt:lpstr>
      <vt:lpstr>これまでの実施事項</vt:lpstr>
      <vt:lpstr>開発計画</vt:lpstr>
      <vt:lpstr>1-3月実施事項</vt:lpstr>
      <vt:lpstr>1-3月実施計画</vt:lpstr>
      <vt:lpstr>体制</vt:lpstr>
      <vt:lpstr>ご契約内容・お見積り</vt:lpstr>
      <vt:lpstr>リスクと対策</vt:lpstr>
      <vt:lpstr>PowerPoint プレゼンテーション</vt:lpstr>
      <vt:lpstr>PowerPoint プレゼンテーション</vt:lpstr>
      <vt:lpstr>体制詳細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Yokoyama, Kazuki/横山 一樹</dc:creator>
  <cp:lastModifiedBy>Yokoyama, Kazuki/横山 一樹</cp:lastModifiedBy>
  <cp:revision>71</cp:revision>
  <dcterms:created xsi:type="dcterms:W3CDTF">2025-12-04T06:54:44Z</dcterms:created>
  <dcterms:modified xsi:type="dcterms:W3CDTF">2025-12-10T04:14:50Z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0x010100B8ED8A1214FEF642906783F3A789F102</vt:lpwstr>
  </property>
</Properties>
</file>