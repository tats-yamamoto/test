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 Id="rId6"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4" r:id="rId6"/>
    <p:sldId id="258" r:id="rId7"/>
    <p:sldId id="266" r:id="rId8"/>
    <p:sldId id="263" r:id="rId9"/>
    <p:sldId id="261" r:id="rId10"/>
    <p:sldId id="265" r:id="rId11"/>
    <p:sldId id="259" r:id="rId12"/>
    <p:sldId id="264" r:id="rId13"/>
    <p:sldId id="273" r:id="rId14"/>
    <p:sldId id="275" r:id="rId15"/>
    <p:sldId id="267" r:id="rId16"/>
    <p:sldId id="268" r:id="rId17"/>
    <p:sldId id="269" r:id="rId18"/>
    <p:sldId id="270" r:id="rId19"/>
    <p:sldId id="271" r:id="rId20"/>
    <p:sldId id="2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DB34F186-3A26-4762-ADD7-34040D658A7D}">
          <p14:sldIdLst>
            <p14:sldId id="256"/>
            <p14:sldId id="274"/>
            <p14:sldId id="258"/>
            <p14:sldId id="266"/>
            <p14:sldId id="263"/>
            <p14:sldId id="261"/>
            <p14:sldId id="265"/>
            <p14:sldId id="259"/>
            <p14:sldId id="264"/>
            <p14:sldId id="273"/>
            <p14:sldId id="275"/>
          </p14:sldIdLst>
        </p14:section>
        <p14:section name="4/17孝久S" id="{462EAD87-31B5-40E6-AAD7-06646221C172}">
          <p14:sldIdLst>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95CFCD-8E25-4662-B1B2-FAE1617AEEC1}" v="15" dt="2025-04-22T05:56:45.7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58" autoAdjust="0"/>
    <p:restoredTop sz="94660"/>
  </p:normalViewPr>
  <p:slideViewPr>
    <p:cSldViewPr snapToGrid="0">
      <p:cViewPr varScale="1">
        <p:scale>
          <a:sx n="126" d="100"/>
          <a:sy n="126" d="100"/>
        </p:scale>
        <p:origin x="138" y="30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koyama, Kazuki/横山 一樹" userId="eebd3b26-963b-49b8-bece-d035e86ca04e" providerId="ADAL" clId="{1695CFCD-8E25-4662-B1B2-FAE1617AEEC1}"/>
    <pc:docChg chg="undo redo custSel addSld delSld modSld sldOrd addSection modSection">
      <pc:chgData name="Yokoyama, Kazuki/横山 一樹" userId="eebd3b26-963b-49b8-bece-d035e86ca04e" providerId="ADAL" clId="{1695CFCD-8E25-4662-B1B2-FAE1617AEEC1}" dt="2025-04-22T06:15:17.216" v="4028" actId="6549"/>
      <pc:docMkLst>
        <pc:docMk/>
      </pc:docMkLst>
      <pc:sldChg chg="modSp mod">
        <pc:chgData name="Yokoyama, Kazuki/横山 一樹" userId="eebd3b26-963b-49b8-bece-d035e86ca04e" providerId="ADAL" clId="{1695CFCD-8E25-4662-B1B2-FAE1617AEEC1}" dt="2025-04-22T06:15:06.165" v="4027" actId="20577"/>
        <pc:sldMkLst>
          <pc:docMk/>
          <pc:sldMk cId="4261746489" sldId="256"/>
        </pc:sldMkLst>
        <pc:spChg chg="mod">
          <ac:chgData name="Yokoyama, Kazuki/横山 一樹" userId="eebd3b26-963b-49b8-bece-d035e86ca04e" providerId="ADAL" clId="{1695CFCD-8E25-4662-B1B2-FAE1617AEEC1}" dt="2025-04-22T04:50:10.491" v="1944"/>
          <ac:spMkLst>
            <pc:docMk/>
            <pc:sldMk cId="4261746489" sldId="256"/>
            <ac:spMk id="2" creationId="{44EBFD0B-B8B1-7EAD-F73A-6D54C0F47282}"/>
          </ac:spMkLst>
        </pc:spChg>
        <pc:spChg chg="mod">
          <ac:chgData name="Yokoyama, Kazuki/横山 一樹" userId="eebd3b26-963b-49b8-bece-d035e86ca04e" providerId="ADAL" clId="{1695CFCD-8E25-4662-B1B2-FAE1617AEEC1}" dt="2025-04-22T06:15:06.165" v="4027" actId="20577"/>
          <ac:spMkLst>
            <pc:docMk/>
            <pc:sldMk cId="4261746489" sldId="256"/>
            <ac:spMk id="3" creationId="{73E06436-BDD5-5273-393A-83F2BC530F83}"/>
          </ac:spMkLst>
        </pc:spChg>
      </pc:sldChg>
      <pc:sldChg chg="del">
        <pc:chgData name="Yokoyama, Kazuki/横山 一樹" userId="eebd3b26-963b-49b8-bece-d035e86ca04e" providerId="ADAL" clId="{1695CFCD-8E25-4662-B1B2-FAE1617AEEC1}" dt="2025-04-22T02:17:06.100" v="1047" actId="47"/>
        <pc:sldMkLst>
          <pc:docMk/>
          <pc:sldMk cId="2626258803" sldId="257"/>
        </pc:sldMkLst>
      </pc:sldChg>
      <pc:sldChg chg="modSp mod">
        <pc:chgData name="Yokoyama, Kazuki/横山 一樹" userId="eebd3b26-963b-49b8-bece-d035e86ca04e" providerId="ADAL" clId="{1695CFCD-8E25-4662-B1B2-FAE1617AEEC1}" dt="2025-04-22T05:54:38.988" v="3334" actId="20577"/>
        <pc:sldMkLst>
          <pc:docMk/>
          <pc:sldMk cId="3293692621" sldId="258"/>
        </pc:sldMkLst>
        <pc:spChg chg="mod">
          <ac:chgData name="Yokoyama, Kazuki/横山 一樹" userId="eebd3b26-963b-49b8-bece-d035e86ca04e" providerId="ADAL" clId="{1695CFCD-8E25-4662-B1B2-FAE1617AEEC1}" dt="2025-04-22T05:54:38.988" v="3334" actId="20577"/>
          <ac:spMkLst>
            <pc:docMk/>
            <pc:sldMk cId="3293692621" sldId="258"/>
            <ac:spMk id="3" creationId="{147FF096-B9BA-EE98-F1ED-F109C7675283}"/>
          </ac:spMkLst>
        </pc:spChg>
      </pc:sldChg>
      <pc:sldChg chg="modSp mod">
        <pc:chgData name="Yokoyama, Kazuki/横山 一樹" userId="eebd3b26-963b-49b8-bece-d035e86ca04e" providerId="ADAL" clId="{1695CFCD-8E25-4662-B1B2-FAE1617AEEC1}" dt="2025-04-22T06:11:53.917" v="3894" actId="6549"/>
        <pc:sldMkLst>
          <pc:docMk/>
          <pc:sldMk cId="485565081" sldId="259"/>
        </pc:sldMkLst>
        <pc:spChg chg="mod">
          <ac:chgData name="Yokoyama, Kazuki/横山 一樹" userId="eebd3b26-963b-49b8-bece-d035e86ca04e" providerId="ADAL" clId="{1695CFCD-8E25-4662-B1B2-FAE1617AEEC1}" dt="2025-04-22T00:50:57.554" v="629" actId="6549"/>
          <ac:spMkLst>
            <pc:docMk/>
            <pc:sldMk cId="485565081" sldId="259"/>
            <ac:spMk id="2" creationId="{C049DC47-427C-5CA0-4B29-E78380A9FF5B}"/>
          </ac:spMkLst>
        </pc:spChg>
        <pc:spChg chg="mod">
          <ac:chgData name="Yokoyama, Kazuki/横山 一樹" userId="eebd3b26-963b-49b8-bece-d035e86ca04e" providerId="ADAL" clId="{1695CFCD-8E25-4662-B1B2-FAE1617AEEC1}" dt="2025-04-22T06:11:53.917" v="3894" actId="6549"/>
          <ac:spMkLst>
            <pc:docMk/>
            <pc:sldMk cId="485565081" sldId="259"/>
            <ac:spMk id="3" creationId="{A63622B8-32D5-0168-CE56-E36AC929FDEF}"/>
          </ac:spMkLst>
        </pc:spChg>
      </pc:sldChg>
      <pc:sldChg chg="del">
        <pc:chgData name="Yokoyama, Kazuki/横山 一樹" userId="eebd3b26-963b-49b8-bece-d035e86ca04e" providerId="ADAL" clId="{1695CFCD-8E25-4662-B1B2-FAE1617AEEC1}" dt="2025-04-22T02:05:10.613" v="743" actId="47"/>
        <pc:sldMkLst>
          <pc:docMk/>
          <pc:sldMk cId="2614423374" sldId="260"/>
        </pc:sldMkLst>
      </pc:sldChg>
      <pc:sldChg chg="addSp delSp modSp add del mod">
        <pc:chgData name="Yokoyama, Kazuki/横山 一樹" userId="eebd3b26-963b-49b8-bece-d035e86ca04e" providerId="ADAL" clId="{1695CFCD-8E25-4662-B1B2-FAE1617AEEC1}" dt="2025-04-22T06:03:30.002" v="3771" actId="14100"/>
        <pc:sldMkLst>
          <pc:docMk/>
          <pc:sldMk cId="2986095877" sldId="261"/>
        </pc:sldMkLst>
        <pc:spChg chg="mod">
          <ac:chgData name="Yokoyama, Kazuki/横山 一樹" userId="eebd3b26-963b-49b8-bece-d035e86ca04e" providerId="ADAL" clId="{1695CFCD-8E25-4662-B1B2-FAE1617AEEC1}" dt="2025-04-22T02:38:59.967" v="1598" actId="6549"/>
          <ac:spMkLst>
            <pc:docMk/>
            <pc:sldMk cId="2986095877" sldId="261"/>
            <ac:spMk id="2" creationId="{C211C455-D0B6-1D1B-72CD-3D8BAC810CAA}"/>
          </ac:spMkLst>
        </pc:spChg>
        <pc:spChg chg="mod">
          <ac:chgData name="Yokoyama, Kazuki/横山 一樹" userId="eebd3b26-963b-49b8-bece-d035e86ca04e" providerId="ADAL" clId="{1695CFCD-8E25-4662-B1B2-FAE1617AEEC1}" dt="2025-04-22T06:00:15.609" v="3665" actId="14100"/>
          <ac:spMkLst>
            <pc:docMk/>
            <pc:sldMk cId="2986095877" sldId="261"/>
            <ac:spMk id="3" creationId="{13872A3D-EC95-6FDF-9F42-29AACBFDB063}"/>
          </ac:spMkLst>
        </pc:spChg>
        <pc:spChg chg="add mod">
          <ac:chgData name="Yokoyama, Kazuki/横山 一樹" userId="eebd3b26-963b-49b8-bece-d035e86ca04e" providerId="ADAL" clId="{1695CFCD-8E25-4662-B1B2-FAE1617AEEC1}" dt="2025-04-22T06:03:30.002" v="3771" actId="14100"/>
          <ac:spMkLst>
            <pc:docMk/>
            <pc:sldMk cId="2986095877" sldId="261"/>
            <ac:spMk id="4" creationId="{8D5FF468-8EAD-F06A-63F2-74FDDA58CAF8}"/>
          </ac:spMkLst>
        </pc:spChg>
        <pc:picChg chg="mod">
          <ac:chgData name="Yokoyama, Kazuki/横山 一樹" userId="eebd3b26-963b-49b8-bece-d035e86ca04e" providerId="ADAL" clId="{1695CFCD-8E25-4662-B1B2-FAE1617AEEC1}" dt="2025-04-22T05:56:40.680" v="3340" actId="1076"/>
          <ac:picMkLst>
            <pc:docMk/>
            <pc:sldMk cId="2986095877" sldId="261"/>
            <ac:picMk id="5" creationId="{C1921C9F-BA13-D045-0836-100848067F10}"/>
          </ac:picMkLst>
        </pc:picChg>
        <pc:picChg chg="del mod">
          <ac:chgData name="Yokoyama, Kazuki/横山 一樹" userId="eebd3b26-963b-49b8-bece-d035e86ca04e" providerId="ADAL" clId="{1695CFCD-8E25-4662-B1B2-FAE1617AEEC1}" dt="2025-04-22T05:56:38.406" v="3339" actId="478"/>
          <ac:picMkLst>
            <pc:docMk/>
            <pc:sldMk cId="2986095877" sldId="261"/>
            <ac:picMk id="7" creationId="{AEEE1507-F05C-7833-47F0-6918E922F249}"/>
          </ac:picMkLst>
        </pc:picChg>
      </pc:sldChg>
      <pc:sldChg chg="del">
        <pc:chgData name="Yokoyama, Kazuki/横山 一樹" userId="eebd3b26-963b-49b8-bece-d035e86ca04e" providerId="ADAL" clId="{1695CFCD-8E25-4662-B1B2-FAE1617AEEC1}" dt="2025-04-22T02:17:24.101" v="1048" actId="47"/>
        <pc:sldMkLst>
          <pc:docMk/>
          <pc:sldMk cId="2622340875" sldId="262"/>
        </pc:sldMkLst>
      </pc:sldChg>
      <pc:sldChg chg="addSp modSp mod">
        <pc:chgData name="Yokoyama, Kazuki/横山 一樹" userId="eebd3b26-963b-49b8-bece-d035e86ca04e" providerId="ADAL" clId="{1695CFCD-8E25-4662-B1B2-FAE1617AEEC1}" dt="2025-04-22T02:39:15.515" v="1603" actId="6549"/>
        <pc:sldMkLst>
          <pc:docMk/>
          <pc:sldMk cId="3120050459" sldId="263"/>
        </pc:sldMkLst>
        <pc:spChg chg="mod">
          <ac:chgData name="Yokoyama, Kazuki/横山 一樹" userId="eebd3b26-963b-49b8-bece-d035e86ca04e" providerId="ADAL" clId="{1695CFCD-8E25-4662-B1B2-FAE1617AEEC1}" dt="2025-04-22T02:39:15.515" v="1603" actId="6549"/>
          <ac:spMkLst>
            <pc:docMk/>
            <pc:sldMk cId="3120050459" sldId="263"/>
            <ac:spMk id="3" creationId="{E1CC29B8-533B-7E7E-10E0-70462BE5C49F}"/>
          </ac:spMkLst>
        </pc:spChg>
        <pc:spChg chg="add mod">
          <ac:chgData name="Yokoyama, Kazuki/横山 一樹" userId="eebd3b26-963b-49b8-bece-d035e86ca04e" providerId="ADAL" clId="{1695CFCD-8E25-4662-B1B2-FAE1617AEEC1}" dt="2025-04-22T02:14:04.827" v="966" actId="20577"/>
          <ac:spMkLst>
            <pc:docMk/>
            <pc:sldMk cId="3120050459" sldId="263"/>
            <ac:spMk id="4" creationId="{EAE4574C-9CC2-25B5-8877-110DA93A4631}"/>
          </ac:spMkLst>
        </pc:spChg>
      </pc:sldChg>
      <pc:sldChg chg="addSp delSp modSp mod modClrScheme chgLayout">
        <pc:chgData name="Yokoyama, Kazuki/横山 一樹" userId="eebd3b26-963b-49b8-bece-d035e86ca04e" providerId="ADAL" clId="{1695CFCD-8E25-4662-B1B2-FAE1617AEEC1}" dt="2025-04-22T00:51:57.046" v="637" actId="478"/>
        <pc:sldMkLst>
          <pc:docMk/>
          <pc:sldMk cId="2665087372" sldId="264"/>
        </pc:sldMkLst>
        <pc:spChg chg="del mod ord">
          <ac:chgData name="Yokoyama, Kazuki/横山 一樹" userId="eebd3b26-963b-49b8-bece-d035e86ca04e" providerId="ADAL" clId="{1695CFCD-8E25-4662-B1B2-FAE1617AEEC1}" dt="2025-04-22T00:51:57.046" v="637" actId="478"/>
          <ac:spMkLst>
            <pc:docMk/>
            <pc:sldMk cId="2665087372" sldId="264"/>
            <ac:spMk id="2" creationId="{A6DF413C-FA0C-8EF7-A447-B51C07460758}"/>
          </ac:spMkLst>
        </pc:spChg>
        <pc:spChg chg="del mod ord">
          <ac:chgData name="Yokoyama, Kazuki/横山 一樹" userId="eebd3b26-963b-49b8-bece-d035e86ca04e" providerId="ADAL" clId="{1695CFCD-8E25-4662-B1B2-FAE1617AEEC1}" dt="2025-04-22T00:51:51.660" v="630" actId="700"/>
          <ac:spMkLst>
            <pc:docMk/>
            <pc:sldMk cId="2665087372" sldId="264"/>
            <ac:spMk id="3" creationId="{432655D5-7B69-9003-3EC0-AB45A437F84A}"/>
          </ac:spMkLst>
        </pc:spChg>
        <pc:spChg chg="add mod ord">
          <ac:chgData name="Yokoyama, Kazuki/横山 一樹" userId="eebd3b26-963b-49b8-bece-d035e86ca04e" providerId="ADAL" clId="{1695CFCD-8E25-4662-B1B2-FAE1617AEEC1}" dt="2025-04-22T00:51:54.774" v="636" actId="20577"/>
          <ac:spMkLst>
            <pc:docMk/>
            <pc:sldMk cId="2665087372" sldId="264"/>
            <ac:spMk id="4" creationId="{4E863ADD-7993-F253-F4A3-D018829ED23B}"/>
          </ac:spMkLst>
        </pc:spChg>
      </pc:sldChg>
      <pc:sldChg chg="modSp mod">
        <pc:chgData name="Yokoyama, Kazuki/横山 一樹" userId="eebd3b26-963b-49b8-bece-d035e86ca04e" providerId="ADAL" clId="{1695CFCD-8E25-4662-B1B2-FAE1617AEEC1}" dt="2025-04-22T06:04:03.993" v="3793" actId="6549"/>
        <pc:sldMkLst>
          <pc:docMk/>
          <pc:sldMk cId="1476579242" sldId="265"/>
        </pc:sldMkLst>
        <pc:spChg chg="mod">
          <ac:chgData name="Yokoyama, Kazuki/横山 一樹" userId="eebd3b26-963b-49b8-bece-d035e86ca04e" providerId="ADAL" clId="{1695CFCD-8E25-4662-B1B2-FAE1617AEEC1}" dt="2025-04-22T06:04:03.993" v="3793" actId="6549"/>
          <ac:spMkLst>
            <pc:docMk/>
            <pc:sldMk cId="1476579242" sldId="265"/>
            <ac:spMk id="3" creationId="{ECA9FADA-13FB-AA4A-6EC9-6A89EA15760E}"/>
          </ac:spMkLst>
        </pc:spChg>
        <pc:spChg chg="mod">
          <ac:chgData name="Yokoyama, Kazuki/横山 一樹" userId="eebd3b26-963b-49b8-bece-d035e86ca04e" providerId="ADAL" clId="{1695CFCD-8E25-4662-B1B2-FAE1617AEEC1}" dt="2025-04-22T02:00:31.342" v="726" actId="6549"/>
          <ac:spMkLst>
            <pc:docMk/>
            <pc:sldMk cId="1476579242" sldId="265"/>
            <ac:spMk id="14" creationId="{2E678B30-33A2-B83E-4798-DB8166BD2CDF}"/>
          </ac:spMkLst>
        </pc:spChg>
        <pc:spChg chg="mod">
          <ac:chgData name="Yokoyama, Kazuki/横山 一樹" userId="eebd3b26-963b-49b8-bece-d035e86ca04e" providerId="ADAL" clId="{1695CFCD-8E25-4662-B1B2-FAE1617AEEC1}" dt="2025-04-22T02:40:18.288" v="1632" actId="1076"/>
          <ac:spMkLst>
            <pc:docMk/>
            <pc:sldMk cId="1476579242" sldId="265"/>
            <ac:spMk id="17" creationId="{FCACF393-42AD-3B28-F188-D773B4E9BF37}"/>
          </ac:spMkLst>
        </pc:spChg>
        <pc:spChg chg="mod">
          <ac:chgData name="Yokoyama, Kazuki/横山 一樹" userId="eebd3b26-963b-49b8-bece-d035e86ca04e" providerId="ADAL" clId="{1695CFCD-8E25-4662-B1B2-FAE1617AEEC1}" dt="2025-04-22T02:40:18.288" v="1632" actId="1076"/>
          <ac:spMkLst>
            <pc:docMk/>
            <pc:sldMk cId="1476579242" sldId="265"/>
            <ac:spMk id="18" creationId="{7BD7CCBD-EBDF-B271-74B5-C34732053828}"/>
          </ac:spMkLst>
        </pc:spChg>
        <pc:picChg chg="mod">
          <ac:chgData name="Yokoyama, Kazuki/横山 一樹" userId="eebd3b26-963b-49b8-bece-d035e86ca04e" providerId="ADAL" clId="{1695CFCD-8E25-4662-B1B2-FAE1617AEEC1}" dt="2025-04-22T02:40:18.288" v="1632" actId="1076"/>
          <ac:picMkLst>
            <pc:docMk/>
            <pc:sldMk cId="1476579242" sldId="265"/>
            <ac:picMk id="5" creationId="{E47CCC52-3FD9-C515-CBFE-7EB6D9176034}"/>
          </ac:picMkLst>
        </pc:picChg>
        <pc:picChg chg="mod">
          <ac:chgData name="Yokoyama, Kazuki/横山 一樹" userId="eebd3b26-963b-49b8-bece-d035e86ca04e" providerId="ADAL" clId="{1695CFCD-8E25-4662-B1B2-FAE1617AEEC1}" dt="2025-04-22T02:40:18.288" v="1632" actId="1076"/>
          <ac:picMkLst>
            <pc:docMk/>
            <pc:sldMk cId="1476579242" sldId="265"/>
            <ac:picMk id="13" creationId="{05DA2997-7FC5-9894-27B6-DD0EEA3D37B4}"/>
          </ac:picMkLst>
        </pc:picChg>
        <pc:picChg chg="mod">
          <ac:chgData name="Yokoyama, Kazuki/横山 一樹" userId="eebd3b26-963b-49b8-bece-d035e86ca04e" providerId="ADAL" clId="{1695CFCD-8E25-4662-B1B2-FAE1617AEEC1}" dt="2025-04-22T02:40:18.288" v="1632" actId="1076"/>
          <ac:picMkLst>
            <pc:docMk/>
            <pc:sldMk cId="1476579242" sldId="265"/>
            <ac:picMk id="16" creationId="{06425BBF-6BF9-7153-AF93-C7A2F93BD8A1}"/>
          </ac:picMkLst>
        </pc:picChg>
      </pc:sldChg>
      <pc:sldChg chg="modSp mod">
        <pc:chgData name="Yokoyama, Kazuki/横山 一樹" userId="eebd3b26-963b-49b8-bece-d035e86ca04e" providerId="ADAL" clId="{1695CFCD-8E25-4662-B1B2-FAE1617AEEC1}" dt="2025-04-22T05:54:02.156" v="3298" actId="20577"/>
        <pc:sldMkLst>
          <pc:docMk/>
          <pc:sldMk cId="3255070375" sldId="266"/>
        </pc:sldMkLst>
        <pc:spChg chg="mod">
          <ac:chgData name="Yokoyama, Kazuki/横山 一樹" userId="eebd3b26-963b-49b8-bece-d035e86ca04e" providerId="ADAL" clId="{1695CFCD-8E25-4662-B1B2-FAE1617AEEC1}" dt="2025-04-22T02:28:02.810" v="1200" actId="20577"/>
          <ac:spMkLst>
            <pc:docMk/>
            <pc:sldMk cId="3255070375" sldId="266"/>
            <ac:spMk id="2" creationId="{C154C263-90AC-E7EA-7C85-4C4B28B1E4A7}"/>
          </ac:spMkLst>
        </pc:spChg>
        <pc:spChg chg="mod">
          <ac:chgData name="Yokoyama, Kazuki/横山 一樹" userId="eebd3b26-963b-49b8-bece-d035e86ca04e" providerId="ADAL" clId="{1695CFCD-8E25-4662-B1B2-FAE1617AEEC1}" dt="2025-04-22T05:54:02.156" v="3298" actId="20577"/>
          <ac:spMkLst>
            <pc:docMk/>
            <pc:sldMk cId="3255070375" sldId="266"/>
            <ac:spMk id="3" creationId="{6E8AD82E-AC5A-C9CF-24E8-576351E16544}"/>
          </ac:spMkLst>
        </pc:spChg>
      </pc:sldChg>
      <pc:sldChg chg="add">
        <pc:chgData name="Yokoyama, Kazuki/横山 一樹" userId="eebd3b26-963b-49b8-bece-d035e86ca04e" providerId="ADAL" clId="{1695CFCD-8E25-4662-B1B2-FAE1617AEEC1}" dt="2025-04-22T02:04:10.574" v="729"/>
        <pc:sldMkLst>
          <pc:docMk/>
          <pc:sldMk cId="763222831" sldId="267"/>
        </pc:sldMkLst>
      </pc:sldChg>
      <pc:sldChg chg="add">
        <pc:chgData name="Yokoyama, Kazuki/横山 一樹" userId="eebd3b26-963b-49b8-bece-d035e86ca04e" providerId="ADAL" clId="{1695CFCD-8E25-4662-B1B2-FAE1617AEEC1}" dt="2025-04-22T02:04:10.574" v="729"/>
        <pc:sldMkLst>
          <pc:docMk/>
          <pc:sldMk cId="1200391397" sldId="268"/>
        </pc:sldMkLst>
      </pc:sldChg>
      <pc:sldChg chg="add">
        <pc:chgData name="Yokoyama, Kazuki/横山 一樹" userId="eebd3b26-963b-49b8-bece-d035e86ca04e" providerId="ADAL" clId="{1695CFCD-8E25-4662-B1B2-FAE1617AEEC1}" dt="2025-04-22T02:04:10.574" v="729"/>
        <pc:sldMkLst>
          <pc:docMk/>
          <pc:sldMk cId="874139970" sldId="269"/>
        </pc:sldMkLst>
      </pc:sldChg>
      <pc:sldChg chg="add">
        <pc:chgData name="Yokoyama, Kazuki/横山 一樹" userId="eebd3b26-963b-49b8-bece-d035e86ca04e" providerId="ADAL" clId="{1695CFCD-8E25-4662-B1B2-FAE1617AEEC1}" dt="2025-04-22T02:04:10.574" v="729"/>
        <pc:sldMkLst>
          <pc:docMk/>
          <pc:sldMk cId="1517024146" sldId="270"/>
        </pc:sldMkLst>
      </pc:sldChg>
      <pc:sldChg chg="add">
        <pc:chgData name="Yokoyama, Kazuki/横山 一樹" userId="eebd3b26-963b-49b8-bece-d035e86ca04e" providerId="ADAL" clId="{1695CFCD-8E25-4662-B1B2-FAE1617AEEC1}" dt="2025-04-22T02:04:10.574" v="729"/>
        <pc:sldMkLst>
          <pc:docMk/>
          <pc:sldMk cId="3249586478" sldId="271"/>
        </pc:sldMkLst>
      </pc:sldChg>
      <pc:sldChg chg="add">
        <pc:chgData name="Yokoyama, Kazuki/横山 一樹" userId="eebd3b26-963b-49b8-bece-d035e86ca04e" providerId="ADAL" clId="{1695CFCD-8E25-4662-B1B2-FAE1617AEEC1}" dt="2025-04-22T02:04:10.574" v="729"/>
        <pc:sldMkLst>
          <pc:docMk/>
          <pc:sldMk cId="764963725" sldId="272"/>
        </pc:sldMkLst>
      </pc:sldChg>
      <pc:sldChg chg="modSp new mod">
        <pc:chgData name="Yokoyama, Kazuki/横山 一樹" userId="eebd3b26-963b-49b8-bece-d035e86ca04e" providerId="ADAL" clId="{1695CFCD-8E25-4662-B1B2-FAE1617AEEC1}" dt="2025-04-22T02:04:27.706" v="740" actId="20577"/>
        <pc:sldMkLst>
          <pc:docMk/>
          <pc:sldMk cId="335015738" sldId="273"/>
        </pc:sldMkLst>
        <pc:spChg chg="mod">
          <ac:chgData name="Yokoyama, Kazuki/横山 一樹" userId="eebd3b26-963b-49b8-bece-d035e86ca04e" providerId="ADAL" clId="{1695CFCD-8E25-4662-B1B2-FAE1617AEEC1}" dt="2025-04-22T02:04:27.706" v="740" actId="20577"/>
          <ac:spMkLst>
            <pc:docMk/>
            <pc:sldMk cId="335015738" sldId="273"/>
            <ac:spMk id="2" creationId="{49691D2A-0097-D0BA-8671-A13B4666D7D8}"/>
          </ac:spMkLst>
        </pc:spChg>
      </pc:sldChg>
      <pc:sldChg chg="modSp add del mod">
        <pc:chgData name="Yokoyama, Kazuki/横山 一樹" userId="eebd3b26-963b-49b8-bece-d035e86ca04e" providerId="ADAL" clId="{1695CFCD-8E25-4662-B1B2-FAE1617AEEC1}" dt="2025-04-22T06:15:17.216" v="4028" actId="6549"/>
        <pc:sldMkLst>
          <pc:docMk/>
          <pc:sldMk cId="604539567" sldId="274"/>
        </pc:sldMkLst>
        <pc:spChg chg="mod">
          <ac:chgData name="Yokoyama, Kazuki/横山 一樹" userId="eebd3b26-963b-49b8-bece-d035e86ca04e" providerId="ADAL" clId="{1695CFCD-8E25-4662-B1B2-FAE1617AEEC1}" dt="2025-04-22T06:15:17.216" v="4028" actId="6549"/>
          <ac:spMkLst>
            <pc:docMk/>
            <pc:sldMk cId="604539567" sldId="274"/>
            <ac:spMk id="3" creationId="{C0C0574D-5778-BBCA-8561-B43A86ACB367}"/>
          </ac:spMkLst>
        </pc:spChg>
      </pc:sldChg>
      <pc:sldChg chg="addSp delSp modSp new add del mod ord modClrScheme chgLayout">
        <pc:chgData name="Yokoyama, Kazuki/横山 一樹" userId="eebd3b26-963b-49b8-bece-d035e86ca04e" providerId="ADAL" clId="{1695CFCD-8E25-4662-B1B2-FAE1617AEEC1}" dt="2025-04-22T05:38:54.167" v="3247" actId="1076"/>
        <pc:sldMkLst>
          <pc:docMk/>
          <pc:sldMk cId="661810387" sldId="275"/>
        </pc:sldMkLst>
        <pc:spChg chg="add del mod ord">
          <ac:chgData name="Yokoyama, Kazuki/横山 一樹" userId="eebd3b26-963b-49b8-bece-d035e86ca04e" providerId="ADAL" clId="{1695CFCD-8E25-4662-B1B2-FAE1617AEEC1}" dt="2025-04-22T04:50:10.922" v="1957" actId="700"/>
          <ac:spMkLst>
            <pc:docMk/>
            <pc:sldMk cId="661810387" sldId="275"/>
            <ac:spMk id="2" creationId="{FA4A3FCF-FE3F-473C-D5B1-F9E24EE2FB91}"/>
          </ac:spMkLst>
        </pc:spChg>
        <pc:spChg chg="add del">
          <ac:chgData name="Yokoyama, Kazuki/横山 一樹" userId="eebd3b26-963b-49b8-bece-d035e86ca04e" providerId="ADAL" clId="{1695CFCD-8E25-4662-B1B2-FAE1617AEEC1}" dt="2025-04-22T04:50:10.922" v="1957" actId="700"/>
          <ac:spMkLst>
            <pc:docMk/>
            <pc:sldMk cId="661810387" sldId="275"/>
            <ac:spMk id="3" creationId="{2BD92549-60DF-07DA-FE3D-9F10153BD605}"/>
          </ac:spMkLst>
        </pc:spChg>
        <pc:spChg chg="add del mod ord">
          <ac:chgData name="Yokoyama, Kazuki/横山 一樹" userId="eebd3b26-963b-49b8-bece-d035e86ca04e" providerId="ADAL" clId="{1695CFCD-8E25-4662-B1B2-FAE1617AEEC1}" dt="2025-04-22T05:27:18.154" v="3091" actId="20577"/>
          <ac:spMkLst>
            <pc:docMk/>
            <pc:sldMk cId="661810387" sldId="275"/>
            <ac:spMk id="4" creationId="{F25F3FFD-7B7D-FAAE-1483-FF8CC4A706D5}"/>
          </ac:spMkLst>
        </pc:spChg>
        <pc:spChg chg="add del mod">
          <ac:chgData name="Yokoyama, Kazuki/横山 一樹" userId="eebd3b26-963b-49b8-bece-d035e86ca04e" providerId="ADAL" clId="{1695CFCD-8E25-4662-B1B2-FAE1617AEEC1}" dt="2025-04-22T05:29:31.463" v="3158" actId="478"/>
          <ac:spMkLst>
            <pc:docMk/>
            <pc:sldMk cId="661810387" sldId="275"/>
            <ac:spMk id="6" creationId="{39E33A66-5EC0-B8C6-3CBC-8BF6046B607C}"/>
          </ac:spMkLst>
        </pc:spChg>
        <pc:spChg chg="add mod">
          <ac:chgData name="Yokoyama, Kazuki/横山 一樹" userId="eebd3b26-963b-49b8-bece-d035e86ca04e" providerId="ADAL" clId="{1695CFCD-8E25-4662-B1B2-FAE1617AEEC1}" dt="2025-04-22T05:38:37.003" v="3245" actId="1038"/>
          <ac:spMkLst>
            <pc:docMk/>
            <pc:sldMk cId="661810387" sldId="275"/>
            <ac:spMk id="8" creationId="{EC8F3040-6E17-E00A-E4CB-1840EB066988}"/>
          </ac:spMkLst>
        </pc:spChg>
        <pc:graphicFrameChg chg="add mod modGraphic">
          <ac:chgData name="Yokoyama, Kazuki/横山 一樹" userId="eebd3b26-963b-49b8-bece-d035e86ca04e" providerId="ADAL" clId="{1695CFCD-8E25-4662-B1B2-FAE1617AEEC1}" dt="2025-04-22T05:37:47.796" v="3223" actId="1076"/>
          <ac:graphicFrameMkLst>
            <pc:docMk/>
            <pc:sldMk cId="661810387" sldId="275"/>
            <ac:graphicFrameMk id="5" creationId="{79165478-712C-D51E-90BB-699A5FFAFDB8}"/>
          </ac:graphicFrameMkLst>
        </pc:graphicFrameChg>
        <pc:picChg chg="add mod">
          <ac:chgData name="Yokoyama, Kazuki/横山 一樹" userId="eebd3b26-963b-49b8-bece-d035e86ca04e" providerId="ADAL" clId="{1695CFCD-8E25-4662-B1B2-FAE1617AEEC1}" dt="2025-04-22T05:38:54.167" v="3247" actId="1076"/>
          <ac:picMkLst>
            <pc:docMk/>
            <pc:sldMk cId="661810387" sldId="275"/>
            <ac:picMk id="7" creationId="{2A5282CA-F3D3-B835-8B7E-8F58B01F1BFC}"/>
          </ac:picMkLst>
        </pc:picChg>
      </pc:sldChg>
    </pc:docChg>
  </pc:docChgLst>
  <pc:docChgLst>
    <pc:chgData name="Yokoyama, Kazuki/横山 一樹" userId="eebd3b26-963b-49b8-bece-d035e86ca04e" providerId="ADAL" clId="{92CA29D4-1844-4DAD-9D13-8D32A28E5B6C}"/>
    <pc:docChg chg="modSld">
      <pc:chgData name="Yokoyama, Kazuki/横山 一樹" userId="eebd3b26-963b-49b8-bece-d035e86ca04e" providerId="ADAL" clId="{92CA29D4-1844-4DAD-9D13-8D32A28E5B6C}" dt="2025-04-22T08:41:42.681" v="87" actId="1076"/>
      <pc:docMkLst>
        <pc:docMk/>
      </pc:docMkLst>
      <pc:sldChg chg="modSp mod">
        <pc:chgData name="Yokoyama, Kazuki/横山 一樹" userId="eebd3b26-963b-49b8-bece-d035e86ca04e" providerId="ADAL" clId="{92CA29D4-1844-4DAD-9D13-8D32A28E5B6C}" dt="2025-04-22T07:14:31.036" v="84" actId="20577"/>
        <pc:sldMkLst>
          <pc:docMk/>
          <pc:sldMk cId="485565081" sldId="259"/>
        </pc:sldMkLst>
        <pc:spChg chg="mod">
          <ac:chgData name="Yokoyama, Kazuki/横山 一樹" userId="eebd3b26-963b-49b8-bece-d035e86ca04e" providerId="ADAL" clId="{92CA29D4-1844-4DAD-9D13-8D32A28E5B6C}" dt="2025-04-22T07:14:31.036" v="84" actId="20577"/>
          <ac:spMkLst>
            <pc:docMk/>
            <pc:sldMk cId="485565081" sldId="259"/>
            <ac:spMk id="3" creationId="{A63622B8-32D5-0168-CE56-E36AC929FDEF}"/>
          </ac:spMkLst>
        </pc:spChg>
      </pc:sldChg>
      <pc:sldChg chg="modSp mod">
        <pc:chgData name="Yokoyama, Kazuki/横山 一樹" userId="eebd3b26-963b-49b8-bece-d035e86ca04e" providerId="ADAL" clId="{92CA29D4-1844-4DAD-9D13-8D32A28E5B6C}" dt="2025-04-22T07:09:23.859" v="11" actId="20577"/>
        <pc:sldMkLst>
          <pc:docMk/>
          <pc:sldMk cId="2986095877" sldId="261"/>
        </pc:sldMkLst>
        <pc:spChg chg="mod">
          <ac:chgData name="Yokoyama, Kazuki/横山 一樹" userId="eebd3b26-963b-49b8-bece-d035e86ca04e" providerId="ADAL" clId="{92CA29D4-1844-4DAD-9D13-8D32A28E5B6C}" dt="2025-04-22T07:09:23.859" v="11" actId="20577"/>
          <ac:spMkLst>
            <pc:docMk/>
            <pc:sldMk cId="2986095877" sldId="261"/>
            <ac:spMk id="4" creationId="{8D5FF468-8EAD-F06A-63F2-74FDDA58CAF8}"/>
          </ac:spMkLst>
        </pc:spChg>
        <pc:picChg chg="mod">
          <ac:chgData name="Yokoyama, Kazuki/横山 一樹" userId="eebd3b26-963b-49b8-bece-d035e86ca04e" providerId="ADAL" clId="{92CA29D4-1844-4DAD-9D13-8D32A28E5B6C}" dt="2025-04-22T07:09:19.702" v="0" actId="14100"/>
          <ac:picMkLst>
            <pc:docMk/>
            <pc:sldMk cId="2986095877" sldId="261"/>
            <ac:picMk id="5" creationId="{C1921C9F-BA13-D045-0836-100848067F10}"/>
          </ac:picMkLst>
        </pc:picChg>
      </pc:sldChg>
      <pc:sldChg chg="modSp mod">
        <pc:chgData name="Yokoyama, Kazuki/横山 一樹" userId="eebd3b26-963b-49b8-bece-d035e86ca04e" providerId="ADAL" clId="{92CA29D4-1844-4DAD-9D13-8D32A28E5B6C}" dt="2025-04-22T07:12:53.465" v="28" actId="6549"/>
        <pc:sldMkLst>
          <pc:docMk/>
          <pc:sldMk cId="3120050459" sldId="263"/>
        </pc:sldMkLst>
        <pc:spChg chg="mod">
          <ac:chgData name="Yokoyama, Kazuki/横山 一樹" userId="eebd3b26-963b-49b8-bece-d035e86ca04e" providerId="ADAL" clId="{92CA29D4-1844-4DAD-9D13-8D32A28E5B6C}" dt="2025-04-22T07:12:53.465" v="28" actId="6549"/>
          <ac:spMkLst>
            <pc:docMk/>
            <pc:sldMk cId="3120050459" sldId="263"/>
            <ac:spMk id="3" creationId="{E1CC29B8-533B-7E7E-10E0-70462BE5C49F}"/>
          </ac:spMkLst>
        </pc:spChg>
      </pc:sldChg>
      <pc:sldChg chg="modSp mod">
        <pc:chgData name="Yokoyama, Kazuki/横山 一樹" userId="eebd3b26-963b-49b8-bece-d035e86ca04e" providerId="ADAL" clId="{92CA29D4-1844-4DAD-9D13-8D32A28E5B6C}" dt="2025-04-22T08:41:42.681" v="87" actId="1076"/>
        <pc:sldMkLst>
          <pc:docMk/>
          <pc:sldMk cId="661810387" sldId="275"/>
        </pc:sldMkLst>
        <pc:spChg chg="mod">
          <ac:chgData name="Yokoyama, Kazuki/横山 一樹" userId="eebd3b26-963b-49b8-bece-d035e86ca04e" providerId="ADAL" clId="{92CA29D4-1844-4DAD-9D13-8D32A28E5B6C}" dt="2025-04-22T08:41:42.681" v="87" actId="1076"/>
          <ac:spMkLst>
            <pc:docMk/>
            <pc:sldMk cId="661810387" sldId="275"/>
            <ac:spMk id="8" creationId="{EC8F3040-6E17-E00A-E4CB-1840EB066988}"/>
          </ac:spMkLst>
        </pc:spChg>
        <pc:graphicFrameChg chg="mod modGraphic">
          <ac:chgData name="Yokoyama, Kazuki/横山 一樹" userId="eebd3b26-963b-49b8-bece-d035e86ca04e" providerId="ADAL" clId="{92CA29D4-1844-4DAD-9D13-8D32A28E5B6C}" dt="2025-04-22T08:41:42.681" v="87" actId="1076"/>
          <ac:graphicFrameMkLst>
            <pc:docMk/>
            <pc:sldMk cId="661810387" sldId="275"/>
            <ac:graphicFrameMk id="5" creationId="{79165478-712C-D51E-90BB-699A5FFAFDB8}"/>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4530"/>
            <a:ext cx="9144000" cy="2310523"/>
          </a:xfrm>
        </p:spPr>
        <p:txBody>
          <a:bodyPr anchor="b">
            <a:normAutofit/>
          </a:bodyPr>
          <a:lstStyle>
            <a:lvl1pPr algn="ctr">
              <a:lnSpc>
                <a:spcPct val="120000"/>
              </a:lnSpc>
              <a:defRPr sz="3600">
                <a:solidFill>
                  <a:schemeClr val="tx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435053"/>
            <a:ext cx="9144000" cy="1655762"/>
          </a:xfrm>
        </p:spPr>
        <p:txBody>
          <a:bodyPr tIns="72000" bIns="72000">
            <a:normAutofit/>
          </a:bodyPr>
          <a:lstStyle>
            <a:lvl1pPr marL="0" indent="0" algn="ctr">
              <a:buNone/>
              <a:defRPr sz="1800">
                <a:solidFill>
                  <a:schemeClr val="tx2"/>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ja-JP" altLang="en-US"/>
              <a:t>マスター サブタイトルの書式設定</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7FA2E61A-97DF-8A1A-B218-20EBB5340937}"/>
              </a:ext>
            </a:extLst>
          </p:cNvPr>
          <p:cNvCxnSpPr/>
          <p:nvPr/>
        </p:nvCxnSpPr>
        <p:spPr>
          <a:xfrm>
            <a:off x="0" y="3435056"/>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20991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9AE2F233-97AE-8AB4-F740-EC992530F76E}"/>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169A9369-6595-428E-541A-1CE5788A3A52}"/>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93182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12423"/>
            <a:ext cx="10515600" cy="2851208"/>
          </a:xfrm>
        </p:spPr>
        <p:txBody>
          <a:bodyPr anchor="b">
            <a:normAutofit/>
          </a:bodyPr>
          <a:lstStyle>
            <a:lvl1pPr>
              <a:defRPr sz="6000" b="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52633"/>
            <a:ext cx="10515600" cy="1500187"/>
          </a:xfrm>
        </p:spPr>
        <p:txBody>
          <a:bodyPr anchor="t">
            <a:normAutofit/>
          </a:bodyPr>
          <a:lstStyle>
            <a:lvl1pPr marL="0" indent="0">
              <a:buNone/>
              <a:defRPr sz="24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spTree>
    <p:extLst>
      <p:ext uri="{BB962C8B-B14F-4D97-AF65-F5344CB8AC3E}">
        <p14:creationId xmlns:p14="http://schemas.microsoft.com/office/powerpoint/2010/main" val="4293629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45127"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8800"/>
            <a:ext cx="5181600" cy="4351337"/>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spTree>
    <p:extLst>
      <p:ext uri="{BB962C8B-B14F-4D97-AF65-F5344CB8AC3E}">
        <p14:creationId xmlns:p14="http://schemas.microsoft.com/office/powerpoint/2010/main" val="174487399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45127" y="1681850"/>
            <a:ext cx="5156200" cy="825699"/>
          </a:xfrm>
        </p:spPr>
        <p:txBody>
          <a:bodyPr anchor="b">
            <a:normAutofit/>
          </a:bodyP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45127" y="2507550"/>
            <a:ext cx="5156200"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851"/>
            <a:ext cx="5181601" cy="825698"/>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7550"/>
            <a:ext cx="5181601" cy="3680525"/>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sp>
        <p:nvSpPr>
          <p:cNvPr id="10" name="Title 9"/>
          <p:cNvSpPr>
            <a:spLocks noGrp="1"/>
          </p:cNvSpPr>
          <p:nvPr>
            <p:ph type="title"/>
          </p:nvPr>
        </p:nvSpPr>
        <p:spPr/>
        <p:txBody>
          <a:bodyPr/>
          <a:lstStyle/>
          <a:p>
            <a:r>
              <a:rPr lang="ja-JP" altLang="en-US"/>
              <a:t>マスター タイトルの書式設定</a:t>
            </a:r>
            <a:endParaRPr lang="en-US" dirty="0"/>
          </a:p>
        </p:txBody>
      </p:sp>
    </p:spTree>
    <p:extLst>
      <p:ext uri="{BB962C8B-B14F-4D97-AF65-F5344CB8AC3E}">
        <p14:creationId xmlns:p14="http://schemas.microsoft.com/office/powerpoint/2010/main" val="786965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タイトルのみ">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sp>
        <p:nvSpPr>
          <p:cNvPr id="6" name="Title 5"/>
          <p:cNvSpPr>
            <a:spLocks noGrp="1"/>
          </p:cNvSpPr>
          <p:nvPr>
            <p:ph type="title"/>
          </p:nvPr>
        </p:nvSpPr>
        <p:spPr/>
        <p:txBody>
          <a:bodyPr/>
          <a:lstStyle/>
          <a:p>
            <a:r>
              <a:rPr lang="ja-JP" altLang="en-US"/>
              <a:t>マスター タイトルの書式設定</a:t>
            </a:r>
            <a:endParaRPr lang="en-US"/>
          </a:p>
        </p:txBody>
      </p:sp>
      <p:cxnSp>
        <p:nvCxnSpPr>
          <p:cNvPr id="7" name="直線コネクタ 6">
            <a:extLst>
              <a:ext uri="{FF2B5EF4-FFF2-40B4-BE49-F238E27FC236}">
                <a16:creationId xmlns:a16="http://schemas.microsoft.com/office/drawing/2014/main" id="{C727B626-1A0D-5FFE-CF03-34A92516F19A}"/>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C1AC39A-B114-1063-73A8-F23A9CEAC118}"/>
              </a:ext>
            </a:extLst>
          </p:cNvPr>
          <p:cNvCxnSpPr/>
          <p:nvPr/>
        </p:nvCxnSpPr>
        <p:spPr>
          <a:xfrm>
            <a:off x="0" y="641524"/>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43350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BD2554CC-F2A5-55CC-7414-8D16C97BA132}"/>
              </a:ext>
            </a:extLst>
          </p:cNvPr>
          <p:cNvSpPr>
            <a:spLocks noGrp="1"/>
          </p:cNvSpPr>
          <p:nvPr>
            <p:ph type="body" sz="quarter" idx="13"/>
          </p:nvPr>
        </p:nvSpPr>
        <p:spPr>
          <a:xfrm>
            <a:off x="3268142" y="1980915"/>
            <a:ext cx="5655714" cy="2896177"/>
          </a:xfrm>
        </p:spPr>
        <p:txBody>
          <a:bodyPr wrap="none" anchor="ctr">
            <a:spAutoFit/>
          </a:bodyPr>
          <a:lstStyle>
            <a:lvl1pPr marL="0" indent="0" algn="ctr">
              <a:buNone/>
              <a:defRPr sz="3200">
                <a:solidFill>
                  <a:schemeClr val="tx2"/>
                </a:solidFill>
              </a:defRPr>
            </a:lvl1pPr>
            <a:lvl2pPr marL="457200" indent="0" algn="ctr">
              <a:buNone/>
              <a:defRPr sz="2800">
                <a:solidFill>
                  <a:schemeClr val="tx2"/>
                </a:solidFill>
              </a:defRPr>
            </a:lvl2pPr>
            <a:lvl3pPr marL="914400" indent="0" algn="ctr">
              <a:buNone/>
              <a:defRPr sz="2400">
                <a:solidFill>
                  <a:schemeClr val="tx2"/>
                </a:solidFill>
              </a:defRPr>
            </a:lvl3pPr>
            <a:lvl4pPr marL="1371600" indent="0" algn="ctr">
              <a:buNone/>
              <a:defRPr sz="2000">
                <a:solidFill>
                  <a:schemeClr val="tx2"/>
                </a:solidFill>
              </a:defRPr>
            </a:lvl4pPr>
            <a:lvl5pPr marL="1828800" indent="0" algn="ctr">
              <a:buNone/>
              <a:defRPr sz="2000">
                <a:solidFill>
                  <a:schemeClr val="tx2"/>
                </a:solidFill>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310016390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白紙">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1CD8456-2183-4FBA-A918-F08A9A014666}"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5E9AA2DA-5DE9-D0C7-5138-0E98BE939D2E}"/>
              </a:ext>
            </a:extLst>
          </p:cNvPr>
          <p:cNvCxnSpPr/>
          <p:nvPr/>
        </p:nvCxnSpPr>
        <p:spPr>
          <a:xfrm>
            <a:off x="0" y="6469639"/>
            <a:ext cx="12192000" cy="0"/>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0337601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cSld name="中紙">
    <p:spTree>
      <p:nvGrpSpPr>
        <p:cNvPr id="1" name=""/>
        <p:cNvGrpSpPr/>
        <p:nvPr/>
      </p:nvGrpSpPr>
      <p:grpSpPr>
        <a:xfrm>
          <a:off x="0" y="0"/>
          <a:ext cx="0" cy="0"/>
          <a:chOff x="0" y="0"/>
          <a:chExt cx="0" cy="0"/>
        </a:xfrm>
      </p:grpSpPr>
      <p:sp>
        <p:nvSpPr>
          <p:cNvPr id="3" name="角丸四角形 2"/>
          <p:cNvSpPr/>
          <p:nvPr/>
        </p:nvSpPr>
        <p:spPr>
          <a:xfrm>
            <a:off x="411295" y="195892"/>
            <a:ext cx="11369408" cy="580789"/>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600">
              <a:latin typeface="M PLUS 1p Medium" panose="020B0602020203020207" pitchFamily="50" charset="-128"/>
              <a:ea typeface="M PLUS 1p Medium" panose="020B0602020203020207" pitchFamily="50" charset="-128"/>
              <a:cs typeface="M PLUS 1p Medium" panose="020B0602020203020207" pitchFamily="50" charset="-128"/>
            </a:endParaRPr>
          </a:p>
        </p:txBody>
      </p:sp>
      <p:sp>
        <p:nvSpPr>
          <p:cNvPr id="5" name="テキスト プレースホルダー 4"/>
          <p:cNvSpPr>
            <a:spLocks noGrp="1"/>
          </p:cNvSpPr>
          <p:nvPr>
            <p:ph type="body" sz="quarter" idx="10" hasCustomPrompt="1"/>
          </p:nvPr>
        </p:nvSpPr>
        <p:spPr>
          <a:xfrm>
            <a:off x="411295" y="195892"/>
            <a:ext cx="11369408" cy="580790"/>
          </a:xfrm>
          <a:prstGeom prst="rect">
            <a:avLst/>
          </a:prstGeom>
        </p:spPr>
        <p:txBody>
          <a:bodyPr anchor="ctr"/>
          <a:lstStyle>
            <a:lvl1pPr marL="0" indent="0">
              <a:buFontTx/>
              <a:buNone/>
              <a:defRPr sz="2400" b="1">
                <a:solidFill>
                  <a:schemeClr val="accent1"/>
                </a:solidFill>
                <a:latin typeface="M PLUS 1p Medium" panose="020B0602020203020207" pitchFamily="50" charset="-128"/>
                <a:ea typeface="M PLUS 1p Medium" panose="020B0602020203020207" pitchFamily="50" charset="-128"/>
                <a:cs typeface="M PLUS 1p Medium" panose="020B06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en-US" altLang="ja-JP" dirty="0"/>
              <a:t>N.</a:t>
            </a:r>
            <a:r>
              <a:rPr kumimoji="1" lang="ja-JP" altLang="en-US" dirty="0"/>
              <a:t>タイトル</a:t>
            </a:r>
          </a:p>
        </p:txBody>
      </p:sp>
      <p:sp>
        <p:nvSpPr>
          <p:cNvPr id="8" name="テキスト プレースホルダー 7"/>
          <p:cNvSpPr>
            <a:spLocks noGrp="1"/>
          </p:cNvSpPr>
          <p:nvPr>
            <p:ph type="body" sz="quarter" idx="11" hasCustomPrompt="1"/>
          </p:nvPr>
        </p:nvSpPr>
        <p:spPr>
          <a:xfrm>
            <a:off x="411296" y="1277938"/>
            <a:ext cx="11369408" cy="914400"/>
          </a:xfrm>
          <a:prstGeom prst="rect">
            <a:avLst/>
          </a:prstGeom>
        </p:spPr>
        <p:txBody>
          <a:bodyPr/>
          <a:lstStyle>
            <a:lvl1pPr marL="0" indent="0">
              <a:buFontTx/>
              <a:buNone/>
              <a:defRPr>
                <a:latin typeface="M PLUS 1p" panose="020B0502020203020207" pitchFamily="50" charset="-128"/>
                <a:ea typeface="M PLUS 1p" panose="020B0502020203020207" pitchFamily="50" charset="-128"/>
                <a:cs typeface="M PLUS 1p" panose="020B05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説明　</a:t>
            </a:r>
            <a:r>
              <a:rPr kumimoji="1" lang="en-US" altLang="ja-JP" dirty="0"/>
              <a:t>or</a:t>
            </a:r>
            <a:r>
              <a:rPr kumimoji="1" lang="ja-JP" altLang="en-US" dirty="0"/>
              <a:t>　ファクト</a:t>
            </a:r>
            <a:endParaRPr kumimoji="1" lang="en-US" altLang="ja-JP" dirty="0"/>
          </a:p>
          <a:p>
            <a:pPr lvl="0"/>
            <a:endParaRPr kumimoji="1" lang="ja-JP" altLang="en-US" dirty="0"/>
          </a:p>
        </p:txBody>
      </p:sp>
      <p:sp>
        <p:nvSpPr>
          <p:cNvPr id="9" name="テキスト プレースホルダー 7"/>
          <p:cNvSpPr>
            <a:spLocks noGrp="1"/>
          </p:cNvSpPr>
          <p:nvPr>
            <p:ph type="body" sz="quarter" idx="12" hasCustomPrompt="1"/>
          </p:nvPr>
        </p:nvSpPr>
        <p:spPr>
          <a:xfrm>
            <a:off x="411296" y="6059277"/>
            <a:ext cx="10825909" cy="482888"/>
          </a:xfrm>
          <a:prstGeom prst="rect">
            <a:avLst/>
          </a:prstGeom>
        </p:spPr>
        <p:txBody>
          <a:bodyPr anchor="ctr"/>
          <a:lstStyle>
            <a:lvl1pPr marL="0" indent="0">
              <a:buFontTx/>
              <a:buNone/>
              <a:defRPr>
                <a:latin typeface="M PLUS 1p Medium" panose="020B0602020203020207" pitchFamily="50" charset="-128"/>
                <a:ea typeface="M PLUS 1p Medium" panose="020B0602020203020207" pitchFamily="50" charset="-128"/>
                <a:cs typeface="M PLUS 1p Medium" panose="020B0602020203020207" pitchFamily="50" charset="-128"/>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kumimoji="1" lang="ja-JP" altLang="en-US" dirty="0"/>
              <a:t>ファクト　</a:t>
            </a:r>
            <a:r>
              <a:rPr kumimoji="1" lang="en-US" altLang="ja-JP" dirty="0"/>
              <a:t>or</a:t>
            </a:r>
            <a:r>
              <a:rPr kumimoji="1" lang="ja-JP" altLang="en-US" dirty="0"/>
              <a:t>　示唆</a:t>
            </a:r>
            <a:endParaRPr kumimoji="1" lang="en-US" altLang="ja-JP" dirty="0"/>
          </a:p>
        </p:txBody>
      </p:sp>
      <p:sp>
        <p:nvSpPr>
          <p:cNvPr id="11" name="テキスト ボックス 10"/>
          <p:cNvSpPr txBox="1"/>
          <p:nvPr/>
        </p:nvSpPr>
        <p:spPr>
          <a:xfrm>
            <a:off x="11508954" y="6427443"/>
            <a:ext cx="543499" cy="400110"/>
          </a:xfrm>
          <a:prstGeom prst="rect">
            <a:avLst/>
          </a:prstGeom>
          <a:noFill/>
        </p:spPr>
        <p:txBody>
          <a:bodyPr wrap="square" rtlCol="0">
            <a:spAutoFit/>
          </a:bodyPr>
          <a:lstStyle/>
          <a:p>
            <a:pPr algn="r"/>
            <a:fld id="{318EA11E-D420-43FF-ABCE-0F1B7656D344}" type="slidenum">
              <a:rPr kumimoji="1" lang="ja-JP" altLang="en-US" sz="2000" smtClean="0">
                <a:solidFill>
                  <a:schemeClr val="accent1"/>
                </a:solidFill>
                <a:latin typeface="M PLUS 1p Thin" panose="020B0303020203020207" pitchFamily="50" charset="-128"/>
                <a:ea typeface="M PLUS 1p Thin" panose="020B0303020203020207" pitchFamily="50" charset="-128"/>
                <a:cs typeface="M PLUS 1p Thin" panose="020B0303020203020207" pitchFamily="50" charset="-128"/>
              </a:rPr>
              <a:t>‹#›</a:t>
            </a:fld>
            <a:endParaRPr kumimoji="1" lang="ja-JP" altLang="en-US" sz="2000" dirty="0">
              <a:solidFill>
                <a:schemeClr val="accent1"/>
              </a:solidFill>
              <a:latin typeface="M PLUS 1p Thin" panose="020B0303020203020207" pitchFamily="50" charset="-128"/>
              <a:ea typeface="M PLUS 1p Thin" panose="020B0303020203020207" pitchFamily="50" charset="-128"/>
              <a:cs typeface="M PLUS 1p Thin" panose="020B0303020203020207" pitchFamily="50" charset="-128"/>
            </a:endParaRPr>
          </a:p>
        </p:txBody>
      </p:sp>
    </p:spTree>
    <p:extLst>
      <p:ext uri="{BB962C8B-B14F-4D97-AF65-F5344CB8AC3E}">
        <p14:creationId xmlns:p14="http://schemas.microsoft.com/office/powerpoint/2010/main" val="3496606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0242" y="207396"/>
            <a:ext cx="11525370" cy="377026"/>
          </a:xfrm>
          <a:prstGeom prst="rect">
            <a:avLst/>
          </a:prstGeom>
        </p:spPr>
        <p:txBody>
          <a:bodyPr vert="horz" lIns="91440" tIns="45720" rIns="91440" bIns="45720" rtlCol="0" anchor="ctr">
            <a:sp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845127" y="859899"/>
            <a:ext cx="10515600" cy="5353329"/>
          </a:xfrm>
          <a:prstGeom prst="rect">
            <a:avLst/>
          </a:prstGeom>
        </p:spPr>
        <p:txBody>
          <a:bodyPr vert="horz" lIns="91440" tIns="45720" rIns="91440" bIns="45720" rtlCol="0">
            <a:norm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4038600" y="6537061"/>
            <a:ext cx="4114800" cy="261610"/>
          </a:xfrm>
          <a:prstGeom prst="rect">
            <a:avLst/>
          </a:prstGeom>
        </p:spPr>
        <p:txBody>
          <a:bodyPr vert="horz" lIns="91440" tIns="45720" rIns="91440" bIns="45720" rtlCol="0" anchor="b">
            <a:spAutoFit/>
          </a:bodyPr>
          <a:lstStyle>
            <a:lvl1pPr algn="ctr">
              <a:defRPr sz="1100">
                <a:solidFill>
                  <a:schemeClr val="tx1">
                    <a:lumMod val="65000"/>
                    <a:lumOff val="35000"/>
                  </a:schemeClr>
                </a:solidFill>
              </a:defRPr>
            </a:lvl1pPr>
          </a:lstStyle>
          <a:p>
            <a:endParaRPr kumimoji="1" lang="ja-JP" altLang="en-US"/>
          </a:p>
        </p:txBody>
      </p:sp>
      <p:sp>
        <p:nvSpPr>
          <p:cNvPr id="6" name="Slide Number Placeholder 5"/>
          <p:cNvSpPr>
            <a:spLocks noGrp="1"/>
          </p:cNvSpPr>
          <p:nvPr>
            <p:ph type="sldNum" sz="quarter" idx="4"/>
          </p:nvPr>
        </p:nvSpPr>
        <p:spPr>
          <a:xfrm>
            <a:off x="9122412" y="6490894"/>
            <a:ext cx="2743200" cy="307777"/>
          </a:xfrm>
          <a:prstGeom prst="rect">
            <a:avLst/>
          </a:prstGeom>
        </p:spPr>
        <p:txBody>
          <a:bodyPr vert="horz" lIns="0" tIns="45720" rIns="0" bIns="45720" rtlCol="0" anchor="b">
            <a:spAutoFit/>
          </a:bodyPr>
          <a:lstStyle>
            <a:lvl1pPr algn="r">
              <a:defRPr sz="1400">
                <a:solidFill>
                  <a:schemeClr val="tx2"/>
                </a:solidFill>
              </a:defRPr>
            </a:lvl1pPr>
          </a:lstStyle>
          <a:p>
            <a:fld id="{A1CD8456-2183-4FBA-A918-F08A9A014666}" type="slidenum">
              <a:rPr kumimoji="1" lang="ja-JP" altLang="en-US" smtClean="0"/>
              <a:t>‹#›</a:t>
            </a:fld>
            <a:endParaRPr kumimoji="1" lang="ja-JP" altLang="en-US"/>
          </a:p>
        </p:txBody>
      </p:sp>
      <p:sp>
        <p:nvSpPr>
          <p:cNvPr id="10" name="テキスト ボックス 9">
            <a:extLst>
              <a:ext uri="{FF2B5EF4-FFF2-40B4-BE49-F238E27FC236}">
                <a16:creationId xmlns:a16="http://schemas.microsoft.com/office/drawing/2014/main" id="{8110AB57-86AE-847C-8C61-5FC41F72383C}"/>
              </a:ext>
            </a:extLst>
          </p:cNvPr>
          <p:cNvSpPr txBox="1"/>
          <p:nvPr/>
        </p:nvSpPr>
        <p:spPr>
          <a:xfrm>
            <a:off x="340242" y="6552450"/>
            <a:ext cx="3651124" cy="246221"/>
          </a:xfrm>
          <a:prstGeom prst="rect">
            <a:avLst/>
          </a:prstGeom>
          <a:noFill/>
        </p:spPr>
        <p:txBody>
          <a:bodyPr wrap="none" lIns="0" rIns="0" rtlCol="0">
            <a:spAutoFit/>
          </a:bodyPr>
          <a:lstStyle/>
          <a:p>
            <a:r>
              <a:rPr kumimoji="1" lang="en-US" altLang="ja-JP" sz="1000" dirty="0">
                <a:solidFill>
                  <a:schemeClr val="tx2"/>
                </a:solidFill>
              </a:rPr>
              <a:t>© TOYOTA SYSTEMS CORPORATION All Rights Reserved.</a:t>
            </a:r>
            <a:endParaRPr kumimoji="1" lang="ja-JP" altLang="en-US" sz="1000" dirty="0">
              <a:solidFill>
                <a:schemeClr val="tx2"/>
              </a:solidFill>
            </a:endParaRPr>
          </a:p>
        </p:txBody>
      </p:sp>
      <p:pic>
        <p:nvPicPr>
          <p:cNvPr id="4" name="Picture 2" descr="C:\Users\s-ishimaru\Desktop\③関係者外秘RED.png">
            <a:extLst>
              <a:ext uri="{FF2B5EF4-FFF2-40B4-BE49-F238E27FC236}">
                <a16:creationId xmlns:a16="http://schemas.microsoft.com/office/drawing/2014/main" id="{DE2178E4-6706-62A7-E188-DC34230097D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1566355" y="105759"/>
            <a:ext cx="490146" cy="47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08844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txStyles>
    <p:titleStyle>
      <a:lvl1pPr algn="l" defTabSz="914400" rtl="0" eaLnBrk="1" latinLnBrk="0" hangingPunct="1">
        <a:lnSpc>
          <a:spcPct val="90000"/>
        </a:lnSpc>
        <a:spcBef>
          <a:spcPct val="0"/>
        </a:spcBef>
        <a:buNone/>
        <a:defRPr kumimoji="1" sz="2000" b="1" kern="1200">
          <a:solidFill>
            <a:schemeClr val="tx2"/>
          </a:solidFill>
          <a:latin typeface="+mj-lt"/>
          <a:ea typeface="+mj-ea"/>
          <a:cs typeface="+mj-cs"/>
        </a:defRPr>
      </a:lvl1pPr>
    </p:titleStyle>
    <p:body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4EBFD0B-B8B1-7EAD-F73A-6D54C0F47282}"/>
              </a:ext>
            </a:extLst>
          </p:cNvPr>
          <p:cNvSpPr>
            <a:spLocks noGrp="1"/>
          </p:cNvSpPr>
          <p:nvPr>
            <p:ph type="ctrTitle"/>
          </p:nvPr>
        </p:nvSpPr>
        <p:spPr/>
        <p:txBody>
          <a:bodyPr/>
          <a:lstStyle/>
          <a:p>
            <a:r>
              <a:rPr kumimoji="1" lang="ja-JP" altLang="en-US" dirty="0"/>
              <a:t>品番設計支援</a:t>
            </a:r>
            <a:r>
              <a:rPr kumimoji="1" lang="en-US" altLang="ja-JP" dirty="0"/>
              <a:t>(</a:t>
            </a:r>
            <a:r>
              <a:rPr kumimoji="1" lang="ja-JP" altLang="en-US" dirty="0"/>
              <a:t>デジカケ</a:t>
            </a:r>
            <a:r>
              <a:rPr kumimoji="1" lang="en-US" altLang="ja-JP" dirty="0"/>
              <a:t>)</a:t>
            </a:r>
            <a:r>
              <a:rPr kumimoji="1" lang="ja-JP" altLang="en-US" dirty="0"/>
              <a:t>状況</a:t>
            </a:r>
          </a:p>
        </p:txBody>
      </p:sp>
      <p:sp>
        <p:nvSpPr>
          <p:cNvPr id="3" name="字幕 2">
            <a:extLst>
              <a:ext uri="{FF2B5EF4-FFF2-40B4-BE49-F238E27FC236}">
                <a16:creationId xmlns:a16="http://schemas.microsoft.com/office/drawing/2014/main" id="{73E06436-BDD5-5273-393A-83F2BC530F83}"/>
              </a:ext>
            </a:extLst>
          </p:cNvPr>
          <p:cNvSpPr>
            <a:spLocks noGrp="1"/>
          </p:cNvSpPr>
          <p:nvPr>
            <p:ph type="subTitle" idx="1"/>
          </p:nvPr>
        </p:nvSpPr>
        <p:spPr/>
        <p:txBody>
          <a:bodyPr/>
          <a:lstStyle/>
          <a:p>
            <a:r>
              <a:rPr kumimoji="1" lang="en-US" altLang="ja-JP" dirty="0"/>
              <a:t>2025/4/22</a:t>
            </a:r>
          </a:p>
          <a:p>
            <a:r>
              <a:rPr lang="ja-JP" altLang="en-US" dirty="0"/>
              <a:t>電技改革支援部 </a:t>
            </a:r>
            <a:r>
              <a:rPr lang="en-US" altLang="ja-JP" dirty="0"/>
              <a:t>DX</a:t>
            </a:r>
            <a:r>
              <a:rPr lang="ja-JP" altLang="en-US" dirty="0"/>
              <a:t>企画</a:t>
            </a:r>
            <a:r>
              <a:rPr lang="en-US" altLang="ja-JP" dirty="0"/>
              <a:t>G </a:t>
            </a:r>
            <a:r>
              <a:rPr lang="ja-JP" altLang="en-US" dirty="0"/>
              <a:t>横山</a:t>
            </a:r>
            <a:r>
              <a:rPr lang="en-US" altLang="ja-JP" dirty="0"/>
              <a:t>(</a:t>
            </a:r>
            <a:r>
              <a:rPr lang="ja-JP" altLang="en-US" dirty="0"/>
              <a:t>一</a:t>
            </a:r>
            <a:r>
              <a:rPr lang="en-US" altLang="ja-JP" dirty="0"/>
              <a:t>)</a:t>
            </a:r>
            <a:endParaRPr kumimoji="1" lang="ja-JP" altLang="en-US" dirty="0"/>
          </a:p>
        </p:txBody>
      </p:sp>
    </p:spTree>
    <p:extLst>
      <p:ext uri="{BB962C8B-B14F-4D97-AF65-F5344CB8AC3E}">
        <p14:creationId xmlns:p14="http://schemas.microsoft.com/office/powerpoint/2010/main" val="4261746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6B214E-56B4-7B6C-DDB9-4A761872727D}"/>
              </a:ext>
            </a:extLst>
          </p:cNvPr>
          <p:cNvSpPr>
            <a:spLocks noGrp="1"/>
          </p:cNvSpPr>
          <p:nvPr>
            <p:ph type="title"/>
          </p:nvPr>
        </p:nvSpPr>
        <p:spPr/>
        <p:txBody>
          <a:bodyPr/>
          <a:lstStyle/>
          <a:p>
            <a:r>
              <a:rPr kumimoji="1" lang="ja-JP" altLang="en-US" dirty="0"/>
              <a:t>報告の趣旨</a:t>
            </a:r>
          </a:p>
        </p:txBody>
      </p:sp>
      <p:sp>
        <p:nvSpPr>
          <p:cNvPr id="3" name="コンテンツ プレースホルダー 2">
            <a:extLst>
              <a:ext uri="{FF2B5EF4-FFF2-40B4-BE49-F238E27FC236}">
                <a16:creationId xmlns:a16="http://schemas.microsoft.com/office/drawing/2014/main" id="{C0C0574D-5778-BBCA-8561-B43A86ACB367}"/>
              </a:ext>
            </a:extLst>
          </p:cNvPr>
          <p:cNvSpPr>
            <a:spLocks noGrp="1"/>
          </p:cNvSpPr>
          <p:nvPr>
            <p:ph idx="1"/>
          </p:nvPr>
        </p:nvSpPr>
        <p:spPr/>
        <p:txBody>
          <a:bodyPr anchor="ctr"/>
          <a:lstStyle/>
          <a:p>
            <a:pPr algn="ctr"/>
            <a:r>
              <a:rPr lang="ja-JP" altLang="en-US" dirty="0"/>
              <a:t>デジタル家系図の中止については既報の通り。</a:t>
            </a:r>
            <a:br>
              <a:rPr lang="en-US" altLang="ja-JP" dirty="0"/>
            </a:br>
            <a:r>
              <a:rPr lang="ja-JP" altLang="en-US" dirty="0"/>
              <a:t>プロジェクトの</a:t>
            </a:r>
            <a:r>
              <a:rPr kumimoji="1" lang="ja-JP" altLang="en-US" dirty="0"/>
              <a:t>中（特にメンバー）の状況を共有いたします。</a:t>
            </a:r>
          </a:p>
        </p:txBody>
      </p:sp>
    </p:spTree>
    <p:extLst>
      <p:ext uri="{BB962C8B-B14F-4D97-AF65-F5344CB8AC3E}">
        <p14:creationId xmlns:p14="http://schemas.microsoft.com/office/powerpoint/2010/main" val="604539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2B9926-D14D-BDBA-83A4-27CCAFC30907}"/>
              </a:ext>
            </a:extLst>
          </p:cNvPr>
          <p:cNvSpPr>
            <a:spLocks noGrp="1"/>
          </p:cNvSpPr>
          <p:nvPr>
            <p:ph type="title"/>
          </p:nvPr>
        </p:nvSpPr>
        <p:spPr/>
        <p:txBody>
          <a:bodyPr/>
          <a:lstStyle/>
          <a:p>
            <a:r>
              <a:rPr kumimoji="1" lang="ja-JP" altLang="en-US" dirty="0"/>
              <a:t>デジタル家系図プロジェクト中止</a:t>
            </a:r>
          </a:p>
        </p:txBody>
      </p:sp>
      <p:sp>
        <p:nvSpPr>
          <p:cNvPr id="3" name="コンテンツ プレースホルダー 2">
            <a:extLst>
              <a:ext uri="{FF2B5EF4-FFF2-40B4-BE49-F238E27FC236}">
                <a16:creationId xmlns:a16="http://schemas.microsoft.com/office/drawing/2014/main" id="{147FF096-B9BA-EE98-F1ED-F109C7675283}"/>
              </a:ext>
            </a:extLst>
          </p:cNvPr>
          <p:cNvSpPr>
            <a:spLocks noGrp="1"/>
          </p:cNvSpPr>
          <p:nvPr>
            <p:ph idx="1"/>
          </p:nvPr>
        </p:nvSpPr>
        <p:spPr/>
        <p:txBody>
          <a:bodyPr/>
          <a:lstStyle/>
          <a:p>
            <a:pPr algn="ctr"/>
            <a:r>
              <a:rPr kumimoji="1" lang="en-US" altLang="ja-JP" dirty="0"/>
              <a:t>4/10: MS</a:t>
            </a:r>
            <a:r>
              <a:rPr kumimoji="1" lang="ja-JP" altLang="en-US" dirty="0"/>
              <a:t>統括</a:t>
            </a:r>
            <a:r>
              <a:rPr lang="en-US" altLang="ja-JP" dirty="0"/>
              <a:t>-</a:t>
            </a:r>
            <a:r>
              <a:rPr lang="ja-JP" altLang="en-US" dirty="0"/>
              <a:t>和田</a:t>
            </a:r>
            <a:r>
              <a:rPr lang="en-US" altLang="ja-JP" dirty="0"/>
              <a:t>S(OMUSVI</a:t>
            </a:r>
            <a:r>
              <a:rPr lang="ja-JP" altLang="en-US" dirty="0"/>
              <a:t>リーダー</a:t>
            </a:r>
            <a:r>
              <a:rPr lang="en-US" altLang="ja-JP" dirty="0"/>
              <a:t>)</a:t>
            </a:r>
            <a:r>
              <a:rPr lang="ja-JP" altLang="en-US" dirty="0"/>
              <a:t>により</a:t>
            </a:r>
            <a:br>
              <a:rPr lang="en-US" altLang="ja-JP" dirty="0"/>
            </a:br>
            <a:r>
              <a:rPr lang="ja-JP" altLang="en-US" dirty="0"/>
              <a:t>デジタル家系図プロジェクトの中止が言い渡された</a:t>
            </a:r>
            <a:endParaRPr lang="en-US" altLang="ja-JP" dirty="0"/>
          </a:p>
          <a:p>
            <a:pPr lvl="1"/>
            <a:r>
              <a:rPr kumimoji="1" lang="ja-JP" altLang="en-US" dirty="0"/>
              <a:t>プロジェクト中止理由</a:t>
            </a:r>
            <a:endParaRPr kumimoji="1" lang="en-US" altLang="ja-JP" dirty="0"/>
          </a:p>
          <a:p>
            <a:pPr lvl="2"/>
            <a:r>
              <a:rPr kumimoji="1" lang="en-US" altLang="ja-JP" dirty="0"/>
              <a:t>EDC/</a:t>
            </a:r>
            <a:r>
              <a:rPr kumimoji="1" lang="ja-JP" altLang="en-US" dirty="0"/>
              <a:t>分野事務局とのやり取りに時間がかかり、ユーザー展開が進んでいない</a:t>
            </a:r>
          </a:p>
          <a:p>
            <a:pPr lvl="2"/>
            <a:r>
              <a:rPr kumimoji="1" lang="en-US" altLang="ja-JP" dirty="0"/>
              <a:t>OMUSVI</a:t>
            </a:r>
            <a:r>
              <a:rPr kumimoji="1" lang="ja-JP" altLang="en-US" dirty="0"/>
              <a:t>本体でバリ・品分けなど、デジカケ相当</a:t>
            </a:r>
            <a:r>
              <a:rPr kumimoji="1" lang="en-US" altLang="ja-JP" dirty="0"/>
              <a:t>(</a:t>
            </a:r>
            <a:r>
              <a:rPr kumimoji="1" lang="ja-JP" altLang="en-US" dirty="0"/>
              <a:t>上位互換</a:t>
            </a:r>
            <a:r>
              <a:rPr kumimoji="1" lang="en-US" altLang="ja-JP" dirty="0"/>
              <a:t>)</a:t>
            </a:r>
            <a:r>
              <a:rPr kumimoji="1" lang="ja-JP" altLang="en-US" dirty="0"/>
              <a:t>機能の目途が付きつつある</a:t>
            </a:r>
            <a:endParaRPr kumimoji="1" lang="en-US" altLang="ja-JP" dirty="0"/>
          </a:p>
          <a:p>
            <a:pPr lvl="2"/>
            <a:r>
              <a:rPr kumimoji="1" lang="ja-JP" altLang="en-US" dirty="0"/>
              <a:t>以降でデジカケの展開が進んだとしても、賞味期間が短いため</a:t>
            </a:r>
          </a:p>
          <a:p>
            <a:pPr lvl="2"/>
            <a:r>
              <a:rPr kumimoji="1" lang="ja-JP" altLang="en-US" dirty="0"/>
              <a:t>各車両カンパニーが概ね全車種の</a:t>
            </a:r>
            <a:r>
              <a:rPr kumimoji="1" lang="en-US" altLang="ja-JP" dirty="0"/>
              <a:t>OMUSVI</a:t>
            </a:r>
            <a:r>
              <a:rPr kumimoji="1" lang="ja-JP" altLang="en-US" dirty="0"/>
              <a:t>対応を表明し</a:t>
            </a:r>
            <a:br>
              <a:rPr kumimoji="1" lang="en-US" altLang="ja-JP" dirty="0"/>
            </a:br>
            <a:r>
              <a:rPr kumimoji="1" lang="en-US" altLang="ja-JP" dirty="0"/>
              <a:t>MAVIS</a:t>
            </a:r>
            <a:r>
              <a:rPr kumimoji="1" lang="ja-JP" altLang="en-US" dirty="0"/>
              <a:t>利用車種が意外と早期に減少する見込みがある</a:t>
            </a:r>
            <a:r>
              <a:rPr kumimoji="1" lang="ja-JP" altLang="en-US" dirty="0">
                <a:solidFill>
                  <a:schemeClr val="tx2"/>
                </a:solidFill>
              </a:rPr>
              <a:t>（</a:t>
            </a:r>
            <a:r>
              <a:rPr kumimoji="1" lang="en-US" altLang="ja-JP" dirty="0">
                <a:solidFill>
                  <a:schemeClr val="tx2"/>
                </a:solidFill>
              </a:rPr>
              <a:t>4/17</a:t>
            </a:r>
            <a:r>
              <a:rPr kumimoji="1" lang="ja-JP" altLang="en-US" dirty="0">
                <a:solidFill>
                  <a:schemeClr val="tx2"/>
                </a:solidFill>
              </a:rPr>
              <a:t>孝久</a:t>
            </a:r>
            <a:r>
              <a:rPr kumimoji="1" lang="en-US" altLang="ja-JP" dirty="0">
                <a:solidFill>
                  <a:schemeClr val="tx2"/>
                </a:solidFill>
              </a:rPr>
              <a:t>S</a:t>
            </a:r>
            <a:r>
              <a:rPr kumimoji="1" lang="ja-JP" altLang="en-US" dirty="0">
                <a:solidFill>
                  <a:schemeClr val="tx2"/>
                </a:solidFill>
              </a:rPr>
              <a:t>からの追加情報）</a:t>
            </a:r>
            <a:endParaRPr kumimoji="1" lang="en-US" altLang="ja-JP" dirty="0">
              <a:solidFill>
                <a:schemeClr val="tx2"/>
              </a:solidFill>
            </a:endParaRPr>
          </a:p>
        </p:txBody>
      </p:sp>
    </p:spTree>
    <p:extLst>
      <p:ext uri="{BB962C8B-B14F-4D97-AF65-F5344CB8AC3E}">
        <p14:creationId xmlns:p14="http://schemas.microsoft.com/office/powerpoint/2010/main" val="329369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54C263-90AC-E7EA-7C85-4C4B28B1E4A7}"/>
              </a:ext>
            </a:extLst>
          </p:cNvPr>
          <p:cNvSpPr>
            <a:spLocks noGrp="1"/>
          </p:cNvSpPr>
          <p:nvPr>
            <p:ph type="title"/>
          </p:nvPr>
        </p:nvSpPr>
        <p:spPr/>
        <p:txBody>
          <a:bodyPr/>
          <a:lstStyle/>
          <a:p>
            <a:r>
              <a:rPr kumimoji="1" lang="ja-JP" altLang="en-US" dirty="0"/>
              <a:t>各所への情報展開状況</a:t>
            </a:r>
          </a:p>
        </p:txBody>
      </p:sp>
      <p:sp>
        <p:nvSpPr>
          <p:cNvPr id="3" name="コンテンツ プレースホルダー 2">
            <a:extLst>
              <a:ext uri="{FF2B5EF4-FFF2-40B4-BE49-F238E27FC236}">
                <a16:creationId xmlns:a16="http://schemas.microsoft.com/office/drawing/2014/main" id="{6E8AD82E-AC5A-C9CF-24E8-576351E16544}"/>
              </a:ext>
            </a:extLst>
          </p:cNvPr>
          <p:cNvSpPr>
            <a:spLocks noGrp="1"/>
          </p:cNvSpPr>
          <p:nvPr>
            <p:ph idx="1"/>
          </p:nvPr>
        </p:nvSpPr>
        <p:spPr/>
        <p:txBody>
          <a:bodyPr/>
          <a:lstStyle/>
          <a:p>
            <a:pPr algn="ctr"/>
            <a:r>
              <a:rPr kumimoji="1" lang="ja-JP" altLang="en-US" dirty="0"/>
              <a:t>ユーザサイドへの情報展開は</a:t>
            </a:r>
            <a:r>
              <a:rPr kumimoji="1" lang="en-US" altLang="ja-JP" dirty="0"/>
              <a:t>EDC</a:t>
            </a:r>
            <a:r>
              <a:rPr kumimoji="1" lang="ja-JP" altLang="en-US" dirty="0"/>
              <a:t>ボールとなっているがまだ進んでいない</a:t>
            </a:r>
            <a:endParaRPr kumimoji="1" lang="en-US" altLang="ja-JP" dirty="0"/>
          </a:p>
          <a:p>
            <a:pPr lvl="1"/>
            <a:r>
              <a:rPr lang="en-US" altLang="ja-JP" b="1" dirty="0"/>
              <a:t>EDC</a:t>
            </a:r>
            <a:r>
              <a:rPr lang="en-US" altLang="ja-JP" dirty="0"/>
              <a:t>: </a:t>
            </a:r>
            <a:r>
              <a:rPr lang="ja-JP" altLang="en-US" b="1" dirty="0">
                <a:solidFill>
                  <a:schemeClr val="accent6"/>
                </a:solidFill>
              </a:rPr>
              <a:t>済</a:t>
            </a:r>
            <a:endParaRPr lang="en-US" altLang="ja-JP" b="1" dirty="0">
              <a:solidFill>
                <a:schemeClr val="accent6"/>
              </a:solidFill>
            </a:endParaRPr>
          </a:p>
          <a:p>
            <a:pPr lvl="2"/>
            <a:r>
              <a:rPr kumimoji="1" lang="en-US" altLang="ja-JP" dirty="0"/>
              <a:t>VD</a:t>
            </a:r>
            <a:r>
              <a:rPr kumimoji="1" lang="ja-JP" altLang="en-US" dirty="0"/>
              <a:t>統括から説明</a:t>
            </a:r>
            <a:endParaRPr kumimoji="1" lang="en-US" altLang="ja-JP" dirty="0"/>
          </a:p>
          <a:p>
            <a:pPr lvl="2"/>
            <a:r>
              <a:rPr kumimoji="1" lang="en-US" altLang="ja-JP" dirty="0"/>
              <a:t>EDC</a:t>
            </a:r>
            <a:r>
              <a:rPr kumimoji="1" lang="ja-JP" altLang="en-US" dirty="0"/>
              <a:t>福井</a:t>
            </a:r>
            <a:r>
              <a:rPr kumimoji="1" lang="en-US" altLang="ja-JP" dirty="0"/>
              <a:t>GM</a:t>
            </a:r>
            <a:r>
              <a:rPr kumimoji="1" lang="ja-JP" altLang="en-US" dirty="0"/>
              <a:t>不在だったため、浅野</a:t>
            </a:r>
            <a:r>
              <a:rPr kumimoji="1" lang="en-US" altLang="ja-JP" dirty="0"/>
              <a:t>SN</a:t>
            </a:r>
            <a:r>
              <a:rPr kumimoji="1" lang="ja-JP" altLang="en-US" dirty="0"/>
              <a:t>が持ち帰り今後の対応を検討</a:t>
            </a:r>
            <a:endParaRPr kumimoji="1" lang="en-US" altLang="ja-JP" dirty="0"/>
          </a:p>
          <a:p>
            <a:pPr lvl="3"/>
            <a:r>
              <a:rPr lang="ja-JP" altLang="en-US" dirty="0"/>
              <a:t>ユーザサイドへの情報展開</a:t>
            </a:r>
            <a:endParaRPr lang="en-US" altLang="ja-JP" dirty="0"/>
          </a:p>
          <a:p>
            <a:pPr lvl="3"/>
            <a:r>
              <a:rPr kumimoji="1" lang="ja-JP" altLang="en-US" dirty="0"/>
              <a:t>部品標準化の改善をどうするか</a:t>
            </a:r>
            <a:endParaRPr kumimoji="1" lang="en-US" altLang="ja-JP" dirty="0"/>
          </a:p>
          <a:p>
            <a:pPr lvl="1"/>
            <a:r>
              <a:rPr kumimoji="1" lang="ja-JP" altLang="en-US" b="1" dirty="0"/>
              <a:t>分野事務局</a:t>
            </a:r>
            <a:r>
              <a:rPr kumimoji="1" lang="en-US" altLang="ja-JP" dirty="0"/>
              <a:t>: </a:t>
            </a:r>
            <a:r>
              <a:rPr kumimoji="1" lang="ja-JP" altLang="en-US" b="1" dirty="0">
                <a:solidFill>
                  <a:schemeClr val="tx2"/>
                </a:solidFill>
              </a:rPr>
              <a:t>未 </a:t>
            </a:r>
            <a:r>
              <a:rPr kumimoji="1" lang="en-US" altLang="ja-JP" b="1" dirty="0">
                <a:solidFill>
                  <a:schemeClr val="tx2"/>
                </a:solidFill>
              </a:rPr>
              <a:t>(5</a:t>
            </a:r>
            <a:r>
              <a:rPr kumimoji="1" lang="ja-JP" altLang="en-US" b="1" dirty="0">
                <a:solidFill>
                  <a:schemeClr val="tx2"/>
                </a:solidFill>
              </a:rPr>
              <a:t>月以降を予定</a:t>
            </a:r>
            <a:r>
              <a:rPr kumimoji="1" lang="en-US" altLang="ja-JP" b="1" dirty="0">
                <a:solidFill>
                  <a:schemeClr val="tx2"/>
                </a:solidFill>
              </a:rPr>
              <a:t>)</a:t>
            </a:r>
          </a:p>
          <a:p>
            <a:pPr lvl="2"/>
            <a:r>
              <a:rPr lang="en-US" altLang="ja-JP" dirty="0"/>
              <a:t>VD</a:t>
            </a:r>
            <a:r>
              <a:rPr lang="ja-JP" altLang="en-US" dirty="0"/>
              <a:t>統括、</a:t>
            </a:r>
            <a:r>
              <a:rPr lang="en-US" altLang="ja-JP" dirty="0"/>
              <a:t>EDC</a:t>
            </a:r>
            <a:r>
              <a:rPr lang="ja-JP" altLang="en-US" dirty="0"/>
              <a:t>とで対応を協議中</a:t>
            </a:r>
            <a:endParaRPr lang="en-US" altLang="ja-JP" dirty="0"/>
          </a:p>
          <a:p>
            <a:pPr lvl="1"/>
            <a:r>
              <a:rPr lang="ja-JP" altLang="en-US" b="1" dirty="0"/>
              <a:t>部品主査、他ユーザ</a:t>
            </a:r>
            <a:r>
              <a:rPr lang="en-US" altLang="ja-JP" dirty="0"/>
              <a:t>:</a:t>
            </a:r>
            <a:r>
              <a:rPr kumimoji="1" lang="ja-JP" altLang="en-US" b="1" dirty="0">
                <a:solidFill>
                  <a:schemeClr val="tx2"/>
                </a:solidFill>
              </a:rPr>
              <a:t>未 </a:t>
            </a:r>
            <a:r>
              <a:rPr kumimoji="1" lang="en-US" altLang="ja-JP" b="1" dirty="0">
                <a:solidFill>
                  <a:schemeClr val="tx2"/>
                </a:solidFill>
              </a:rPr>
              <a:t>(5</a:t>
            </a:r>
            <a:r>
              <a:rPr kumimoji="1" lang="ja-JP" altLang="en-US" b="1" dirty="0">
                <a:solidFill>
                  <a:schemeClr val="tx2"/>
                </a:solidFill>
              </a:rPr>
              <a:t>月以降を予定</a:t>
            </a:r>
            <a:r>
              <a:rPr kumimoji="1" lang="en-US" altLang="ja-JP" b="1" dirty="0">
                <a:solidFill>
                  <a:schemeClr val="tx2"/>
                </a:solidFill>
              </a:rPr>
              <a:t>)</a:t>
            </a:r>
            <a:endParaRPr lang="en-US" altLang="ja-JP" b="1" dirty="0">
              <a:solidFill>
                <a:schemeClr val="tx2"/>
              </a:solidFill>
            </a:endParaRPr>
          </a:p>
          <a:p>
            <a:pPr lvl="2"/>
            <a:r>
              <a:rPr lang="ja-JP" altLang="en-US" dirty="0"/>
              <a:t>分野事務局を交え対応を協議</a:t>
            </a:r>
            <a:endParaRPr lang="en-US" altLang="ja-JP" dirty="0"/>
          </a:p>
          <a:p>
            <a:pPr lvl="1"/>
            <a:r>
              <a:rPr lang="en-US" altLang="ja-JP" b="1" dirty="0"/>
              <a:t>TS EP</a:t>
            </a:r>
            <a:r>
              <a:rPr lang="ja-JP" altLang="en-US" b="1" dirty="0"/>
              <a:t>本部</a:t>
            </a:r>
            <a:r>
              <a:rPr lang="en-US" altLang="ja-JP" dirty="0"/>
              <a:t>(</a:t>
            </a:r>
            <a:r>
              <a:rPr lang="ja-JP" altLang="en-US" dirty="0"/>
              <a:t>部活</a:t>
            </a:r>
            <a:r>
              <a:rPr lang="en-US" altLang="ja-JP" dirty="0"/>
              <a:t>IT</a:t>
            </a:r>
            <a:r>
              <a:rPr lang="ja-JP" altLang="en-US" dirty="0"/>
              <a:t>部</a:t>
            </a:r>
            <a:r>
              <a:rPr lang="en-US" altLang="ja-JP" dirty="0"/>
              <a:t>): </a:t>
            </a:r>
            <a:r>
              <a:rPr lang="ja-JP" altLang="en-US" b="1" dirty="0">
                <a:solidFill>
                  <a:schemeClr val="accent6"/>
                </a:solidFill>
              </a:rPr>
              <a:t>済</a:t>
            </a:r>
            <a:endParaRPr lang="en-US" altLang="ja-JP" b="1" dirty="0">
              <a:solidFill>
                <a:schemeClr val="accent6"/>
              </a:solidFill>
            </a:endParaRPr>
          </a:p>
          <a:p>
            <a:pPr lvl="2"/>
            <a:r>
              <a:rPr lang="ja-JP" altLang="en-US" dirty="0"/>
              <a:t>デジタル家系図と絡めた部品標準化の改善として、要員調整しようとしていたため、計画見直しが必要とのこと</a:t>
            </a:r>
            <a:endParaRPr lang="en-US" altLang="ja-JP" dirty="0"/>
          </a:p>
        </p:txBody>
      </p:sp>
    </p:spTree>
    <p:extLst>
      <p:ext uri="{BB962C8B-B14F-4D97-AF65-F5344CB8AC3E}">
        <p14:creationId xmlns:p14="http://schemas.microsoft.com/office/powerpoint/2010/main" val="32550703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24F947-52EF-260D-FE38-41509456EB27}"/>
              </a:ext>
            </a:extLst>
          </p:cNvPr>
          <p:cNvSpPr>
            <a:spLocks noGrp="1"/>
          </p:cNvSpPr>
          <p:nvPr>
            <p:ph type="title"/>
          </p:nvPr>
        </p:nvSpPr>
        <p:spPr/>
        <p:txBody>
          <a:bodyPr/>
          <a:lstStyle/>
          <a:p>
            <a:r>
              <a:rPr kumimoji="1" lang="ja-JP" altLang="en-US" dirty="0"/>
              <a:t>メンバーの受け取り</a:t>
            </a:r>
          </a:p>
        </p:txBody>
      </p:sp>
      <p:sp>
        <p:nvSpPr>
          <p:cNvPr id="3" name="コンテンツ プレースホルダー 2">
            <a:extLst>
              <a:ext uri="{FF2B5EF4-FFF2-40B4-BE49-F238E27FC236}">
                <a16:creationId xmlns:a16="http://schemas.microsoft.com/office/drawing/2014/main" id="{E1CC29B8-533B-7E7E-10E0-70462BE5C49F}"/>
              </a:ext>
            </a:extLst>
          </p:cNvPr>
          <p:cNvSpPr>
            <a:spLocks noGrp="1"/>
          </p:cNvSpPr>
          <p:nvPr>
            <p:ph idx="1"/>
          </p:nvPr>
        </p:nvSpPr>
        <p:spPr/>
        <p:txBody>
          <a:bodyPr/>
          <a:lstStyle/>
          <a:p>
            <a:pPr algn="ctr"/>
            <a:r>
              <a:rPr kumimoji="1" lang="ja-JP" altLang="en-US" dirty="0"/>
              <a:t>号口リリースに向けて仕上げていこうとした矢先だったのもあり</a:t>
            </a:r>
            <a:br>
              <a:rPr kumimoji="1" lang="en-US" altLang="ja-JP" dirty="0"/>
            </a:br>
            <a:r>
              <a:rPr kumimoji="1" lang="ja-JP" altLang="en-US" dirty="0"/>
              <a:t>残念な気持ちは大きく、モチベーションの向け先がなくなった</a:t>
            </a:r>
            <a:endParaRPr kumimoji="1" lang="en-US" altLang="ja-JP" dirty="0"/>
          </a:p>
          <a:p>
            <a:pPr lvl="1"/>
            <a:r>
              <a:rPr kumimoji="1" lang="ja-JP" altLang="en-US" dirty="0"/>
              <a:t>トライユーザも少しずつ増え、システム的にも堅牢にして品質上げていこう！っていう直後だったので</a:t>
            </a:r>
            <a:br>
              <a:rPr kumimoji="1" lang="en-US" altLang="ja-JP" dirty="0"/>
            </a:br>
            <a:r>
              <a:rPr kumimoji="1" lang="ja-JP" altLang="en-US" dirty="0"/>
              <a:t>普通に</a:t>
            </a:r>
            <a:r>
              <a:rPr kumimoji="1" lang="ja-JP" altLang="en-US" b="1" dirty="0"/>
              <a:t>悲しい</a:t>
            </a:r>
            <a:endParaRPr kumimoji="1" lang="en-US" altLang="ja-JP" b="1" dirty="0"/>
          </a:p>
          <a:p>
            <a:pPr lvl="1"/>
            <a:r>
              <a:rPr kumimoji="1" lang="ja-JP" altLang="en-US" dirty="0"/>
              <a:t>ただただ</a:t>
            </a:r>
            <a:r>
              <a:rPr kumimoji="1" lang="ja-JP" altLang="en-US" b="1" dirty="0"/>
              <a:t>悔しい</a:t>
            </a:r>
            <a:endParaRPr kumimoji="1" lang="en-US" altLang="ja-JP" b="1" dirty="0"/>
          </a:p>
          <a:p>
            <a:pPr lvl="1"/>
            <a:r>
              <a:rPr kumimoji="1" lang="ja-JP" altLang="en-US" b="1" dirty="0"/>
              <a:t>悔しい気持ち！</a:t>
            </a:r>
            <a:r>
              <a:rPr kumimoji="1" lang="ja-JP" altLang="en-US" dirty="0"/>
              <a:t>でも、利用するユーザ視点でかんがえると</a:t>
            </a:r>
            <a:r>
              <a:rPr kumimoji="1" lang="en-US" altLang="ja-JP" dirty="0"/>
              <a:t>OMUSVI</a:t>
            </a:r>
            <a:r>
              <a:rPr kumimoji="1" lang="ja-JP" altLang="en-US" dirty="0"/>
              <a:t>側に機能があったほうがスムーズではある</a:t>
            </a:r>
            <a:endParaRPr kumimoji="1" lang="en-US" altLang="ja-JP" dirty="0"/>
          </a:p>
          <a:p>
            <a:pPr lvl="1"/>
            <a:r>
              <a:rPr kumimoji="1" lang="ja-JP" altLang="en-US" dirty="0"/>
              <a:t>お金が稼げればいいわけじゃなくて、</a:t>
            </a:r>
            <a:r>
              <a:rPr kumimoji="1" lang="ja-JP" altLang="en-US" b="1" dirty="0"/>
              <a:t>貢献したかったよねー</a:t>
            </a:r>
            <a:r>
              <a:rPr kumimoji="1" lang="ja-JP" altLang="en-US" dirty="0"/>
              <a:t>砂の城、ワーすごいのできたねーって褒められたいよね。見てもらう前に波に流されてしまって・・・</a:t>
            </a:r>
          </a:p>
        </p:txBody>
      </p:sp>
      <p:sp>
        <p:nvSpPr>
          <p:cNvPr id="4" name="テキスト ボックス 3">
            <a:extLst>
              <a:ext uri="{FF2B5EF4-FFF2-40B4-BE49-F238E27FC236}">
                <a16:creationId xmlns:a16="http://schemas.microsoft.com/office/drawing/2014/main" id="{EAE4574C-9CC2-25B5-8877-110DA93A4631}"/>
              </a:ext>
            </a:extLst>
          </p:cNvPr>
          <p:cNvSpPr txBox="1"/>
          <p:nvPr/>
        </p:nvSpPr>
        <p:spPr>
          <a:xfrm>
            <a:off x="8332272" y="5905451"/>
            <a:ext cx="3533340" cy="307777"/>
          </a:xfrm>
          <a:prstGeom prst="rect">
            <a:avLst/>
          </a:prstGeom>
          <a:noFill/>
        </p:spPr>
        <p:txBody>
          <a:bodyPr wrap="none" rtlCol="0">
            <a:spAutoFit/>
          </a:bodyPr>
          <a:lstStyle/>
          <a:p>
            <a:pPr algn="r"/>
            <a:r>
              <a:rPr kumimoji="1" lang="en-US" altLang="ja-JP" sz="1400" dirty="0">
                <a:solidFill>
                  <a:schemeClr val="tx2"/>
                </a:solidFill>
              </a:rPr>
              <a:t>Miro(</a:t>
            </a:r>
            <a:r>
              <a:rPr kumimoji="1" lang="ja-JP" altLang="en-US" sz="1400" dirty="0">
                <a:solidFill>
                  <a:schemeClr val="tx2"/>
                </a:solidFill>
              </a:rPr>
              <a:t>ホワイトボードツール</a:t>
            </a:r>
            <a:r>
              <a:rPr kumimoji="1" lang="en-US" altLang="ja-JP" sz="1400" dirty="0">
                <a:solidFill>
                  <a:schemeClr val="tx2"/>
                </a:solidFill>
              </a:rPr>
              <a:t>)</a:t>
            </a:r>
            <a:r>
              <a:rPr kumimoji="1" lang="ja-JP" altLang="en-US" sz="1400" dirty="0">
                <a:solidFill>
                  <a:schemeClr val="tx2"/>
                </a:solidFill>
              </a:rPr>
              <a:t>への書き込みを抜粋</a:t>
            </a:r>
          </a:p>
        </p:txBody>
      </p:sp>
    </p:spTree>
    <p:extLst>
      <p:ext uri="{BB962C8B-B14F-4D97-AF65-F5344CB8AC3E}">
        <p14:creationId xmlns:p14="http://schemas.microsoft.com/office/powerpoint/2010/main" val="312005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11C455-D0B6-1D1B-72CD-3D8BAC810CAA}"/>
              </a:ext>
            </a:extLst>
          </p:cNvPr>
          <p:cNvSpPr>
            <a:spLocks noGrp="1"/>
          </p:cNvSpPr>
          <p:nvPr>
            <p:ph type="title"/>
          </p:nvPr>
        </p:nvSpPr>
        <p:spPr/>
        <p:txBody>
          <a:bodyPr/>
          <a:lstStyle/>
          <a:p>
            <a:r>
              <a:rPr kumimoji="1" lang="ja-JP" altLang="en-US" dirty="0"/>
              <a:t>その後の動き</a:t>
            </a:r>
          </a:p>
        </p:txBody>
      </p:sp>
      <p:sp>
        <p:nvSpPr>
          <p:cNvPr id="3" name="コンテンツ プレースホルダー 2">
            <a:extLst>
              <a:ext uri="{FF2B5EF4-FFF2-40B4-BE49-F238E27FC236}">
                <a16:creationId xmlns:a16="http://schemas.microsoft.com/office/drawing/2014/main" id="{13872A3D-EC95-6FDF-9F42-29AACBFDB063}"/>
              </a:ext>
            </a:extLst>
          </p:cNvPr>
          <p:cNvSpPr>
            <a:spLocks noGrp="1"/>
          </p:cNvSpPr>
          <p:nvPr>
            <p:ph idx="1"/>
          </p:nvPr>
        </p:nvSpPr>
        <p:spPr>
          <a:xfrm>
            <a:off x="845127" y="859899"/>
            <a:ext cx="10515600" cy="977361"/>
          </a:xfrm>
        </p:spPr>
        <p:txBody>
          <a:bodyPr/>
          <a:lstStyle/>
          <a:p>
            <a:pPr algn="ctr"/>
            <a:r>
              <a:rPr kumimoji="1" lang="en-US" altLang="ja-JP" dirty="0"/>
              <a:t>4/14: </a:t>
            </a:r>
            <a:r>
              <a:rPr kumimoji="1" lang="ja-JP" altLang="en-US" dirty="0"/>
              <a:t>取り急ぎ各自でやるべきこと、やれることを出し合って動き出したが</a:t>
            </a:r>
            <a:br>
              <a:rPr kumimoji="1" lang="en-US" altLang="ja-JP" dirty="0"/>
            </a:br>
            <a:r>
              <a:rPr kumimoji="1" lang="ja-JP" altLang="en-US" dirty="0"/>
              <a:t>着地点がなくふわふわしてしまった</a:t>
            </a:r>
          </a:p>
        </p:txBody>
      </p:sp>
      <p:pic>
        <p:nvPicPr>
          <p:cNvPr id="5" name="図 4">
            <a:extLst>
              <a:ext uri="{FF2B5EF4-FFF2-40B4-BE49-F238E27FC236}">
                <a16:creationId xmlns:a16="http://schemas.microsoft.com/office/drawing/2014/main" id="{C1921C9F-BA13-D045-0836-100848067F10}"/>
              </a:ext>
            </a:extLst>
          </p:cNvPr>
          <p:cNvPicPr>
            <a:picLocks noChangeAspect="1"/>
          </p:cNvPicPr>
          <p:nvPr/>
        </p:nvPicPr>
        <p:blipFill>
          <a:blip r:embed="rId2"/>
          <a:stretch>
            <a:fillRect/>
          </a:stretch>
        </p:blipFill>
        <p:spPr>
          <a:xfrm>
            <a:off x="595883" y="1830264"/>
            <a:ext cx="7008877" cy="4524367"/>
          </a:xfrm>
          <a:prstGeom prst="rect">
            <a:avLst/>
          </a:prstGeom>
        </p:spPr>
      </p:pic>
      <p:sp>
        <p:nvSpPr>
          <p:cNvPr id="4" name="コンテンツ プレースホルダー 2">
            <a:extLst>
              <a:ext uri="{FF2B5EF4-FFF2-40B4-BE49-F238E27FC236}">
                <a16:creationId xmlns:a16="http://schemas.microsoft.com/office/drawing/2014/main" id="{8D5FF468-8EAD-F06A-63F2-74FDDA58CAF8}"/>
              </a:ext>
            </a:extLst>
          </p:cNvPr>
          <p:cNvSpPr txBox="1">
            <a:spLocks/>
          </p:cNvSpPr>
          <p:nvPr/>
        </p:nvSpPr>
        <p:spPr>
          <a:xfrm>
            <a:off x="7324627" y="2112736"/>
            <a:ext cx="4128940" cy="4100491"/>
          </a:xfrm>
          <a:prstGeom prst="rect">
            <a:avLst/>
          </a:prstGeom>
        </p:spPr>
        <p:txBody>
          <a:bodyPr vert="horz" lIns="91440" tIns="45720" rIns="91440" bIns="45720" rtlCol="0" anchor="t">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lvl="1"/>
            <a:r>
              <a:rPr lang="ja-JP" altLang="en-US" dirty="0"/>
              <a:t>メンバーのコミュニケーションを見ても</a:t>
            </a:r>
            <a:br>
              <a:rPr lang="en-US" altLang="ja-JP" dirty="0"/>
            </a:br>
            <a:r>
              <a:rPr lang="ja-JP" altLang="en-US" dirty="0"/>
              <a:t>モチベーションがあまりない様子</a:t>
            </a:r>
            <a:endParaRPr lang="en-US" altLang="ja-JP" dirty="0"/>
          </a:p>
          <a:p>
            <a:pPr lvl="1"/>
            <a:r>
              <a:rPr lang="ja-JP" altLang="en-US" dirty="0"/>
              <a:t>横山としても、以前と違いメンバーが</a:t>
            </a:r>
            <a:br>
              <a:rPr lang="en-US" altLang="ja-JP" dirty="0"/>
            </a:br>
            <a:r>
              <a:rPr lang="ja-JP" altLang="en-US" dirty="0"/>
              <a:t>同じ方向に向かっておらず</a:t>
            </a:r>
            <a:br>
              <a:rPr lang="en-US" altLang="ja-JP" dirty="0"/>
            </a:br>
            <a:r>
              <a:rPr lang="ja-JP" altLang="en-US" dirty="0"/>
              <a:t>バラバラと動いている不安感</a:t>
            </a:r>
          </a:p>
        </p:txBody>
      </p:sp>
    </p:spTree>
    <p:extLst>
      <p:ext uri="{BB962C8B-B14F-4D97-AF65-F5344CB8AC3E}">
        <p14:creationId xmlns:p14="http://schemas.microsoft.com/office/powerpoint/2010/main" val="2986095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06425BBF-6BF9-7153-AF93-C7A2F93BD8A1}"/>
              </a:ext>
            </a:extLst>
          </p:cNvPr>
          <p:cNvPicPr>
            <a:picLocks noChangeAspect="1"/>
          </p:cNvPicPr>
          <p:nvPr/>
        </p:nvPicPr>
        <p:blipFill>
          <a:blip r:embed="rId2"/>
          <a:stretch>
            <a:fillRect/>
          </a:stretch>
        </p:blipFill>
        <p:spPr>
          <a:xfrm>
            <a:off x="445750" y="1818716"/>
            <a:ext cx="1642922" cy="3728457"/>
          </a:xfrm>
          <a:prstGeom prst="rect">
            <a:avLst/>
          </a:prstGeom>
          <a:ln>
            <a:solidFill>
              <a:schemeClr val="bg1">
                <a:lumMod val="50000"/>
              </a:schemeClr>
            </a:solidFill>
          </a:ln>
          <a:effectLst>
            <a:outerShdw blurRad="50800" dist="38100" dir="5400000" algn="t" rotWithShape="0">
              <a:prstClr val="black">
                <a:alpha val="40000"/>
              </a:prstClr>
            </a:outerShdw>
          </a:effectLst>
        </p:spPr>
      </p:pic>
      <p:sp>
        <p:nvSpPr>
          <p:cNvPr id="18" name="吹き出し: 四角形 17">
            <a:extLst>
              <a:ext uri="{FF2B5EF4-FFF2-40B4-BE49-F238E27FC236}">
                <a16:creationId xmlns:a16="http://schemas.microsoft.com/office/drawing/2014/main" id="{7BD7CCBD-EBDF-B271-74B5-C34732053828}"/>
              </a:ext>
            </a:extLst>
          </p:cNvPr>
          <p:cNvSpPr/>
          <p:nvPr/>
        </p:nvSpPr>
        <p:spPr>
          <a:xfrm>
            <a:off x="2788699" y="3347208"/>
            <a:ext cx="3643966" cy="3038760"/>
          </a:xfrm>
          <a:prstGeom prst="wedgeRectCallout">
            <a:avLst>
              <a:gd name="adj1" fmla="val -73179"/>
              <a:gd name="adj2" fmla="val -23569"/>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吹き出し: 四角形 16">
            <a:extLst>
              <a:ext uri="{FF2B5EF4-FFF2-40B4-BE49-F238E27FC236}">
                <a16:creationId xmlns:a16="http://schemas.microsoft.com/office/drawing/2014/main" id="{FCACF393-42AD-3B28-F188-D773B4E9BF37}"/>
              </a:ext>
            </a:extLst>
          </p:cNvPr>
          <p:cNvSpPr/>
          <p:nvPr/>
        </p:nvSpPr>
        <p:spPr>
          <a:xfrm>
            <a:off x="2194127" y="1761300"/>
            <a:ext cx="4333542" cy="1494607"/>
          </a:xfrm>
          <a:prstGeom prst="wedgeRectCallout">
            <a:avLst>
              <a:gd name="adj1" fmla="val -73179"/>
              <a:gd name="adj2" fmla="val -34564"/>
            </a:avLst>
          </a:prstGeom>
          <a:solidFill>
            <a:schemeClr val="accent1">
              <a:lumMod val="20000"/>
              <a:lumOff val="80000"/>
            </a:schemeClr>
          </a:solid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9EADF9A4-3626-CBB9-98BB-5EB7BB97358E}"/>
              </a:ext>
            </a:extLst>
          </p:cNvPr>
          <p:cNvSpPr>
            <a:spLocks noGrp="1"/>
          </p:cNvSpPr>
          <p:nvPr>
            <p:ph type="title"/>
          </p:nvPr>
        </p:nvSpPr>
        <p:spPr/>
        <p:txBody>
          <a:bodyPr/>
          <a:lstStyle/>
          <a:p>
            <a:r>
              <a:rPr kumimoji="1" lang="ja-JP" altLang="en-US" dirty="0"/>
              <a:t>現在のチームの状態</a:t>
            </a:r>
          </a:p>
        </p:txBody>
      </p:sp>
      <p:sp>
        <p:nvSpPr>
          <p:cNvPr id="3" name="コンテンツ プレースホルダー 2">
            <a:extLst>
              <a:ext uri="{FF2B5EF4-FFF2-40B4-BE49-F238E27FC236}">
                <a16:creationId xmlns:a16="http://schemas.microsoft.com/office/drawing/2014/main" id="{ECA9FADA-13FB-AA4A-6EC9-6A89EA15760E}"/>
              </a:ext>
            </a:extLst>
          </p:cNvPr>
          <p:cNvSpPr>
            <a:spLocks noGrp="1"/>
          </p:cNvSpPr>
          <p:nvPr>
            <p:ph idx="1"/>
          </p:nvPr>
        </p:nvSpPr>
        <p:spPr>
          <a:xfrm>
            <a:off x="845127" y="859900"/>
            <a:ext cx="10515600" cy="950428"/>
          </a:xfrm>
        </p:spPr>
        <p:txBody>
          <a:bodyPr>
            <a:normAutofit/>
          </a:bodyPr>
          <a:lstStyle/>
          <a:p>
            <a:pPr algn="ctr"/>
            <a:r>
              <a:rPr kumimoji="1" lang="ja-JP" altLang="en-US" dirty="0"/>
              <a:t>面着合宿</a:t>
            </a:r>
            <a:r>
              <a:rPr kumimoji="1" lang="en-US" altLang="ja-JP" dirty="0"/>
              <a:t>(4/18)</a:t>
            </a:r>
            <a:r>
              <a:rPr kumimoji="1" lang="ja-JP" altLang="en-US" dirty="0"/>
              <a:t>にて</a:t>
            </a:r>
            <a:r>
              <a:rPr lang="ja-JP" altLang="en-US" dirty="0"/>
              <a:t>、</a:t>
            </a:r>
            <a:r>
              <a:rPr kumimoji="1" lang="ja-JP" altLang="en-US" dirty="0"/>
              <a:t>ゴールを定義しスクラム開発</a:t>
            </a:r>
            <a:r>
              <a:rPr kumimoji="1" lang="en-US" altLang="ja-JP" dirty="0"/>
              <a:t>FW</a:t>
            </a:r>
            <a:r>
              <a:rPr kumimoji="1" lang="ja-JP" altLang="en-US" dirty="0"/>
              <a:t>に則りプランニング</a:t>
            </a:r>
            <a:br>
              <a:rPr kumimoji="1" lang="en-US" altLang="ja-JP" dirty="0"/>
            </a:br>
            <a:r>
              <a:rPr kumimoji="1" lang="ja-JP" altLang="en-US" dirty="0"/>
              <a:t>いつもの調子を取り戻しているように見受けられる</a:t>
            </a:r>
            <a:endParaRPr kumimoji="1" lang="en-US" altLang="ja-JP" dirty="0"/>
          </a:p>
        </p:txBody>
      </p:sp>
      <p:pic>
        <p:nvPicPr>
          <p:cNvPr id="5" name="図 4">
            <a:extLst>
              <a:ext uri="{FF2B5EF4-FFF2-40B4-BE49-F238E27FC236}">
                <a16:creationId xmlns:a16="http://schemas.microsoft.com/office/drawing/2014/main" id="{E47CCC52-3FD9-C515-CBFE-7EB6D9176034}"/>
              </a:ext>
            </a:extLst>
          </p:cNvPr>
          <p:cNvPicPr>
            <a:picLocks noChangeAspect="1"/>
          </p:cNvPicPr>
          <p:nvPr/>
        </p:nvPicPr>
        <p:blipFill>
          <a:blip r:embed="rId3"/>
          <a:stretch>
            <a:fillRect/>
          </a:stretch>
        </p:blipFill>
        <p:spPr>
          <a:xfrm>
            <a:off x="2339451" y="1922854"/>
            <a:ext cx="4031387" cy="1166665"/>
          </a:xfrm>
          <a:prstGeom prst="rect">
            <a:avLst/>
          </a:prstGeom>
        </p:spPr>
      </p:pic>
      <p:pic>
        <p:nvPicPr>
          <p:cNvPr id="13" name="図 12">
            <a:extLst>
              <a:ext uri="{FF2B5EF4-FFF2-40B4-BE49-F238E27FC236}">
                <a16:creationId xmlns:a16="http://schemas.microsoft.com/office/drawing/2014/main" id="{05DA2997-7FC5-9894-27B6-DD0EEA3D37B4}"/>
              </a:ext>
            </a:extLst>
          </p:cNvPr>
          <p:cNvPicPr>
            <a:picLocks noChangeAspect="1"/>
          </p:cNvPicPr>
          <p:nvPr/>
        </p:nvPicPr>
        <p:blipFill>
          <a:blip r:embed="rId4"/>
          <a:stretch>
            <a:fillRect/>
          </a:stretch>
        </p:blipFill>
        <p:spPr>
          <a:xfrm>
            <a:off x="2952812" y="3499384"/>
            <a:ext cx="3315739" cy="2734408"/>
          </a:xfrm>
          <a:prstGeom prst="rect">
            <a:avLst/>
          </a:prstGeom>
        </p:spPr>
      </p:pic>
      <p:sp>
        <p:nvSpPr>
          <p:cNvPr id="14" name="コンテンツ プレースホルダー 2">
            <a:extLst>
              <a:ext uri="{FF2B5EF4-FFF2-40B4-BE49-F238E27FC236}">
                <a16:creationId xmlns:a16="http://schemas.microsoft.com/office/drawing/2014/main" id="{2E678B30-33A2-B83E-4798-DB8166BD2CDF}"/>
              </a:ext>
            </a:extLst>
          </p:cNvPr>
          <p:cNvSpPr txBox="1">
            <a:spLocks/>
          </p:cNvSpPr>
          <p:nvPr/>
        </p:nvSpPr>
        <p:spPr>
          <a:xfrm>
            <a:off x="6327156" y="1517696"/>
            <a:ext cx="5538456" cy="4628126"/>
          </a:xfrm>
          <a:prstGeom prst="rect">
            <a:avLst/>
          </a:prstGeom>
        </p:spPr>
        <p:txBody>
          <a:bodyPr vert="horz" lIns="91440" tIns="45720" rIns="91440" bIns="45720" rtlCol="0" anchor="ctr">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lvl="1"/>
            <a:r>
              <a:rPr lang="ja-JP" altLang="en-US" dirty="0"/>
              <a:t>クロージングのゴール（目的と完了条件）を設定</a:t>
            </a:r>
            <a:br>
              <a:rPr lang="en-US" altLang="ja-JP" dirty="0"/>
            </a:br>
            <a:r>
              <a:rPr lang="ja-JP" altLang="en-US" dirty="0"/>
              <a:t>→ </a:t>
            </a:r>
            <a:r>
              <a:rPr lang="en-US" altLang="ja-JP" dirty="0"/>
              <a:t>PO</a:t>
            </a:r>
            <a:r>
              <a:rPr lang="ja-JP" altLang="en-US" dirty="0"/>
              <a:t>の役割</a:t>
            </a:r>
            <a:endParaRPr lang="en-US" altLang="ja-JP" dirty="0"/>
          </a:p>
          <a:p>
            <a:pPr lvl="1"/>
            <a:r>
              <a:rPr lang="ja-JP" altLang="en-US" dirty="0"/>
              <a:t>ゴールに向けて何を残すか（成果物）、どのような状態にするか、いつまでに（目標）を自分たちで設定 → </a:t>
            </a:r>
            <a:r>
              <a:rPr lang="ja-JP" altLang="en-US" b="1" dirty="0"/>
              <a:t>自分事化</a:t>
            </a:r>
            <a:endParaRPr lang="en-US" altLang="ja-JP" b="1" dirty="0"/>
          </a:p>
          <a:p>
            <a:pPr lvl="1"/>
            <a:r>
              <a:rPr lang="ja-JP" altLang="en-US" dirty="0"/>
              <a:t>エンジニア陣はタスクに対し</a:t>
            </a:r>
            <a:r>
              <a:rPr lang="en-US" altLang="ja-JP" dirty="0"/>
              <a:t>AI</a:t>
            </a:r>
            <a:r>
              <a:rPr lang="ja-JP" altLang="en-US" dirty="0"/>
              <a:t>を駆使するなど</a:t>
            </a:r>
            <a:br>
              <a:rPr lang="en-US" altLang="ja-JP" dirty="0"/>
            </a:br>
            <a:r>
              <a:rPr lang="ja-JP" altLang="en-US" dirty="0"/>
              <a:t>関心事と紐づけ、活発に活動</a:t>
            </a:r>
            <a:endParaRPr lang="en-US" altLang="ja-JP" dirty="0"/>
          </a:p>
          <a:p>
            <a:pPr lvl="1"/>
            <a:r>
              <a:rPr lang="ja-JP" altLang="en-US" dirty="0"/>
              <a:t>少し時間が経ったこともあるが</a:t>
            </a:r>
            <a:br>
              <a:rPr lang="en-US" altLang="ja-JP" dirty="0"/>
            </a:br>
            <a:r>
              <a:rPr lang="ja-JP" altLang="en-US" dirty="0"/>
              <a:t>これまでの状態を取り戻している</a:t>
            </a:r>
          </a:p>
        </p:txBody>
      </p:sp>
    </p:spTree>
    <p:extLst>
      <p:ext uri="{BB962C8B-B14F-4D97-AF65-F5344CB8AC3E}">
        <p14:creationId xmlns:p14="http://schemas.microsoft.com/office/powerpoint/2010/main" val="1476579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49DC47-427C-5CA0-4B29-E78380A9FF5B}"/>
              </a:ext>
            </a:extLst>
          </p:cNvPr>
          <p:cNvSpPr>
            <a:spLocks noGrp="1"/>
          </p:cNvSpPr>
          <p:nvPr>
            <p:ph type="title"/>
          </p:nvPr>
        </p:nvSpPr>
        <p:spPr/>
        <p:txBody>
          <a:bodyPr/>
          <a:lstStyle/>
          <a:p>
            <a:r>
              <a:rPr kumimoji="1" lang="ja-JP" altLang="en-US" dirty="0"/>
              <a:t>所感</a:t>
            </a:r>
          </a:p>
        </p:txBody>
      </p:sp>
      <p:sp>
        <p:nvSpPr>
          <p:cNvPr id="3" name="コンテンツ プレースホルダー 2">
            <a:extLst>
              <a:ext uri="{FF2B5EF4-FFF2-40B4-BE49-F238E27FC236}">
                <a16:creationId xmlns:a16="http://schemas.microsoft.com/office/drawing/2014/main" id="{A63622B8-32D5-0168-CE56-E36AC929FDEF}"/>
              </a:ext>
            </a:extLst>
          </p:cNvPr>
          <p:cNvSpPr>
            <a:spLocks noGrp="1"/>
          </p:cNvSpPr>
          <p:nvPr>
            <p:ph idx="1"/>
          </p:nvPr>
        </p:nvSpPr>
        <p:spPr/>
        <p:txBody>
          <a:bodyPr anchor="ctr"/>
          <a:lstStyle/>
          <a:p>
            <a:pPr lvl="1"/>
            <a:r>
              <a:rPr kumimoji="1" lang="ja-JP" altLang="en-US" dirty="0"/>
              <a:t>残念な気持ちはあるが、チームを抱える身として、今後の心配が勝っている状況</a:t>
            </a:r>
            <a:endParaRPr kumimoji="1" lang="en-US" altLang="ja-JP" dirty="0"/>
          </a:p>
          <a:p>
            <a:pPr lvl="1"/>
            <a:r>
              <a:rPr kumimoji="1" lang="ja-JP" altLang="en-US" dirty="0"/>
              <a:t>和田</a:t>
            </a:r>
            <a:r>
              <a:rPr kumimoji="1" lang="en-US" altLang="ja-JP" dirty="0"/>
              <a:t>S</a:t>
            </a:r>
            <a:r>
              <a:rPr kumimoji="1" lang="ja-JP" altLang="en-US" dirty="0"/>
              <a:t>、孝久</a:t>
            </a:r>
            <a:r>
              <a:rPr kumimoji="1" lang="en-US" altLang="ja-JP" dirty="0"/>
              <a:t>S</a:t>
            </a:r>
            <a:r>
              <a:rPr kumimoji="1" lang="ja-JP" altLang="en-US" dirty="0"/>
              <a:t>の判断は腹落ちしている</a:t>
            </a:r>
            <a:endParaRPr kumimoji="1" lang="en-US" altLang="ja-JP" dirty="0"/>
          </a:p>
          <a:p>
            <a:pPr lvl="1"/>
            <a:r>
              <a:rPr lang="ja-JP" altLang="en-US" dirty="0"/>
              <a:t>足元改善（止血）案件が各所にあるが</a:t>
            </a:r>
            <a:br>
              <a:rPr lang="en-US" altLang="ja-JP" dirty="0"/>
            </a:br>
            <a:r>
              <a:rPr lang="ja-JP" altLang="en-US" b="1" dirty="0"/>
              <a:t>スピード感や</a:t>
            </a:r>
            <a:r>
              <a:rPr lang="en-US" altLang="ja-JP" b="1" dirty="0"/>
              <a:t>OMUSVI</a:t>
            </a:r>
            <a:r>
              <a:rPr lang="ja-JP" altLang="en-US" b="1" dirty="0"/>
              <a:t>を念頭に置いた取り組みが重要</a:t>
            </a:r>
            <a:r>
              <a:rPr lang="ja-JP" altLang="en-US" dirty="0"/>
              <a:t>だと痛感</a:t>
            </a:r>
            <a:endParaRPr kumimoji="1" lang="en-US" altLang="ja-JP" dirty="0"/>
          </a:p>
          <a:p>
            <a:pPr lvl="1"/>
            <a:r>
              <a:rPr lang="ja-JP" altLang="en-US" dirty="0"/>
              <a:t>足元の状況（直近のメンバーのタスクやモチベ、関係各所への動き）は落ち着きつつあるので</a:t>
            </a:r>
            <a:br>
              <a:rPr lang="en-US" altLang="ja-JP" dirty="0"/>
            </a:br>
            <a:r>
              <a:rPr lang="ja-JP" altLang="en-US" dirty="0"/>
              <a:t>次に向けた動きを推進</a:t>
            </a:r>
            <a:endParaRPr lang="en-US" altLang="ja-JP" dirty="0"/>
          </a:p>
          <a:p>
            <a:pPr lvl="2"/>
            <a:r>
              <a:rPr kumimoji="1" lang="ja-JP" altLang="en-US" dirty="0"/>
              <a:t>直近は制御</a:t>
            </a:r>
            <a:r>
              <a:rPr kumimoji="1" lang="en-US" altLang="ja-JP" dirty="0"/>
              <a:t>OMUSVI</a:t>
            </a:r>
            <a:r>
              <a:rPr kumimoji="1" lang="ja-JP" altLang="en-US" dirty="0"/>
              <a:t>を中心とした情報収集、関係者との調整等</a:t>
            </a:r>
            <a:endParaRPr kumimoji="1" lang="en-US" altLang="ja-JP" dirty="0"/>
          </a:p>
          <a:p>
            <a:pPr lvl="1"/>
            <a:r>
              <a:rPr kumimoji="1" lang="ja-JP" altLang="en-US" dirty="0"/>
              <a:t>メンバーの山本（</a:t>
            </a:r>
            <a:r>
              <a:rPr kumimoji="1" lang="en-US" altLang="ja-JP" dirty="0"/>
              <a:t>2</a:t>
            </a:r>
            <a:r>
              <a:rPr kumimoji="1" lang="ja-JP" altLang="en-US" dirty="0"/>
              <a:t>年目）はこれから受託案件で成果を出していく、というタイミングだったため</a:t>
            </a:r>
            <a:br>
              <a:rPr kumimoji="1" lang="en-US" altLang="ja-JP" dirty="0"/>
            </a:br>
            <a:r>
              <a:rPr lang="ja-JP" altLang="en-US" dirty="0"/>
              <a:t>何かしら</a:t>
            </a:r>
            <a:r>
              <a:rPr kumimoji="1" lang="ja-JP" altLang="en-US" dirty="0"/>
              <a:t>手当してあげたい</a:t>
            </a:r>
            <a:endParaRPr kumimoji="1" lang="en-US" altLang="ja-JP" dirty="0"/>
          </a:p>
        </p:txBody>
      </p:sp>
    </p:spTree>
    <p:extLst>
      <p:ext uri="{BB962C8B-B14F-4D97-AF65-F5344CB8AC3E}">
        <p14:creationId xmlns:p14="http://schemas.microsoft.com/office/powerpoint/2010/main" val="485565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4E863ADD-7993-F253-F4A3-D018829ED23B}"/>
              </a:ext>
            </a:extLst>
          </p:cNvPr>
          <p:cNvSpPr>
            <a:spLocks noGrp="1"/>
          </p:cNvSpPr>
          <p:nvPr>
            <p:ph type="body" sz="quarter" idx="13"/>
          </p:nvPr>
        </p:nvSpPr>
        <p:spPr>
          <a:xfrm>
            <a:off x="5593298" y="3102055"/>
            <a:ext cx="1005403" cy="653897"/>
          </a:xfrm>
        </p:spPr>
        <p:txBody>
          <a:bodyPr/>
          <a:lstStyle/>
          <a:p>
            <a:r>
              <a:rPr lang="ja-JP" altLang="en-US" dirty="0"/>
              <a:t>以上</a:t>
            </a:r>
          </a:p>
        </p:txBody>
      </p:sp>
    </p:spTree>
    <p:extLst>
      <p:ext uri="{BB962C8B-B14F-4D97-AF65-F5344CB8AC3E}">
        <p14:creationId xmlns:p14="http://schemas.microsoft.com/office/powerpoint/2010/main" val="2665087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49691D2A-0097-D0BA-8671-A13B4666D7D8}"/>
              </a:ext>
            </a:extLst>
          </p:cNvPr>
          <p:cNvSpPr>
            <a:spLocks noGrp="1"/>
          </p:cNvSpPr>
          <p:nvPr>
            <p:ph type="body" sz="quarter" idx="13"/>
          </p:nvPr>
        </p:nvSpPr>
        <p:spPr>
          <a:xfrm>
            <a:off x="4983548" y="3102055"/>
            <a:ext cx="2224904" cy="653897"/>
          </a:xfrm>
        </p:spPr>
        <p:txBody>
          <a:bodyPr/>
          <a:lstStyle/>
          <a:p>
            <a:r>
              <a:rPr kumimoji="1" lang="en-US" altLang="ja-JP" dirty="0"/>
              <a:t>Appendix</a:t>
            </a:r>
            <a:endParaRPr kumimoji="1" lang="ja-JP" altLang="en-US" dirty="0"/>
          </a:p>
        </p:txBody>
      </p:sp>
    </p:spTree>
    <p:extLst>
      <p:ext uri="{BB962C8B-B14F-4D97-AF65-F5344CB8AC3E}">
        <p14:creationId xmlns:p14="http://schemas.microsoft.com/office/powerpoint/2010/main" val="335015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F25F3FFD-7B7D-FAAE-1483-FF8CC4A706D5}"/>
              </a:ext>
            </a:extLst>
          </p:cNvPr>
          <p:cNvSpPr>
            <a:spLocks noGrp="1"/>
          </p:cNvSpPr>
          <p:nvPr>
            <p:ph type="title"/>
          </p:nvPr>
        </p:nvSpPr>
        <p:spPr/>
        <p:txBody>
          <a:bodyPr/>
          <a:lstStyle/>
          <a:p>
            <a:r>
              <a:rPr lang="ja-JP" altLang="en-US" dirty="0"/>
              <a:t>洗い出したタスク</a:t>
            </a:r>
          </a:p>
        </p:txBody>
      </p:sp>
      <p:graphicFrame>
        <p:nvGraphicFramePr>
          <p:cNvPr id="5" name="表 4">
            <a:extLst>
              <a:ext uri="{FF2B5EF4-FFF2-40B4-BE49-F238E27FC236}">
                <a16:creationId xmlns:a16="http://schemas.microsoft.com/office/drawing/2014/main" id="{79165478-712C-D51E-90BB-699A5FFAFDB8}"/>
              </a:ext>
            </a:extLst>
          </p:cNvPr>
          <p:cNvGraphicFramePr>
            <a:graphicFrameLocks noGrp="1"/>
          </p:cNvGraphicFramePr>
          <p:nvPr>
            <p:extLst>
              <p:ext uri="{D42A27DB-BD31-4B8C-83A1-F6EECF244321}">
                <p14:modId xmlns:p14="http://schemas.microsoft.com/office/powerpoint/2010/main" val="4080043852"/>
              </p:ext>
            </p:extLst>
          </p:nvPr>
        </p:nvGraphicFramePr>
        <p:xfrm>
          <a:off x="6586949" y="870943"/>
          <a:ext cx="4993640" cy="5357542"/>
        </p:xfrm>
        <a:graphic>
          <a:graphicData uri="http://schemas.openxmlformats.org/drawingml/2006/table">
            <a:tbl>
              <a:tblPr firstRow="1" bandRow="1">
                <a:tableStyleId>{2D5ABB26-0587-4C30-8999-92F81FD0307C}</a:tableStyleId>
              </a:tblPr>
              <a:tblGrid>
                <a:gridCol w="1227455">
                  <a:extLst>
                    <a:ext uri="{9D8B030D-6E8A-4147-A177-3AD203B41FA5}">
                      <a16:colId xmlns:a16="http://schemas.microsoft.com/office/drawing/2014/main" val="897110080"/>
                    </a:ext>
                  </a:extLst>
                </a:gridCol>
                <a:gridCol w="3018155">
                  <a:extLst>
                    <a:ext uri="{9D8B030D-6E8A-4147-A177-3AD203B41FA5}">
                      <a16:colId xmlns:a16="http://schemas.microsoft.com/office/drawing/2014/main" val="2590498176"/>
                    </a:ext>
                  </a:extLst>
                </a:gridCol>
                <a:gridCol w="748030">
                  <a:extLst>
                    <a:ext uri="{9D8B030D-6E8A-4147-A177-3AD203B41FA5}">
                      <a16:colId xmlns:a16="http://schemas.microsoft.com/office/drawing/2014/main" val="2992392832"/>
                    </a:ext>
                  </a:extLst>
                </a:gridCol>
              </a:tblGrid>
              <a:tr h="0">
                <a:tc>
                  <a:txBody>
                    <a:bodyPr/>
                    <a:lstStyle/>
                    <a:p>
                      <a:pPr algn="ctr">
                        <a:lnSpc>
                          <a:spcPct val="120000"/>
                        </a:lnSpc>
                      </a:pPr>
                      <a:r>
                        <a:rPr kumimoji="1" lang="ja-JP" altLang="en-US" sz="1200" b="1" dirty="0">
                          <a:solidFill>
                            <a:schemeClr val="bg2"/>
                          </a:solidFill>
                        </a:rPr>
                        <a:t>チーム</a:t>
                      </a:r>
                    </a:p>
                  </a:txBody>
                  <a:tcPr marT="72000" marB="72000"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tc>
                  <a:txBody>
                    <a:bodyPr/>
                    <a:lstStyle/>
                    <a:p>
                      <a:pPr algn="ctr">
                        <a:lnSpc>
                          <a:spcPct val="120000"/>
                        </a:lnSpc>
                      </a:pPr>
                      <a:r>
                        <a:rPr kumimoji="1" lang="en-US" altLang="ja-JP" sz="1200" b="1" dirty="0">
                          <a:solidFill>
                            <a:schemeClr val="bg2"/>
                          </a:solidFill>
                        </a:rPr>
                        <a:t>BP</a:t>
                      </a:r>
                      <a:endParaRPr kumimoji="1" lang="ja-JP" altLang="en-US" sz="1200" b="1" dirty="0">
                        <a:solidFill>
                          <a:schemeClr val="bg2"/>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tc>
                  <a:txBody>
                    <a:bodyPr/>
                    <a:lstStyle/>
                    <a:p>
                      <a:pPr algn="ctr">
                        <a:lnSpc>
                          <a:spcPct val="120000"/>
                        </a:lnSpc>
                      </a:pPr>
                      <a:r>
                        <a:rPr kumimoji="1" lang="ja-JP" altLang="en-US" sz="1200" b="1" spc="-150" baseline="0" dirty="0">
                          <a:solidFill>
                            <a:schemeClr val="bg2"/>
                          </a:solidFill>
                        </a:rPr>
                        <a:t>目標期限</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149218974"/>
                  </a:ext>
                </a:extLst>
              </a:tr>
              <a:tr h="123468">
                <a:tc rowSpan="6">
                  <a:txBody>
                    <a:bodyPr/>
                    <a:lstStyle/>
                    <a:p>
                      <a:pPr>
                        <a:lnSpc>
                          <a:spcPct val="120000"/>
                        </a:lnSpc>
                      </a:pPr>
                      <a:r>
                        <a:rPr kumimoji="1" lang="ja-JP" altLang="en-US" sz="1200" b="1" dirty="0">
                          <a:solidFill>
                            <a:schemeClr val="bg1"/>
                          </a:solidFill>
                        </a:rPr>
                        <a:t>ディスカバリー</a:t>
                      </a:r>
                    </a:p>
                  </a:txBody>
                  <a:tcPr marT="36000" marB="36000" anchor="ctr">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ユーザーストーリーマップ最新化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rowSpan="6">
                  <a:txBody>
                    <a:bodyPr/>
                    <a:lstStyle/>
                    <a:p>
                      <a:pPr algn="r">
                        <a:lnSpc>
                          <a:spcPct val="120000"/>
                        </a:lnSpc>
                      </a:pPr>
                      <a:r>
                        <a:rPr kumimoji="1" lang="en-US" altLang="ja-JP" sz="1200" dirty="0"/>
                        <a:t>5</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645265918"/>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画面・機能設計意図まとめ</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913677240"/>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ディスカバリープロセスまとめ</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055804829"/>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用語集整理・最新化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57986056"/>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インタビュー結果まとめ</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020225491"/>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インタビューノウハウまとめ</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948639903"/>
                  </a:ext>
                </a:extLst>
              </a:tr>
              <a:tr h="123468">
                <a:tc rowSpan="2">
                  <a:txBody>
                    <a:bodyPr/>
                    <a:lstStyle/>
                    <a:p>
                      <a:pPr>
                        <a:lnSpc>
                          <a:spcPct val="120000"/>
                        </a:lnSpc>
                      </a:pPr>
                      <a:r>
                        <a:rPr kumimoji="1" lang="en-US" altLang="ja-JP" sz="1200" b="1" dirty="0">
                          <a:solidFill>
                            <a:schemeClr val="bg1"/>
                          </a:solidFill>
                        </a:rPr>
                        <a:t>UI</a:t>
                      </a:r>
                      <a:r>
                        <a:rPr kumimoji="1" lang="ja-JP" altLang="en-US" sz="1200" b="1" dirty="0">
                          <a:solidFill>
                            <a:schemeClr val="bg1"/>
                          </a:solidFill>
                        </a:rPr>
                        <a:t>デザイン</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デザインガイドラインやりきり（ミニマム）</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rowSpan="2">
                  <a:txBody>
                    <a:bodyPr/>
                    <a:lstStyle/>
                    <a:p>
                      <a:pPr algn="r">
                        <a:lnSpc>
                          <a:spcPct val="120000"/>
                        </a:lnSpc>
                      </a:pPr>
                      <a:r>
                        <a:rPr kumimoji="1" lang="en-US" altLang="ja-JP" sz="1200" dirty="0"/>
                        <a:t>5</a:t>
                      </a:r>
                      <a:r>
                        <a:rPr kumimoji="1" lang="ja-JP" altLang="en-US" sz="1200" dirty="0"/>
                        <a:t>月末</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784303187"/>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ドキュメント化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820153936"/>
                  </a:ext>
                </a:extLst>
              </a:tr>
              <a:tr h="123468">
                <a:tc rowSpan="2">
                  <a:txBody>
                    <a:bodyPr/>
                    <a:lstStyle/>
                    <a:p>
                      <a:pPr>
                        <a:lnSpc>
                          <a:spcPct val="120000"/>
                        </a:lnSpc>
                      </a:pPr>
                      <a:r>
                        <a:rPr kumimoji="1" lang="ja-JP" altLang="en-US" sz="1200" b="1" dirty="0">
                          <a:solidFill>
                            <a:schemeClr val="bg1"/>
                          </a:solidFill>
                        </a:rPr>
                        <a:t>開発・実行環境</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環境構築の属人化要素リファクタリング</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rowSpan="2">
                  <a:txBody>
                    <a:bodyPr/>
                    <a:lstStyle/>
                    <a:p>
                      <a:pPr algn="r">
                        <a:lnSpc>
                          <a:spcPct val="120000"/>
                        </a:lnSpc>
                      </a:pPr>
                      <a:r>
                        <a:rPr kumimoji="1" lang="en-US" altLang="ja-JP" sz="1200" dirty="0"/>
                        <a:t>6</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189159577"/>
                  </a:ext>
                </a:extLst>
              </a:tr>
              <a:tr h="123468">
                <a:tc vMerge="1">
                  <a:txBody>
                    <a:bodyPr/>
                    <a:lstStyle/>
                    <a:p>
                      <a:pPr>
                        <a:lnSpc>
                          <a:spcPct val="120000"/>
                        </a:lnSpc>
                      </a:pPr>
                      <a:endParaRPr kumimoji="1" lang="ja-JP" altLang="en-US" sz="1400" b="1" dirty="0">
                        <a:solidFill>
                          <a:schemeClr val="tx2"/>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nSpc>
                          <a:spcPct val="120000"/>
                        </a:lnSpc>
                      </a:pPr>
                      <a:r>
                        <a:rPr kumimoji="1" lang="ja-JP" altLang="en-US" sz="1200" b="0" dirty="0">
                          <a:solidFill>
                            <a:schemeClr val="tx1"/>
                          </a:solidFill>
                        </a:rPr>
                        <a:t>ドキュメント化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473785291"/>
                  </a:ext>
                </a:extLst>
              </a:tr>
              <a:tr h="123468">
                <a:tc rowSpan="4">
                  <a:txBody>
                    <a:bodyPr/>
                    <a:lstStyle/>
                    <a:p>
                      <a:pPr>
                        <a:lnSpc>
                          <a:spcPct val="120000"/>
                        </a:lnSpc>
                      </a:pPr>
                      <a:r>
                        <a:rPr kumimoji="1" lang="ja-JP" altLang="en-US" sz="1200" b="1" dirty="0">
                          <a:solidFill>
                            <a:schemeClr val="bg1"/>
                          </a:solidFill>
                        </a:rPr>
                        <a:t>アプリ</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a:solidFill>
                            <a:schemeClr val="tx1"/>
                          </a:solidFill>
                        </a:rPr>
                        <a:t>保守性・再利用性が低い箇所のリファクタリング</a:t>
                      </a:r>
                      <a:endParaRPr kumimoji="1" lang="ja-JP" altLang="en-US" sz="1200" b="0" dirty="0">
                        <a:solidFill>
                          <a:schemeClr val="tx1"/>
                        </a:solidFill>
                      </a:endParaRP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rowSpan="3">
                  <a:txBody>
                    <a:bodyPr/>
                    <a:lstStyle/>
                    <a:p>
                      <a:pPr algn="r">
                        <a:lnSpc>
                          <a:spcPct val="120000"/>
                        </a:lnSpc>
                      </a:pPr>
                      <a:r>
                        <a:rPr kumimoji="1" lang="en-US" altLang="ja-JP" sz="1200" dirty="0"/>
                        <a:t>6</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625326503"/>
                  </a:ext>
                </a:extLst>
              </a:tr>
              <a:tr h="123468">
                <a:tc vMerge="1">
                  <a:txBody>
                    <a:bodyPr/>
                    <a:lstStyle/>
                    <a:p>
                      <a:pPr>
                        <a:lnSpc>
                          <a:spcPct val="120000"/>
                        </a:lnSpc>
                      </a:pPr>
                      <a:endParaRPr kumimoji="1" lang="ja-JP" altLang="en-US" sz="1400" b="1" dirty="0">
                        <a:solidFill>
                          <a:schemeClr val="tx2"/>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nSpc>
                          <a:spcPct val="120000"/>
                        </a:lnSpc>
                      </a:pPr>
                      <a:r>
                        <a:rPr kumimoji="1" lang="ja-JP" altLang="en-US" sz="1200" b="0" dirty="0">
                          <a:solidFill>
                            <a:schemeClr val="tx1"/>
                          </a:solidFill>
                        </a:rPr>
                        <a:t>既知の不具合修正</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177733137"/>
                  </a:ext>
                </a:extLst>
              </a:tr>
              <a:tr h="123468">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ドキュメント化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pPr algn="r">
                        <a:lnSpc>
                          <a:spcPct val="120000"/>
                        </a:lnSpc>
                      </a:pP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780100333"/>
                  </a:ext>
                </a:extLst>
              </a:tr>
              <a:tr h="182931">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en-US" altLang="ja-JP" sz="1200" b="0" dirty="0">
                          <a:solidFill>
                            <a:schemeClr val="tx1"/>
                          </a:solidFill>
                        </a:rPr>
                        <a:t>ADR</a:t>
                      </a:r>
                      <a:r>
                        <a:rPr kumimoji="1" lang="ja-JP" altLang="en-US" sz="1200" b="0" dirty="0">
                          <a:solidFill>
                            <a:schemeClr val="tx1"/>
                          </a:solidFill>
                        </a:rPr>
                        <a:t>の整理</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200" dirty="0"/>
                        <a:t>5</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60247710"/>
                  </a:ext>
                </a:extLst>
              </a:tr>
              <a:tr h="182931">
                <a:tc>
                  <a:txBody>
                    <a:bodyPr/>
                    <a:lstStyle/>
                    <a:p>
                      <a:pPr>
                        <a:lnSpc>
                          <a:spcPct val="120000"/>
                        </a:lnSpc>
                      </a:pPr>
                      <a:r>
                        <a:rPr kumimoji="1" lang="ja-JP" altLang="en-US" sz="1200" b="1" dirty="0">
                          <a:solidFill>
                            <a:schemeClr val="bg1"/>
                          </a:solidFill>
                        </a:rPr>
                        <a:t>運用設計</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運用設計最新化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200" dirty="0"/>
                        <a:t>5</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46743768"/>
                  </a:ext>
                </a:extLst>
              </a:tr>
              <a:tr h="182931">
                <a:tc>
                  <a:txBody>
                    <a:bodyPr/>
                    <a:lstStyle/>
                    <a:p>
                      <a:pPr>
                        <a:lnSpc>
                          <a:spcPct val="120000"/>
                        </a:lnSpc>
                      </a:pPr>
                      <a:r>
                        <a:rPr kumimoji="1" lang="ja-JP" altLang="en-US" sz="1200" b="1" dirty="0">
                          <a:solidFill>
                            <a:schemeClr val="bg1"/>
                          </a:solidFill>
                        </a:rPr>
                        <a:t>チーム運営</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推進体制のドキュメント化</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200" dirty="0"/>
                        <a:t>5</a:t>
                      </a:r>
                      <a:r>
                        <a:rPr kumimoji="1" lang="ja-JP" altLang="en-US" sz="1200" dirty="0"/>
                        <a:t>月央</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62505562"/>
                  </a:ext>
                </a:extLst>
              </a:tr>
              <a:tr h="182931">
                <a:tc rowSpan="2">
                  <a:txBody>
                    <a:bodyPr/>
                    <a:lstStyle/>
                    <a:p>
                      <a:pPr>
                        <a:lnSpc>
                          <a:spcPct val="120000"/>
                        </a:lnSpc>
                      </a:pPr>
                      <a:r>
                        <a:rPr kumimoji="1" lang="ja-JP" altLang="en-US" sz="1200" b="1" dirty="0">
                          <a:solidFill>
                            <a:schemeClr val="bg1"/>
                          </a:solidFill>
                        </a:rPr>
                        <a:t>手続き系</a:t>
                      </a:r>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各種データのエクスポート</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rowSpan="2">
                  <a:txBody>
                    <a:bodyPr/>
                    <a:lstStyle/>
                    <a:p>
                      <a:pPr algn="r">
                        <a:lnSpc>
                          <a:spcPct val="120000"/>
                        </a:lnSpc>
                      </a:pPr>
                      <a:r>
                        <a:rPr kumimoji="1" lang="en-US" altLang="ja-JP" sz="1200" dirty="0"/>
                        <a:t>6</a:t>
                      </a:r>
                      <a:r>
                        <a:rPr kumimoji="1" lang="ja-JP" altLang="en-US" sz="1200" dirty="0"/>
                        <a:t>月末</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422445353"/>
                  </a:ext>
                </a:extLst>
              </a:tr>
              <a:tr h="182931">
                <a:tc vMerge="1">
                  <a:txBody>
                    <a:bodyPr/>
                    <a:lstStyle/>
                    <a:p>
                      <a:endParaRPr dirty="0"/>
                    </a:p>
                  </a:txBody>
                  <a:tcPr marT="36000" marB="36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200" b="0" dirty="0">
                          <a:solidFill>
                            <a:schemeClr val="tx1"/>
                          </a:solidFill>
                        </a:rPr>
                        <a:t>廃止申請もろもろ</a:t>
                      </a: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vMerge="1">
                  <a:txBody>
                    <a:bodyPr/>
                    <a:lstStyle/>
                    <a:p>
                      <a:endParaRPr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4269102498"/>
                  </a:ext>
                </a:extLst>
              </a:tr>
            </a:tbl>
          </a:graphicData>
        </a:graphic>
      </p:graphicFrame>
      <p:pic>
        <p:nvPicPr>
          <p:cNvPr id="7" name="図 6">
            <a:extLst>
              <a:ext uri="{FF2B5EF4-FFF2-40B4-BE49-F238E27FC236}">
                <a16:creationId xmlns:a16="http://schemas.microsoft.com/office/drawing/2014/main" id="{2A5282CA-F3D3-B835-8B7E-8F58B01F1BFC}"/>
              </a:ext>
            </a:extLst>
          </p:cNvPr>
          <p:cNvPicPr>
            <a:picLocks noChangeAspect="1"/>
          </p:cNvPicPr>
          <p:nvPr/>
        </p:nvPicPr>
        <p:blipFill>
          <a:blip r:embed="rId2"/>
          <a:stretch>
            <a:fillRect/>
          </a:stretch>
        </p:blipFill>
        <p:spPr>
          <a:xfrm>
            <a:off x="623760" y="2848656"/>
            <a:ext cx="4918692" cy="1423447"/>
          </a:xfrm>
          <a:prstGeom prst="rect">
            <a:avLst/>
          </a:prstGeom>
        </p:spPr>
      </p:pic>
      <p:sp>
        <p:nvSpPr>
          <p:cNvPr id="8" name="二等辺三角形 7">
            <a:extLst>
              <a:ext uri="{FF2B5EF4-FFF2-40B4-BE49-F238E27FC236}">
                <a16:creationId xmlns:a16="http://schemas.microsoft.com/office/drawing/2014/main" id="{EC8F3040-6E17-E00A-E4CB-1840EB066988}"/>
              </a:ext>
            </a:extLst>
          </p:cNvPr>
          <p:cNvSpPr/>
          <p:nvPr/>
        </p:nvSpPr>
        <p:spPr>
          <a:xfrm rot="16200000">
            <a:off x="3354630" y="3058762"/>
            <a:ext cx="5357541" cy="981897"/>
          </a:xfrm>
          <a:prstGeom prs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1810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60836512-AEE5-31E2-B112-743D9B366770}"/>
              </a:ext>
            </a:extLst>
          </p:cNvPr>
          <p:cNvSpPr>
            <a:spLocks noGrp="1"/>
          </p:cNvSpPr>
          <p:nvPr>
            <p:ph type="body" sz="quarter" idx="13"/>
          </p:nvPr>
        </p:nvSpPr>
        <p:spPr>
          <a:xfrm>
            <a:off x="1739678" y="3102055"/>
            <a:ext cx="8712642" cy="653897"/>
          </a:xfrm>
        </p:spPr>
        <p:txBody>
          <a:bodyPr/>
          <a:lstStyle/>
          <a:p>
            <a:r>
              <a:rPr lang="en-US" altLang="ja-JP" dirty="0"/>
              <a:t>4/10</a:t>
            </a:r>
            <a:r>
              <a:rPr lang="ja-JP" altLang="en-US" dirty="0"/>
              <a:t>のデジカケ中止の判断を受け、確認とご相談</a:t>
            </a:r>
            <a:endParaRPr kumimoji="1" lang="ja-JP" altLang="en-US" dirty="0"/>
          </a:p>
        </p:txBody>
      </p:sp>
    </p:spTree>
    <p:extLst>
      <p:ext uri="{BB962C8B-B14F-4D97-AF65-F5344CB8AC3E}">
        <p14:creationId xmlns:p14="http://schemas.microsoft.com/office/powerpoint/2010/main" val="763222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5B3AF6-F714-7A41-C029-B9B93A3220AD}"/>
              </a:ext>
            </a:extLst>
          </p:cNvPr>
          <p:cNvSpPr>
            <a:spLocks noGrp="1"/>
          </p:cNvSpPr>
          <p:nvPr>
            <p:ph type="title"/>
          </p:nvPr>
        </p:nvSpPr>
        <p:spPr/>
        <p:txBody>
          <a:bodyPr/>
          <a:lstStyle/>
          <a:p>
            <a:r>
              <a:rPr kumimoji="1" lang="ja-JP" altLang="en-US" dirty="0"/>
              <a:t>デジタル家系図中止の理由</a:t>
            </a:r>
          </a:p>
        </p:txBody>
      </p:sp>
      <p:sp>
        <p:nvSpPr>
          <p:cNvPr id="3" name="コンテンツ プレースホルダー 2">
            <a:extLst>
              <a:ext uri="{FF2B5EF4-FFF2-40B4-BE49-F238E27FC236}">
                <a16:creationId xmlns:a16="http://schemas.microsoft.com/office/drawing/2014/main" id="{331B84DA-1B57-44B3-FC0F-E01CE6E811AB}"/>
              </a:ext>
            </a:extLst>
          </p:cNvPr>
          <p:cNvSpPr>
            <a:spLocks noGrp="1"/>
          </p:cNvSpPr>
          <p:nvPr>
            <p:ph idx="1"/>
          </p:nvPr>
        </p:nvSpPr>
        <p:spPr>
          <a:xfrm>
            <a:off x="845127" y="859900"/>
            <a:ext cx="10515600" cy="599446"/>
          </a:xfrm>
        </p:spPr>
        <p:txBody>
          <a:bodyPr/>
          <a:lstStyle/>
          <a:p>
            <a:pPr algn="ctr"/>
            <a:r>
              <a:rPr lang="ja-JP" altLang="en-US" dirty="0"/>
              <a:t>下記の認識でおりますが相違ないでしょうか</a:t>
            </a:r>
            <a:endParaRPr lang="en-US" altLang="ja-JP" dirty="0"/>
          </a:p>
        </p:txBody>
      </p:sp>
      <p:sp>
        <p:nvSpPr>
          <p:cNvPr id="4" name="コンテンツ プレースホルダー 2">
            <a:extLst>
              <a:ext uri="{FF2B5EF4-FFF2-40B4-BE49-F238E27FC236}">
                <a16:creationId xmlns:a16="http://schemas.microsoft.com/office/drawing/2014/main" id="{BC0BB90D-5045-B209-A559-D8D373F21585}"/>
              </a:ext>
            </a:extLst>
          </p:cNvPr>
          <p:cNvSpPr txBox="1">
            <a:spLocks/>
          </p:cNvSpPr>
          <p:nvPr/>
        </p:nvSpPr>
        <p:spPr>
          <a:xfrm>
            <a:off x="997527" y="1459346"/>
            <a:ext cx="10515600" cy="4193310"/>
          </a:xfrm>
          <a:prstGeom prst="rect">
            <a:avLst/>
          </a:prstGeom>
        </p:spPr>
        <p:txBody>
          <a:bodyPr vert="horz" lIns="91440" tIns="45720" rIns="91440" bIns="45720" rtlCol="0" anchor="ctr">
            <a:normAutofit/>
          </a:bodyPr>
          <a:lstStyle>
            <a:lvl1pPr marL="0" indent="0" algn="l" defTabSz="914400" rtl="0" eaLnBrk="1" latinLnBrk="0" hangingPunct="1">
              <a:lnSpc>
                <a:spcPct val="130000"/>
              </a:lnSpc>
              <a:spcBef>
                <a:spcPts val="2400"/>
              </a:spcBef>
              <a:buFont typeface="メイリオ" panose="020B0604030504040204" pitchFamily="50" charset="-128"/>
              <a:buNone/>
              <a:defRPr kumimoji="1" sz="2000" b="1" kern="1200">
                <a:solidFill>
                  <a:schemeClr val="tx1"/>
                </a:solidFill>
                <a:latin typeface="+mn-lt"/>
                <a:ea typeface="+mn-ea"/>
                <a:cs typeface="+mn-cs"/>
              </a:defRPr>
            </a:lvl1pPr>
            <a:lvl2pPr marL="685800" indent="-228600" algn="l" defTabSz="914400" rtl="0" eaLnBrk="1" latinLnBrk="0" hangingPunct="1">
              <a:lnSpc>
                <a:spcPct val="130000"/>
              </a:lnSpc>
              <a:spcBef>
                <a:spcPts val="1200"/>
              </a:spcBef>
              <a:buFont typeface="メイリオ" panose="020B0604030504040204" pitchFamily="50" charset="-128"/>
              <a:buChar char="•"/>
              <a:defRPr kumimoji="1" sz="1800" b="0" kern="1200">
                <a:solidFill>
                  <a:schemeClr val="tx1"/>
                </a:solidFill>
                <a:latin typeface="+mn-lt"/>
                <a:ea typeface="+mn-ea"/>
                <a:cs typeface="+mn-cs"/>
              </a:defRPr>
            </a:lvl2pPr>
            <a:lvl3pPr marL="1143000" indent="-228600" algn="l" defTabSz="914400" rtl="0" eaLnBrk="1" latinLnBrk="0" hangingPunct="1">
              <a:lnSpc>
                <a:spcPct val="130000"/>
              </a:lnSpc>
              <a:spcBef>
                <a:spcPts val="500"/>
              </a:spcBef>
              <a:buFont typeface="メイリオ" panose="020B0604030504040204" pitchFamily="50" charset="-128"/>
              <a:buChar char="‒"/>
              <a:defRPr kumimoji="1" sz="1400" b="0" kern="1200">
                <a:solidFill>
                  <a:schemeClr val="tx1"/>
                </a:solidFill>
                <a:latin typeface="+mn-lt"/>
                <a:ea typeface="+mn-ea"/>
                <a:cs typeface="+mn-cs"/>
              </a:defRPr>
            </a:lvl3pPr>
            <a:lvl4pPr marL="1600200" indent="-228600" algn="l" defTabSz="914400" rtl="0" eaLnBrk="1" latinLnBrk="0" hangingPunct="1">
              <a:lnSpc>
                <a:spcPct val="130000"/>
              </a:lnSpc>
              <a:spcBef>
                <a:spcPts val="500"/>
              </a:spcBef>
              <a:buFont typeface="メイリオ" panose="020B0604030504040204" pitchFamily="50" charset="-128"/>
              <a:buChar char="•"/>
              <a:defRPr kumimoji="1" sz="1200" b="0" kern="1200">
                <a:solidFill>
                  <a:schemeClr val="tx1"/>
                </a:solidFill>
                <a:latin typeface="+mn-lt"/>
                <a:ea typeface="+mn-ea"/>
                <a:cs typeface="+mn-cs"/>
              </a:defRPr>
            </a:lvl4pPr>
            <a:lvl5pPr marL="2057400" indent="-228600" algn="l" defTabSz="914400" rtl="0" eaLnBrk="1" latinLnBrk="0" hangingPunct="1">
              <a:lnSpc>
                <a:spcPct val="130000"/>
              </a:lnSpc>
              <a:spcBef>
                <a:spcPts val="500"/>
              </a:spcBef>
              <a:buFont typeface="メイリオ" panose="020B0604030504040204" pitchFamily="50" charset="-128"/>
              <a:buChar char="‒"/>
              <a:defRPr kumimoji="1" sz="1100" b="0" kern="1200">
                <a:solidFill>
                  <a:schemeClr val="tx1"/>
                </a:solidFill>
                <a:latin typeface="+mn-lt"/>
                <a:ea typeface="+mn-ea"/>
                <a:cs typeface="+mn-cs"/>
              </a:defRPr>
            </a:lvl5pPr>
            <a:lvl6pPr marL="25146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6pPr>
            <a:lvl7pPr marL="29718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7pPr>
            <a:lvl8pPr marL="34290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8pPr>
            <a:lvl9pPr marL="3886200" indent="-228600" algn="l" defTabSz="914400" rtl="0" eaLnBrk="1" latinLnBrk="0" hangingPunct="1">
              <a:spcBef>
                <a:spcPct val="20000"/>
              </a:spcBef>
              <a:buFont typeface="Wingdings 2" pitchFamily="18" charset="2"/>
              <a:buChar char=""/>
              <a:defRPr kumimoji="1" sz="1800" kern="1200">
                <a:solidFill>
                  <a:schemeClr val="tx1"/>
                </a:solidFill>
                <a:latin typeface="+mn-lt"/>
                <a:ea typeface="+mn-ea"/>
                <a:cs typeface="+mn-cs"/>
              </a:defRPr>
            </a:lvl9pPr>
          </a:lstStyle>
          <a:p>
            <a:pPr lvl="1"/>
            <a:r>
              <a:rPr lang="en-US" altLang="ja-JP" dirty="0"/>
              <a:t>EDC/</a:t>
            </a:r>
            <a:r>
              <a:rPr lang="ja-JP" altLang="en-US" dirty="0"/>
              <a:t>分野事務局とのやり取りに時間がかかり、ユーザー展開が進んでいない</a:t>
            </a:r>
            <a:endParaRPr lang="en-US" altLang="ja-JP" dirty="0"/>
          </a:p>
          <a:p>
            <a:pPr lvl="1"/>
            <a:r>
              <a:rPr lang="en-US" altLang="ja-JP" dirty="0"/>
              <a:t>OMUSVI</a:t>
            </a:r>
            <a:r>
              <a:rPr lang="ja-JP" altLang="en-US" dirty="0"/>
              <a:t>本体でバリ・品分けなど、デジカケ相当</a:t>
            </a:r>
            <a:r>
              <a:rPr lang="en-US" altLang="ja-JP" dirty="0"/>
              <a:t>(</a:t>
            </a:r>
            <a:r>
              <a:rPr lang="ja-JP" altLang="en-US" dirty="0"/>
              <a:t>上位互換</a:t>
            </a:r>
            <a:r>
              <a:rPr lang="en-US" altLang="ja-JP" dirty="0"/>
              <a:t>)</a:t>
            </a:r>
            <a:r>
              <a:rPr lang="ja-JP" altLang="en-US" dirty="0"/>
              <a:t>機能の目途が付きつつある</a:t>
            </a:r>
            <a:endParaRPr lang="en-US" altLang="ja-JP" dirty="0"/>
          </a:p>
          <a:p>
            <a:pPr lvl="1"/>
            <a:r>
              <a:rPr lang="ja-JP" altLang="en-US" dirty="0"/>
              <a:t>以降でデジカケの展開が進んだとしても、賞味期間が短いため、これ以上のリソース投入せず</a:t>
            </a:r>
            <a:br>
              <a:rPr lang="en-US" altLang="ja-JP" dirty="0"/>
            </a:br>
            <a:r>
              <a:rPr lang="en-US" altLang="ja-JP" dirty="0"/>
              <a:t>OMUSVI</a:t>
            </a:r>
            <a:r>
              <a:rPr lang="ja-JP" altLang="en-US" dirty="0"/>
              <a:t>展開を待つ</a:t>
            </a:r>
          </a:p>
        </p:txBody>
      </p:sp>
    </p:spTree>
    <p:extLst>
      <p:ext uri="{BB962C8B-B14F-4D97-AF65-F5344CB8AC3E}">
        <p14:creationId xmlns:p14="http://schemas.microsoft.com/office/powerpoint/2010/main" val="1200391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AC1EB9-7DE0-0282-F1E2-D75A6FB224E8}"/>
              </a:ext>
            </a:extLst>
          </p:cNvPr>
          <p:cNvSpPr>
            <a:spLocks noGrp="1"/>
          </p:cNvSpPr>
          <p:nvPr>
            <p:ph type="title"/>
          </p:nvPr>
        </p:nvSpPr>
        <p:spPr/>
        <p:txBody>
          <a:bodyPr/>
          <a:lstStyle/>
          <a:p>
            <a:r>
              <a:rPr kumimoji="1" lang="ja-JP" altLang="en-US" dirty="0"/>
              <a:t>デジタル家系図での取り組みの行く先（認識合わせ）</a:t>
            </a:r>
          </a:p>
        </p:txBody>
      </p:sp>
      <p:graphicFrame>
        <p:nvGraphicFramePr>
          <p:cNvPr id="11" name="表 10">
            <a:extLst>
              <a:ext uri="{FF2B5EF4-FFF2-40B4-BE49-F238E27FC236}">
                <a16:creationId xmlns:a16="http://schemas.microsoft.com/office/drawing/2014/main" id="{17B205CD-82FA-605B-9873-251DD8CA0D61}"/>
              </a:ext>
            </a:extLst>
          </p:cNvPr>
          <p:cNvGraphicFramePr>
            <a:graphicFrameLocks noGrp="1"/>
          </p:cNvGraphicFramePr>
          <p:nvPr/>
        </p:nvGraphicFramePr>
        <p:xfrm>
          <a:off x="758581" y="817584"/>
          <a:ext cx="10674838" cy="3973169"/>
        </p:xfrm>
        <a:graphic>
          <a:graphicData uri="http://schemas.openxmlformats.org/drawingml/2006/table">
            <a:tbl>
              <a:tblPr firstRow="1" bandRow="1">
                <a:tableStyleId>{2D5ABB26-0587-4C30-8999-92F81FD0307C}</a:tableStyleId>
              </a:tblPr>
              <a:tblGrid>
                <a:gridCol w="494375">
                  <a:extLst>
                    <a:ext uri="{9D8B030D-6E8A-4147-A177-3AD203B41FA5}">
                      <a16:colId xmlns:a16="http://schemas.microsoft.com/office/drawing/2014/main" val="2674945761"/>
                    </a:ext>
                  </a:extLst>
                </a:gridCol>
                <a:gridCol w="2479675">
                  <a:extLst>
                    <a:ext uri="{9D8B030D-6E8A-4147-A177-3AD203B41FA5}">
                      <a16:colId xmlns:a16="http://schemas.microsoft.com/office/drawing/2014/main" val="897110080"/>
                    </a:ext>
                  </a:extLst>
                </a:gridCol>
                <a:gridCol w="526125">
                  <a:extLst>
                    <a:ext uri="{9D8B030D-6E8A-4147-A177-3AD203B41FA5}">
                      <a16:colId xmlns:a16="http://schemas.microsoft.com/office/drawing/2014/main" val="1988635438"/>
                    </a:ext>
                  </a:extLst>
                </a:gridCol>
                <a:gridCol w="2811046">
                  <a:extLst>
                    <a:ext uri="{9D8B030D-6E8A-4147-A177-3AD203B41FA5}">
                      <a16:colId xmlns:a16="http://schemas.microsoft.com/office/drawing/2014/main" val="2590498176"/>
                    </a:ext>
                  </a:extLst>
                </a:gridCol>
                <a:gridCol w="4363617">
                  <a:extLst>
                    <a:ext uri="{9D8B030D-6E8A-4147-A177-3AD203B41FA5}">
                      <a16:colId xmlns:a16="http://schemas.microsoft.com/office/drawing/2014/main" val="4239786381"/>
                    </a:ext>
                  </a:extLst>
                </a:gridCol>
              </a:tblGrid>
              <a:tr h="365003">
                <a:tc>
                  <a:txBody>
                    <a:bodyPr/>
                    <a:lstStyle/>
                    <a:p>
                      <a:pPr algn="ctr">
                        <a:lnSpc>
                          <a:spcPct val="120000"/>
                        </a:lnSpc>
                        <a:spcBef>
                          <a:spcPts val="600"/>
                        </a:spcBef>
                      </a:pPr>
                      <a:endParaRPr kumimoji="1" lang="ja-JP" altLang="en-US" sz="1600" b="1" dirty="0">
                        <a:solidFill>
                          <a:schemeClr val="tx1"/>
                        </a:solidFill>
                      </a:endParaRPr>
                    </a:p>
                  </a:txBody>
                  <a:tcPr marL="144000" marR="144000" marT="72000" marB="108000">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nSpc>
                          <a:spcPct val="120000"/>
                        </a:lnSpc>
                        <a:spcBef>
                          <a:spcPts val="600"/>
                        </a:spcBef>
                      </a:pPr>
                      <a:endParaRPr kumimoji="1" lang="ja-JP" altLang="en-US" sz="1600" b="0" dirty="0">
                        <a:solidFill>
                          <a:schemeClr val="tx2"/>
                        </a:solidFill>
                      </a:endParaRPr>
                    </a:p>
                  </a:txBody>
                  <a:tcPr marL="0" marR="0" marT="72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nSpc>
                          <a:spcPct val="120000"/>
                        </a:lnSpc>
                        <a:spcBef>
                          <a:spcPts val="600"/>
                        </a:spcBef>
                      </a:pPr>
                      <a:endParaRPr kumimoji="1" lang="ja-JP" altLang="en-US" sz="1600" b="0" dirty="0"/>
                    </a:p>
                  </a:txBody>
                  <a:tcPr marL="144000" marR="144000" marT="72000" marB="10800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noFill/>
                  </a:tcPr>
                </a:tc>
                <a:tc>
                  <a:txBody>
                    <a:bodyPr/>
                    <a:lstStyle/>
                    <a:p>
                      <a:pPr>
                        <a:lnSpc>
                          <a:spcPct val="120000"/>
                        </a:lnSpc>
                        <a:spcBef>
                          <a:spcPts val="600"/>
                        </a:spcBef>
                      </a:pPr>
                      <a:r>
                        <a:rPr kumimoji="1" lang="ja-JP" altLang="en-US" sz="1600" b="1" dirty="0">
                          <a:solidFill>
                            <a:schemeClr val="tx1"/>
                          </a:solidFill>
                        </a:rPr>
                        <a:t>足元改善</a:t>
                      </a:r>
                      <a:r>
                        <a:rPr kumimoji="1" lang="en-US" altLang="ja-JP" sz="1600" b="0" dirty="0">
                          <a:solidFill>
                            <a:schemeClr val="tx1"/>
                          </a:solidFill>
                        </a:rPr>
                        <a:t>(MAVIS</a:t>
                      </a:r>
                      <a:r>
                        <a:rPr kumimoji="1" lang="ja-JP" altLang="en-US" sz="1600" b="0" dirty="0">
                          <a:solidFill>
                            <a:schemeClr val="tx1"/>
                          </a:solidFill>
                        </a:rPr>
                        <a:t>車両仕様</a:t>
                      </a:r>
                      <a:r>
                        <a:rPr kumimoji="1" lang="en-US" altLang="ja-JP" sz="1600" b="0" dirty="0">
                          <a:solidFill>
                            <a:schemeClr val="tx1"/>
                          </a:solidFill>
                        </a:rPr>
                        <a:t>)</a:t>
                      </a:r>
                      <a:endParaRPr kumimoji="1" lang="ja-JP" altLang="en-US" sz="1600" b="0" dirty="0">
                        <a:solidFill>
                          <a:schemeClr val="tx1"/>
                        </a:solidFill>
                      </a:endParaRP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lumMod val="90000"/>
                      </a:schemeClr>
                    </a:solidFill>
                  </a:tcPr>
                </a:tc>
                <a:tc>
                  <a:txBody>
                    <a:bodyPr/>
                    <a:lstStyle/>
                    <a:p>
                      <a:pPr>
                        <a:lnSpc>
                          <a:spcPct val="120000"/>
                        </a:lnSpc>
                        <a:spcBef>
                          <a:spcPts val="600"/>
                        </a:spcBef>
                      </a:pPr>
                      <a:r>
                        <a:rPr kumimoji="1" lang="ja-JP" altLang="en-US" sz="1600" b="1" dirty="0">
                          <a:solidFill>
                            <a:schemeClr val="tx1"/>
                          </a:solidFill>
                        </a:rPr>
                        <a:t>改革</a:t>
                      </a:r>
                      <a:r>
                        <a:rPr kumimoji="1" lang="en-US" altLang="ja-JP" sz="1600" b="0" dirty="0">
                          <a:solidFill>
                            <a:schemeClr val="tx1"/>
                          </a:solidFill>
                        </a:rPr>
                        <a:t>(</a:t>
                      </a:r>
                      <a:r>
                        <a:rPr kumimoji="1" lang="ja-JP" altLang="en-US" sz="1600" b="0" dirty="0">
                          <a:solidFill>
                            <a:schemeClr val="tx1"/>
                          </a:solidFill>
                        </a:rPr>
                        <a:t>共通言語</a:t>
                      </a:r>
                      <a:r>
                        <a:rPr kumimoji="1" lang="en-US" altLang="ja-JP" sz="1600" b="0" dirty="0">
                          <a:solidFill>
                            <a:schemeClr val="tx1"/>
                          </a:solidFill>
                        </a:rPr>
                        <a:t>)</a:t>
                      </a:r>
                      <a:endParaRPr kumimoji="1" lang="ja-JP" altLang="en-US" sz="1600" b="0" dirty="0">
                        <a:solidFill>
                          <a:schemeClr val="tx1"/>
                        </a:solidFill>
                      </a:endParaRP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315353406"/>
                  </a:ext>
                </a:extLst>
              </a:tr>
              <a:tr h="523874">
                <a:tc>
                  <a:txBody>
                    <a:bodyPr/>
                    <a:lstStyle/>
                    <a:p>
                      <a:pPr algn="ctr">
                        <a:lnSpc>
                          <a:spcPct val="120000"/>
                        </a:lnSpc>
                        <a:spcBef>
                          <a:spcPts val="600"/>
                        </a:spcBef>
                      </a:pPr>
                      <a:r>
                        <a:rPr kumimoji="1" lang="en-US" altLang="ja-JP" sz="1400" b="1" dirty="0">
                          <a:solidFill>
                            <a:schemeClr val="bg1"/>
                          </a:solidFill>
                        </a:rPr>
                        <a:t>1</a:t>
                      </a:r>
                      <a:endParaRPr kumimoji="1" lang="ja-JP" altLang="en-US" sz="1400" b="1" dirty="0">
                        <a:solidFill>
                          <a:schemeClr val="bg1"/>
                        </a:solidFill>
                      </a:endParaRPr>
                    </a:p>
                  </a:txBody>
                  <a:tcPr marL="144000" marR="144000" marT="72000" marB="108000">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ja-JP" altLang="en-US" sz="1600" b="1" dirty="0">
                          <a:solidFill>
                            <a:schemeClr val="bg1"/>
                          </a:solidFill>
                        </a:rPr>
                        <a:t>車両仕様と標準品の引当て</a:t>
                      </a:r>
                      <a:br>
                        <a:rPr kumimoji="1" lang="en-US" altLang="ja-JP" sz="1600" b="1" dirty="0">
                          <a:solidFill>
                            <a:schemeClr val="bg1"/>
                          </a:solidFill>
                        </a:rPr>
                      </a:br>
                      <a:r>
                        <a:rPr kumimoji="1" lang="en-US" altLang="ja-JP" sz="1200" b="0" dirty="0">
                          <a:solidFill>
                            <a:schemeClr val="bg2"/>
                          </a:solidFill>
                        </a:rPr>
                        <a:t>(</a:t>
                      </a:r>
                      <a:r>
                        <a:rPr kumimoji="1" lang="ja-JP" altLang="en-US" sz="1200" b="0" dirty="0">
                          <a:solidFill>
                            <a:schemeClr val="bg2"/>
                          </a:solidFill>
                        </a:rPr>
                        <a:t>車種設計向け</a:t>
                      </a:r>
                      <a:r>
                        <a:rPr kumimoji="1" lang="en-US" altLang="ja-JP" sz="1200" b="0" dirty="0">
                          <a:solidFill>
                            <a:schemeClr val="bg2"/>
                          </a:solidFill>
                        </a:rPr>
                        <a:t>)</a:t>
                      </a:r>
                      <a:endParaRPr kumimoji="1" lang="ja-JP" altLang="en-US" sz="1200" b="0" dirty="0">
                        <a:solidFill>
                          <a:schemeClr val="bg2"/>
                        </a:solidFill>
                      </a:endParaRPr>
                    </a:p>
                  </a:txBody>
                  <a:tcPr marL="0" marR="0" marT="72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ja-JP" altLang="en-US" sz="1400" b="0" dirty="0">
                          <a:solidFill>
                            <a:schemeClr val="bg1"/>
                          </a:solidFill>
                        </a:rPr>
                        <a:t>→</a:t>
                      </a:r>
                    </a:p>
                  </a:txBody>
                  <a:tcPr marL="144000" marR="144000" marT="72000" marB="10800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marL="180000" indent="-180000">
                        <a:lnSpc>
                          <a:spcPct val="120000"/>
                        </a:lnSpc>
                        <a:spcBef>
                          <a:spcPts val="600"/>
                        </a:spcBef>
                        <a:buFont typeface="Arial" panose="020B0604020202020204" pitchFamily="34" charset="0"/>
                        <a:buChar char="•"/>
                      </a:pPr>
                      <a:r>
                        <a:rPr kumimoji="1" lang="ja-JP" altLang="en-US" sz="1600" b="0" dirty="0"/>
                        <a:t>対応しない</a:t>
                      </a: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solidFill>
                  </a:tcPr>
                </a:tc>
                <a:tc>
                  <a:txBody>
                    <a:bodyPr/>
                    <a:lstStyle/>
                    <a:p>
                      <a:pPr marL="180000" indent="-180000">
                        <a:lnSpc>
                          <a:spcPct val="120000"/>
                        </a:lnSpc>
                        <a:spcBef>
                          <a:spcPts val="600"/>
                        </a:spcBef>
                        <a:buFont typeface="Arial" panose="020B0604020202020204" pitchFamily="34" charset="0"/>
                        <a:buChar char="•"/>
                      </a:pPr>
                      <a:r>
                        <a:rPr kumimoji="1" lang="en-US" altLang="ja-JP" sz="1600" b="0" dirty="0"/>
                        <a:t>OMUSVI</a:t>
                      </a:r>
                      <a:r>
                        <a:rPr kumimoji="1" lang="ja-JP" altLang="en-US" sz="1600" b="0" dirty="0"/>
                        <a:t>本体で対応</a:t>
                      </a: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70840533"/>
                  </a:ext>
                </a:extLst>
              </a:tr>
              <a:tr h="523874">
                <a:tc>
                  <a:txBody>
                    <a:bodyPr/>
                    <a:lstStyle/>
                    <a:p>
                      <a:pPr algn="ctr">
                        <a:lnSpc>
                          <a:spcPct val="120000"/>
                        </a:lnSpc>
                        <a:spcBef>
                          <a:spcPts val="600"/>
                        </a:spcBef>
                      </a:pPr>
                      <a:r>
                        <a:rPr kumimoji="1" lang="en-US" altLang="ja-JP" sz="1600" b="1" dirty="0">
                          <a:solidFill>
                            <a:schemeClr val="bg1"/>
                          </a:solidFill>
                        </a:rPr>
                        <a:t>2</a:t>
                      </a:r>
                      <a:endParaRPr kumimoji="1" lang="ja-JP" altLang="en-US" sz="1600" b="1" dirty="0">
                        <a:solidFill>
                          <a:schemeClr val="bg1"/>
                        </a:solidFill>
                      </a:endParaRPr>
                    </a:p>
                  </a:txBody>
                  <a:tcPr marL="144000" marR="144000" marT="72000" marB="108000">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ja-JP" altLang="en-US" sz="1600" b="1" dirty="0">
                          <a:solidFill>
                            <a:schemeClr val="bg1"/>
                          </a:solidFill>
                        </a:rPr>
                        <a:t>標準品検討・管理</a:t>
                      </a:r>
                      <a:br>
                        <a:rPr kumimoji="1" lang="en-US" altLang="ja-JP" sz="1600" b="1" dirty="0">
                          <a:solidFill>
                            <a:schemeClr val="bg1"/>
                          </a:solidFill>
                        </a:rPr>
                      </a:br>
                      <a:r>
                        <a:rPr kumimoji="1" lang="en-US" altLang="ja-JP" sz="1200" b="0" dirty="0">
                          <a:solidFill>
                            <a:schemeClr val="bg2"/>
                          </a:solidFill>
                        </a:rPr>
                        <a:t>(</a:t>
                      </a:r>
                      <a:r>
                        <a:rPr kumimoji="1" lang="ja-JP" altLang="en-US" sz="1200" b="0" dirty="0">
                          <a:solidFill>
                            <a:schemeClr val="bg2"/>
                          </a:solidFill>
                        </a:rPr>
                        <a:t>部品主査・標準設計向け</a:t>
                      </a:r>
                      <a:r>
                        <a:rPr kumimoji="1" lang="en-US" altLang="ja-JP" sz="1200" b="0" dirty="0">
                          <a:solidFill>
                            <a:schemeClr val="bg2"/>
                          </a:solidFill>
                        </a:rPr>
                        <a:t>)</a:t>
                      </a:r>
                      <a:endParaRPr kumimoji="1" lang="ja-JP" altLang="en-US" sz="1600" b="1" dirty="0">
                        <a:solidFill>
                          <a:schemeClr val="bg2"/>
                        </a:solidFill>
                      </a:endParaRPr>
                    </a:p>
                  </a:txBody>
                  <a:tcPr marL="0" marR="0" marT="72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ja-JP" altLang="en-US" sz="1400" b="0" dirty="0">
                          <a:solidFill>
                            <a:schemeClr val="bg1"/>
                          </a:solidFill>
                        </a:rPr>
                        <a:t>→</a:t>
                      </a:r>
                    </a:p>
                  </a:txBody>
                  <a:tcPr marL="144000" marR="144000" marT="72000" marB="10800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tx2"/>
                    </a:solidFill>
                  </a:tcPr>
                </a:tc>
                <a:tc>
                  <a:txBody>
                    <a:bodyPr/>
                    <a:lstStyle/>
                    <a:p>
                      <a:pPr marL="180000" indent="-180000">
                        <a:lnSpc>
                          <a:spcPct val="120000"/>
                        </a:lnSpc>
                        <a:spcBef>
                          <a:spcPts val="600"/>
                        </a:spcBef>
                        <a:buFont typeface="Arial" panose="020B0604020202020204" pitchFamily="34" charset="0"/>
                        <a:buChar char="•"/>
                      </a:pPr>
                      <a:r>
                        <a:rPr kumimoji="1" lang="ja-JP" altLang="en-US" sz="1600" b="0" dirty="0"/>
                        <a:t>対応しない</a:t>
                      </a:r>
                      <a:r>
                        <a:rPr kumimoji="1" lang="ja-JP" altLang="en-US" sz="1400" b="0" dirty="0">
                          <a:solidFill>
                            <a:schemeClr val="tx2"/>
                          </a:solidFill>
                        </a:rPr>
                        <a:t>（</a:t>
                      </a:r>
                      <a:r>
                        <a:rPr kumimoji="1" lang="en-US" altLang="ja-JP" sz="1400" b="0" dirty="0">
                          <a:solidFill>
                            <a:schemeClr val="tx2"/>
                          </a:solidFill>
                        </a:rPr>
                        <a:t>EDC</a:t>
                      </a:r>
                      <a:r>
                        <a:rPr kumimoji="1" lang="ja-JP" altLang="en-US" sz="1400" b="0" dirty="0">
                          <a:solidFill>
                            <a:schemeClr val="tx2"/>
                          </a:solidFill>
                        </a:rPr>
                        <a:t>がモチベーションあればそちらでやる可能性）</a:t>
                      </a:r>
                      <a:endParaRPr kumimoji="1" lang="ja-JP" altLang="en-US" sz="1600" b="0" dirty="0">
                        <a:solidFill>
                          <a:schemeClr val="tx2"/>
                        </a:solidFill>
                      </a:endParaRP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solidFill>
                  </a:tcPr>
                </a:tc>
                <a:tc>
                  <a:txBody>
                    <a:bodyPr/>
                    <a:lstStyle/>
                    <a:p>
                      <a:pPr marL="180000" indent="-180000">
                        <a:lnSpc>
                          <a:spcPct val="120000"/>
                        </a:lnSpc>
                        <a:spcBef>
                          <a:spcPts val="600"/>
                        </a:spcBef>
                        <a:buFont typeface="Arial" panose="020B0604020202020204" pitchFamily="34" charset="0"/>
                        <a:buChar char="•"/>
                      </a:pPr>
                      <a:r>
                        <a:rPr kumimoji="1" lang="en-US" altLang="ja-JP" sz="1600" b="0" dirty="0"/>
                        <a:t>OMUSVI</a:t>
                      </a:r>
                      <a:r>
                        <a:rPr kumimoji="1" lang="ja-JP" altLang="en-US" sz="1600" b="0" dirty="0"/>
                        <a:t>本体で判定マト管理機能として</a:t>
                      </a:r>
                      <a:br>
                        <a:rPr kumimoji="1" lang="en-US" altLang="ja-JP" sz="1600" b="0" dirty="0"/>
                      </a:br>
                      <a:r>
                        <a:rPr kumimoji="1" lang="ja-JP" altLang="en-US" sz="1600" b="0" dirty="0"/>
                        <a:t>対応？</a:t>
                      </a: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189159577"/>
                  </a:ext>
                </a:extLst>
              </a:tr>
              <a:tr h="884339">
                <a:tc>
                  <a:txBody>
                    <a:bodyPr/>
                    <a:lstStyle/>
                    <a:p>
                      <a:pPr algn="ctr">
                        <a:lnSpc>
                          <a:spcPct val="120000"/>
                        </a:lnSpc>
                        <a:spcBef>
                          <a:spcPts val="600"/>
                        </a:spcBef>
                      </a:pPr>
                      <a:r>
                        <a:rPr kumimoji="1" lang="en-US" altLang="ja-JP" sz="1600" b="1" dirty="0">
                          <a:solidFill>
                            <a:schemeClr val="bg1"/>
                          </a:solidFill>
                        </a:rPr>
                        <a:t>3</a:t>
                      </a:r>
                      <a:endParaRPr kumimoji="1" lang="ja-JP" altLang="en-US" sz="1600" b="1" dirty="0">
                        <a:solidFill>
                          <a:schemeClr val="bg1"/>
                        </a:solidFill>
                      </a:endParaRPr>
                    </a:p>
                  </a:txBody>
                  <a:tcPr marL="144000" marR="144000" marT="72000" marB="108000">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en-US" altLang="ja-JP" sz="1600" b="1" dirty="0">
                          <a:solidFill>
                            <a:schemeClr val="bg1"/>
                          </a:solidFill>
                        </a:rPr>
                        <a:t>OMUSVI</a:t>
                      </a:r>
                      <a:r>
                        <a:rPr kumimoji="1" lang="ja-JP" altLang="en-US" sz="1600" b="1" dirty="0">
                          <a:solidFill>
                            <a:schemeClr val="bg1"/>
                          </a:solidFill>
                        </a:rPr>
                        <a:t>の一機能としての</a:t>
                      </a:r>
                      <a:endParaRPr kumimoji="1" lang="en-US" altLang="ja-JP" sz="1600" b="1" dirty="0">
                        <a:solidFill>
                          <a:schemeClr val="bg1"/>
                        </a:solidFill>
                      </a:endParaRPr>
                    </a:p>
                    <a:p>
                      <a:pPr>
                        <a:lnSpc>
                          <a:spcPct val="120000"/>
                        </a:lnSpc>
                        <a:spcBef>
                          <a:spcPts val="600"/>
                        </a:spcBef>
                      </a:pPr>
                      <a:r>
                        <a:rPr kumimoji="1" lang="ja-JP" altLang="en-US" sz="1600" b="1" dirty="0">
                          <a:solidFill>
                            <a:schemeClr val="bg1"/>
                          </a:solidFill>
                        </a:rPr>
                        <a:t>代表品番マッピング支援機能</a:t>
                      </a:r>
                    </a:p>
                  </a:txBody>
                  <a:tcPr marL="0" marR="0" marT="72000" marB="108000">
                    <a:lnL w="12700" cap="flat" cmpd="sng" algn="ctr">
                      <a:no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spcBef>
                          <a:spcPts val="600"/>
                        </a:spcBef>
                      </a:pPr>
                      <a:r>
                        <a:rPr kumimoji="1" lang="ja-JP" altLang="en-US" sz="1400" b="0" dirty="0">
                          <a:solidFill>
                            <a:schemeClr val="bg1"/>
                          </a:solidFill>
                        </a:rPr>
                        <a:t>→</a:t>
                      </a:r>
                    </a:p>
                  </a:txBody>
                  <a:tcPr marL="144000" marR="144000" marT="72000" marB="108000">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marL="180000" indent="-180000">
                        <a:lnSpc>
                          <a:spcPct val="120000"/>
                        </a:lnSpc>
                        <a:spcBef>
                          <a:spcPts val="600"/>
                        </a:spcBef>
                        <a:buFont typeface="Arial" panose="020B0604020202020204" pitchFamily="34" charset="0"/>
                        <a:buChar char="•"/>
                      </a:pPr>
                      <a:r>
                        <a:rPr kumimoji="1" lang="en-US" altLang="ja-JP" sz="1600" b="0" dirty="0">
                          <a:solidFill>
                            <a:schemeClr val="tx2"/>
                          </a:solidFill>
                        </a:rPr>
                        <a:t>-</a:t>
                      </a:r>
                      <a:endParaRPr kumimoji="1" lang="ja-JP" altLang="en-US" sz="1600" b="0" dirty="0">
                        <a:solidFill>
                          <a:schemeClr val="tx2"/>
                        </a:solidFill>
                      </a:endParaRP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marL="180000" marR="0" lvl="0" indent="-180000" algn="l" defTabSz="914400" rtl="0" eaLnBrk="1" fontAlgn="auto" latinLnBrk="0" hangingPunct="1">
                        <a:lnSpc>
                          <a:spcPct val="120000"/>
                        </a:lnSpc>
                        <a:spcBef>
                          <a:spcPts val="600"/>
                        </a:spcBef>
                        <a:spcAft>
                          <a:spcPts val="0"/>
                        </a:spcAft>
                        <a:buClrTx/>
                        <a:buSzTx/>
                        <a:buFont typeface="Arial" panose="020B0604020202020204" pitchFamily="34" charset="0"/>
                        <a:buChar char="•"/>
                        <a:tabLst/>
                        <a:defRPr/>
                      </a:pPr>
                      <a:r>
                        <a:rPr kumimoji="1" lang="en-US" altLang="ja-JP" sz="1600" b="0" dirty="0"/>
                        <a:t>1</a:t>
                      </a:r>
                      <a:r>
                        <a:rPr kumimoji="1" lang="ja-JP" altLang="en-US" sz="1600" b="0" dirty="0"/>
                        <a:t>の話と同義だと思うが、</a:t>
                      </a:r>
                      <a:r>
                        <a:rPr kumimoji="1" lang="en-US" altLang="ja-JP" sz="1600" b="0" dirty="0"/>
                        <a:t>OMUSVI</a:t>
                      </a:r>
                      <a:r>
                        <a:rPr kumimoji="1" lang="ja-JP" altLang="en-US" sz="1600" b="0" dirty="0"/>
                        <a:t>本体で巻き取りとなるか</a:t>
                      </a:r>
                      <a:r>
                        <a:rPr kumimoji="1" lang="ja-JP" altLang="en-US" sz="1400" b="0" dirty="0">
                          <a:solidFill>
                            <a:schemeClr val="tx2"/>
                          </a:solidFill>
                        </a:rPr>
                        <a:t>（もともと本体側で優先度が低い機能を外出ししたものと捉えているが、元に戻る形）</a:t>
                      </a:r>
                      <a:endParaRPr kumimoji="1" lang="en-US" altLang="ja-JP" sz="1400" b="0" dirty="0"/>
                    </a:p>
                    <a:p>
                      <a:pPr marL="180000" indent="-180000">
                        <a:lnSpc>
                          <a:spcPct val="120000"/>
                        </a:lnSpc>
                        <a:spcBef>
                          <a:spcPts val="600"/>
                        </a:spcBef>
                        <a:buFont typeface="Arial" panose="020B0604020202020204" pitchFamily="34" charset="0"/>
                        <a:buChar char="•"/>
                      </a:pPr>
                      <a:r>
                        <a:rPr kumimoji="1" lang="ja-JP" altLang="en-US" sz="1600" b="0" dirty="0"/>
                        <a:t>デジカケの考え方を参考にするが、システムとしては本体側に構築となるか</a:t>
                      </a:r>
                      <a:br>
                        <a:rPr kumimoji="1" lang="en-US" altLang="ja-JP" sz="1600" b="0" dirty="0"/>
                      </a:br>
                      <a:r>
                        <a:rPr kumimoji="1" lang="ja-JP" altLang="en-US" sz="1400" b="0" dirty="0">
                          <a:solidFill>
                            <a:schemeClr val="tx2"/>
                          </a:solidFill>
                        </a:rPr>
                        <a:t>（</a:t>
                      </a:r>
                      <a:r>
                        <a:rPr kumimoji="1" lang="en-US" altLang="ja-JP" sz="1400" b="0" dirty="0">
                          <a:solidFill>
                            <a:schemeClr val="tx2"/>
                          </a:solidFill>
                        </a:rPr>
                        <a:t>F/W</a:t>
                      </a:r>
                      <a:r>
                        <a:rPr kumimoji="1" lang="ja-JP" altLang="en-US" sz="1400" b="0" dirty="0">
                          <a:solidFill>
                            <a:schemeClr val="tx2"/>
                          </a:solidFill>
                        </a:rPr>
                        <a:t>が異なるため単純流用できずデジカケ破棄）</a:t>
                      </a:r>
                      <a:endParaRPr kumimoji="1" lang="ja-JP" altLang="en-US" sz="1600" b="0" dirty="0">
                        <a:solidFill>
                          <a:schemeClr val="tx2"/>
                        </a:solidFill>
                      </a:endParaRPr>
                    </a:p>
                  </a:txBody>
                  <a:tcPr marL="144000" marR="144000" marT="72000" marB="108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625326503"/>
                  </a:ext>
                </a:extLst>
              </a:tr>
            </a:tbl>
          </a:graphicData>
        </a:graphic>
      </p:graphicFrame>
      <p:pic>
        <p:nvPicPr>
          <p:cNvPr id="3" name="図 2">
            <a:extLst>
              <a:ext uri="{FF2B5EF4-FFF2-40B4-BE49-F238E27FC236}">
                <a16:creationId xmlns:a16="http://schemas.microsoft.com/office/drawing/2014/main" id="{F6692B96-D148-74E1-FDB5-ABD21CB286AE}"/>
              </a:ext>
            </a:extLst>
          </p:cNvPr>
          <p:cNvPicPr>
            <a:picLocks noChangeAspect="1"/>
          </p:cNvPicPr>
          <p:nvPr/>
        </p:nvPicPr>
        <p:blipFill>
          <a:blip r:embed="rId2"/>
          <a:stretch>
            <a:fillRect/>
          </a:stretch>
        </p:blipFill>
        <p:spPr>
          <a:xfrm>
            <a:off x="970057" y="4018671"/>
            <a:ext cx="4245756" cy="2389336"/>
          </a:xfrm>
          <a:prstGeom prst="rect">
            <a:avLst/>
          </a:prstGeom>
          <a:ln>
            <a:solidFill>
              <a:schemeClr val="bg2">
                <a:lumMod val="90000"/>
              </a:schemeClr>
            </a:solidFill>
          </a:ln>
          <a:effectLst>
            <a:outerShdw blurRad="50800" dist="38100" dir="5400000" algn="t" rotWithShape="0">
              <a:prstClr val="black">
                <a:alpha val="40000"/>
              </a:prstClr>
            </a:outerShdw>
          </a:effectLst>
        </p:spPr>
      </p:pic>
      <p:sp>
        <p:nvSpPr>
          <p:cNvPr id="4" name="正方形/長方形 3">
            <a:extLst>
              <a:ext uri="{FF2B5EF4-FFF2-40B4-BE49-F238E27FC236}">
                <a16:creationId xmlns:a16="http://schemas.microsoft.com/office/drawing/2014/main" id="{7745EBA6-300C-FD79-0774-A7C42E945F87}"/>
              </a:ext>
            </a:extLst>
          </p:cNvPr>
          <p:cNvSpPr/>
          <p:nvPr/>
        </p:nvSpPr>
        <p:spPr>
          <a:xfrm>
            <a:off x="4285673" y="1246909"/>
            <a:ext cx="2770909" cy="1645581"/>
          </a:xfrm>
          <a:prstGeom prst="rect">
            <a:avLst/>
          </a:prstGeom>
          <a:noFill/>
          <a:ln w="38100">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吹き出し: 四角形 4">
            <a:extLst>
              <a:ext uri="{FF2B5EF4-FFF2-40B4-BE49-F238E27FC236}">
                <a16:creationId xmlns:a16="http://schemas.microsoft.com/office/drawing/2014/main" id="{9474AB2D-AD99-6DC2-49B9-7E0F23792797}"/>
              </a:ext>
            </a:extLst>
          </p:cNvPr>
          <p:cNvSpPr/>
          <p:nvPr/>
        </p:nvSpPr>
        <p:spPr>
          <a:xfrm>
            <a:off x="4924024" y="2982989"/>
            <a:ext cx="2052165" cy="892021"/>
          </a:xfrm>
          <a:prstGeom prst="wedgeRectCallout">
            <a:avLst>
              <a:gd name="adj1" fmla="val 12295"/>
              <a:gd name="adj2" fmla="val -73710"/>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none" tIns="72000" bIns="72000" rtlCol="0" anchor="ctr">
            <a:spAutoFit/>
          </a:bodyPr>
          <a:lstStyle/>
          <a:p>
            <a:pPr algn="ctr">
              <a:lnSpc>
                <a:spcPct val="120000"/>
              </a:lnSpc>
            </a:pPr>
            <a:r>
              <a:rPr kumimoji="1" lang="ja-JP" altLang="en-US" sz="1400" dirty="0">
                <a:solidFill>
                  <a:schemeClr val="bg1"/>
                </a:solidFill>
              </a:rPr>
              <a:t>ユーザには効果ありと</a:t>
            </a:r>
            <a:br>
              <a:rPr kumimoji="1" lang="en-US" altLang="ja-JP" sz="1400" dirty="0">
                <a:solidFill>
                  <a:schemeClr val="bg1"/>
                </a:solidFill>
              </a:rPr>
            </a:br>
            <a:r>
              <a:rPr kumimoji="1" lang="ja-JP" altLang="en-US" sz="1400" dirty="0">
                <a:solidFill>
                  <a:schemeClr val="bg1"/>
                </a:solidFill>
              </a:rPr>
              <a:t>期待を持ってもらっているが</a:t>
            </a:r>
            <a:br>
              <a:rPr kumimoji="1" lang="en-US" altLang="ja-JP" sz="1400" dirty="0">
                <a:solidFill>
                  <a:schemeClr val="bg1"/>
                </a:solidFill>
              </a:rPr>
            </a:br>
            <a:r>
              <a:rPr kumimoji="1" lang="ja-JP" altLang="en-US" sz="1400" dirty="0">
                <a:solidFill>
                  <a:schemeClr val="bg1"/>
                </a:solidFill>
              </a:rPr>
              <a:t>止める判断</a:t>
            </a:r>
            <a:endParaRPr kumimoji="1" lang="en-US" altLang="ja-JP" sz="1400" dirty="0">
              <a:solidFill>
                <a:schemeClr val="bg1"/>
              </a:solidFill>
            </a:endParaRPr>
          </a:p>
        </p:txBody>
      </p:sp>
    </p:spTree>
    <p:extLst>
      <p:ext uri="{BB962C8B-B14F-4D97-AF65-F5344CB8AC3E}">
        <p14:creationId xmlns:p14="http://schemas.microsoft.com/office/powerpoint/2010/main" val="874139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94DD7DC-EF76-F4F0-3555-7550D6178D58}"/>
              </a:ext>
            </a:extLst>
          </p:cNvPr>
          <p:cNvSpPr>
            <a:spLocks noGrp="1"/>
          </p:cNvSpPr>
          <p:nvPr>
            <p:ph type="title"/>
          </p:nvPr>
        </p:nvSpPr>
        <p:spPr/>
        <p:txBody>
          <a:bodyPr/>
          <a:lstStyle/>
          <a:p>
            <a:r>
              <a:rPr kumimoji="1" lang="ja-JP" altLang="en-US" dirty="0"/>
              <a:t>現体制</a:t>
            </a:r>
          </a:p>
        </p:txBody>
      </p:sp>
      <p:sp>
        <p:nvSpPr>
          <p:cNvPr id="4" name="正方形/長方形 3">
            <a:extLst>
              <a:ext uri="{FF2B5EF4-FFF2-40B4-BE49-F238E27FC236}">
                <a16:creationId xmlns:a16="http://schemas.microsoft.com/office/drawing/2014/main" id="{ED0C4AC7-442F-0D95-C6A0-E77FDD76FE4F}"/>
              </a:ext>
            </a:extLst>
          </p:cNvPr>
          <p:cNvSpPr/>
          <p:nvPr/>
        </p:nvSpPr>
        <p:spPr>
          <a:xfrm>
            <a:off x="665308" y="1415203"/>
            <a:ext cx="1363508" cy="37495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bIns="72000" rtlCol="0" anchor="ctr">
            <a:spAutoFit/>
          </a:bodyPr>
          <a:lstStyle/>
          <a:p>
            <a:pPr algn="ctr">
              <a:lnSpc>
                <a:spcPct val="120000"/>
              </a:lnSpc>
            </a:pPr>
            <a:r>
              <a:rPr kumimoji="1" lang="en-US" altLang="ja-JP" sz="1400" b="1" dirty="0"/>
              <a:t>PO</a:t>
            </a:r>
            <a:r>
              <a:rPr kumimoji="1" lang="ja-JP" altLang="en-US" sz="1400" b="1" dirty="0"/>
              <a:t>補佐</a:t>
            </a:r>
            <a:r>
              <a:rPr kumimoji="1" lang="en-US" altLang="ja-JP" sz="1400" b="1" dirty="0"/>
              <a:t>, SM</a:t>
            </a:r>
            <a:endParaRPr kumimoji="1" lang="ja-JP" altLang="en-US" sz="1400" b="1" dirty="0"/>
          </a:p>
        </p:txBody>
      </p:sp>
      <p:sp>
        <p:nvSpPr>
          <p:cNvPr id="5" name="正方形/長方形 4">
            <a:extLst>
              <a:ext uri="{FF2B5EF4-FFF2-40B4-BE49-F238E27FC236}">
                <a16:creationId xmlns:a16="http://schemas.microsoft.com/office/drawing/2014/main" id="{F15BE78E-0705-12FD-752B-9B5C76CB0599}"/>
              </a:ext>
            </a:extLst>
          </p:cNvPr>
          <p:cNvSpPr/>
          <p:nvPr/>
        </p:nvSpPr>
        <p:spPr>
          <a:xfrm>
            <a:off x="1661631" y="1949337"/>
            <a:ext cx="1363509" cy="5897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bIns="72000" rtlCol="0" anchor="ctr">
            <a:spAutoFit/>
          </a:bodyPr>
          <a:lstStyle/>
          <a:p>
            <a:pPr algn="ctr">
              <a:lnSpc>
                <a:spcPct val="120000"/>
              </a:lnSpc>
            </a:pPr>
            <a:r>
              <a:rPr kumimoji="1" lang="ja-JP" altLang="en-US" sz="1400" b="1" dirty="0"/>
              <a:t>ディスカバリー</a:t>
            </a:r>
            <a:r>
              <a:rPr kumimoji="1" lang="en-US" altLang="ja-JP" sz="1400" b="1" dirty="0"/>
              <a:t>T</a:t>
            </a:r>
          </a:p>
          <a:p>
            <a:pPr algn="ctr">
              <a:lnSpc>
                <a:spcPct val="120000"/>
              </a:lnSpc>
            </a:pPr>
            <a:r>
              <a:rPr kumimoji="1" lang="ja-JP" altLang="en-US" sz="1000" dirty="0">
                <a:solidFill>
                  <a:schemeClr val="bg2"/>
                </a:solidFill>
              </a:rPr>
              <a:t>要件整理・概要設計</a:t>
            </a:r>
            <a:endParaRPr kumimoji="1" lang="ja-JP" altLang="en-US" sz="1050" dirty="0">
              <a:solidFill>
                <a:schemeClr val="bg2"/>
              </a:solidFill>
            </a:endParaRPr>
          </a:p>
        </p:txBody>
      </p:sp>
      <p:sp>
        <p:nvSpPr>
          <p:cNvPr id="6" name="正方形/長方形 5">
            <a:extLst>
              <a:ext uri="{FF2B5EF4-FFF2-40B4-BE49-F238E27FC236}">
                <a16:creationId xmlns:a16="http://schemas.microsoft.com/office/drawing/2014/main" id="{807ED4EC-976D-CB72-615B-D996A7413477}"/>
              </a:ext>
            </a:extLst>
          </p:cNvPr>
          <p:cNvSpPr/>
          <p:nvPr/>
        </p:nvSpPr>
        <p:spPr>
          <a:xfrm>
            <a:off x="1661631" y="2689169"/>
            <a:ext cx="1363509" cy="58975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bIns="72000" rtlCol="0" anchor="ctr">
            <a:spAutoFit/>
          </a:bodyPr>
          <a:lstStyle/>
          <a:p>
            <a:pPr algn="ctr">
              <a:lnSpc>
                <a:spcPct val="120000"/>
              </a:lnSpc>
            </a:pPr>
            <a:r>
              <a:rPr kumimoji="1" lang="ja-JP" altLang="en-US" sz="1400" b="1" dirty="0"/>
              <a:t>デリバリー</a:t>
            </a:r>
            <a:r>
              <a:rPr kumimoji="1" lang="en-US" altLang="ja-JP" sz="1400" b="1" dirty="0"/>
              <a:t>T</a:t>
            </a:r>
          </a:p>
          <a:p>
            <a:pPr algn="ctr">
              <a:lnSpc>
                <a:spcPct val="120000"/>
              </a:lnSpc>
            </a:pPr>
            <a:r>
              <a:rPr kumimoji="1" lang="ja-JP" altLang="en-US" sz="1000" dirty="0">
                <a:solidFill>
                  <a:schemeClr val="bg2"/>
                </a:solidFill>
              </a:rPr>
              <a:t>詳細設計・実装</a:t>
            </a:r>
            <a:endParaRPr kumimoji="1" lang="ja-JP" altLang="en-US" sz="1050" dirty="0">
              <a:solidFill>
                <a:schemeClr val="bg2"/>
              </a:solidFill>
            </a:endParaRPr>
          </a:p>
        </p:txBody>
      </p:sp>
      <p:sp>
        <p:nvSpPr>
          <p:cNvPr id="7" name="正方形/長方形 6">
            <a:extLst>
              <a:ext uri="{FF2B5EF4-FFF2-40B4-BE49-F238E27FC236}">
                <a16:creationId xmlns:a16="http://schemas.microsoft.com/office/drawing/2014/main" id="{A6D6F976-BAC3-87BE-CE66-06A85BA3DF83}"/>
              </a:ext>
            </a:extLst>
          </p:cNvPr>
          <p:cNvSpPr/>
          <p:nvPr/>
        </p:nvSpPr>
        <p:spPr>
          <a:xfrm>
            <a:off x="1661631" y="3429000"/>
            <a:ext cx="1363509" cy="58091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bIns="72000" rtlCol="0" anchor="ctr">
            <a:spAutoFit/>
          </a:bodyPr>
          <a:lstStyle/>
          <a:p>
            <a:pPr algn="ctr">
              <a:lnSpc>
                <a:spcPct val="120000"/>
              </a:lnSpc>
            </a:pPr>
            <a:r>
              <a:rPr kumimoji="1" lang="en-US" altLang="ja-JP" sz="1400" b="1" dirty="0"/>
              <a:t>SRE T</a:t>
            </a:r>
          </a:p>
          <a:p>
            <a:pPr algn="ctr">
              <a:lnSpc>
                <a:spcPct val="120000"/>
              </a:lnSpc>
            </a:pPr>
            <a:r>
              <a:rPr kumimoji="1" lang="ja-JP" altLang="en-US" sz="1000" dirty="0">
                <a:solidFill>
                  <a:schemeClr val="bg2"/>
                </a:solidFill>
              </a:rPr>
              <a:t>インフラ構築・運用</a:t>
            </a:r>
          </a:p>
        </p:txBody>
      </p:sp>
      <p:cxnSp>
        <p:nvCxnSpPr>
          <p:cNvPr id="9" name="コネクタ: カギ線 8">
            <a:extLst>
              <a:ext uri="{FF2B5EF4-FFF2-40B4-BE49-F238E27FC236}">
                <a16:creationId xmlns:a16="http://schemas.microsoft.com/office/drawing/2014/main" id="{D65E4EB6-CECE-AC74-B9F8-389D95447AA5}"/>
              </a:ext>
            </a:extLst>
          </p:cNvPr>
          <p:cNvCxnSpPr>
            <a:cxnSpLocks/>
            <a:stCxn id="4" idx="2"/>
            <a:endCxn id="5" idx="1"/>
          </p:cNvCxnSpPr>
          <p:nvPr/>
        </p:nvCxnSpPr>
        <p:spPr>
          <a:xfrm rot="16200000" flipH="1">
            <a:off x="1277317" y="1859903"/>
            <a:ext cx="454058" cy="31456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コネクタ: カギ線 10">
            <a:extLst>
              <a:ext uri="{FF2B5EF4-FFF2-40B4-BE49-F238E27FC236}">
                <a16:creationId xmlns:a16="http://schemas.microsoft.com/office/drawing/2014/main" id="{3D69B5EF-4B43-CB66-CBD5-25D69719F9F4}"/>
              </a:ext>
            </a:extLst>
          </p:cNvPr>
          <p:cNvCxnSpPr>
            <a:cxnSpLocks/>
            <a:stCxn id="4" idx="2"/>
            <a:endCxn id="6" idx="1"/>
          </p:cNvCxnSpPr>
          <p:nvPr/>
        </p:nvCxnSpPr>
        <p:spPr>
          <a:xfrm rot="16200000" flipH="1">
            <a:off x="907401" y="2229819"/>
            <a:ext cx="1193890" cy="31456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06F48D01-709B-24D6-8186-C3B07BED9A69}"/>
              </a:ext>
            </a:extLst>
          </p:cNvPr>
          <p:cNvCxnSpPr>
            <a:cxnSpLocks/>
            <a:stCxn id="4" idx="2"/>
            <a:endCxn id="7" idx="1"/>
          </p:cNvCxnSpPr>
          <p:nvPr/>
        </p:nvCxnSpPr>
        <p:spPr>
          <a:xfrm rot="16200000" flipH="1">
            <a:off x="539698" y="2597522"/>
            <a:ext cx="1929296" cy="314569"/>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3" name="表 22">
            <a:extLst>
              <a:ext uri="{FF2B5EF4-FFF2-40B4-BE49-F238E27FC236}">
                <a16:creationId xmlns:a16="http://schemas.microsoft.com/office/drawing/2014/main" id="{0653678D-FCC3-297A-82F4-B40BCEF311D2}"/>
              </a:ext>
            </a:extLst>
          </p:cNvPr>
          <p:cNvGraphicFramePr>
            <a:graphicFrameLocks noGrp="1"/>
          </p:cNvGraphicFramePr>
          <p:nvPr/>
        </p:nvGraphicFramePr>
        <p:xfrm>
          <a:off x="4210221" y="1406098"/>
          <a:ext cx="7111684" cy="4276200"/>
        </p:xfrm>
        <a:graphic>
          <a:graphicData uri="http://schemas.openxmlformats.org/drawingml/2006/table">
            <a:tbl>
              <a:tblPr firstRow="1" bandRow="1">
                <a:tableStyleId>{2D5ABB26-0587-4C30-8999-92F81FD0307C}</a:tableStyleId>
              </a:tblPr>
              <a:tblGrid>
                <a:gridCol w="1244918">
                  <a:extLst>
                    <a:ext uri="{9D8B030D-6E8A-4147-A177-3AD203B41FA5}">
                      <a16:colId xmlns:a16="http://schemas.microsoft.com/office/drawing/2014/main" val="897110080"/>
                    </a:ext>
                  </a:extLst>
                </a:gridCol>
                <a:gridCol w="1270318">
                  <a:extLst>
                    <a:ext uri="{9D8B030D-6E8A-4147-A177-3AD203B41FA5}">
                      <a16:colId xmlns:a16="http://schemas.microsoft.com/office/drawing/2014/main" val="2590498176"/>
                    </a:ext>
                  </a:extLst>
                </a:gridCol>
                <a:gridCol w="559118">
                  <a:extLst>
                    <a:ext uri="{9D8B030D-6E8A-4147-A177-3AD203B41FA5}">
                      <a16:colId xmlns:a16="http://schemas.microsoft.com/office/drawing/2014/main" val="2992392832"/>
                    </a:ext>
                  </a:extLst>
                </a:gridCol>
                <a:gridCol w="4037330">
                  <a:extLst>
                    <a:ext uri="{9D8B030D-6E8A-4147-A177-3AD203B41FA5}">
                      <a16:colId xmlns:a16="http://schemas.microsoft.com/office/drawing/2014/main" val="1141764483"/>
                    </a:ext>
                  </a:extLst>
                </a:gridCol>
              </a:tblGrid>
              <a:tr h="370840">
                <a:tc>
                  <a:txBody>
                    <a:bodyPr/>
                    <a:lstStyle/>
                    <a:p>
                      <a:pPr algn="ctr">
                        <a:lnSpc>
                          <a:spcPct val="120000"/>
                        </a:lnSpc>
                      </a:pPr>
                      <a:r>
                        <a:rPr kumimoji="1" lang="ja-JP" altLang="en-US" sz="1200" b="1" dirty="0">
                          <a:solidFill>
                            <a:schemeClr val="bg2"/>
                          </a:solidFill>
                        </a:rPr>
                        <a:t>チーム</a:t>
                      </a:r>
                    </a:p>
                  </a:txBody>
                  <a:tcPr marT="72000" marB="72000" anchor="ctr">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tc>
                  <a:txBody>
                    <a:bodyPr/>
                    <a:lstStyle/>
                    <a:p>
                      <a:pPr algn="ctr">
                        <a:lnSpc>
                          <a:spcPct val="120000"/>
                        </a:lnSpc>
                      </a:pPr>
                      <a:r>
                        <a:rPr kumimoji="1" lang="en-US" altLang="ja-JP" sz="1200" b="1" dirty="0">
                          <a:solidFill>
                            <a:schemeClr val="bg2"/>
                          </a:solidFill>
                        </a:rPr>
                        <a:t>BP</a:t>
                      </a:r>
                      <a:endParaRPr kumimoji="1" lang="ja-JP" altLang="en-US" sz="1200" b="1" dirty="0">
                        <a:solidFill>
                          <a:schemeClr val="bg2"/>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tc>
                  <a:txBody>
                    <a:bodyPr/>
                    <a:lstStyle/>
                    <a:p>
                      <a:pPr algn="ctr">
                        <a:lnSpc>
                          <a:spcPct val="120000"/>
                        </a:lnSpc>
                      </a:pPr>
                      <a:r>
                        <a:rPr kumimoji="1" lang="ja-JP" altLang="en-US" sz="1200" b="1" spc="-150" dirty="0">
                          <a:solidFill>
                            <a:schemeClr val="bg2"/>
                          </a:solidFill>
                        </a:rPr>
                        <a:t>人数</a:t>
                      </a:r>
                      <a:r>
                        <a:rPr kumimoji="1" lang="en-US" altLang="ja-JP" sz="1200" b="1" spc="-150" baseline="30000" dirty="0">
                          <a:solidFill>
                            <a:schemeClr val="bg2"/>
                          </a:solidFill>
                        </a:rPr>
                        <a:t>※</a:t>
                      </a:r>
                      <a:endParaRPr kumimoji="1" lang="ja-JP" altLang="en-US" sz="1200" b="1" spc="-150" baseline="30000" dirty="0">
                        <a:solidFill>
                          <a:schemeClr val="bg2"/>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tc>
                  <a:txBody>
                    <a:bodyPr/>
                    <a:lstStyle/>
                    <a:p>
                      <a:pPr algn="ctr">
                        <a:lnSpc>
                          <a:spcPct val="120000"/>
                        </a:lnSpc>
                      </a:pPr>
                      <a:r>
                        <a:rPr kumimoji="1" lang="ja-JP" altLang="en-US" sz="1200" b="1" dirty="0">
                          <a:solidFill>
                            <a:schemeClr val="bg2"/>
                          </a:solidFill>
                        </a:rPr>
                        <a:t>ケイパビリティ</a:t>
                      </a:r>
                    </a:p>
                  </a:txBody>
                  <a:tcPr marT="72000" marB="72000" anchor="ctr">
                    <a:lnL w="127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149218974"/>
                  </a:ext>
                </a:extLst>
              </a:tr>
              <a:tr h="370840">
                <a:tc>
                  <a:txBody>
                    <a:bodyPr/>
                    <a:lstStyle/>
                    <a:p>
                      <a:pPr>
                        <a:lnSpc>
                          <a:spcPct val="120000"/>
                        </a:lnSpc>
                      </a:pPr>
                      <a:r>
                        <a:rPr kumimoji="1" lang="en-US" altLang="ja-JP" sz="1400" b="1" dirty="0">
                          <a:solidFill>
                            <a:schemeClr val="bg1"/>
                          </a:solidFill>
                        </a:rPr>
                        <a:t>PO</a:t>
                      </a:r>
                      <a:r>
                        <a:rPr kumimoji="1" lang="ja-JP" altLang="en-US" sz="1400" b="1" dirty="0">
                          <a:solidFill>
                            <a:schemeClr val="bg1"/>
                          </a:solidFill>
                        </a:rPr>
                        <a:t>補佐</a:t>
                      </a:r>
                      <a:r>
                        <a:rPr kumimoji="1" lang="en-US" altLang="ja-JP" sz="1400" b="1" dirty="0">
                          <a:solidFill>
                            <a:schemeClr val="bg1"/>
                          </a:solidFill>
                        </a:rPr>
                        <a:t>, SM</a:t>
                      </a: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en-US" altLang="ja-JP" sz="1400" b="1" dirty="0">
                          <a:solidFill>
                            <a:schemeClr val="accent1"/>
                          </a:solidFill>
                        </a:rPr>
                        <a:t>TS</a:t>
                      </a:r>
                      <a:endParaRPr kumimoji="1" lang="ja-JP" altLang="en-US" sz="1400" b="1" dirty="0">
                        <a:solidFill>
                          <a:schemeClr val="accent1"/>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2</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en-US" altLang="ja-JP" sz="1200" dirty="0"/>
                        <a:t>PO</a:t>
                      </a:r>
                      <a:r>
                        <a:rPr kumimoji="1" lang="ja-JP" altLang="en-US" sz="1200" dirty="0"/>
                        <a:t>補佐</a:t>
                      </a:r>
                      <a:r>
                        <a:rPr kumimoji="1" lang="en-US" altLang="ja-JP" sz="1200" dirty="0"/>
                        <a:t>, SM</a:t>
                      </a:r>
                      <a:endParaRPr kumimoji="1" lang="ja-JP" altLang="en-US" sz="1200" dirty="0"/>
                    </a:p>
                  </a:txBody>
                  <a:tcPr marT="72000" marB="72000" anchor="ctr">
                    <a:lnL w="127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70840533"/>
                  </a:ext>
                </a:extLst>
              </a:tr>
              <a:tr h="370840">
                <a:tc rowSpan="3">
                  <a:txBody>
                    <a:bodyPr/>
                    <a:lstStyle/>
                    <a:p>
                      <a:pPr>
                        <a:lnSpc>
                          <a:spcPct val="120000"/>
                        </a:lnSpc>
                      </a:pPr>
                      <a:r>
                        <a:rPr kumimoji="1" lang="ja-JP" altLang="en-US" sz="1400" b="1" dirty="0">
                          <a:solidFill>
                            <a:schemeClr val="bg1"/>
                          </a:solidFill>
                        </a:rPr>
                        <a:t>ディスカバリー</a:t>
                      </a: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400" b="1" dirty="0">
                          <a:solidFill>
                            <a:schemeClr val="accent2"/>
                          </a:solidFill>
                        </a:rPr>
                        <a:t>電通総研</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1</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en-US" altLang="ja-JP" sz="1200" dirty="0"/>
                        <a:t>TMC</a:t>
                      </a:r>
                      <a:r>
                        <a:rPr kumimoji="1" lang="ja-JP" altLang="en-US" sz="1200" dirty="0"/>
                        <a:t>業務知識豊富でステークホルダーとの</a:t>
                      </a:r>
                      <a:br>
                        <a:rPr kumimoji="1" lang="en-US" altLang="ja-JP" sz="1200" dirty="0"/>
                      </a:br>
                      <a:r>
                        <a:rPr kumimoji="1" lang="ja-JP" altLang="en-US" sz="1200" dirty="0"/>
                        <a:t>対話・アイディエーションを推進</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189159577"/>
                  </a:ext>
                </a:extLst>
              </a:tr>
              <a:tr h="370840">
                <a:tc vMerge="1">
                  <a:txBody>
                    <a:bodyPr/>
                    <a:lstStyle/>
                    <a:p>
                      <a:pPr>
                        <a:lnSpc>
                          <a:spcPct val="120000"/>
                        </a:lnSpc>
                      </a:pPr>
                      <a:endParaRPr kumimoji="1" lang="ja-JP" altLang="en-US" sz="1400" b="1" dirty="0">
                        <a:solidFill>
                          <a:schemeClr val="tx2"/>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nSpc>
                          <a:spcPct val="120000"/>
                        </a:lnSpc>
                      </a:pPr>
                      <a:r>
                        <a:rPr kumimoji="1" lang="ja-JP" altLang="en-US" sz="1400" b="1" dirty="0">
                          <a:solidFill>
                            <a:schemeClr val="accent4">
                              <a:lumMod val="75000"/>
                            </a:schemeClr>
                          </a:solidFill>
                        </a:rPr>
                        <a:t>ニジボックス</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2</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ja-JP" altLang="en-US" sz="1200" dirty="0"/>
                        <a:t>ユーザーヒアリング、要件整理、</a:t>
                      </a:r>
                      <a:r>
                        <a:rPr kumimoji="1" lang="en-US" altLang="ja-JP" sz="1200" dirty="0"/>
                        <a:t>UX</a:t>
                      </a:r>
                      <a:r>
                        <a:rPr kumimoji="1" lang="ja-JP" altLang="en-US" sz="1200" dirty="0"/>
                        <a:t>設計、バックログ作成・整理。</a:t>
                      </a:r>
                      <a:br>
                        <a:rPr kumimoji="1" lang="en-US" altLang="ja-JP" sz="1200" dirty="0"/>
                      </a:br>
                      <a:r>
                        <a:rPr kumimoji="1" lang="ja-JP" altLang="en-US" sz="1200" dirty="0"/>
                        <a:t>各人、自律的に動き改善提案なども可能。</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473785291"/>
                  </a:ext>
                </a:extLst>
              </a:tr>
              <a:tr h="370840">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en-US" altLang="ja-JP" sz="1400" b="1" dirty="0">
                          <a:solidFill>
                            <a:schemeClr val="accent1"/>
                          </a:solidFill>
                        </a:rPr>
                        <a:t>TS</a:t>
                      </a:r>
                      <a:endParaRPr kumimoji="1" lang="ja-JP" altLang="en-US" sz="1400" b="1" dirty="0">
                        <a:solidFill>
                          <a:schemeClr val="accent1"/>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1</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ja-JP" altLang="en-US" sz="1200" dirty="0"/>
                        <a:t>要件整理、バックログ作成</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829756768"/>
                  </a:ext>
                </a:extLst>
              </a:tr>
              <a:tr h="370840">
                <a:tc rowSpan="3">
                  <a:txBody>
                    <a:bodyPr/>
                    <a:lstStyle/>
                    <a:p>
                      <a:pPr>
                        <a:lnSpc>
                          <a:spcPct val="120000"/>
                        </a:lnSpc>
                      </a:pPr>
                      <a:r>
                        <a:rPr kumimoji="1" lang="ja-JP" altLang="en-US" sz="1400" b="1" dirty="0">
                          <a:solidFill>
                            <a:schemeClr val="bg1"/>
                          </a:solidFill>
                        </a:rPr>
                        <a:t>デリバリー</a:t>
                      </a: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400" b="1" dirty="0">
                          <a:solidFill>
                            <a:schemeClr val="accent4">
                              <a:lumMod val="75000"/>
                            </a:schemeClr>
                          </a:solidFill>
                        </a:rPr>
                        <a:t>ニジボックス</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5</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en-US" altLang="ja-JP" sz="1200" dirty="0"/>
                        <a:t>Web</a:t>
                      </a:r>
                      <a:r>
                        <a:rPr kumimoji="1" lang="ja-JP" altLang="en-US" sz="1200" dirty="0"/>
                        <a:t>フロントエンドを中心に担当。</a:t>
                      </a:r>
                      <a:br>
                        <a:rPr kumimoji="1" lang="en-US" altLang="ja-JP" sz="1200" dirty="0"/>
                      </a:br>
                      <a:r>
                        <a:rPr kumimoji="1" lang="ja-JP" altLang="en-US" sz="1200" dirty="0"/>
                        <a:t>各人、自律的に動き改善提案なども可能。</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625326503"/>
                  </a:ext>
                </a:extLst>
              </a:tr>
              <a:tr h="370840">
                <a:tc vMerge="1">
                  <a:txBody>
                    <a:bodyPr/>
                    <a:lstStyle/>
                    <a:p>
                      <a:pPr>
                        <a:lnSpc>
                          <a:spcPct val="120000"/>
                        </a:lnSpc>
                      </a:pPr>
                      <a:endParaRPr kumimoji="1" lang="ja-JP" altLang="en-US" sz="1400" b="1" dirty="0">
                        <a:solidFill>
                          <a:schemeClr val="tx2"/>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tc>
                  <a:txBody>
                    <a:bodyPr/>
                    <a:lstStyle/>
                    <a:p>
                      <a:pPr>
                        <a:lnSpc>
                          <a:spcPct val="120000"/>
                        </a:lnSpc>
                      </a:pPr>
                      <a:r>
                        <a:rPr kumimoji="1" lang="en-US" altLang="ja-JP" sz="1400" b="1" dirty="0">
                          <a:solidFill>
                            <a:schemeClr val="accent3"/>
                          </a:solidFill>
                        </a:rPr>
                        <a:t>TISA</a:t>
                      </a:r>
                      <a:endParaRPr kumimoji="1" lang="ja-JP" altLang="en-US" sz="1400" b="1" dirty="0">
                        <a:solidFill>
                          <a:schemeClr val="accent3"/>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3</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en-US" altLang="ja-JP" sz="1200" dirty="0"/>
                        <a:t>PoC</a:t>
                      </a:r>
                      <a:r>
                        <a:rPr kumimoji="1" lang="ja-JP" altLang="en-US" sz="1200" dirty="0"/>
                        <a:t>時代から参画し、バックエンドを中心に担当。</a:t>
                      </a:r>
                      <a:br>
                        <a:rPr kumimoji="1" lang="en-US" altLang="ja-JP" sz="1200" dirty="0"/>
                      </a:br>
                      <a:r>
                        <a:rPr kumimoji="1" lang="ja-JP" altLang="en-US" sz="1200" dirty="0"/>
                        <a:t>車両仕様</a:t>
                      </a:r>
                      <a:r>
                        <a:rPr kumimoji="1" lang="en-US" altLang="ja-JP" sz="1200" dirty="0"/>
                        <a:t>-</a:t>
                      </a:r>
                      <a:r>
                        <a:rPr kumimoji="1" lang="ja-JP" altLang="en-US" sz="1200" dirty="0"/>
                        <a:t>品番マッピング周辺の知識あり。</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177733137"/>
                  </a:ext>
                </a:extLst>
              </a:tr>
              <a:tr h="370840">
                <a:tc vMerge="1">
                  <a:txBody>
                    <a:bodyPr/>
                    <a:lstStyle/>
                    <a:p>
                      <a:pPr>
                        <a:lnSpc>
                          <a:spcPct val="120000"/>
                        </a:lnSpc>
                      </a:pP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en-US" altLang="ja-JP" sz="1400" b="1" dirty="0">
                          <a:solidFill>
                            <a:schemeClr val="accent1"/>
                          </a:solidFill>
                        </a:rPr>
                        <a:t>TS</a:t>
                      </a:r>
                      <a:endParaRPr kumimoji="1" lang="ja-JP" altLang="en-US" sz="1400" b="1" dirty="0">
                        <a:solidFill>
                          <a:schemeClr val="accent1"/>
                        </a:solidFill>
                      </a:endParaRP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1</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ja-JP" altLang="en-US" sz="1200" dirty="0"/>
                        <a:t>ネットワーク、</a:t>
                      </a:r>
                      <a:r>
                        <a:rPr kumimoji="1" lang="en-US" altLang="ja-JP" sz="1200" dirty="0"/>
                        <a:t>AWS</a:t>
                      </a:r>
                      <a:r>
                        <a:rPr kumimoji="1" lang="ja-JP" altLang="en-US" sz="1200" dirty="0"/>
                        <a:t>インフラ構築、他システム連携</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780100333"/>
                  </a:ext>
                </a:extLst>
              </a:tr>
              <a:tr h="370840">
                <a:tc>
                  <a:txBody>
                    <a:bodyPr/>
                    <a:lstStyle/>
                    <a:p>
                      <a:pPr>
                        <a:lnSpc>
                          <a:spcPct val="120000"/>
                        </a:lnSpc>
                      </a:pPr>
                      <a:r>
                        <a:rPr kumimoji="1" lang="en-US" altLang="ja-JP" sz="1400" b="1" dirty="0">
                          <a:solidFill>
                            <a:schemeClr val="bg1"/>
                          </a:solidFill>
                        </a:rPr>
                        <a:t>SRE</a:t>
                      </a:r>
                      <a:endParaRPr kumimoji="1" lang="ja-JP" altLang="en-US" sz="1400" b="1" dirty="0">
                        <a:solidFill>
                          <a:schemeClr val="bg1"/>
                        </a:solidFill>
                      </a:endParaRPr>
                    </a:p>
                  </a:txBody>
                  <a:tcPr marT="72000" marB="72000" anchor="ctr">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solidFill>
                  </a:tcPr>
                </a:tc>
                <a:tc>
                  <a:txBody>
                    <a:bodyPr/>
                    <a:lstStyle/>
                    <a:p>
                      <a:pPr>
                        <a:lnSpc>
                          <a:spcPct val="120000"/>
                        </a:lnSpc>
                      </a:pPr>
                      <a:r>
                        <a:rPr kumimoji="1" lang="ja-JP" altLang="en-US" sz="1400" b="1" dirty="0">
                          <a:solidFill>
                            <a:schemeClr val="accent6"/>
                          </a:solidFill>
                        </a:rPr>
                        <a:t>エイセブプラス</a:t>
                      </a:r>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gn="r">
                        <a:lnSpc>
                          <a:spcPct val="120000"/>
                        </a:lnSpc>
                      </a:pPr>
                      <a:r>
                        <a:rPr kumimoji="1" lang="en-US" altLang="ja-JP" sz="1400" dirty="0"/>
                        <a:t>2</a:t>
                      </a:r>
                      <a:endParaRPr kumimoji="1" lang="ja-JP" altLang="en-US" sz="1400" dirty="0"/>
                    </a:p>
                  </a:txBody>
                  <a:tcPr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tc>
                  <a:txBody>
                    <a:bodyPr/>
                    <a:lstStyle/>
                    <a:p>
                      <a:pPr>
                        <a:lnSpc>
                          <a:spcPct val="120000"/>
                        </a:lnSpc>
                      </a:pPr>
                      <a:r>
                        <a:rPr kumimoji="1" lang="ja-JP" altLang="en-US" sz="1200" dirty="0"/>
                        <a:t>運用業務</a:t>
                      </a:r>
                      <a:r>
                        <a:rPr kumimoji="1" lang="en-US" altLang="ja-JP" sz="1200" dirty="0"/>
                        <a:t>(</a:t>
                      </a:r>
                      <a:r>
                        <a:rPr kumimoji="1" lang="ja-JP" altLang="en-US" sz="1200" dirty="0"/>
                        <a:t>ユーザー対応、マニュアル整備等</a:t>
                      </a:r>
                      <a:r>
                        <a:rPr kumimoji="1" lang="en-US" altLang="ja-JP" sz="1200" dirty="0"/>
                        <a:t>)</a:t>
                      </a:r>
                      <a:r>
                        <a:rPr kumimoji="1" lang="ja-JP" altLang="en-US" sz="1200" dirty="0"/>
                        <a:t>を担当。</a:t>
                      </a:r>
                      <a:br>
                        <a:rPr kumimoji="1" lang="en-US" altLang="ja-JP" sz="1200" dirty="0"/>
                      </a:br>
                      <a:r>
                        <a:rPr kumimoji="1" lang="ja-JP" altLang="en-US" sz="1200" dirty="0"/>
                        <a:t>部品標準化の運用を担っていた要員のため、周辺知識あり。</a:t>
                      </a:r>
                    </a:p>
                  </a:txBody>
                  <a:tcPr marT="72000" marB="72000"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360247710"/>
                  </a:ext>
                </a:extLst>
              </a:tr>
            </a:tbl>
          </a:graphicData>
        </a:graphic>
      </p:graphicFrame>
      <p:graphicFrame>
        <p:nvGraphicFramePr>
          <p:cNvPr id="24" name="表 23">
            <a:extLst>
              <a:ext uri="{FF2B5EF4-FFF2-40B4-BE49-F238E27FC236}">
                <a16:creationId xmlns:a16="http://schemas.microsoft.com/office/drawing/2014/main" id="{AEAEFD69-4223-A899-5CB6-E04FCC718801}"/>
              </a:ext>
            </a:extLst>
          </p:cNvPr>
          <p:cNvGraphicFramePr>
            <a:graphicFrameLocks noGrp="1"/>
          </p:cNvGraphicFramePr>
          <p:nvPr/>
        </p:nvGraphicFramePr>
        <p:xfrm>
          <a:off x="665308" y="4524028"/>
          <a:ext cx="2367452" cy="1644825"/>
        </p:xfrm>
        <a:graphic>
          <a:graphicData uri="http://schemas.openxmlformats.org/drawingml/2006/table">
            <a:tbl>
              <a:tblPr firstRow="1" bandRow="1">
                <a:tableStyleId>{2D5ABB26-0587-4C30-8999-92F81FD0307C}</a:tableStyleId>
              </a:tblPr>
              <a:tblGrid>
                <a:gridCol w="832925">
                  <a:extLst>
                    <a:ext uri="{9D8B030D-6E8A-4147-A177-3AD203B41FA5}">
                      <a16:colId xmlns:a16="http://schemas.microsoft.com/office/drawing/2014/main" val="897110080"/>
                    </a:ext>
                  </a:extLst>
                </a:gridCol>
                <a:gridCol w="1534527">
                  <a:extLst>
                    <a:ext uri="{9D8B030D-6E8A-4147-A177-3AD203B41FA5}">
                      <a16:colId xmlns:a16="http://schemas.microsoft.com/office/drawing/2014/main" val="2590498176"/>
                    </a:ext>
                  </a:extLst>
                </a:gridCol>
              </a:tblGrid>
              <a:tr h="0">
                <a:tc gridSpan="2">
                  <a:txBody>
                    <a:bodyPr/>
                    <a:lstStyle/>
                    <a:p>
                      <a:pPr algn="l">
                        <a:lnSpc>
                          <a:spcPct val="120000"/>
                        </a:lnSpc>
                      </a:pPr>
                      <a:r>
                        <a:rPr kumimoji="1" lang="ja-JP" altLang="en-US" sz="1600" b="1" dirty="0">
                          <a:solidFill>
                            <a:schemeClr val="tx1"/>
                          </a:solidFill>
                        </a:rPr>
                        <a:t>技術スタック</a:t>
                      </a:r>
                    </a:p>
                  </a:txBody>
                  <a:tcPr marL="90000" marT="72000" marB="72000">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tc hMerge="1">
                  <a:txBody>
                    <a:bodyPr/>
                    <a:lstStyle/>
                    <a:p>
                      <a:pPr algn="ctr">
                        <a:lnSpc>
                          <a:spcPct val="120000"/>
                        </a:lnSpc>
                      </a:pPr>
                      <a:endParaRPr kumimoji="1" lang="ja-JP" altLang="en-US" sz="1100" b="1" dirty="0">
                        <a:solidFill>
                          <a:schemeClr val="bg2"/>
                        </a:solidFill>
                      </a:endParaRPr>
                    </a:p>
                  </a:txBody>
                  <a:tcPr marT="36000" marB="36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149218974"/>
                  </a:ext>
                </a:extLst>
              </a:tr>
              <a:tr h="0">
                <a:tc>
                  <a:txBody>
                    <a:bodyPr/>
                    <a:lstStyle/>
                    <a:p>
                      <a:pPr algn="r">
                        <a:lnSpc>
                          <a:spcPct val="120000"/>
                        </a:lnSpc>
                      </a:pPr>
                      <a:r>
                        <a:rPr kumimoji="1" lang="ja-JP" altLang="en-US" sz="1100" b="1" dirty="0">
                          <a:solidFill>
                            <a:schemeClr val="tx2"/>
                          </a:solidFill>
                        </a:rPr>
                        <a:t>インフラ</a:t>
                      </a:r>
                    </a:p>
                  </a:txBody>
                  <a:tcPr marL="0" marR="36000" marT="144000" marB="72000">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nSpc>
                          <a:spcPct val="120000"/>
                        </a:lnSpc>
                      </a:pPr>
                      <a:r>
                        <a:rPr kumimoji="1" lang="en-US" altLang="ja-JP" sz="1100" b="0" dirty="0"/>
                        <a:t>AWS</a:t>
                      </a:r>
                      <a:endParaRPr kumimoji="1" lang="ja-JP" altLang="en-US" sz="1100" b="0" dirty="0"/>
                    </a:p>
                  </a:txBody>
                  <a:tcPr marL="36000" marR="0" marT="144000" marB="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189159577"/>
                  </a:ext>
                </a:extLst>
              </a:tr>
              <a:tr h="0">
                <a:tc>
                  <a:txBody>
                    <a:bodyPr/>
                    <a:lstStyle/>
                    <a:p>
                      <a:pPr algn="r">
                        <a:lnSpc>
                          <a:spcPct val="120000"/>
                        </a:lnSpc>
                      </a:pPr>
                      <a:r>
                        <a:rPr kumimoji="1" lang="ja-JP" altLang="en-US" sz="1100" b="1" dirty="0">
                          <a:solidFill>
                            <a:schemeClr val="tx2"/>
                          </a:solidFill>
                        </a:rPr>
                        <a:t>フロントエンド</a:t>
                      </a:r>
                    </a:p>
                  </a:txBody>
                  <a:tcPr marL="0" marR="36000" marT="72000" marB="72000">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a:lnSpc>
                          <a:spcPct val="120000"/>
                        </a:lnSpc>
                      </a:pPr>
                      <a:r>
                        <a:rPr kumimoji="1" lang="en-US" altLang="ja-JP" sz="1100" b="0" dirty="0"/>
                        <a:t>TypeScript, React</a:t>
                      </a:r>
                      <a:endParaRPr kumimoji="1" lang="ja-JP" altLang="en-US" sz="1100" b="0" dirty="0"/>
                    </a:p>
                  </a:txBody>
                  <a:tcPr marL="36000" marR="0" marT="72000" marB="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625326503"/>
                  </a:ext>
                </a:extLst>
              </a:tr>
              <a:tr h="0">
                <a:tc>
                  <a:txBody>
                    <a:bodyPr/>
                    <a:lstStyle/>
                    <a:p>
                      <a:pPr algn="r">
                        <a:lnSpc>
                          <a:spcPct val="120000"/>
                        </a:lnSpc>
                      </a:pPr>
                      <a:r>
                        <a:rPr kumimoji="1" lang="ja-JP" altLang="en-US" sz="1100" b="1" dirty="0">
                          <a:solidFill>
                            <a:schemeClr val="tx2"/>
                          </a:solidFill>
                        </a:rPr>
                        <a:t>サーバサイド</a:t>
                      </a:r>
                    </a:p>
                  </a:txBody>
                  <a:tcPr marL="0" marR="36000" marT="72000" marB="72000">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solidFill>
                      <a:schemeClr val="bg1"/>
                    </a:solidFill>
                  </a:tcPr>
                </a:tc>
                <a:tc>
                  <a:txBody>
                    <a:bodyPr/>
                    <a:lstStyle/>
                    <a:p>
                      <a:pPr>
                        <a:lnSpc>
                          <a:spcPct val="120000"/>
                        </a:lnSpc>
                      </a:pPr>
                      <a:r>
                        <a:rPr kumimoji="1" lang="en-US" altLang="ja-JP" sz="1100" b="0" dirty="0"/>
                        <a:t>Node.js, TypeScript,</a:t>
                      </a:r>
                      <a:br>
                        <a:rPr kumimoji="1" lang="en-US" altLang="ja-JP" sz="1100" b="0" dirty="0"/>
                      </a:br>
                      <a:r>
                        <a:rPr kumimoji="1" lang="en-US" altLang="ja-JP" sz="1100" b="0" dirty="0"/>
                        <a:t>DynamoDB</a:t>
                      </a:r>
                      <a:endParaRPr kumimoji="1" lang="ja-JP" altLang="en-US" sz="1100" b="0" dirty="0"/>
                    </a:p>
                  </a:txBody>
                  <a:tcPr marL="36000" marR="0" marT="72000" marB="720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721420767"/>
                  </a:ext>
                </a:extLst>
              </a:tr>
            </a:tbl>
          </a:graphicData>
        </a:graphic>
      </p:graphicFrame>
      <p:sp>
        <p:nvSpPr>
          <p:cNvPr id="25" name="テキスト ボックス 24">
            <a:extLst>
              <a:ext uri="{FF2B5EF4-FFF2-40B4-BE49-F238E27FC236}">
                <a16:creationId xmlns:a16="http://schemas.microsoft.com/office/drawing/2014/main" id="{8457EFA5-DE0B-CA08-D41A-676AE16D293E}"/>
              </a:ext>
            </a:extLst>
          </p:cNvPr>
          <p:cNvSpPr txBox="1"/>
          <p:nvPr/>
        </p:nvSpPr>
        <p:spPr>
          <a:xfrm>
            <a:off x="10162933" y="5730964"/>
            <a:ext cx="1158972" cy="246221"/>
          </a:xfrm>
          <a:prstGeom prst="rect">
            <a:avLst/>
          </a:prstGeom>
          <a:noFill/>
        </p:spPr>
        <p:txBody>
          <a:bodyPr wrap="none" lIns="0" rIns="0" rtlCol="0">
            <a:spAutoFit/>
          </a:bodyPr>
          <a:lstStyle/>
          <a:p>
            <a:r>
              <a:rPr kumimoji="1" lang="en-US" altLang="ja-JP" sz="1000" dirty="0">
                <a:solidFill>
                  <a:schemeClr val="tx2"/>
                </a:solidFill>
              </a:rPr>
              <a:t>※ </a:t>
            </a:r>
            <a:r>
              <a:rPr kumimoji="1" lang="ja-JP" altLang="en-US" sz="1000" dirty="0">
                <a:solidFill>
                  <a:schemeClr val="tx2"/>
                </a:solidFill>
              </a:rPr>
              <a:t>人月ではありません</a:t>
            </a:r>
          </a:p>
        </p:txBody>
      </p:sp>
      <p:graphicFrame>
        <p:nvGraphicFramePr>
          <p:cNvPr id="31" name="表 30">
            <a:extLst>
              <a:ext uri="{FF2B5EF4-FFF2-40B4-BE49-F238E27FC236}">
                <a16:creationId xmlns:a16="http://schemas.microsoft.com/office/drawing/2014/main" id="{FFD27182-52BA-2BBA-BB0E-1E05878DDE8F}"/>
              </a:ext>
            </a:extLst>
          </p:cNvPr>
          <p:cNvGraphicFramePr>
            <a:graphicFrameLocks noGrp="1"/>
          </p:cNvGraphicFramePr>
          <p:nvPr/>
        </p:nvGraphicFramePr>
        <p:xfrm>
          <a:off x="665308" y="830542"/>
          <a:ext cx="2359832" cy="403779"/>
        </p:xfrm>
        <a:graphic>
          <a:graphicData uri="http://schemas.openxmlformats.org/drawingml/2006/table">
            <a:tbl>
              <a:tblPr firstRow="1" bandRow="1">
                <a:tableStyleId>{2D5ABB26-0587-4C30-8999-92F81FD0307C}</a:tableStyleId>
              </a:tblPr>
              <a:tblGrid>
                <a:gridCol w="2359832">
                  <a:extLst>
                    <a:ext uri="{9D8B030D-6E8A-4147-A177-3AD203B41FA5}">
                      <a16:colId xmlns:a16="http://schemas.microsoft.com/office/drawing/2014/main" val="897110080"/>
                    </a:ext>
                  </a:extLst>
                </a:gridCol>
              </a:tblGrid>
              <a:tr h="0">
                <a:tc>
                  <a:txBody>
                    <a:bodyPr/>
                    <a:lstStyle/>
                    <a:p>
                      <a:pPr algn="l">
                        <a:lnSpc>
                          <a:spcPct val="120000"/>
                        </a:lnSpc>
                      </a:pPr>
                      <a:r>
                        <a:rPr kumimoji="1" lang="ja-JP" altLang="en-US" sz="1600" b="1" dirty="0">
                          <a:solidFill>
                            <a:schemeClr val="tx1"/>
                          </a:solidFill>
                        </a:rPr>
                        <a:t>体制</a:t>
                      </a:r>
                    </a:p>
                  </a:txBody>
                  <a:tcPr marL="90000" marT="72000" marB="72000">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9218974"/>
                  </a:ext>
                </a:extLst>
              </a:tr>
            </a:tbl>
          </a:graphicData>
        </a:graphic>
      </p:graphicFrame>
      <p:graphicFrame>
        <p:nvGraphicFramePr>
          <p:cNvPr id="32" name="表 31">
            <a:extLst>
              <a:ext uri="{FF2B5EF4-FFF2-40B4-BE49-F238E27FC236}">
                <a16:creationId xmlns:a16="http://schemas.microsoft.com/office/drawing/2014/main" id="{C98801EA-26D2-3360-5E76-1CFC0EAF02A8}"/>
              </a:ext>
            </a:extLst>
          </p:cNvPr>
          <p:cNvGraphicFramePr>
            <a:graphicFrameLocks noGrp="1"/>
          </p:cNvGraphicFramePr>
          <p:nvPr/>
        </p:nvGraphicFramePr>
        <p:xfrm>
          <a:off x="4210221" y="830542"/>
          <a:ext cx="7237096" cy="403779"/>
        </p:xfrm>
        <a:graphic>
          <a:graphicData uri="http://schemas.openxmlformats.org/drawingml/2006/table">
            <a:tbl>
              <a:tblPr firstRow="1" bandRow="1">
                <a:tableStyleId>{2D5ABB26-0587-4C30-8999-92F81FD0307C}</a:tableStyleId>
              </a:tblPr>
              <a:tblGrid>
                <a:gridCol w="7237096">
                  <a:extLst>
                    <a:ext uri="{9D8B030D-6E8A-4147-A177-3AD203B41FA5}">
                      <a16:colId xmlns:a16="http://schemas.microsoft.com/office/drawing/2014/main" val="897110080"/>
                    </a:ext>
                  </a:extLst>
                </a:gridCol>
              </a:tblGrid>
              <a:tr h="0">
                <a:tc>
                  <a:txBody>
                    <a:bodyPr/>
                    <a:lstStyle/>
                    <a:p>
                      <a:pPr algn="l">
                        <a:lnSpc>
                          <a:spcPct val="120000"/>
                        </a:lnSpc>
                      </a:pPr>
                      <a:r>
                        <a:rPr kumimoji="1" lang="en-US" altLang="ja-JP" sz="1600" b="1" dirty="0">
                          <a:solidFill>
                            <a:schemeClr val="tx1"/>
                          </a:solidFill>
                        </a:rPr>
                        <a:t>BP</a:t>
                      </a:r>
                      <a:r>
                        <a:rPr kumimoji="1" lang="ja-JP" altLang="en-US" sz="1600" b="1" dirty="0">
                          <a:solidFill>
                            <a:schemeClr val="tx1"/>
                          </a:solidFill>
                        </a:rPr>
                        <a:t>概要</a:t>
                      </a:r>
                    </a:p>
                  </a:txBody>
                  <a:tcPr marL="90000" marT="72000" marB="72000">
                    <a:lnR w="12700" cap="flat" cmpd="sng" algn="ctr">
                      <a:solidFill>
                        <a:schemeClr val="bg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49218974"/>
                  </a:ext>
                </a:extLst>
              </a:tr>
            </a:tbl>
          </a:graphicData>
        </a:graphic>
      </p:graphicFrame>
    </p:spTree>
    <p:extLst>
      <p:ext uri="{BB962C8B-B14F-4D97-AF65-F5344CB8AC3E}">
        <p14:creationId xmlns:p14="http://schemas.microsoft.com/office/powerpoint/2010/main" val="1517024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060DB64-404A-4E3E-00DC-C5DF6E484E58}"/>
              </a:ext>
            </a:extLst>
          </p:cNvPr>
          <p:cNvSpPr>
            <a:spLocks noGrp="1"/>
          </p:cNvSpPr>
          <p:nvPr>
            <p:ph type="title"/>
          </p:nvPr>
        </p:nvSpPr>
        <p:spPr/>
        <p:txBody>
          <a:bodyPr/>
          <a:lstStyle/>
          <a:p>
            <a:r>
              <a:rPr kumimoji="1" lang="ja-JP" altLang="en-US" dirty="0"/>
              <a:t>現体制をどう活かすか</a:t>
            </a:r>
          </a:p>
        </p:txBody>
      </p:sp>
      <p:sp>
        <p:nvSpPr>
          <p:cNvPr id="3" name="正方形/長方形 2">
            <a:extLst>
              <a:ext uri="{FF2B5EF4-FFF2-40B4-BE49-F238E27FC236}">
                <a16:creationId xmlns:a16="http://schemas.microsoft.com/office/drawing/2014/main" id="{2B495759-E36F-F847-D142-0B60D8040ED2}"/>
              </a:ext>
            </a:extLst>
          </p:cNvPr>
          <p:cNvSpPr/>
          <p:nvPr/>
        </p:nvSpPr>
        <p:spPr>
          <a:xfrm>
            <a:off x="6608796" y="1475827"/>
            <a:ext cx="4435931" cy="643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rIns="90000" rtlCol="0" anchor="ctr">
            <a:spAutoFit/>
          </a:bodyPr>
          <a:lstStyle/>
          <a:p>
            <a:pPr>
              <a:lnSpc>
                <a:spcPct val="120000"/>
              </a:lnSpc>
            </a:pPr>
            <a:r>
              <a:rPr kumimoji="1" lang="en-US" altLang="ja-JP" sz="3200" b="1" dirty="0">
                <a:solidFill>
                  <a:schemeClr val="tx1"/>
                </a:solidFill>
              </a:rPr>
              <a:t>2</a:t>
            </a:r>
            <a:r>
              <a:rPr kumimoji="1" lang="en-US" altLang="ja-JP" sz="2400" b="1" dirty="0">
                <a:solidFill>
                  <a:schemeClr val="tx1"/>
                </a:solidFill>
              </a:rPr>
              <a:t>. OMUSVI</a:t>
            </a:r>
            <a:r>
              <a:rPr kumimoji="1" lang="ja-JP" altLang="en-US" sz="2400" b="1" dirty="0">
                <a:solidFill>
                  <a:schemeClr val="tx1"/>
                </a:solidFill>
              </a:rPr>
              <a:t>本体開発へ合流</a:t>
            </a:r>
          </a:p>
        </p:txBody>
      </p:sp>
      <p:sp>
        <p:nvSpPr>
          <p:cNvPr id="5" name="正方形/長方形 4">
            <a:extLst>
              <a:ext uri="{FF2B5EF4-FFF2-40B4-BE49-F238E27FC236}">
                <a16:creationId xmlns:a16="http://schemas.microsoft.com/office/drawing/2014/main" id="{FEA0DFCF-DA4C-A6CB-4DE2-B1E8C01C8DDB}"/>
              </a:ext>
            </a:extLst>
          </p:cNvPr>
          <p:cNvSpPr/>
          <p:nvPr/>
        </p:nvSpPr>
        <p:spPr>
          <a:xfrm>
            <a:off x="1147273" y="1475827"/>
            <a:ext cx="4435931" cy="6435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tIns="72000" rIns="90000" rtlCol="0" anchor="ctr">
            <a:spAutoFit/>
          </a:bodyPr>
          <a:lstStyle/>
          <a:p>
            <a:pPr>
              <a:lnSpc>
                <a:spcPct val="120000"/>
              </a:lnSpc>
            </a:pPr>
            <a:r>
              <a:rPr kumimoji="1" lang="en-US" altLang="ja-JP" sz="3200" b="1" dirty="0">
                <a:solidFill>
                  <a:schemeClr val="tx1"/>
                </a:solidFill>
              </a:rPr>
              <a:t>1</a:t>
            </a:r>
            <a:r>
              <a:rPr kumimoji="1" lang="en-US" altLang="ja-JP" sz="2400" b="1" dirty="0">
                <a:solidFill>
                  <a:schemeClr val="tx1"/>
                </a:solidFill>
              </a:rPr>
              <a:t>. OMUSVI</a:t>
            </a:r>
            <a:r>
              <a:rPr kumimoji="1" lang="ja-JP" altLang="en-US" sz="2400" b="1" dirty="0">
                <a:solidFill>
                  <a:schemeClr val="tx1"/>
                </a:solidFill>
              </a:rPr>
              <a:t>本体とは別案件へ</a:t>
            </a:r>
          </a:p>
        </p:txBody>
      </p:sp>
      <p:sp>
        <p:nvSpPr>
          <p:cNvPr id="7" name="テキスト ボックス 6">
            <a:extLst>
              <a:ext uri="{FF2B5EF4-FFF2-40B4-BE49-F238E27FC236}">
                <a16:creationId xmlns:a16="http://schemas.microsoft.com/office/drawing/2014/main" id="{39679A2A-1D9D-FAF3-B122-D8E6CF06E290}"/>
              </a:ext>
            </a:extLst>
          </p:cNvPr>
          <p:cNvSpPr txBox="1"/>
          <p:nvPr/>
        </p:nvSpPr>
        <p:spPr>
          <a:xfrm>
            <a:off x="6608797" y="2140166"/>
            <a:ext cx="4435929" cy="2593274"/>
          </a:xfrm>
          <a:prstGeom prst="rect">
            <a:avLst/>
          </a:prstGeom>
          <a:noFill/>
        </p:spPr>
        <p:txBody>
          <a:bodyPr wrap="square" rtlCol="0">
            <a:spAutoFit/>
          </a:bodyPr>
          <a:lstStyle/>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フロントエンド開発は技術適正あり</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電技部として参画（現体制そのままキャリー）するとなると境界面でごたつく懸念</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en-US" altLang="ja-JP" sz="1400" dirty="0">
                <a:solidFill>
                  <a:schemeClr val="tx2">
                    <a:lumMod val="75000"/>
                  </a:schemeClr>
                </a:solidFill>
              </a:rPr>
              <a:t>TS</a:t>
            </a:r>
            <a:r>
              <a:rPr kumimoji="1" lang="ja-JP" altLang="en-US" sz="1400" dirty="0">
                <a:solidFill>
                  <a:schemeClr val="tx2">
                    <a:lumMod val="75000"/>
                  </a:schemeClr>
                </a:solidFill>
              </a:rPr>
              <a:t>尾崎</a:t>
            </a:r>
            <a:r>
              <a:rPr kumimoji="1" lang="en-US" altLang="ja-JP" sz="1400" dirty="0">
                <a:solidFill>
                  <a:schemeClr val="tx2">
                    <a:lumMod val="75000"/>
                  </a:schemeClr>
                </a:solidFill>
              </a:rPr>
              <a:t>GM</a:t>
            </a:r>
            <a:r>
              <a:rPr kumimoji="1" lang="ja-JP" altLang="en-US" sz="1400" dirty="0">
                <a:solidFill>
                  <a:schemeClr val="tx2">
                    <a:lumMod val="75000"/>
                  </a:schemeClr>
                </a:solidFill>
              </a:rPr>
              <a:t>アンダーで入るか・・・</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単なる開発要員拠出は避けたい</a:t>
            </a:r>
            <a:br>
              <a:rPr kumimoji="1" lang="en-US" altLang="ja-JP" sz="1400" dirty="0">
                <a:solidFill>
                  <a:schemeClr val="tx2">
                    <a:lumMod val="75000"/>
                  </a:schemeClr>
                </a:solidFill>
              </a:rPr>
            </a:br>
            <a:r>
              <a:rPr kumimoji="1" lang="ja-JP" altLang="en-US" sz="1400" dirty="0">
                <a:solidFill>
                  <a:schemeClr val="tx2">
                    <a:lumMod val="75000"/>
                  </a:schemeClr>
                </a:solidFill>
              </a:rPr>
              <a:t>（現体制のノウハウが活きない）</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ディスカバリー</a:t>
            </a:r>
            <a:r>
              <a:rPr kumimoji="1" lang="en-US" altLang="ja-JP" sz="1400" dirty="0">
                <a:solidFill>
                  <a:schemeClr val="tx2">
                    <a:lumMod val="75000"/>
                  </a:schemeClr>
                </a:solidFill>
              </a:rPr>
              <a:t>T</a:t>
            </a:r>
            <a:r>
              <a:rPr kumimoji="1" lang="ja-JP" altLang="en-US" sz="1400" dirty="0">
                <a:solidFill>
                  <a:schemeClr val="tx2">
                    <a:lumMod val="75000"/>
                  </a:schemeClr>
                </a:solidFill>
              </a:rPr>
              <a:t>は</a:t>
            </a:r>
            <a:r>
              <a:rPr kumimoji="1" lang="en-US" altLang="ja-JP" sz="1400" dirty="0">
                <a:solidFill>
                  <a:schemeClr val="tx2">
                    <a:lumMod val="75000"/>
                  </a:schemeClr>
                </a:solidFill>
              </a:rPr>
              <a:t>DT</a:t>
            </a:r>
            <a:r>
              <a:rPr kumimoji="1" lang="ja-JP" altLang="en-US" sz="1400" dirty="0">
                <a:solidFill>
                  <a:schemeClr val="tx2">
                    <a:lumMod val="75000"/>
                  </a:schemeClr>
                </a:solidFill>
              </a:rPr>
              <a:t>や</a:t>
            </a:r>
            <a:r>
              <a:rPr kumimoji="1" lang="en-US" altLang="ja-JP" sz="1400" dirty="0">
                <a:solidFill>
                  <a:schemeClr val="tx2">
                    <a:lumMod val="75000"/>
                  </a:schemeClr>
                </a:solidFill>
              </a:rPr>
              <a:t>TS</a:t>
            </a:r>
            <a:r>
              <a:rPr kumimoji="1" lang="ja-JP" altLang="en-US" sz="1400" dirty="0">
                <a:solidFill>
                  <a:schemeClr val="tx2">
                    <a:lumMod val="75000"/>
                  </a:schemeClr>
                </a:solidFill>
              </a:rPr>
              <a:t>上流と競合するので</a:t>
            </a:r>
            <a:br>
              <a:rPr kumimoji="1" lang="ja-JP" altLang="en-US" sz="1400" dirty="0">
                <a:solidFill>
                  <a:schemeClr val="tx2">
                    <a:lumMod val="75000"/>
                  </a:schemeClr>
                </a:solidFill>
              </a:rPr>
            </a:br>
            <a:r>
              <a:rPr kumimoji="1" lang="ja-JP" altLang="en-US" sz="1400" dirty="0">
                <a:solidFill>
                  <a:schemeClr val="tx2">
                    <a:lumMod val="75000"/>
                  </a:schemeClr>
                </a:solidFill>
              </a:rPr>
              <a:t>住み分け</a:t>
            </a:r>
            <a:r>
              <a:rPr kumimoji="1" lang="en-US" altLang="ja-JP" sz="1400" dirty="0">
                <a:solidFill>
                  <a:schemeClr val="tx2">
                    <a:lumMod val="75000"/>
                  </a:schemeClr>
                </a:solidFill>
              </a:rPr>
              <a:t>/</a:t>
            </a:r>
            <a:r>
              <a:rPr kumimoji="1" lang="ja-JP" altLang="en-US" sz="1400" dirty="0">
                <a:solidFill>
                  <a:schemeClr val="tx2">
                    <a:lumMod val="75000"/>
                  </a:schemeClr>
                </a:solidFill>
              </a:rPr>
              <a:t>リリース</a:t>
            </a:r>
          </a:p>
        </p:txBody>
      </p:sp>
      <p:sp>
        <p:nvSpPr>
          <p:cNvPr id="9" name="テキスト ボックス 8">
            <a:extLst>
              <a:ext uri="{FF2B5EF4-FFF2-40B4-BE49-F238E27FC236}">
                <a16:creationId xmlns:a16="http://schemas.microsoft.com/office/drawing/2014/main" id="{C2A980B0-CA78-85ED-9CF7-4F7F3F8F3AAD}"/>
              </a:ext>
            </a:extLst>
          </p:cNvPr>
          <p:cNvSpPr txBox="1"/>
          <p:nvPr/>
        </p:nvSpPr>
        <p:spPr>
          <a:xfrm>
            <a:off x="1147275" y="2140166"/>
            <a:ext cx="4435929" cy="1960793"/>
          </a:xfrm>
          <a:prstGeom prst="rect">
            <a:avLst/>
          </a:prstGeom>
          <a:noFill/>
        </p:spPr>
        <p:txBody>
          <a:bodyPr wrap="square" rtlCol="0">
            <a:spAutoFit/>
          </a:bodyPr>
          <a:lstStyle/>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デジカケと同じようなことをやっている人たちがいる</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車両仕様</a:t>
            </a:r>
            <a:r>
              <a:rPr kumimoji="1" lang="en-US" altLang="ja-JP" sz="1400" dirty="0">
                <a:solidFill>
                  <a:schemeClr val="tx2">
                    <a:lumMod val="75000"/>
                  </a:schemeClr>
                </a:solidFill>
              </a:rPr>
              <a:t>×</a:t>
            </a:r>
            <a:r>
              <a:rPr kumimoji="1" lang="ja-JP" altLang="en-US" sz="1400" dirty="0">
                <a:solidFill>
                  <a:schemeClr val="tx2">
                    <a:lumMod val="75000"/>
                  </a:schemeClr>
                </a:solidFill>
              </a:rPr>
              <a:t>品番は</a:t>
            </a:r>
            <a:r>
              <a:rPr kumimoji="1" lang="en-US" altLang="ja-JP" sz="1400" dirty="0">
                <a:solidFill>
                  <a:schemeClr val="tx2">
                    <a:lumMod val="75000"/>
                  </a:schemeClr>
                </a:solidFill>
              </a:rPr>
              <a:t>OMUSVI</a:t>
            </a:r>
            <a:r>
              <a:rPr kumimoji="1" lang="ja-JP" altLang="en-US" sz="1400" dirty="0">
                <a:solidFill>
                  <a:schemeClr val="tx2">
                    <a:lumMod val="75000"/>
                  </a:schemeClr>
                </a:solidFill>
              </a:rPr>
              <a:t>だが</a:t>
            </a:r>
            <a:br>
              <a:rPr kumimoji="1" lang="en-US" altLang="ja-JP" sz="1400" dirty="0">
                <a:solidFill>
                  <a:schemeClr val="tx2">
                    <a:lumMod val="75000"/>
                  </a:schemeClr>
                </a:solidFill>
              </a:rPr>
            </a:br>
            <a:r>
              <a:rPr kumimoji="1" lang="ja-JP" altLang="en-US" sz="1400" b="1" dirty="0"/>
              <a:t>車両仕様</a:t>
            </a:r>
            <a:r>
              <a:rPr kumimoji="1" lang="en-US" altLang="ja-JP" sz="1400" b="1" dirty="0"/>
              <a:t>×</a:t>
            </a:r>
            <a:r>
              <a:rPr kumimoji="1" lang="ja-JP" altLang="en-US" sz="1400" b="1" dirty="0"/>
              <a:t>●●がたくさんあるイメージ</a:t>
            </a:r>
            <a:endParaRPr kumimoji="1" lang="en-US" altLang="ja-JP" sz="1400" b="1" dirty="0"/>
          </a:p>
          <a:p>
            <a:pPr marL="179388" indent="-179388">
              <a:lnSpc>
                <a:spcPct val="120000"/>
              </a:lnSpc>
              <a:spcBef>
                <a:spcPts val="900"/>
              </a:spcBef>
              <a:buFont typeface="Arial" panose="020B0604020202020204" pitchFamily="34" charset="0"/>
              <a:buChar char="•"/>
            </a:pPr>
            <a:r>
              <a:rPr kumimoji="1" lang="ja-JP" altLang="en-US" sz="1400" dirty="0">
                <a:solidFill>
                  <a:schemeClr val="tx2">
                    <a:lumMod val="75000"/>
                  </a:schemeClr>
                </a:solidFill>
              </a:rPr>
              <a:t>電技レガシーしかり</a:t>
            </a:r>
            <a:br>
              <a:rPr kumimoji="1" lang="en-US" altLang="ja-JP" sz="1400" dirty="0">
                <a:solidFill>
                  <a:schemeClr val="tx2">
                    <a:lumMod val="75000"/>
                  </a:schemeClr>
                </a:solidFill>
              </a:rPr>
            </a:br>
            <a:r>
              <a:rPr kumimoji="1" lang="en-US" altLang="ja-JP" sz="1400" dirty="0">
                <a:solidFill>
                  <a:schemeClr val="tx2">
                    <a:lumMod val="75000"/>
                  </a:schemeClr>
                </a:solidFill>
              </a:rPr>
              <a:t>2DEE(</a:t>
            </a:r>
            <a:r>
              <a:rPr kumimoji="1" lang="ja-JP" altLang="en-US" sz="1400" dirty="0">
                <a:solidFill>
                  <a:schemeClr val="tx2">
                    <a:lumMod val="75000"/>
                  </a:schemeClr>
                </a:solidFill>
              </a:rPr>
              <a:t>大熊</a:t>
            </a:r>
            <a:r>
              <a:rPr kumimoji="1" lang="en-US" altLang="ja-JP" sz="1400" dirty="0">
                <a:solidFill>
                  <a:schemeClr val="tx2">
                    <a:lumMod val="75000"/>
                  </a:schemeClr>
                </a:solidFill>
              </a:rPr>
              <a:t>S, </a:t>
            </a:r>
            <a:r>
              <a:rPr kumimoji="1" lang="ja-JP" altLang="en-US" sz="1400" dirty="0">
                <a:solidFill>
                  <a:schemeClr val="tx2">
                    <a:lumMod val="75000"/>
                  </a:schemeClr>
                </a:solidFill>
              </a:rPr>
              <a:t>長屋</a:t>
            </a:r>
            <a:r>
              <a:rPr kumimoji="1" lang="en-US" altLang="ja-JP" sz="1400" dirty="0">
                <a:solidFill>
                  <a:schemeClr val="tx2">
                    <a:lumMod val="75000"/>
                  </a:schemeClr>
                </a:solidFill>
              </a:rPr>
              <a:t>GM)</a:t>
            </a:r>
            <a:r>
              <a:rPr kumimoji="1" lang="ja-JP" altLang="en-US" sz="1400" dirty="0">
                <a:solidFill>
                  <a:schemeClr val="tx2">
                    <a:lumMod val="75000"/>
                  </a:schemeClr>
                </a:solidFill>
              </a:rPr>
              <a:t>案件でも</a:t>
            </a:r>
            <a:endParaRPr kumimoji="1" lang="en-US" altLang="ja-JP" sz="1400" dirty="0">
              <a:solidFill>
                <a:schemeClr val="tx2">
                  <a:lumMod val="75000"/>
                </a:schemeClr>
              </a:solidFill>
            </a:endParaRPr>
          </a:p>
          <a:p>
            <a:pPr marL="179388" indent="-179388">
              <a:lnSpc>
                <a:spcPct val="120000"/>
              </a:lnSpc>
              <a:spcBef>
                <a:spcPts val="900"/>
              </a:spcBef>
              <a:buFont typeface="Arial" panose="020B0604020202020204" pitchFamily="34" charset="0"/>
              <a:buChar char="•"/>
            </a:pPr>
            <a:r>
              <a:rPr kumimoji="1" lang="ja-JP" altLang="en-US" sz="1400" b="1" dirty="0"/>
              <a:t>現体制</a:t>
            </a:r>
            <a:r>
              <a:rPr kumimoji="1" lang="en-US" altLang="ja-JP" sz="1400" dirty="0">
                <a:solidFill>
                  <a:schemeClr val="tx2">
                    <a:lumMod val="75000"/>
                  </a:schemeClr>
                </a:solidFill>
              </a:rPr>
              <a:t>(</a:t>
            </a:r>
            <a:r>
              <a:rPr kumimoji="1" lang="ja-JP" altLang="en-US" sz="1400" dirty="0">
                <a:solidFill>
                  <a:schemeClr val="tx2">
                    <a:lumMod val="75000"/>
                  </a:schemeClr>
                </a:solidFill>
              </a:rPr>
              <a:t>縮小前提</a:t>
            </a:r>
            <a:r>
              <a:rPr kumimoji="1" lang="en-US" altLang="ja-JP" sz="1400" dirty="0">
                <a:solidFill>
                  <a:schemeClr val="tx2">
                    <a:lumMod val="75000"/>
                  </a:schemeClr>
                </a:solidFill>
              </a:rPr>
              <a:t>)</a:t>
            </a:r>
            <a:r>
              <a:rPr kumimoji="1" lang="ja-JP" altLang="en-US" sz="1400" b="1" dirty="0"/>
              <a:t>を活かせる案件がないか検討したい</a:t>
            </a:r>
          </a:p>
        </p:txBody>
      </p:sp>
    </p:spTree>
    <p:extLst>
      <p:ext uri="{BB962C8B-B14F-4D97-AF65-F5344CB8AC3E}">
        <p14:creationId xmlns:p14="http://schemas.microsoft.com/office/powerpoint/2010/main" val="3249586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1421F5-0F53-561E-0714-BFCA41798252}"/>
              </a:ext>
            </a:extLst>
          </p:cNvPr>
          <p:cNvSpPr>
            <a:spLocks noGrp="1"/>
          </p:cNvSpPr>
          <p:nvPr>
            <p:ph type="title"/>
          </p:nvPr>
        </p:nvSpPr>
        <p:spPr/>
        <p:txBody>
          <a:bodyPr/>
          <a:lstStyle/>
          <a:p>
            <a:r>
              <a:rPr kumimoji="1" lang="ja-JP" altLang="en-US" dirty="0"/>
              <a:t>議事（孝久</a:t>
            </a:r>
            <a:r>
              <a:rPr kumimoji="1" lang="en-US" altLang="ja-JP" dirty="0"/>
              <a:t>S</a:t>
            </a:r>
            <a:r>
              <a:rPr kumimoji="1" lang="ja-JP" altLang="en-US" dirty="0"/>
              <a:t>の主なご意見）</a:t>
            </a:r>
          </a:p>
        </p:txBody>
      </p:sp>
      <p:sp>
        <p:nvSpPr>
          <p:cNvPr id="3" name="コンテンツ プレースホルダー 2">
            <a:extLst>
              <a:ext uri="{FF2B5EF4-FFF2-40B4-BE49-F238E27FC236}">
                <a16:creationId xmlns:a16="http://schemas.microsoft.com/office/drawing/2014/main" id="{7F21F109-01B3-E707-DDAF-3BE26FA268B7}"/>
              </a:ext>
            </a:extLst>
          </p:cNvPr>
          <p:cNvSpPr>
            <a:spLocks noGrp="1"/>
          </p:cNvSpPr>
          <p:nvPr>
            <p:ph idx="1"/>
          </p:nvPr>
        </p:nvSpPr>
        <p:spPr/>
        <p:txBody>
          <a:bodyPr>
            <a:normAutofit fontScale="70000" lnSpcReduction="20000"/>
          </a:bodyPr>
          <a:lstStyle/>
          <a:p>
            <a:pPr>
              <a:spcBef>
                <a:spcPts val="600"/>
              </a:spcBef>
            </a:pPr>
            <a:r>
              <a:rPr lang="en-US" altLang="ja-JP" dirty="0"/>
              <a:t>P2: </a:t>
            </a:r>
            <a:r>
              <a:rPr lang="ja-JP" altLang="en-US" dirty="0"/>
              <a:t>中止理由について</a:t>
            </a:r>
            <a:endParaRPr lang="en-US" altLang="ja-JP" dirty="0"/>
          </a:p>
          <a:p>
            <a:pPr lvl="1">
              <a:spcBef>
                <a:spcPts val="600"/>
              </a:spcBef>
            </a:pPr>
            <a:r>
              <a:rPr lang="ja-JP" altLang="en-US" dirty="0"/>
              <a:t>デジタル家系図として</a:t>
            </a:r>
            <a:r>
              <a:rPr lang="en-US" altLang="ja-JP" dirty="0"/>
              <a:t>2</a:t>
            </a:r>
            <a:r>
              <a:rPr lang="ja-JP" altLang="en-US" dirty="0"/>
              <a:t>～</a:t>
            </a:r>
            <a:r>
              <a:rPr lang="en-US" altLang="ja-JP" dirty="0"/>
              <a:t>3</a:t>
            </a:r>
            <a:r>
              <a:rPr lang="ja-JP" altLang="en-US" dirty="0"/>
              <a:t>年程経過、</a:t>
            </a:r>
            <a:r>
              <a:rPr lang="en-US" altLang="ja-JP" dirty="0"/>
              <a:t>OMUSVI</a:t>
            </a:r>
            <a:r>
              <a:rPr lang="ja-JP" altLang="en-US" dirty="0"/>
              <a:t>本体他様々な状況変化もあり、</a:t>
            </a:r>
            <a:r>
              <a:rPr lang="en-US" altLang="ja-JP" dirty="0"/>
              <a:t>OMUSVI</a:t>
            </a:r>
            <a:r>
              <a:rPr lang="ja-JP" altLang="en-US" dirty="0"/>
              <a:t>本体で判定マト機能の開発のめどもついてきた。プロジェクト内での優先順も変わってきている。やめ変えの一環。</a:t>
            </a:r>
            <a:endParaRPr lang="en-US" altLang="ja-JP" dirty="0"/>
          </a:p>
          <a:p>
            <a:pPr lvl="1">
              <a:spcBef>
                <a:spcPts val="600"/>
              </a:spcBef>
            </a:pPr>
            <a:r>
              <a:rPr lang="en-US" altLang="ja-JP" dirty="0">
                <a:solidFill>
                  <a:srgbClr val="FF0000"/>
                </a:solidFill>
              </a:rPr>
              <a:t>OMUSVI</a:t>
            </a:r>
            <a:r>
              <a:rPr lang="ja-JP" altLang="en-US" dirty="0">
                <a:solidFill>
                  <a:srgbClr val="FF0000"/>
                </a:solidFill>
              </a:rPr>
              <a:t>への移行が意外とすぐにやってくる。各カンパニーに今後の</a:t>
            </a:r>
            <a:r>
              <a:rPr lang="en-US" altLang="ja-JP" dirty="0">
                <a:solidFill>
                  <a:srgbClr val="FF0000"/>
                </a:solidFill>
              </a:rPr>
              <a:t>OMUSVI</a:t>
            </a:r>
            <a:r>
              <a:rPr lang="ja-JP" altLang="en-US" dirty="0">
                <a:solidFill>
                  <a:srgbClr val="FF0000"/>
                </a:solidFill>
              </a:rPr>
              <a:t>対応車種を聞いて回っているが、概ね全部の車種を</a:t>
            </a:r>
            <a:r>
              <a:rPr lang="en-US" altLang="ja-JP" dirty="0">
                <a:solidFill>
                  <a:srgbClr val="FF0000"/>
                </a:solidFill>
              </a:rPr>
              <a:t>OMUSVI</a:t>
            </a:r>
            <a:r>
              <a:rPr lang="ja-JP" altLang="en-US" dirty="0">
                <a:solidFill>
                  <a:srgbClr val="FF0000"/>
                </a:solidFill>
              </a:rPr>
              <a:t>でやっちゃえという調子。とくに</a:t>
            </a:r>
            <a:r>
              <a:rPr lang="en-US" altLang="ja-JP" dirty="0">
                <a:solidFill>
                  <a:srgbClr val="FF0000"/>
                </a:solidFill>
              </a:rPr>
              <a:t>LI</a:t>
            </a:r>
            <a:r>
              <a:rPr lang="ja-JP" altLang="en-US" dirty="0">
                <a:solidFill>
                  <a:srgbClr val="FF0000"/>
                </a:solidFill>
              </a:rPr>
              <a:t>、</a:t>
            </a:r>
            <a:r>
              <a:rPr lang="en-US" altLang="ja-JP" dirty="0">
                <a:solidFill>
                  <a:srgbClr val="FF0000"/>
                </a:solidFill>
              </a:rPr>
              <a:t>MS</a:t>
            </a:r>
            <a:r>
              <a:rPr lang="ja-JP" altLang="en-US" dirty="0">
                <a:solidFill>
                  <a:srgbClr val="FF0000"/>
                </a:solidFill>
              </a:rPr>
              <a:t>各</a:t>
            </a:r>
            <a:r>
              <a:rPr lang="en-US" altLang="ja-JP" dirty="0">
                <a:solidFill>
                  <a:srgbClr val="FF0000"/>
                </a:solidFill>
              </a:rPr>
              <a:t>Co.</a:t>
            </a:r>
            <a:r>
              <a:rPr lang="ja-JP" altLang="en-US" dirty="0">
                <a:solidFill>
                  <a:srgbClr val="FF0000"/>
                </a:solidFill>
              </a:rPr>
              <a:t>プレジデントが前向き。</a:t>
            </a:r>
            <a:r>
              <a:rPr lang="en-US" altLang="ja-JP" dirty="0">
                <a:solidFill>
                  <a:srgbClr val="FF0000"/>
                </a:solidFill>
              </a:rPr>
              <a:t>TC</a:t>
            </a:r>
            <a:r>
              <a:rPr lang="ja-JP" altLang="en-US" dirty="0">
                <a:solidFill>
                  <a:srgbClr val="FF0000"/>
                </a:solidFill>
              </a:rPr>
              <a:t>は日本生産車がなくトライにならない、</a:t>
            </a:r>
            <a:r>
              <a:rPr lang="en-US" altLang="ja-JP" dirty="0">
                <a:solidFill>
                  <a:srgbClr val="FF0000"/>
                </a:solidFill>
              </a:rPr>
              <a:t>CV</a:t>
            </a:r>
            <a:r>
              <a:rPr lang="ja-JP" altLang="en-US" dirty="0">
                <a:solidFill>
                  <a:srgbClr val="FF0000"/>
                </a:solidFill>
              </a:rPr>
              <a:t>はアジアでやろうだけど後回しか、などと議論をしている。</a:t>
            </a:r>
            <a:r>
              <a:rPr lang="en-US" altLang="ja-JP" dirty="0">
                <a:solidFill>
                  <a:srgbClr val="FF0000"/>
                </a:solidFill>
              </a:rPr>
              <a:t>MAVIS</a:t>
            </a:r>
            <a:r>
              <a:rPr lang="ja-JP" altLang="en-US" dirty="0">
                <a:solidFill>
                  <a:srgbClr val="FF0000"/>
                </a:solidFill>
              </a:rPr>
              <a:t>利用車種は比較的早期に無くなってしまう見込みで、過渡期対応のニーズは大きくない。</a:t>
            </a:r>
            <a:endParaRPr lang="en-US" altLang="ja-JP" dirty="0">
              <a:solidFill>
                <a:srgbClr val="FF0000"/>
              </a:solidFill>
            </a:endParaRPr>
          </a:p>
          <a:p>
            <a:pPr lvl="1">
              <a:spcBef>
                <a:spcPts val="600"/>
              </a:spcBef>
            </a:pPr>
            <a:r>
              <a:rPr lang="en-US" altLang="ja-JP" dirty="0"/>
              <a:t>OMUSVI</a:t>
            </a:r>
            <a:r>
              <a:rPr lang="ja-JP" altLang="en-US" dirty="0"/>
              <a:t>化されれば車両仕様自体がシンプル化される。品番設計の負荷も減っていく見込み。（</a:t>
            </a:r>
            <a:r>
              <a:rPr lang="en-US" altLang="ja-JP" dirty="0"/>
              <a:t>MAVIS</a:t>
            </a:r>
            <a:r>
              <a:rPr lang="ja-JP" altLang="en-US" dirty="0"/>
              <a:t>→</a:t>
            </a:r>
            <a:r>
              <a:rPr lang="en-US" altLang="ja-JP" dirty="0"/>
              <a:t>OMUSVI</a:t>
            </a:r>
            <a:r>
              <a:rPr lang="ja-JP" altLang="en-US" dirty="0"/>
              <a:t>に入力元変更したとしても）デジカケがカバーする業務の改善効果も限定的になってしまいそう。</a:t>
            </a:r>
            <a:endParaRPr lang="en-US" altLang="ja-JP" dirty="0"/>
          </a:p>
          <a:p>
            <a:pPr lvl="1">
              <a:spcBef>
                <a:spcPts val="600"/>
              </a:spcBef>
            </a:pPr>
            <a:r>
              <a:rPr lang="en-US" altLang="ja-JP" dirty="0"/>
              <a:t>EDC</a:t>
            </a:r>
            <a:r>
              <a:rPr lang="ja-JP" altLang="en-US" dirty="0"/>
              <a:t>のところはどちらかというと結果論。ここが中止の主要因ということではない。</a:t>
            </a:r>
            <a:endParaRPr lang="en-US" altLang="ja-JP" dirty="0"/>
          </a:p>
          <a:p>
            <a:pPr>
              <a:spcBef>
                <a:spcPts val="1200"/>
              </a:spcBef>
            </a:pPr>
            <a:r>
              <a:rPr lang="en-US" altLang="ja-JP" dirty="0"/>
              <a:t>P3: </a:t>
            </a:r>
            <a:r>
              <a:rPr lang="ja-JP" altLang="en-US" dirty="0"/>
              <a:t>デジカケの取り組みの行き先について</a:t>
            </a:r>
            <a:endParaRPr lang="en-US" altLang="ja-JP" dirty="0"/>
          </a:p>
          <a:p>
            <a:pPr lvl="1">
              <a:spcBef>
                <a:spcPts val="600"/>
              </a:spcBef>
            </a:pPr>
            <a:r>
              <a:rPr lang="ja-JP" altLang="en-US" dirty="0"/>
              <a:t>部品管理の部分については、部品標準化がそもそも形骸化している（と</a:t>
            </a:r>
            <a:r>
              <a:rPr lang="en-US" altLang="ja-JP" dirty="0"/>
              <a:t>EDC</a:t>
            </a:r>
            <a:r>
              <a:rPr lang="ja-JP" altLang="en-US" dirty="0"/>
              <a:t>福井</a:t>
            </a:r>
            <a:r>
              <a:rPr lang="en-US" altLang="ja-JP" dirty="0"/>
              <a:t>GM</a:t>
            </a:r>
            <a:r>
              <a:rPr lang="ja-JP" altLang="en-US" dirty="0"/>
              <a:t>も言っていた）し、</a:t>
            </a:r>
            <a:r>
              <a:rPr lang="en-US" altLang="ja-JP" dirty="0"/>
              <a:t>AREA35</a:t>
            </a:r>
            <a:r>
              <a:rPr lang="ja-JP" altLang="en-US" dirty="0"/>
              <a:t>の活動で種類数を減らしていく方が主流　</a:t>
            </a:r>
            <a:r>
              <a:rPr lang="en-US" altLang="ja-JP" dirty="0"/>
              <a:t>※AREA35</a:t>
            </a:r>
            <a:r>
              <a:rPr lang="ja-JP" altLang="en-US"/>
              <a:t>活動：完成車</a:t>
            </a:r>
            <a:r>
              <a:rPr lang="ja-JP" altLang="en-US" dirty="0"/>
              <a:t>工場での部品置き場確保のための部品種類</a:t>
            </a:r>
            <a:r>
              <a:rPr lang="ja-JP" altLang="en-US"/>
              <a:t>削減、共通化</a:t>
            </a:r>
            <a:r>
              <a:rPr lang="ja-JP" altLang="en-US" dirty="0"/>
              <a:t>活動</a:t>
            </a:r>
            <a:endParaRPr lang="en-US" altLang="ja-JP" dirty="0"/>
          </a:p>
          <a:p>
            <a:pPr lvl="1">
              <a:spcBef>
                <a:spcPts val="600"/>
              </a:spcBef>
            </a:pPr>
            <a:r>
              <a:rPr lang="en-US" altLang="ja-JP" dirty="0"/>
              <a:t>OMUSVI</a:t>
            </a:r>
            <a:r>
              <a:rPr lang="ja-JP" altLang="en-US" dirty="0"/>
              <a:t>へデジカケのシステム自体の流用はしない認識でよい。</a:t>
            </a:r>
            <a:endParaRPr lang="en-US" altLang="ja-JP" dirty="0"/>
          </a:p>
          <a:p>
            <a:pPr lvl="1">
              <a:spcBef>
                <a:spcPts val="600"/>
              </a:spcBef>
            </a:pPr>
            <a:r>
              <a:rPr lang="ja-JP" altLang="en-US" dirty="0"/>
              <a:t>品番マッピングはやらなくてよい、やるとしても</a:t>
            </a:r>
            <a:r>
              <a:rPr lang="en-US" altLang="ja-JP" dirty="0"/>
              <a:t>OMUSVI</a:t>
            </a:r>
            <a:r>
              <a:rPr lang="ja-JP" altLang="en-US" dirty="0"/>
              <a:t>本体側で検討する。</a:t>
            </a:r>
            <a:endParaRPr lang="en-US" altLang="ja-JP" dirty="0"/>
          </a:p>
          <a:p>
            <a:pPr>
              <a:spcBef>
                <a:spcPts val="1200"/>
              </a:spcBef>
            </a:pPr>
            <a:r>
              <a:rPr lang="en-US" altLang="ja-JP" dirty="0"/>
              <a:t>P4, 5: </a:t>
            </a:r>
            <a:r>
              <a:rPr lang="ja-JP" altLang="en-US" dirty="0"/>
              <a:t>現デジカケ体制の処し方について</a:t>
            </a:r>
            <a:endParaRPr lang="en-US" altLang="ja-JP" dirty="0"/>
          </a:p>
          <a:p>
            <a:pPr lvl="1">
              <a:spcBef>
                <a:spcPts val="600"/>
              </a:spcBef>
            </a:pPr>
            <a:r>
              <a:rPr lang="en-US" altLang="ja-JP" dirty="0"/>
              <a:t>OMUSVI</a:t>
            </a:r>
            <a:r>
              <a:rPr lang="ja-JP" altLang="en-US" dirty="0"/>
              <a:t>本体の開発リソースが足りてないという話はあるのでそこへデジカケリソースをシフトする方法も選択肢としては無い話ではない。</a:t>
            </a:r>
            <a:endParaRPr lang="en-US" altLang="ja-JP" dirty="0"/>
          </a:p>
          <a:p>
            <a:pPr lvl="1">
              <a:spcBef>
                <a:spcPts val="600"/>
              </a:spcBef>
            </a:pPr>
            <a:r>
              <a:rPr lang="ja-JP" altLang="en-US" dirty="0">
                <a:solidFill>
                  <a:srgbClr val="FF0000"/>
                </a:solidFill>
              </a:rPr>
              <a:t>制御</a:t>
            </a:r>
            <a:r>
              <a:rPr lang="en-US" altLang="ja-JP" dirty="0">
                <a:solidFill>
                  <a:srgbClr val="FF0000"/>
                </a:solidFill>
              </a:rPr>
              <a:t>OMUSVI</a:t>
            </a:r>
            <a:r>
              <a:rPr lang="ja-JP" altLang="en-US" dirty="0">
                <a:solidFill>
                  <a:srgbClr val="FF0000"/>
                </a:solidFill>
              </a:rPr>
              <a:t>の方が本命だろう。　</a:t>
            </a:r>
            <a:r>
              <a:rPr lang="en-US" altLang="ja-JP" dirty="0">
                <a:solidFill>
                  <a:srgbClr val="FF0000"/>
                </a:solidFill>
              </a:rPr>
              <a:t>※2DEE</a:t>
            </a:r>
            <a:r>
              <a:rPr lang="ja-JP" altLang="en-US" dirty="0">
                <a:solidFill>
                  <a:srgbClr val="FF0000"/>
                </a:solidFill>
              </a:rPr>
              <a:t>大熊</a:t>
            </a:r>
            <a:r>
              <a:rPr lang="en-US" altLang="ja-JP" dirty="0">
                <a:solidFill>
                  <a:srgbClr val="FF0000"/>
                </a:solidFill>
              </a:rPr>
              <a:t>S</a:t>
            </a:r>
            <a:r>
              <a:rPr lang="ja-JP" altLang="en-US" dirty="0">
                <a:solidFill>
                  <a:srgbClr val="FF0000"/>
                </a:solidFill>
              </a:rPr>
              <a:t>、長屋</a:t>
            </a:r>
            <a:r>
              <a:rPr lang="en-US" altLang="ja-JP" dirty="0">
                <a:solidFill>
                  <a:srgbClr val="FF0000"/>
                </a:solidFill>
              </a:rPr>
              <a:t>GM</a:t>
            </a:r>
            <a:r>
              <a:rPr lang="ja-JP" altLang="en-US" dirty="0">
                <a:solidFill>
                  <a:srgbClr val="FF0000"/>
                </a:solidFill>
              </a:rPr>
              <a:t>と</a:t>
            </a:r>
            <a:r>
              <a:rPr lang="en-US" altLang="ja-JP" dirty="0">
                <a:solidFill>
                  <a:srgbClr val="FF0000"/>
                </a:solidFill>
              </a:rPr>
              <a:t>TS</a:t>
            </a:r>
            <a:r>
              <a:rPr lang="ja-JP" altLang="en-US" dirty="0">
                <a:solidFill>
                  <a:srgbClr val="FF0000"/>
                </a:solidFill>
              </a:rPr>
              <a:t>山崎とで検討している案件</a:t>
            </a:r>
            <a:endParaRPr lang="en-US" altLang="ja-JP" dirty="0">
              <a:solidFill>
                <a:srgbClr val="FF0000"/>
              </a:solidFill>
            </a:endParaRPr>
          </a:p>
          <a:p>
            <a:pPr lvl="1">
              <a:spcBef>
                <a:spcPts val="600"/>
              </a:spcBef>
            </a:pPr>
            <a:r>
              <a:rPr lang="ja-JP" altLang="en-US" dirty="0"/>
              <a:t>車両内の電技、制御のつながりを見える化するところからやれるとよいのでは。部署、業務軸というよりは車両軸。ある車、ないし電プラでもよいと思う。</a:t>
            </a:r>
            <a:br>
              <a:rPr lang="en-US" altLang="ja-JP" dirty="0"/>
            </a:br>
            <a:r>
              <a:rPr lang="ja-JP" altLang="en-US" dirty="0"/>
              <a:t>ハード部品は承認図もあり比較的分かりやすいがソフトは見えていない部分が多い。そういったところの見える化、</a:t>
            </a:r>
            <a:r>
              <a:rPr lang="en-US" altLang="ja-JP" dirty="0"/>
              <a:t>PoC</a:t>
            </a:r>
            <a:r>
              <a:rPr lang="ja-JP" altLang="en-US" dirty="0"/>
              <a:t>からやれるとよい。</a:t>
            </a:r>
            <a:endParaRPr lang="en-US" altLang="ja-JP" dirty="0"/>
          </a:p>
        </p:txBody>
      </p:sp>
    </p:spTree>
    <p:extLst>
      <p:ext uri="{BB962C8B-B14F-4D97-AF65-F5344CB8AC3E}">
        <p14:creationId xmlns:p14="http://schemas.microsoft.com/office/powerpoint/2010/main" val="764963725"/>
      </p:ext>
    </p:extLst>
  </p:cSld>
  <p:clrMapOvr>
    <a:masterClrMapping/>
  </p:clrMapOvr>
</p:sld>
</file>

<file path=ppt/theme/theme1.xml><?xml version="1.0" encoding="utf-8"?>
<a:theme xmlns:a="http://schemas.openxmlformats.org/drawingml/2006/main" name="シンプル">
  <a:themeElements>
    <a:clrScheme name="ユーザー定義 2">
      <a:dk1>
        <a:srgbClr val="1C1C1C"/>
      </a:dk1>
      <a:lt1>
        <a:sysClr val="window" lastClr="FFFFFF"/>
      </a:lt1>
      <a:dk2>
        <a:srgbClr val="777777"/>
      </a:dk2>
      <a:lt2>
        <a:srgbClr val="E7E6E6"/>
      </a:lt2>
      <a:accent1>
        <a:srgbClr val="E06A3B"/>
      </a:accent1>
      <a:accent2>
        <a:srgbClr val="197993"/>
      </a:accent2>
      <a:accent3>
        <a:srgbClr val="B3261E"/>
      </a:accent3>
      <a:accent4>
        <a:srgbClr val="EDAD0B"/>
      </a:accent4>
      <a:accent5>
        <a:srgbClr val="3261AB"/>
      </a:accent5>
      <a:accent6>
        <a:srgbClr val="188855"/>
      </a:accent6>
      <a:hlink>
        <a:srgbClr val="0563C1"/>
      </a:hlink>
      <a:folHlink>
        <a:srgbClr val="954F7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シンプル" id="{E3DC9C4D-F255-4B86-9BA4-E373E5129554}" vid="{5DAF5CE1-6B4E-4807-976C-0049543D1F64}"/>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92e7d18-4867-4b99-8692-27845fd3fde2">
      <Terms xmlns="http://schemas.microsoft.com/office/infopath/2007/PartnerControls"/>
    </lcf76f155ced4ddcb4097134ff3c332f>
    <TaxCatchAll xmlns="a1ebcb03-1241-4a17-8970-a21c81be15b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B8ED8A1214FEF642906783F3A789F102" ma:contentTypeVersion="19" ma:contentTypeDescription="新しいドキュメントを作成します。" ma:contentTypeScope="" ma:versionID="270937fe641bd23b0ccf1bda02c5c31e">
  <xsd:schema xmlns:xsd="http://www.w3.org/2001/XMLSchema" xmlns:xs="http://www.w3.org/2001/XMLSchema" xmlns:p="http://schemas.microsoft.com/office/2006/metadata/properties" xmlns:ns2="e92e7d18-4867-4b99-8692-27845fd3fde2" xmlns:ns3="a1ebcb03-1241-4a17-8970-a21c81be15bd" targetNamespace="http://schemas.microsoft.com/office/2006/metadata/properties" ma:root="true" ma:fieldsID="7856b960796efb444ee960c094939c52" ns2:_="" ns3:_="">
    <xsd:import namespace="e92e7d18-4867-4b99-8692-27845fd3fde2"/>
    <xsd:import namespace="a1ebcb03-1241-4a17-8970-a21c81be15bd"/>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92e7d18-4867-4b99-8692-27845fd3fd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12ff8844-7f78-48cf-b5c5-6eb2e72d678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1ebcb03-1241-4a17-8970-a21c81be15b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8b825b40-9d67-42b8-bce7-df8eff999c39}" ma:internalName="TaxCatchAll" ma:showField="CatchAllData" ma:web="a1ebcb03-1241-4a17-8970-a21c81be15b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741A59-AAE5-45D1-AF11-6E95452D8F6C}">
  <ds:schemaRefs>
    <ds:schemaRef ds:uri="e92e7d18-4867-4b99-8692-27845fd3fde2"/>
    <ds:schemaRef ds:uri="a1ebcb03-1241-4a17-8970-a21c81be15bd"/>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http://purl.org/dc/dcmitype/"/>
    <ds:schemaRef ds:uri="http://schemas.microsoft.com/office/2006/metadata/properties"/>
    <ds:schemaRef ds:uri="http://www.w3.org/XML/1998/namespace"/>
    <ds:schemaRef ds:uri="http://purl.org/dc/elements/1.1/"/>
  </ds:schemaRefs>
</ds:datastoreItem>
</file>

<file path=customXml/itemProps2.xml><?xml version="1.0" encoding="utf-8"?>
<ds:datastoreItem xmlns:ds="http://schemas.openxmlformats.org/officeDocument/2006/customXml" ds:itemID="{CBB6CB79-088C-4508-86E0-4B819C6BB792}">
  <ds:schemaRefs>
    <ds:schemaRef ds:uri="http://schemas.microsoft.com/sharepoint/v3/contenttype/forms"/>
  </ds:schemaRefs>
</ds:datastoreItem>
</file>

<file path=customXml/itemProps3.xml><?xml version="1.0" encoding="utf-8"?>
<ds:datastoreItem xmlns:ds="http://schemas.openxmlformats.org/officeDocument/2006/customXml" ds:itemID="{05A2ED4A-A178-43B0-B657-FABFA8342F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92e7d18-4867-4b99-8692-27845fd3fde2"/>
    <ds:schemaRef ds:uri="a1ebcb03-1241-4a17-8970-a21c81be15b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4c93307-c3b3-4337-9766-0ef0b5644b19}" enabled="1" method="Standard" siteId="{02b02150-dbc8-4a3b-be71-e3eba060a817}" removed="0"/>
</clbl:labelList>
</file>

<file path=docProps/app.xml><?xml version="1.0" encoding="utf-8"?>
<Properties xmlns="http://schemas.openxmlformats.org/officeDocument/2006/extended-properties" xmlns:vt="http://schemas.openxmlformats.org/officeDocument/2006/docPropsVTypes">
  <Template>シンプル</Template>
  <TotalTime>864</TotalTime>
  <Words>1933</Words>
  <Application>Microsoft Office PowerPoint</Application>
  <PresentationFormat>ワイド画面</PresentationFormat>
  <Paragraphs>191</Paragraphs>
  <Slides>17</Slides>
  <Notes>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17</vt:i4>
      </vt:variant>
    </vt:vector>
  </HeadingPairs>
  <TitlesOfParts>
    <vt:vector size="25" baseType="lpstr">
      <vt:lpstr>M PLUS 1p</vt:lpstr>
      <vt:lpstr>M PLUS 1p Medium</vt:lpstr>
      <vt:lpstr>M PLUS 1p Thin</vt:lpstr>
      <vt:lpstr>Meiryo UI</vt:lpstr>
      <vt:lpstr>メイリオ</vt:lpstr>
      <vt:lpstr>Arial</vt:lpstr>
      <vt:lpstr>Wingdings 2</vt:lpstr>
      <vt:lpstr>シンプル</vt:lpstr>
      <vt:lpstr>品番設計支援(デジカケ)状況</vt:lpstr>
      <vt:lpstr>報告の趣旨</vt:lpstr>
      <vt:lpstr>デジタル家系図プロジェクト中止</vt:lpstr>
      <vt:lpstr>各所への情報展開状況</vt:lpstr>
      <vt:lpstr>メンバーの受け取り</vt:lpstr>
      <vt:lpstr>その後の動き</vt:lpstr>
      <vt:lpstr>現在のチームの状態</vt:lpstr>
      <vt:lpstr>所感</vt:lpstr>
      <vt:lpstr>PowerPoint プレゼンテーション</vt:lpstr>
      <vt:lpstr>PowerPoint プレゼンテーション</vt:lpstr>
      <vt:lpstr>洗い出したタスク</vt:lpstr>
      <vt:lpstr>PowerPoint プレゼンテーション</vt:lpstr>
      <vt:lpstr>デジタル家系図中止の理由</vt:lpstr>
      <vt:lpstr>デジタル家系図での取り組みの行く先（認識合わせ）</vt:lpstr>
      <vt:lpstr>現体制</vt:lpstr>
      <vt:lpstr>現体制をどう活かすか</vt:lpstr>
      <vt:lpstr>議事（孝久Sの主なご意見）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Yokoyama, Kazuki/横山 一樹</dc:creator>
  <cp:lastModifiedBy>Yokoyama, Kazuki/横山 一樹</cp:lastModifiedBy>
  <cp:revision>2</cp:revision>
  <dcterms:created xsi:type="dcterms:W3CDTF">2025-04-15T07:41:41Z</dcterms:created>
  <dcterms:modified xsi:type="dcterms:W3CDTF">2025-04-22T08:41:42Z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0x010100B8ED8A1214FEF642906783F3A789F102</vt:lpwstr>
  </property>
  <property fmtid="{D5CDD505-2E9C-101B-9397-08002B2CF9AE}" pid="3" name="MediaServiceImageTags">
    <vt:lpwstr/>
  </property>
</Properties>
</file>