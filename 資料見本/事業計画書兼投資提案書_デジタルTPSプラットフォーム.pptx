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handoutMasterIdLst>
    <p:handoutMasterId r:id="rId28"/>
  </p:handoutMasterIdLst>
  <p:sldIdLst>
    <p:sldId id="260" r:id="rId5"/>
    <p:sldId id="304" r:id="rId6"/>
    <p:sldId id="287" r:id="rId7"/>
    <p:sldId id="290" r:id="rId8"/>
    <p:sldId id="310" r:id="rId9"/>
    <p:sldId id="292" r:id="rId10"/>
    <p:sldId id="311" r:id="rId11"/>
    <p:sldId id="293" r:id="rId12"/>
    <p:sldId id="318" r:id="rId13"/>
    <p:sldId id="315" r:id="rId14"/>
    <p:sldId id="316" r:id="rId15"/>
    <p:sldId id="319" r:id="rId16"/>
    <p:sldId id="322" r:id="rId17"/>
    <p:sldId id="321" r:id="rId18"/>
    <p:sldId id="314" r:id="rId19"/>
    <p:sldId id="295" r:id="rId20"/>
    <p:sldId id="300" r:id="rId21"/>
    <p:sldId id="303" r:id="rId22"/>
    <p:sldId id="306" r:id="rId23"/>
    <p:sldId id="301" r:id="rId24"/>
    <p:sldId id="302" r:id="rId25"/>
    <p:sldId id="313" r:id="rId26"/>
    <p:sldId id="278"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3" orient="horz" pos="4088" userDrawn="1">
          <p15:clr>
            <a:srgbClr val="A4A3A4"/>
          </p15:clr>
        </p15:guide>
        <p15:guide id="4" pos="3840" userDrawn="1">
          <p15:clr>
            <a:srgbClr val="A4A3A4"/>
          </p15:clr>
        </p15:guide>
        <p15:guide id="5" pos="211" userDrawn="1">
          <p15:clr>
            <a:srgbClr val="A4A3A4"/>
          </p15:clr>
        </p15:guide>
        <p15:guide id="6" pos="7469" userDrawn="1">
          <p15:clr>
            <a:srgbClr val="A4A3A4"/>
          </p15:clr>
        </p15:guide>
        <p15:guide id="7" pos="438" userDrawn="1">
          <p15:clr>
            <a:srgbClr val="A4A3A4"/>
          </p15:clr>
        </p15:guide>
        <p15:guide id="8" pos="7242" userDrawn="1">
          <p15:clr>
            <a:srgbClr val="A4A3A4"/>
          </p15:clr>
        </p15:guide>
        <p15:guide id="9" orient="horz" pos="61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3EB2FF"/>
    <a:srgbClr val="00B050"/>
    <a:srgbClr val="0066AA"/>
    <a:srgbClr val="95ADD3"/>
    <a:srgbClr val="2E83DB"/>
    <a:srgbClr val="DDF2FF"/>
    <a:srgbClr val="FCEEF1"/>
    <a:srgbClr val="000000"/>
    <a:srgbClr val="00BC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5" autoAdjust="0"/>
    <p:restoredTop sz="94687" autoAdjust="0"/>
  </p:normalViewPr>
  <p:slideViewPr>
    <p:cSldViewPr snapToGrid="0" snapToObjects="1">
      <p:cViewPr varScale="1">
        <p:scale>
          <a:sx n="82" d="100"/>
          <a:sy n="82" d="100"/>
        </p:scale>
        <p:origin x="557" y="72"/>
      </p:cViewPr>
      <p:guideLst>
        <p:guide orient="horz" pos="2160"/>
        <p:guide orient="horz" pos="4088"/>
        <p:guide pos="3840"/>
        <p:guide pos="211"/>
        <p:guide pos="7469"/>
        <p:guide pos="438"/>
        <p:guide pos="7242"/>
        <p:guide orient="horz" pos="618"/>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showGuides="1">
      <p:cViewPr varScale="1">
        <p:scale>
          <a:sx n="87" d="100"/>
          <a:sy n="87" d="100"/>
        </p:scale>
        <p:origin x="384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999632027379558"/>
          <c:y val="0.13349999178764815"/>
          <c:w val="0.81281621712179597"/>
          <c:h val="0.73775616770692864"/>
        </c:manualLayout>
      </c:layout>
      <c:lineChart>
        <c:grouping val="standard"/>
        <c:varyColors val="0"/>
        <c:ser>
          <c:idx val="0"/>
          <c:order val="0"/>
          <c:tx>
            <c:strRef>
              <c:f>Sheet1!$B$1</c:f>
              <c:strCache>
                <c:ptCount val="1"/>
                <c:pt idx="0">
                  <c:v>売上</c:v>
                </c:pt>
              </c:strCache>
            </c:strRef>
          </c:tx>
          <c:spPr>
            <a:ln w="41275" cap="rnd">
              <a:solidFill>
                <a:schemeClr val="accent1"/>
              </a:solidFill>
              <a:round/>
            </a:ln>
            <a:effectLst/>
          </c:spPr>
          <c:marker>
            <c:symbol val="square"/>
            <c:size val="9"/>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1年目</c:v>
                </c:pt>
                <c:pt idx="1">
                  <c:v>2年目</c:v>
                </c:pt>
                <c:pt idx="2">
                  <c:v>3年目</c:v>
                </c:pt>
                <c:pt idx="3">
                  <c:v>4年目</c:v>
                </c:pt>
                <c:pt idx="4">
                  <c:v>5年目</c:v>
                </c:pt>
              </c:strCache>
            </c:strRef>
          </c:cat>
          <c:val>
            <c:numRef>
              <c:f>Sheet1!$B$2:$B$6</c:f>
              <c:numCache>
                <c:formatCode>#,##0_ </c:formatCode>
                <c:ptCount val="5"/>
                <c:pt idx="0">
                  <c:v>4600</c:v>
                </c:pt>
                <c:pt idx="1">
                  <c:v>11800</c:v>
                </c:pt>
                <c:pt idx="2">
                  <c:v>21600</c:v>
                </c:pt>
                <c:pt idx="3">
                  <c:v>34000</c:v>
                </c:pt>
                <c:pt idx="4">
                  <c:v>49000</c:v>
                </c:pt>
              </c:numCache>
            </c:numRef>
          </c:val>
          <c:smooth val="0"/>
          <c:extLst>
            <c:ext xmlns:c16="http://schemas.microsoft.com/office/drawing/2014/chart" uri="{C3380CC4-5D6E-409C-BE32-E72D297353CC}">
              <c16:uniqueId val="{00000000-0954-4F7C-814C-81C11C9C754B}"/>
            </c:ext>
          </c:extLst>
        </c:ser>
        <c:dLbls>
          <c:showLegendKey val="0"/>
          <c:showVal val="0"/>
          <c:showCatName val="0"/>
          <c:showSerName val="0"/>
          <c:showPercent val="0"/>
          <c:showBubbleSize val="0"/>
        </c:dLbls>
        <c:marker val="1"/>
        <c:smooth val="0"/>
        <c:axId val="1307289871"/>
        <c:axId val="1307289391"/>
      </c:lineChart>
      <c:catAx>
        <c:axId val="1307289871"/>
        <c:scaling>
          <c:orientation val="minMax"/>
        </c:scaling>
        <c:delete val="0"/>
        <c:axPos val="b"/>
        <c:numFmt formatCode="#,##0_);\(#,##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crossAx val="1307289391"/>
        <c:crosses val="autoZero"/>
        <c:auto val="1"/>
        <c:lblAlgn val="ctr"/>
        <c:lblOffset val="100"/>
        <c:noMultiLvlLbl val="0"/>
      </c:catAx>
      <c:valAx>
        <c:axId val="1307289391"/>
        <c:scaling>
          <c:orientation val="minMax"/>
          <c:max val="500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r>
                  <a:rPr lang="ja-JP" altLang="en-US" sz="1600" dirty="0"/>
                  <a:t>売上（万円）</a:t>
                </a:r>
              </a:p>
            </c:rich>
          </c:tx>
          <c:layout>
            <c:manualLayout>
              <c:xMode val="edge"/>
              <c:yMode val="edge"/>
              <c:x val="9.6478330276413865E-2"/>
              <c:y val="2.1849232472409795E-2"/>
            </c:manualLayout>
          </c:layout>
          <c:overlay val="0"/>
          <c:spPr>
            <a:noFill/>
            <a:ln>
              <a:noFill/>
            </a:ln>
            <a:effectLst/>
          </c:spPr>
          <c:txPr>
            <a:bodyPr rot="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title>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crossAx val="1307289871"/>
        <c:crosses val="autoZero"/>
        <c:crossBetween val="between"/>
        <c:majorUnit val="10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5D1000A-6728-4A8A-96BA-48D2535C4FBB}" type="datetimeFigureOut">
              <a:rPr kumimoji="1" lang="ja-JP" altLang="en-US" smtClean="0"/>
              <a:t>2025/9/25</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4E49D2-32B0-4F92-B108-A43C78797A32}" type="slidenum">
              <a:rPr kumimoji="1" lang="ja-JP" altLang="en-US" smtClean="0"/>
              <a:t>‹#›</a:t>
            </a:fld>
            <a:endParaRPr kumimoji="1" lang="ja-JP" altLang="en-US"/>
          </a:p>
        </p:txBody>
      </p:sp>
    </p:spTree>
    <p:extLst>
      <p:ext uri="{BB962C8B-B14F-4D97-AF65-F5344CB8AC3E}">
        <p14:creationId xmlns:p14="http://schemas.microsoft.com/office/powerpoint/2010/main" val="356155675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sp>
        <p:nvSpPr>
          <p:cNvPr id="16" name="正方形/長方形 15"/>
          <p:cNvSpPr/>
          <p:nvPr userDrawn="1"/>
        </p:nvSpPr>
        <p:spPr>
          <a:xfrm>
            <a:off x="11687908" y="6512081"/>
            <a:ext cx="504092" cy="3474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テキスト ボックス 8"/>
          <p:cNvSpPr txBox="1"/>
          <p:nvPr userDrawn="1"/>
        </p:nvSpPr>
        <p:spPr>
          <a:xfrm>
            <a:off x="142906" y="6512082"/>
            <a:ext cx="3821396" cy="230832"/>
          </a:xfrm>
          <a:prstGeom prst="rect">
            <a:avLst/>
          </a:prstGeom>
          <a:noFill/>
        </p:spPr>
        <p:txBody>
          <a:bodyPr wrap="square" rtlCol="0">
            <a:spAutoFit/>
          </a:bodyPr>
          <a:lstStyle/>
          <a:p>
            <a:r>
              <a:rPr lang="en-US" altLang="ja-JP" sz="900" dirty="0">
                <a:latin typeface="Segoe UI" panose="020B0502040204020203" pitchFamily="34" charset="0"/>
                <a:ea typeface="Segoe UI" panose="020B0502040204020203" pitchFamily="34" charset="0"/>
                <a:cs typeface="Segoe UI" panose="020B0502040204020203" pitchFamily="34" charset="0"/>
              </a:rPr>
              <a:t>ⒸTOYOTA SYSTEMS CORPORATION All Rights Reserved.</a:t>
            </a:r>
            <a:endParaRPr kumimoji="1" lang="ja-JP" altLang="en-US" sz="900" dirty="0">
              <a:latin typeface="Segoe UI" panose="020B0502040204020203" pitchFamily="34" charset="0"/>
              <a:ea typeface="Meiryo UI" panose="020B0604030504040204" pitchFamily="50" charset="-128"/>
              <a:cs typeface="Segoe UI" panose="020B0502040204020203" pitchFamily="34" charset="0"/>
            </a:endParaRPr>
          </a:p>
        </p:txBody>
      </p:sp>
      <p:sp>
        <p:nvSpPr>
          <p:cNvPr id="10" name="正方形/長方形 9"/>
          <p:cNvSpPr/>
          <p:nvPr userDrawn="1"/>
        </p:nvSpPr>
        <p:spPr>
          <a:xfrm>
            <a:off x="-5428" y="1836147"/>
            <a:ext cx="12197428" cy="2845581"/>
          </a:xfrm>
          <a:prstGeom prst="rect">
            <a:avLst/>
          </a:prstGeom>
          <a:solidFill>
            <a:srgbClr val="EA4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cxnSp>
        <p:nvCxnSpPr>
          <p:cNvPr id="12" name="直線コネクタ 11"/>
          <p:cNvCxnSpPr>
            <a:cxnSpLocks/>
          </p:cNvCxnSpPr>
          <p:nvPr userDrawn="1"/>
        </p:nvCxnSpPr>
        <p:spPr>
          <a:xfrm>
            <a:off x="395413" y="1930238"/>
            <a:ext cx="0" cy="26509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図 10" descr="ロゴ が含まれている画像&#10;&#10;自動的に生成された説明">
            <a:extLst>
              <a:ext uri="{FF2B5EF4-FFF2-40B4-BE49-F238E27FC236}">
                <a16:creationId xmlns:a16="http://schemas.microsoft.com/office/drawing/2014/main" id="{12EEF0AF-1022-B543-70DA-83A0FBB1AF95}"/>
              </a:ext>
            </a:extLst>
          </p:cNvPr>
          <p:cNvPicPr>
            <a:picLocks noChangeAspect="1"/>
          </p:cNvPicPr>
          <p:nvPr userDrawn="1"/>
        </p:nvPicPr>
        <p:blipFill>
          <a:blip r:embed="rId2"/>
          <a:stretch>
            <a:fillRect/>
          </a:stretch>
        </p:blipFill>
        <p:spPr>
          <a:xfrm>
            <a:off x="3450001" y="822961"/>
            <a:ext cx="5286569" cy="877470"/>
          </a:xfrm>
          <a:prstGeom prst="rect">
            <a:avLst/>
          </a:prstGeom>
        </p:spPr>
      </p:pic>
      <p:pic>
        <p:nvPicPr>
          <p:cNvPr id="14" name="図 13" descr="黒い背景に白い文字がある&#10;&#10;中程度の精度で自動的に生成された説明">
            <a:extLst>
              <a:ext uri="{FF2B5EF4-FFF2-40B4-BE49-F238E27FC236}">
                <a16:creationId xmlns:a16="http://schemas.microsoft.com/office/drawing/2014/main" id="{7D43BADC-C1C7-0220-B4BC-5F8F895C8D7A}"/>
              </a:ext>
            </a:extLst>
          </p:cNvPr>
          <p:cNvPicPr>
            <a:picLocks noChangeAspect="1"/>
          </p:cNvPicPr>
          <p:nvPr userDrawn="1"/>
        </p:nvPicPr>
        <p:blipFill>
          <a:blip r:embed="rId3"/>
          <a:stretch>
            <a:fillRect/>
          </a:stretch>
        </p:blipFill>
        <p:spPr>
          <a:xfrm>
            <a:off x="11115706" y="115085"/>
            <a:ext cx="917798" cy="896565"/>
          </a:xfrm>
          <a:prstGeom prst="rect">
            <a:avLst/>
          </a:prstGeom>
        </p:spPr>
      </p:pic>
    </p:spTree>
    <p:extLst>
      <p:ext uri="{BB962C8B-B14F-4D97-AF65-F5344CB8AC3E}">
        <p14:creationId xmlns:p14="http://schemas.microsoft.com/office/powerpoint/2010/main" val="659085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
    <p:spTree>
      <p:nvGrpSpPr>
        <p:cNvPr id="1" name=""/>
        <p:cNvGrpSpPr/>
        <p:nvPr/>
      </p:nvGrpSpPr>
      <p:grpSpPr>
        <a:xfrm>
          <a:off x="0" y="0"/>
          <a:ext cx="0" cy="0"/>
          <a:chOff x="0" y="0"/>
          <a:chExt cx="0" cy="0"/>
        </a:xfrm>
      </p:grpSpPr>
      <p:sp>
        <p:nvSpPr>
          <p:cNvPr id="9" name="テキスト ボックス 8"/>
          <p:cNvSpPr txBox="1"/>
          <p:nvPr userDrawn="1"/>
        </p:nvSpPr>
        <p:spPr>
          <a:xfrm>
            <a:off x="142906" y="6512082"/>
            <a:ext cx="3821396" cy="230832"/>
          </a:xfrm>
          <a:prstGeom prst="rect">
            <a:avLst/>
          </a:prstGeom>
          <a:noFill/>
        </p:spPr>
        <p:txBody>
          <a:bodyPr wrap="square" rtlCol="0">
            <a:spAutoFit/>
          </a:bodyPr>
          <a:lstStyle/>
          <a:p>
            <a:r>
              <a:rPr lang="en-US" altLang="ja-JP" sz="900" dirty="0">
                <a:latin typeface="Segoe UI" panose="020B0502040204020203" pitchFamily="34" charset="0"/>
                <a:ea typeface="Segoe UI" panose="020B0502040204020203" pitchFamily="34" charset="0"/>
                <a:cs typeface="Segoe UI" panose="020B0502040204020203" pitchFamily="34" charset="0"/>
              </a:rPr>
              <a:t>ⒸTOYOTA SYSTEMS CORPORATION All Rights Reserved.</a:t>
            </a:r>
            <a:endParaRPr kumimoji="1" lang="ja-JP" altLang="en-US" sz="900" dirty="0">
              <a:latin typeface="Segoe UI" panose="020B0502040204020203" pitchFamily="34" charset="0"/>
              <a:ea typeface="Meiryo UI" panose="020B0604030504040204" pitchFamily="50" charset="-128"/>
              <a:cs typeface="Segoe UI" panose="020B0502040204020203" pitchFamily="34" charset="0"/>
            </a:endParaRPr>
          </a:p>
        </p:txBody>
      </p:sp>
      <p:cxnSp>
        <p:nvCxnSpPr>
          <p:cNvPr id="12" name="直線コネクタ 11"/>
          <p:cNvCxnSpPr/>
          <p:nvPr userDrawn="1"/>
        </p:nvCxnSpPr>
        <p:spPr>
          <a:xfrm>
            <a:off x="162000" y="165599"/>
            <a:ext cx="0" cy="61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テキスト プレースホルダー 3"/>
          <p:cNvSpPr>
            <a:spLocks noGrp="1"/>
          </p:cNvSpPr>
          <p:nvPr>
            <p:ph type="body" sz="quarter" idx="14" hasCustomPrompt="1"/>
          </p:nvPr>
        </p:nvSpPr>
        <p:spPr>
          <a:xfrm>
            <a:off x="226724" y="117514"/>
            <a:ext cx="5954551" cy="482091"/>
          </a:xfrm>
          <a:prstGeom prst="rect">
            <a:avLst/>
          </a:prstGeom>
        </p:spPr>
        <p:txBody>
          <a:bodyPr anchor="ctr"/>
          <a:lstStyle>
            <a:lvl1pPr marL="0" indent="0">
              <a:buNone/>
              <a:defRPr sz="2800" b="1">
                <a:solidFill>
                  <a:schemeClr val="tx1"/>
                </a:solidFill>
                <a:latin typeface="+mj-lt"/>
                <a:ea typeface="Meiryo UI" panose="020B0604030504040204" pitchFamily="50" charset="-128"/>
                <a:cs typeface="Helvetica" panose="020B0604020202020204" pitchFamily="34" charset="0"/>
              </a:defRPr>
            </a:lvl1pPr>
          </a:lstStyle>
          <a:p>
            <a:pPr lvl="0"/>
            <a:r>
              <a:rPr kumimoji="1" lang="en-US" altLang="ja-JP" dirty="0"/>
              <a:t>Presentation Title</a:t>
            </a:r>
            <a:endParaRPr kumimoji="1" lang="ja-JP" altLang="en-US" dirty="0"/>
          </a:p>
        </p:txBody>
      </p:sp>
      <p:pic>
        <p:nvPicPr>
          <p:cNvPr id="2" name="図 1" descr="ロゴ が含まれている画像&#10;&#10;自動的に生成された説明">
            <a:extLst>
              <a:ext uri="{FF2B5EF4-FFF2-40B4-BE49-F238E27FC236}">
                <a16:creationId xmlns:a16="http://schemas.microsoft.com/office/drawing/2014/main" id="{F3556AC9-359F-879B-25E5-C5C7D4893996}"/>
              </a:ext>
            </a:extLst>
          </p:cNvPr>
          <p:cNvPicPr>
            <a:picLocks noChangeAspect="1"/>
          </p:cNvPicPr>
          <p:nvPr userDrawn="1"/>
        </p:nvPicPr>
        <p:blipFill>
          <a:blip r:embed="rId2"/>
          <a:stretch>
            <a:fillRect/>
          </a:stretch>
        </p:blipFill>
        <p:spPr>
          <a:xfrm>
            <a:off x="8873255" y="22683"/>
            <a:ext cx="3221736" cy="534747"/>
          </a:xfrm>
          <a:prstGeom prst="rect">
            <a:avLst/>
          </a:prstGeom>
        </p:spPr>
      </p:pic>
      <p:cxnSp>
        <p:nvCxnSpPr>
          <p:cNvPr id="5" name="直線コネクタ 4">
            <a:extLst>
              <a:ext uri="{FF2B5EF4-FFF2-40B4-BE49-F238E27FC236}">
                <a16:creationId xmlns:a16="http://schemas.microsoft.com/office/drawing/2014/main" id="{915819D5-A5B1-1B37-4362-2FF6993CD3BF}"/>
              </a:ext>
            </a:extLst>
          </p:cNvPr>
          <p:cNvCxnSpPr/>
          <p:nvPr userDrawn="1"/>
        </p:nvCxnSpPr>
        <p:spPr>
          <a:xfrm>
            <a:off x="0" y="599605"/>
            <a:ext cx="121920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213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本文">
    <p:spTree>
      <p:nvGrpSpPr>
        <p:cNvPr id="1" name=""/>
        <p:cNvGrpSpPr/>
        <p:nvPr/>
      </p:nvGrpSpPr>
      <p:grpSpPr>
        <a:xfrm>
          <a:off x="0" y="0"/>
          <a:ext cx="0" cy="0"/>
          <a:chOff x="0" y="0"/>
          <a:chExt cx="0" cy="0"/>
        </a:xfrm>
      </p:grpSpPr>
      <p:sp>
        <p:nvSpPr>
          <p:cNvPr id="9" name="テキスト ボックス 8"/>
          <p:cNvSpPr txBox="1"/>
          <p:nvPr userDrawn="1"/>
        </p:nvSpPr>
        <p:spPr>
          <a:xfrm>
            <a:off x="142906" y="6512082"/>
            <a:ext cx="3821396" cy="230832"/>
          </a:xfrm>
          <a:prstGeom prst="rect">
            <a:avLst/>
          </a:prstGeom>
          <a:noFill/>
        </p:spPr>
        <p:txBody>
          <a:bodyPr wrap="square" rtlCol="0">
            <a:spAutoFit/>
          </a:bodyPr>
          <a:lstStyle/>
          <a:p>
            <a:r>
              <a:rPr lang="en-US" altLang="ja-JP" sz="900" dirty="0">
                <a:latin typeface="Segoe UI" panose="020B0502040204020203" pitchFamily="34" charset="0"/>
                <a:ea typeface="Segoe UI" panose="020B0502040204020203" pitchFamily="34" charset="0"/>
                <a:cs typeface="Segoe UI" panose="020B0502040204020203" pitchFamily="34" charset="0"/>
              </a:rPr>
              <a:t>ⒸTOYOTA SYSTEMS CORPORATION All Rights Reserved.</a:t>
            </a:r>
            <a:endParaRPr kumimoji="1" lang="ja-JP" altLang="en-US" sz="900" dirty="0">
              <a:latin typeface="Segoe UI" panose="020B0502040204020203" pitchFamily="34" charset="0"/>
              <a:ea typeface="Meiryo UI" panose="020B0604030504040204" pitchFamily="50" charset="-128"/>
              <a:cs typeface="Segoe UI" panose="020B0502040204020203" pitchFamily="34" charset="0"/>
            </a:endParaRPr>
          </a:p>
        </p:txBody>
      </p:sp>
      <p:cxnSp>
        <p:nvCxnSpPr>
          <p:cNvPr id="12" name="直線コネクタ 11"/>
          <p:cNvCxnSpPr/>
          <p:nvPr userDrawn="1"/>
        </p:nvCxnSpPr>
        <p:spPr>
          <a:xfrm>
            <a:off x="162000" y="165599"/>
            <a:ext cx="0" cy="612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図 1" descr="ロゴ が含まれている画像&#10;&#10;自動的に生成された説明">
            <a:extLst>
              <a:ext uri="{FF2B5EF4-FFF2-40B4-BE49-F238E27FC236}">
                <a16:creationId xmlns:a16="http://schemas.microsoft.com/office/drawing/2014/main" id="{F3556AC9-359F-879B-25E5-C5C7D4893996}"/>
              </a:ext>
            </a:extLst>
          </p:cNvPr>
          <p:cNvPicPr>
            <a:picLocks noChangeAspect="1"/>
          </p:cNvPicPr>
          <p:nvPr userDrawn="1"/>
        </p:nvPicPr>
        <p:blipFill>
          <a:blip r:embed="rId2"/>
          <a:stretch>
            <a:fillRect/>
          </a:stretch>
        </p:blipFill>
        <p:spPr>
          <a:xfrm>
            <a:off x="4485132" y="22683"/>
            <a:ext cx="3221736" cy="534747"/>
          </a:xfrm>
          <a:prstGeom prst="rect">
            <a:avLst/>
          </a:prstGeom>
        </p:spPr>
      </p:pic>
    </p:spTree>
    <p:extLst>
      <p:ext uri="{BB962C8B-B14F-4D97-AF65-F5344CB8AC3E}">
        <p14:creationId xmlns:p14="http://schemas.microsoft.com/office/powerpoint/2010/main" val="13544381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正方形/長方形 2"/>
          <p:cNvSpPr/>
          <p:nvPr userDrawn="1"/>
        </p:nvSpPr>
        <p:spPr>
          <a:xfrm>
            <a:off x="11616471" y="6499018"/>
            <a:ext cx="576000" cy="360000"/>
          </a:xfrm>
          <a:prstGeom prst="rect">
            <a:avLst/>
          </a:prstGeom>
          <a:solidFill>
            <a:srgbClr val="EA4E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172C9ED8-B6F1-4FB4-AA39-F51246905724}" type="slidenum">
              <a:rPr kumimoji="1" lang="en-US" altLang="ja-JP" sz="1400" b="1" smtClean="0">
                <a:latin typeface="+mj-ea"/>
                <a:ea typeface="+mj-ea"/>
              </a:rPr>
              <a:t>‹#›</a:t>
            </a:fld>
            <a:endParaRPr kumimoji="1" lang="ja-JP" altLang="en-US" sz="1400" b="1" dirty="0">
              <a:latin typeface="+mj-ea"/>
              <a:ea typeface="+mj-ea"/>
            </a:endParaRPr>
          </a:p>
        </p:txBody>
      </p:sp>
      <p:cxnSp>
        <p:nvCxnSpPr>
          <p:cNvPr id="2" name="直線コネクタ 1">
            <a:extLst>
              <a:ext uri="{FF2B5EF4-FFF2-40B4-BE49-F238E27FC236}">
                <a16:creationId xmlns:a16="http://schemas.microsoft.com/office/drawing/2014/main" id="{0F963649-1556-B137-B506-E3735A25BB33}"/>
              </a:ext>
            </a:extLst>
          </p:cNvPr>
          <p:cNvCxnSpPr/>
          <p:nvPr userDrawn="1"/>
        </p:nvCxnSpPr>
        <p:spPr>
          <a:xfrm>
            <a:off x="0" y="599605"/>
            <a:ext cx="12192000"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708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toyotatimes.jp/newscast/100.html" TargetMode="External"/><Relationship Id="rId2" Type="http://schemas.openxmlformats.org/officeDocument/2006/relationships/hyperlink" Target="https://toyotatimes.jp/spotlights/032.html"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e-stat.go.jp/"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2.png"/><Relationship Id="rId9"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739785" y="2644123"/>
            <a:ext cx="10712428" cy="1323439"/>
          </a:xfrm>
          <a:prstGeom prst="rect">
            <a:avLst/>
          </a:prstGeom>
          <a:noFill/>
        </p:spPr>
        <p:txBody>
          <a:bodyPr wrap="square" rtlCol="0">
            <a:spAutoFit/>
          </a:bodyPr>
          <a:lstStyle/>
          <a:p>
            <a:pPr algn="ctr"/>
            <a:r>
              <a:rPr lang="ja-JP" altLang="en-US" sz="4000" b="1" dirty="0">
                <a:solidFill>
                  <a:schemeClr val="bg1"/>
                </a:solidFill>
              </a:rPr>
              <a:t>デジタル</a:t>
            </a:r>
            <a:r>
              <a:rPr lang="en-US" altLang="ja-JP" sz="4000" b="1" dirty="0">
                <a:solidFill>
                  <a:schemeClr val="bg1"/>
                </a:solidFill>
              </a:rPr>
              <a:t>TPS</a:t>
            </a:r>
            <a:r>
              <a:rPr lang="ja-JP" altLang="en-US" sz="4000" b="1" dirty="0">
                <a:solidFill>
                  <a:schemeClr val="bg1"/>
                </a:solidFill>
              </a:rPr>
              <a:t>プラットフォーム</a:t>
            </a:r>
            <a:endParaRPr lang="en-US" altLang="ja-JP" sz="4000" b="1" dirty="0">
              <a:solidFill>
                <a:schemeClr val="bg1"/>
              </a:solidFill>
            </a:endParaRPr>
          </a:p>
          <a:p>
            <a:pPr algn="ctr"/>
            <a:r>
              <a:rPr lang="ja-JP" altLang="en-US" sz="4000" b="1" dirty="0">
                <a:solidFill>
                  <a:schemeClr val="bg1"/>
                </a:solidFill>
              </a:rPr>
              <a:t>事業計画書 兼 投資提案書</a:t>
            </a:r>
            <a:endParaRPr lang="en-US" altLang="ja-JP" sz="4000" b="1" dirty="0">
              <a:solidFill>
                <a:schemeClr val="bg1"/>
              </a:solidFill>
            </a:endParaRPr>
          </a:p>
        </p:txBody>
      </p:sp>
      <p:sp>
        <p:nvSpPr>
          <p:cNvPr id="3" name="テキスト ボックス 2"/>
          <p:cNvSpPr txBox="1"/>
          <p:nvPr/>
        </p:nvSpPr>
        <p:spPr>
          <a:xfrm>
            <a:off x="2091253" y="4892840"/>
            <a:ext cx="8009500" cy="1077218"/>
          </a:xfrm>
          <a:prstGeom prst="rect">
            <a:avLst/>
          </a:prstGeom>
          <a:noFill/>
        </p:spPr>
        <p:txBody>
          <a:bodyPr wrap="none" rtlCol="0">
            <a:spAutoFit/>
          </a:bodyPr>
          <a:lstStyle/>
          <a:p>
            <a:pPr algn="ctr"/>
            <a:r>
              <a:rPr kumimoji="1" lang="en-US" altLang="ja-JP" sz="3200" b="1" dirty="0"/>
              <a:t>2025/9/24</a:t>
            </a:r>
          </a:p>
          <a:p>
            <a:pPr algn="ctr"/>
            <a:r>
              <a:rPr lang="ja-JP" altLang="en-US" sz="3200" b="1" dirty="0"/>
              <a:t>制御本部　電技改革支援</a:t>
            </a:r>
            <a:r>
              <a:rPr kumimoji="1" lang="ja-JP" altLang="en-US" sz="3200" b="1" dirty="0"/>
              <a:t>部　</a:t>
            </a:r>
            <a:r>
              <a:rPr kumimoji="1" lang="en-US" altLang="ja-JP" sz="3200" b="1" dirty="0"/>
              <a:t>DX</a:t>
            </a:r>
            <a:r>
              <a:rPr kumimoji="1" lang="ja-JP" altLang="en-US" sz="3200" b="1" dirty="0"/>
              <a:t>企画</a:t>
            </a:r>
            <a:r>
              <a:rPr kumimoji="1" lang="en-US" altLang="ja-JP" sz="3200" b="1" dirty="0"/>
              <a:t>G</a:t>
            </a:r>
            <a:r>
              <a:rPr kumimoji="1" lang="ja-JP" altLang="en-US" sz="3200" b="1" dirty="0"/>
              <a:t>　片岡</a:t>
            </a:r>
            <a:endParaRPr kumimoji="1" lang="en-US" altLang="ja-JP" sz="3200" b="1" dirty="0"/>
          </a:p>
        </p:txBody>
      </p:sp>
    </p:spTree>
    <p:extLst>
      <p:ext uri="{BB962C8B-B14F-4D97-AF65-F5344CB8AC3E}">
        <p14:creationId xmlns:p14="http://schemas.microsoft.com/office/powerpoint/2010/main" val="3602805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29550B9-E2F7-6841-8DF3-58F267A0BDA2}"/>
              </a:ext>
            </a:extLst>
          </p:cNvPr>
          <p:cNvSpPr>
            <a:spLocks noGrp="1"/>
          </p:cNvSpPr>
          <p:nvPr>
            <p:ph type="body" sz="quarter" idx="14"/>
          </p:nvPr>
        </p:nvSpPr>
        <p:spPr/>
        <p:txBody>
          <a:bodyPr/>
          <a:lstStyle/>
          <a:p>
            <a:r>
              <a:rPr kumimoji="1" lang="ja-JP" altLang="en-US" dirty="0"/>
              <a:t>エグゼクティブサマリ</a:t>
            </a:r>
          </a:p>
        </p:txBody>
      </p:sp>
      <p:sp>
        <p:nvSpPr>
          <p:cNvPr id="3" name="テキスト ボックス 2">
            <a:extLst>
              <a:ext uri="{FF2B5EF4-FFF2-40B4-BE49-F238E27FC236}">
                <a16:creationId xmlns:a16="http://schemas.microsoft.com/office/drawing/2014/main" id="{88571DB9-1811-3418-FD99-2D76FE03DFAA}"/>
              </a:ext>
            </a:extLst>
          </p:cNvPr>
          <p:cNvSpPr txBox="1"/>
          <p:nvPr/>
        </p:nvSpPr>
        <p:spPr>
          <a:xfrm>
            <a:off x="317241" y="806783"/>
            <a:ext cx="9642383" cy="369332"/>
          </a:xfrm>
          <a:prstGeom prst="rect">
            <a:avLst/>
          </a:prstGeom>
          <a:noFill/>
        </p:spPr>
        <p:txBody>
          <a:bodyPr wrap="none" rtlCol="0">
            <a:spAutoFit/>
          </a:bodyPr>
          <a:lstStyle/>
          <a:p>
            <a:r>
              <a:rPr kumimoji="1" lang="ja-JP" altLang="en-US" dirty="0"/>
              <a:t>デジタル</a:t>
            </a:r>
            <a:r>
              <a:rPr kumimoji="1" lang="en-US" altLang="ja-JP" dirty="0"/>
              <a:t>TPS</a:t>
            </a:r>
            <a:r>
              <a:rPr kumimoji="1" lang="ja-JP" altLang="en-US" dirty="0"/>
              <a:t>プラットフォーム（</a:t>
            </a:r>
            <a:r>
              <a:rPr lang="ja-JP" altLang="en-US" dirty="0"/>
              <a:t>仮）は、</a:t>
            </a:r>
            <a:r>
              <a:rPr lang="en-US" altLang="ja-JP" dirty="0"/>
              <a:t>TPS</a:t>
            </a:r>
            <a:r>
              <a:rPr lang="ja-JP" altLang="en-US" dirty="0"/>
              <a:t>の思想に基づく改善活動を</a:t>
            </a:r>
            <a:r>
              <a:rPr kumimoji="1" lang="ja-JP" altLang="en-US" dirty="0"/>
              <a:t>トータルで支援するサービスである。</a:t>
            </a:r>
          </a:p>
        </p:txBody>
      </p:sp>
      <p:graphicFrame>
        <p:nvGraphicFramePr>
          <p:cNvPr id="4" name="表 3">
            <a:extLst>
              <a:ext uri="{FF2B5EF4-FFF2-40B4-BE49-F238E27FC236}">
                <a16:creationId xmlns:a16="http://schemas.microsoft.com/office/drawing/2014/main" id="{8A33AF63-764B-9983-F2B7-4769EA5EBAE0}"/>
              </a:ext>
            </a:extLst>
          </p:cNvPr>
          <p:cNvGraphicFramePr>
            <a:graphicFrameLocks noGrp="1"/>
          </p:cNvGraphicFramePr>
          <p:nvPr>
            <p:extLst>
              <p:ext uri="{D42A27DB-BD31-4B8C-83A1-F6EECF244321}">
                <p14:modId xmlns:p14="http://schemas.microsoft.com/office/powerpoint/2010/main" val="3349250618"/>
              </p:ext>
            </p:extLst>
          </p:nvPr>
        </p:nvGraphicFramePr>
        <p:xfrm>
          <a:off x="394161" y="1216278"/>
          <a:ext cx="11403678" cy="4981319"/>
        </p:xfrm>
        <a:graphic>
          <a:graphicData uri="http://schemas.openxmlformats.org/drawingml/2006/table">
            <a:tbl>
              <a:tblPr firstRow="1" bandRow="1">
                <a:tableStyleId>{93296810-A885-4BE3-A3E7-6D5BEEA58F35}</a:tableStyleId>
              </a:tblPr>
              <a:tblGrid>
                <a:gridCol w="1743393">
                  <a:extLst>
                    <a:ext uri="{9D8B030D-6E8A-4147-A177-3AD203B41FA5}">
                      <a16:colId xmlns:a16="http://schemas.microsoft.com/office/drawing/2014/main" val="1827943649"/>
                    </a:ext>
                  </a:extLst>
                </a:gridCol>
                <a:gridCol w="9660285">
                  <a:extLst>
                    <a:ext uri="{9D8B030D-6E8A-4147-A177-3AD203B41FA5}">
                      <a16:colId xmlns:a16="http://schemas.microsoft.com/office/drawing/2014/main" val="3736452836"/>
                    </a:ext>
                  </a:extLst>
                </a:gridCol>
              </a:tblGrid>
              <a:tr h="358971">
                <a:tc>
                  <a:txBody>
                    <a:bodyPr/>
                    <a:lstStyle/>
                    <a:p>
                      <a:r>
                        <a:rPr kumimoji="1" lang="ja-JP" altLang="en-US" sz="1400" dirty="0"/>
                        <a:t>項目</a:t>
                      </a:r>
                    </a:p>
                  </a:txBody>
                  <a:tcPr anchor="ctr"/>
                </a:tc>
                <a:tc>
                  <a:txBody>
                    <a:bodyPr/>
                    <a:lstStyle/>
                    <a:p>
                      <a:r>
                        <a:rPr kumimoji="1" lang="ja-JP" altLang="en-US" sz="1400" dirty="0"/>
                        <a:t>概要</a:t>
                      </a:r>
                    </a:p>
                  </a:txBody>
                  <a:tcPr anchor="ctr"/>
                </a:tc>
                <a:extLst>
                  <a:ext uri="{0D108BD9-81ED-4DB2-BD59-A6C34878D82A}">
                    <a16:rowId xmlns:a16="http://schemas.microsoft.com/office/drawing/2014/main" val="2204742074"/>
                  </a:ext>
                </a:extLst>
              </a:tr>
              <a:tr h="468669">
                <a:tc>
                  <a:txBody>
                    <a:bodyPr/>
                    <a:lstStyle/>
                    <a:p>
                      <a:r>
                        <a:rPr kumimoji="1" lang="ja-JP" altLang="en-US" sz="1400" dirty="0"/>
                        <a:t>提案者・チーム</a:t>
                      </a:r>
                    </a:p>
                  </a:txBody>
                  <a:tcPr anchor="ctr"/>
                </a:tc>
                <a:tc>
                  <a:txBody>
                    <a:bodyPr/>
                    <a:lstStyle/>
                    <a:p>
                      <a:r>
                        <a:rPr kumimoji="1" lang="en-US" altLang="ja-JP" sz="1400" dirty="0"/>
                        <a:t>TPS</a:t>
                      </a:r>
                      <a:r>
                        <a:rPr kumimoji="1" lang="ja-JP" altLang="en-US" sz="1400" dirty="0"/>
                        <a:t>の思想に基づいて現場に寄り添って改善を推進する「</a:t>
                      </a:r>
                      <a:r>
                        <a:rPr kumimoji="1" lang="en-US" altLang="ja-JP" sz="1400" dirty="0"/>
                        <a:t>TPS</a:t>
                      </a:r>
                      <a:r>
                        <a:rPr kumimoji="1" lang="ja-JP" altLang="en-US" sz="1400" dirty="0"/>
                        <a:t>カウンターパート」として、複数プロジェクトでの改善実績がある。</a:t>
                      </a:r>
                    </a:p>
                  </a:txBody>
                  <a:tcPr anchor="ctr"/>
                </a:tc>
                <a:extLst>
                  <a:ext uri="{0D108BD9-81ED-4DB2-BD59-A6C34878D82A}">
                    <a16:rowId xmlns:a16="http://schemas.microsoft.com/office/drawing/2014/main" val="396033510"/>
                  </a:ext>
                </a:extLst>
              </a:tr>
              <a:tr h="526064">
                <a:tc>
                  <a:txBody>
                    <a:bodyPr/>
                    <a:lstStyle/>
                    <a:p>
                      <a:r>
                        <a:rPr kumimoji="1" lang="ja-JP" altLang="en-US" sz="1400" dirty="0"/>
                        <a:t>着想・背景</a:t>
                      </a:r>
                    </a:p>
                  </a:txBody>
                  <a:tcPr anchor="ctr"/>
                </a:tc>
                <a:tc>
                  <a:txBody>
                    <a:bodyPr/>
                    <a:lstStyle/>
                    <a:p>
                      <a:r>
                        <a:rPr kumimoji="1" lang="ja-JP" altLang="en-US" sz="1400" dirty="0"/>
                        <a:t>各現場で</a:t>
                      </a:r>
                      <a:r>
                        <a:rPr kumimoji="1" lang="en-US" altLang="ja-JP" sz="1400" dirty="0"/>
                        <a:t>TPS</a:t>
                      </a:r>
                      <a:r>
                        <a:rPr kumimoji="1" lang="ja-JP" altLang="en-US" sz="1400" dirty="0"/>
                        <a:t>の思想に基づく改善が進められているが、標準化に苦労したり、異常検知・改善の繰り返しが定着しないといった課題がある。</a:t>
                      </a:r>
                    </a:p>
                  </a:txBody>
                  <a:tcPr anchor="ctr"/>
                </a:tc>
                <a:extLst>
                  <a:ext uri="{0D108BD9-81ED-4DB2-BD59-A6C34878D82A}">
                    <a16:rowId xmlns:a16="http://schemas.microsoft.com/office/drawing/2014/main" val="2957187164"/>
                  </a:ext>
                </a:extLst>
              </a:tr>
              <a:tr h="358971">
                <a:tc>
                  <a:txBody>
                    <a:bodyPr/>
                    <a:lstStyle/>
                    <a:p>
                      <a:r>
                        <a:rPr kumimoji="1" lang="ja-JP" altLang="en-US" sz="1400" dirty="0"/>
                        <a:t>提供価値</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誰でも最小限の労力で</a:t>
                      </a:r>
                      <a:r>
                        <a:rPr kumimoji="1" lang="en-US" altLang="ja-JP" sz="1400" dirty="0"/>
                        <a:t>TPS</a:t>
                      </a:r>
                      <a:r>
                        <a:rPr kumimoji="1" lang="ja-JP" altLang="en-US" sz="1400" dirty="0"/>
                        <a:t>の思想に基いた改善活動を実践・継続できる。</a:t>
                      </a:r>
                      <a:endParaRPr kumimoji="1" lang="en-US" altLang="ja-JP" sz="1400" dirty="0"/>
                    </a:p>
                  </a:txBody>
                  <a:tcPr anchor="ctr"/>
                </a:tc>
                <a:extLst>
                  <a:ext uri="{0D108BD9-81ED-4DB2-BD59-A6C34878D82A}">
                    <a16:rowId xmlns:a16="http://schemas.microsoft.com/office/drawing/2014/main" val="2165438107"/>
                  </a:ext>
                </a:extLst>
              </a:tr>
              <a:tr h="610251">
                <a:tc>
                  <a:txBody>
                    <a:bodyPr/>
                    <a:lstStyle/>
                    <a:p>
                      <a:r>
                        <a:rPr kumimoji="1" lang="ja-JP" altLang="en-US" sz="1400" dirty="0"/>
                        <a:t>独自性・技術優位性</a:t>
                      </a:r>
                    </a:p>
                  </a:txBody>
                  <a:tcPr anchor="ctr"/>
                </a:tc>
                <a:tc>
                  <a:txBody>
                    <a:bodyPr/>
                    <a:lstStyle/>
                    <a:p>
                      <a:r>
                        <a:rPr kumimoji="1" lang="ja-JP" altLang="en-US" sz="1400" dirty="0"/>
                        <a:t>具体的な</a:t>
                      </a:r>
                      <a:r>
                        <a:rPr kumimoji="1" lang="en-US" altLang="ja-JP" sz="1400" dirty="0"/>
                        <a:t>TPS</a:t>
                      </a:r>
                      <a:r>
                        <a:rPr kumimoji="1" lang="ja-JP" altLang="en-US" sz="1400" dirty="0"/>
                        <a:t>改善活動の知見をベースとした「トヨタ直伝」のフレームワークと、標準化から異常検知・改善の繰り返しまでをトータルで支援するプラットフォーム。</a:t>
                      </a:r>
                    </a:p>
                  </a:txBody>
                  <a:tcPr anchor="ctr"/>
                </a:tc>
                <a:extLst>
                  <a:ext uri="{0D108BD9-81ED-4DB2-BD59-A6C34878D82A}">
                    <a16:rowId xmlns:a16="http://schemas.microsoft.com/office/drawing/2014/main" val="557927381"/>
                  </a:ext>
                </a:extLst>
              </a:tr>
              <a:tr h="610251">
                <a:tc>
                  <a:txBody>
                    <a:bodyPr/>
                    <a:lstStyle/>
                    <a:p>
                      <a:r>
                        <a:rPr kumimoji="1" lang="ja-JP" altLang="en-US" sz="1400" dirty="0"/>
                        <a:t>ターゲット顧客</a:t>
                      </a:r>
                    </a:p>
                  </a:txBody>
                  <a:tcPr anchor="ctr"/>
                </a:tc>
                <a:tc>
                  <a:txBody>
                    <a:bodyPr/>
                    <a:lstStyle/>
                    <a:p>
                      <a:r>
                        <a:rPr kumimoji="1" lang="ja-JP" altLang="en-US" sz="1400" dirty="0"/>
                        <a:t>サイロ化している業務を多く抱えている企業（</a:t>
                      </a:r>
                      <a:r>
                        <a:rPr kumimoji="1" lang="en-US" altLang="ja-JP" sz="1400" dirty="0"/>
                        <a:t>15</a:t>
                      </a:r>
                      <a:r>
                        <a:rPr kumimoji="1" lang="ja-JP" altLang="en-US" sz="1400" dirty="0"/>
                        <a:t>年以上継続している成熟企業）に属するプロジェクトマネージャ、現場担当者、</a:t>
                      </a:r>
                      <a:r>
                        <a:rPr kumimoji="1" lang="en-US" altLang="ja-JP" sz="1400" dirty="0"/>
                        <a:t>TPS</a:t>
                      </a:r>
                      <a:r>
                        <a:rPr kumimoji="1" lang="ja-JP" altLang="en-US" sz="1400" dirty="0"/>
                        <a:t>カウンターパート。</a:t>
                      </a:r>
                    </a:p>
                  </a:txBody>
                  <a:tcPr anchor="ctr"/>
                </a:tc>
                <a:extLst>
                  <a:ext uri="{0D108BD9-81ED-4DB2-BD59-A6C34878D82A}">
                    <a16:rowId xmlns:a16="http://schemas.microsoft.com/office/drawing/2014/main" val="1208292762"/>
                  </a:ext>
                </a:extLst>
              </a:tr>
              <a:tr h="468669">
                <a:tc>
                  <a:txBody>
                    <a:bodyPr/>
                    <a:lstStyle/>
                    <a:p>
                      <a:r>
                        <a:rPr kumimoji="1" lang="ja-JP" altLang="en-US" sz="1400" dirty="0"/>
                        <a:t>ビジネスモデル</a:t>
                      </a:r>
                    </a:p>
                  </a:txBody>
                  <a:tcPr anchor="ctr"/>
                </a:tc>
                <a:tc>
                  <a:txBody>
                    <a:bodyPr/>
                    <a:lstStyle/>
                    <a:p>
                      <a:r>
                        <a:rPr kumimoji="1" lang="ja-JP" altLang="en-US" sz="1400" dirty="0"/>
                        <a:t>ツール提供、導入支援（初期導入＋伴奏型コンサル）、教育支援により、長期的な顧客ロイヤリティの獲得を目指す。</a:t>
                      </a:r>
                    </a:p>
                  </a:txBody>
                  <a:tcPr anchor="ctr"/>
                </a:tc>
                <a:extLst>
                  <a:ext uri="{0D108BD9-81ED-4DB2-BD59-A6C34878D82A}">
                    <a16:rowId xmlns:a16="http://schemas.microsoft.com/office/drawing/2014/main" val="770918484"/>
                  </a:ext>
                </a:extLst>
              </a:tr>
              <a:tr h="610251">
                <a:tc>
                  <a:txBody>
                    <a:bodyPr/>
                    <a:lstStyle/>
                    <a:p>
                      <a:r>
                        <a:rPr kumimoji="1" lang="ja-JP" altLang="en-US" sz="1400" dirty="0"/>
                        <a:t>収益性</a:t>
                      </a:r>
                    </a:p>
                  </a:txBody>
                  <a:tcPr anchor="ctr"/>
                </a:tc>
                <a:tc>
                  <a:txBody>
                    <a:bodyPr/>
                    <a:lstStyle/>
                    <a:p>
                      <a:r>
                        <a:rPr kumimoji="1" lang="ja-JP" altLang="en-US" sz="1400" dirty="0"/>
                        <a:t>初年度</a:t>
                      </a:r>
                      <a:r>
                        <a:rPr kumimoji="1" lang="en-US" altLang="ja-JP" sz="1400" dirty="0"/>
                        <a:t>10</a:t>
                      </a:r>
                      <a:r>
                        <a:rPr kumimoji="1" lang="ja-JP" altLang="en-US" sz="1400" dirty="0"/>
                        <a:t>社導入で</a:t>
                      </a:r>
                      <a:r>
                        <a:rPr kumimoji="1" lang="en-US" altLang="ja-JP" sz="1400" dirty="0"/>
                        <a:t>4,600</a:t>
                      </a:r>
                      <a:r>
                        <a:rPr kumimoji="1" lang="ja-JP" altLang="en-US" sz="1400" dirty="0"/>
                        <a:t>万円。</a:t>
                      </a:r>
                      <a:r>
                        <a:rPr kumimoji="1" lang="en-US" altLang="ja-JP" sz="1400" dirty="0"/>
                        <a:t>5</a:t>
                      </a:r>
                      <a:r>
                        <a:rPr kumimoji="1" lang="ja-JP" altLang="en-US" sz="1400" dirty="0"/>
                        <a:t>年目には</a:t>
                      </a:r>
                      <a:r>
                        <a:rPr kumimoji="1" lang="en-US" altLang="ja-JP" sz="1400" dirty="0"/>
                        <a:t>100</a:t>
                      </a:r>
                      <a:r>
                        <a:rPr kumimoji="1" lang="ja-JP" altLang="en-US" sz="1400" dirty="0"/>
                        <a:t>社導入で</a:t>
                      </a:r>
                      <a:r>
                        <a:rPr kumimoji="1" lang="en-US" altLang="ja-JP" sz="1400" dirty="0"/>
                        <a:t>5</a:t>
                      </a:r>
                      <a:r>
                        <a:rPr kumimoji="1" lang="ja-JP" altLang="en-US" sz="1400" dirty="0"/>
                        <a:t>億円を設定。伴奏型コンサルティングからシステム開発に波及することで更なる案件受託も期待できる。</a:t>
                      </a:r>
                    </a:p>
                  </a:txBody>
                  <a:tcPr anchor="ctr"/>
                </a:tc>
                <a:extLst>
                  <a:ext uri="{0D108BD9-81ED-4DB2-BD59-A6C34878D82A}">
                    <a16:rowId xmlns:a16="http://schemas.microsoft.com/office/drawing/2014/main" val="3107154732"/>
                  </a:ext>
                </a:extLst>
              </a:tr>
              <a:tr h="610251">
                <a:tc>
                  <a:txBody>
                    <a:bodyPr/>
                    <a:lstStyle/>
                    <a:p>
                      <a:r>
                        <a:rPr kumimoji="1" lang="ja-JP" altLang="en-US" sz="1400" dirty="0"/>
                        <a:t>市場規模</a:t>
                      </a:r>
                    </a:p>
                  </a:txBody>
                  <a:tcPr anchor="ctr"/>
                </a:tc>
                <a:tc>
                  <a:txBody>
                    <a:bodyPr/>
                    <a:lstStyle/>
                    <a:p>
                      <a:r>
                        <a:rPr kumimoji="1" lang="en-US" altLang="ja-JP" sz="1400" dirty="0"/>
                        <a:t>【TAM】</a:t>
                      </a:r>
                      <a:r>
                        <a:rPr kumimoji="1" lang="ja-JP" altLang="en-US" sz="1400" dirty="0"/>
                        <a:t>国内・技術者、事務、生産従事者</a:t>
                      </a:r>
                      <a:r>
                        <a:rPr kumimoji="1" lang="en-US" altLang="ja-JP" sz="1400" dirty="0"/>
                        <a:t>2,700</a:t>
                      </a:r>
                      <a:r>
                        <a:rPr kumimoji="1" lang="ja-JP" altLang="en-US" sz="1400" dirty="0"/>
                        <a:t>万人 年間</a:t>
                      </a:r>
                      <a:r>
                        <a:rPr kumimoji="1" lang="en-US" altLang="ja-JP" sz="1400" dirty="0"/>
                        <a:t>1</a:t>
                      </a:r>
                      <a:r>
                        <a:rPr kumimoji="1" lang="ja-JP" altLang="en-US" sz="1400" dirty="0"/>
                        <a:t>兆</a:t>
                      </a:r>
                      <a:r>
                        <a:rPr kumimoji="1" lang="en-US" altLang="ja-JP" sz="1400" dirty="0"/>
                        <a:t>3,500</a:t>
                      </a:r>
                      <a:r>
                        <a:rPr kumimoji="1" lang="ja-JP" altLang="en-US" sz="1400" dirty="0"/>
                        <a:t>億円</a:t>
                      </a:r>
                      <a:endParaRPr kumimoji="1" lang="en-US" altLang="ja-JP" sz="1400" dirty="0"/>
                    </a:p>
                    <a:p>
                      <a:r>
                        <a:rPr kumimoji="1" lang="en-US" altLang="ja-JP" sz="1400" dirty="0"/>
                        <a:t>【SAM】TAM</a:t>
                      </a:r>
                      <a:r>
                        <a:rPr kumimoji="1" lang="ja-JP" altLang="en-US" sz="1400" dirty="0"/>
                        <a:t>のうち</a:t>
                      </a:r>
                      <a:r>
                        <a:rPr kumimoji="1" lang="en-US" altLang="ja-JP" sz="1400" dirty="0"/>
                        <a:t>5% </a:t>
                      </a:r>
                      <a:r>
                        <a:rPr kumimoji="1" lang="ja-JP" altLang="en-US" sz="1400" dirty="0"/>
                        <a:t>年間</a:t>
                      </a:r>
                      <a:r>
                        <a:rPr kumimoji="1" lang="en-US" altLang="ja-JP" sz="1400" dirty="0"/>
                        <a:t>675</a:t>
                      </a:r>
                      <a:r>
                        <a:rPr kumimoji="1" lang="ja-JP" altLang="en-US" sz="1400" dirty="0"/>
                        <a:t>億円　</a:t>
                      </a:r>
                      <a:r>
                        <a:rPr kumimoji="1" lang="en-US" altLang="ja-JP" sz="1400" dirty="0"/>
                        <a:t>【SOM】SAM</a:t>
                      </a:r>
                      <a:r>
                        <a:rPr kumimoji="1" lang="ja-JP" altLang="en-US" sz="1400" dirty="0"/>
                        <a:t>のうち</a:t>
                      </a:r>
                      <a:r>
                        <a:rPr kumimoji="1" lang="en-US" altLang="ja-JP" sz="1400" dirty="0"/>
                        <a:t>3</a:t>
                      </a:r>
                      <a:r>
                        <a:rPr kumimoji="1" lang="ja-JP" altLang="en-US" sz="1400" dirty="0"/>
                        <a:t>～</a:t>
                      </a:r>
                      <a:r>
                        <a:rPr kumimoji="1" lang="en-US" altLang="ja-JP" sz="1400" dirty="0"/>
                        <a:t>4</a:t>
                      </a:r>
                      <a:r>
                        <a:rPr kumimoji="1" lang="ja-JP" altLang="en-US" sz="1400" dirty="0"/>
                        <a:t>％ 年間</a:t>
                      </a:r>
                      <a:r>
                        <a:rPr kumimoji="1" lang="en-US" altLang="ja-JP" sz="1400" dirty="0"/>
                        <a:t>5</a:t>
                      </a:r>
                      <a:r>
                        <a:rPr kumimoji="1" lang="ja-JP" altLang="en-US" sz="1400" dirty="0"/>
                        <a:t>億円</a:t>
                      </a:r>
                    </a:p>
                  </a:txBody>
                  <a:tcPr anchor="ctr"/>
                </a:tc>
                <a:extLst>
                  <a:ext uri="{0D108BD9-81ED-4DB2-BD59-A6C34878D82A}">
                    <a16:rowId xmlns:a16="http://schemas.microsoft.com/office/drawing/2014/main" val="3544017390"/>
                  </a:ext>
                </a:extLst>
              </a:tr>
              <a:tr h="358971">
                <a:tc>
                  <a:txBody>
                    <a:bodyPr/>
                    <a:lstStyle/>
                    <a:p>
                      <a:r>
                        <a:rPr kumimoji="1" lang="ja-JP" altLang="en-US" sz="1400" dirty="0"/>
                        <a:t>競合比較</a:t>
                      </a:r>
                    </a:p>
                  </a:txBody>
                  <a:tcPr anchor="ctr"/>
                </a:tc>
                <a:tc>
                  <a:txBody>
                    <a:bodyPr/>
                    <a:lstStyle/>
                    <a:p>
                      <a:r>
                        <a:rPr kumimoji="1" lang="ja-JP" altLang="en-US" sz="1400" dirty="0"/>
                        <a:t>業務可視化、課題管理等のサービスは多い。本サービスは継続的業務改善を主軸に価値提供する。</a:t>
                      </a:r>
                    </a:p>
                  </a:txBody>
                  <a:tcPr anchor="ctr"/>
                </a:tc>
                <a:extLst>
                  <a:ext uri="{0D108BD9-81ED-4DB2-BD59-A6C34878D82A}">
                    <a16:rowId xmlns:a16="http://schemas.microsoft.com/office/drawing/2014/main" val="369579619"/>
                  </a:ext>
                </a:extLst>
              </a:tr>
            </a:tbl>
          </a:graphicData>
        </a:graphic>
      </p:graphicFrame>
    </p:spTree>
    <p:extLst>
      <p:ext uri="{BB962C8B-B14F-4D97-AF65-F5344CB8AC3E}">
        <p14:creationId xmlns:p14="http://schemas.microsoft.com/office/powerpoint/2010/main" val="839376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81A0AA4-EC6E-FDEF-8DB6-531D1489887E}"/>
              </a:ext>
            </a:extLst>
          </p:cNvPr>
          <p:cNvSpPr>
            <a:spLocks noGrp="1"/>
          </p:cNvSpPr>
          <p:nvPr>
            <p:ph type="body" sz="quarter" idx="14"/>
          </p:nvPr>
        </p:nvSpPr>
        <p:spPr/>
        <p:txBody>
          <a:bodyPr/>
          <a:lstStyle/>
          <a:p>
            <a:r>
              <a:rPr kumimoji="1" lang="ja-JP" altLang="en-US" dirty="0"/>
              <a:t>目次</a:t>
            </a:r>
          </a:p>
        </p:txBody>
      </p:sp>
      <p:sp>
        <p:nvSpPr>
          <p:cNvPr id="3" name="テキスト ボックス 2">
            <a:extLst>
              <a:ext uri="{FF2B5EF4-FFF2-40B4-BE49-F238E27FC236}">
                <a16:creationId xmlns:a16="http://schemas.microsoft.com/office/drawing/2014/main" id="{0480930E-3634-9C2C-46A5-10D2F20E226D}"/>
              </a:ext>
            </a:extLst>
          </p:cNvPr>
          <p:cNvSpPr txBox="1"/>
          <p:nvPr/>
        </p:nvSpPr>
        <p:spPr>
          <a:xfrm>
            <a:off x="417047" y="772325"/>
            <a:ext cx="3682547" cy="5111977"/>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kumimoji="1" lang="ja-JP" altLang="en-US" sz="2000" dirty="0"/>
              <a:t>着想・背景</a:t>
            </a:r>
            <a:endParaRPr kumimoji="1" lang="en-US" altLang="ja-JP" sz="2000" dirty="0"/>
          </a:p>
          <a:p>
            <a:pPr marL="342900" indent="-342900">
              <a:lnSpc>
                <a:spcPct val="150000"/>
              </a:lnSpc>
              <a:buFont typeface="Arial" panose="020B0604020202020204" pitchFamily="34" charset="0"/>
              <a:buChar char="•"/>
            </a:pPr>
            <a:r>
              <a:rPr lang="en-US" altLang="ja-JP" sz="2000" dirty="0"/>
              <a:t>PoC#1</a:t>
            </a:r>
            <a:r>
              <a:rPr lang="ja-JP" altLang="en-US" sz="2000" dirty="0"/>
              <a:t>結果（</a:t>
            </a:r>
            <a:r>
              <a:rPr lang="en-US" altLang="ja-JP" sz="2000" dirty="0"/>
              <a:t>2025/7-9</a:t>
            </a:r>
            <a:r>
              <a:rPr lang="ja-JP" altLang="en-US" sz="2000" dirty="0"/>
              <a:t>）</a:t>
            </a:r>
            <a:endParaRPr lang="en-US" altLang="ja-JP" sz="2000" dirty="0"/>
          </a:p>
          <a:p>
            <a:pPr marL="342900" indent="-342900">
              <a:lnSpc>
                <a:spcPct val="150000"/>
              </a:lnSpc>
              <a:buFont typeface="Arial" panose="020B0604020202020204" pitchFamily="34" charset="0"/>
              <a:buChar char="•"/>
            </a:pPr>
            <a:r>
              <a:rPr lang="en-US" altLang="ja-JP" sz="2000" dirty="0"/>
              <a:t>PoC#2</a:t>
            </a:r>
            <a:r>
              <a:rPr lang="ja-JP" altLang="en-US" sz="2000" dirty="0"/>
              <a:t>計画・チーム体制・予算</a:t>
            </a:r>
            <a:endParaRPr lang="en-US" altLang="ja-JP" sz="2000" dirty="0"/>
          </a:p>
          <a:p>
            <a:pPr marL="342900" indent="-342900">
              <a:lnSpc>
                <a:spcPct val="150000"/>
              </a:lnSpc>
              <a:buFont typeface="Arial" panose="020B0604020202020204" pitchFamily="34" charset="0"/>
              <a:buChar char="•"/>
            </a:pPr>
            <a:r>
              <a:rPr kumimoji="1" lang="ja-JP" altLang="en-US" sz="2000" dirty="0"/>
              <a:t>事業計画</a:t>
            </a:r>
            <a:endParaRPr kumimoji="1" lang="en-US" altLang="ja-JP" sz="2000" dirty="0"/>
          </a:p>
          <a:p>
            <a:pPr marL="800100" lvl="1" indent="-342900">
              <a:lnSpc>
                <a:spcPct val="150000"/>
              </a:lnSpc>
              <a:buFont typeface="Arial" panose="020B0604020202020204" pitchFamily="34" charset="0"/>
              <a:buChar char="•"/>
            </a:pPr>
            <a:r>
              <a:rPr lang="ja-JP" altLang="en-US" sz="2000" dirty="0"/>
              <a:t>提供価値</a:t>
            </a:r>
            <a:endParaRPr kumimoji="1" lang="en-US" altLang="ja-JP" sz="2000" dirty="0"/>
          </a:p>
          <a:p>
            <a:pPr marL="800100" lvl="1" indent="-342900">
              <a:lnSpc>
                <a:spcPct val="150000"/>
              </a:lnSpc>
              <a:buFont typeface="Arial" panose="020B0604020202020204" pitchFamily="34" charset="0"/>
              <a:buChar char="•"/>
            </a:pPr>
            <a:r>
              <a:rPr lang="ja-JP" altLang="en-US" sz="2000" dirty="0"/>
              <a:t>独自性・技術優位性</a:t>
            </a:r>
            <a:endParaRPr lang="en-US" altLang="ja-JP" sz="2000" dirty="0"/>
          </a:p>
          <a:p>
            <a:pPr marL="800100" lvl="1" indent="-342900">
              <a:lnSpc>
                <a:spcPct val="150000"/>
              </a:lnSpc>
              <a:buFont typeface="Arial" panose="020B0604020202020204" pitchFamily="34" charset="0"/>
              <a:buChar char="•"/>
            </a:pPr>
            <a:r>
              <a:rPr kumimoji="1" lang="ja-JP" altLang="en-US" sz="2000" dirty="0"/>
              <a:t>ターゲット顧客</a:t>
            </a:r>
            <a:endParaRPr kumimoji="1" lang="en-US" altLang="ja-JP" sz="2000" dirty="0"/>
          </a:p>
          <a:p>
            <a:pPr marL="800100" lvl="1" indent="-342900">
              <a:lnSpc>
                <a:spcPct val="150000"/>
              </a:lnSpc>
              <a:buFont typeface="Arial" panose="020B0604020202020204" pitchFamily="34" charset="0"/>
              <a:buChar char="•"/>
            </a:pPr>
            <a:r>
              <a:rPr lang="ja-JP" altLang="en-US" sz="2000" dirty="0"/>
              <a:t>ビジネスモデル</a:t>
            </a:r>
            <a:endParaRPr lang="en-US" altLang="ja-JP" sz="2000" dirty="0"/>
          </a:p>
          <a:p>
            <a:pPr marL="800100" lvl="1" indent="-342900">
              <a:lnSpc>
                <a:spcPct val="150000"/>
              </a:lnSpc>
              <a:buFont typeface="Arial" panose="020B0604020202020204" pitchFamily="34" charset="0"/>
              <a:buChar char="•"/>
            </a:pPr>
            <a:r>
              <a:rPr kumimoji="1" lang="ja-JP" altLang="en-US" sz="2000" dirty="0"/>
              <a:t>収益性</a:t>
            </a:r>
            <a:endParaRPr kumimoji="1" lang="en-US" altLang="ja-JP" sz="2000" dirty="0"/>
          </a:p>
          <a:p>
            <a:pPr marL="800100" lvl="1" indent="-342900">
              <a:lnSpc>
                <a:spcPct val="150000"/>
              </a:lnSpc>
              <a:buFont typeface="Arial" panose="020B0604020202020204" pitchFamily="34" charset="0"/>
              <a:buChar char="•"/>
            </a:pPr>
            <a:r>
              <a:rPr lang="ja-JP" altLang="en-US" sz="2000" dirty="0"/>
              <a:t>市場規模</a:t>
            </a:r>
            <a:endParaRPr lang="en-US" altLang="ja-JP" sz="2000" dirty="0"/>
          </a:p>
          <a:p>
            <a:pPr marL="800100" lvl="1" indent="-342900">
              <a:lnSpc>
                <a:spcPct val="150000"/>
              </a:lnSpc>
              <a:buFont typeface="Arial" panose="020B0604020202020204" pitchFamily="34" charset="0"/>
              <a:buChar char="•"/>
            </a:pPr>
            <a:r>
              <a:rPr kumimoji="1" lang="ja-JP" altLang="en-US" sz="2000" dirty="0"/>
              <a:t>競合比較</a:t>
            </a:r>
            <a:endParaRPr kumimoji="1" lang="en-US" altLang="ja-JP" sz="2000" dirty="0"/>
          </a:p>
        </p:txBody>
      </p:sp>
    </p:spTree>
    <p:extLst>
      <p:ext uri="{BB962C8B-B14F-4D97-AF65-F5344CB8AC3E}">
        <p14:creationId xmlns:p14="http://schemas.microsoft.com/office/powerpoint/2010/main" val="1621142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7843B11-6BA9-5E28-97F8-4F0D445A7782}"/>
              </a:ext>
            </a:extLst>
          </p:cNvPr>
          <p:cNvSpPr>
            <a:spLocks noGrp="1"/>
          </p:cNvSpPr>
          <p:nvPr>
            <p:ph type="body" sz="quarter" idx="14"/>
          </p:nvPr>
        </p:nvSpPr>
        <p:spPr/>
        <p:txBody>
          <a:bodyPr/>
          <a:lstStyle/>
          <a:p>
            <a:r>
              <a:rPr kumimoji="1" lang="ja-JP" altLang="en-US" dirty="0"/>
              <a:t>着想・背景</a:t>
            </a:r>
          </a:p>
        </p:txBody>
      </p:sp>
      <p:sp>
        <p:nvSpPr>
          <p:cNvPr id="3" name="テキスト ボックス 2">
            <a:extLst>
              <a:ext uri="{FF2B5EF4-FFF2-40B4-BE49-F238E27FC236}">
                <a16:creationId xmlns:a16="http://schemas.microsoft.com/office/drawing/2014/main" id="{0EEE464C-6681-97A9-4F5D-7F6ECE9BA2DB}"/>
              </a:ext>
            </a:extLst>
          </p:cNvPr>
          <p:cNvSpPr txBox="1"/>
          <p:nvPr/>
        </p:nvSpPr>
        <p:spPr>
          <a:xfrm>
            <a:off x="317241" y="806783"/>
            <a:ext cx="8113118" cy="369332"/>
          </a:xfrm>
          <a:prstGeom prst="rect">
            <a:avLst/>
          </a:prstGeom>
          <a:noFill/>
        </p:spPr>
        <p:txBody>
          <a:bodyPr wrap="none" rtlCol="0">
            <a:spAutoFit/>
          </a:bodyPr>
          <a:lstStyle/>
          <a:p>
            <a:r>
              <a:rPr kumimoji="1" lang="ja-JP" altLang="en-US" dirty="0"/>
              <a:t>認証問題等を背景として、トヨタグループ全体で現場の余力創出が強く推進されている。</a:t>
            </a:r>
          </a:p>
        </p:txBody>
      </p:sp>
      <p:sp>
        <p:nvSpPr>
          <p:cNvPr id="5" name="テキスト ボックス 4">
            <a:extLst>
              <a:ext uri="{FF2B5EF4-FFF2-40B4-BE49-F238E27FC236}">
                <a16:creationId xmlns:a16="http://schemas.microsoft.com/office/drawing/2014/main" id="{8652A8DC-D967-39A7-CD1E-C1C5D4404DAB}"/>
              </a:ext>
            </a:extLst>
          </p:cNvPr>
          <p:cNvSpPr txBox="1"/>
          <p:nvPr/>
        </p:nvSpPr>
        <p:spPr>
          <a:xfrm>
            <a:off x="514221" y="1198627"/>
            <a:ext cx="6096000" cy="369332"/>
          </a:xfrm>
          <a:prstGeom prst="rect">
            <a:avLst/>
          </a:prstGeom>
          <a:noFill/>
        </p:spPr>
        <p:txBody>
          <a:bodyPr wrap="square">
            <a:spAutoFit/>
          </a:bodyPr>
          <a:lstStyle/>
          <a:p>
            <a:r>
              <a:rPr lang="ja-JP" altLang="en-US" dirty="0">
                <a:hlinkClick r:id="rId2"/>
              </a:rPr>
              <a:t>「本気ですか？」仕入先の一言に応えた</a:t>
            </a:r>
            <a:r>
              <a:rPr lang="en-US" altLang="ja-JP" dirty="0">
                <a:hlinkClick r:id="rId2"/>
              </a:rPr>
              <a:t>"</a:t>
            </a:r>
            <a:r>
              <a:rPr lang="ja-JP" altLang="en-US" dirty="0">
                <a:hlinkClick r:id="rId2"/>
              </a:rPr>
              <a:t>本気の</a:t>
            </a:r>
            <a:r>
              <a:rPr lang="en-US" altLang="ja-JP" dirty="0">
                <a:hlinkClick r:id="rId2"/>
              </a:rPr>
              <a:t>TPS"</a:t>
            </a:r>
            <a:endParaRPr lang="ja-JP" altLang="en-US" dirty="0"/>
          </a:p>
        </p:txBody>
      </p:sp>
      <p:sp>
        <p:nvSpPr>
          <p:cNvPr id="6" name="テキスト ボックス 5">
            <a:extLst>
              <a:ext uri="{FF2B5EF4-FFF2-40B4-BE49-F238E27FC236}">
                <a16:creationId xmlns:a16="http://schemas.microsoft.com/office/drawing/2014/main" id="{644C9B45-A9BE-EF27-E9C1-3E4872BA0E00}"/>
              </a:ext>
            </a:extLst>
          </p:cNvPr>
          <p:cNvSpPr txBox="1"/>
          <p:nvPr/>
        </p:nvSpPr>
        <p:spPr>
          <a:xfrm>
            <a:off x="514221" y="1543867"/>
            <a:ext cx="6096000" cy="369332"/>
          </a:xfrm>
          <a:prstGeom prst="rect">
            <a:avLst/>
          </a:prstGeom>
          <a:noFill/>
        </p:spPr>
        <p:txBody>
          <a:bodyPr wrap="square">
            <a:spAutoFit/>
          </a:bodyPr>
          <a:lstStyle/>
          <a:p>
            <a:r>
              <a:rPr lang="en-US" altLang="ja-JP" dirty="0">
                <a:hlinkClick r:id="rId3"/>
              </a:rPr>
              <a:t>【</a:t>
            </a:r>
            <a:r>
              <a:rPr lang="ja-JP" altLang="en-US" dirty="0">
                <a:hlinkClick r:id="rId3"/>
              </a:rPr>
              <a:t>認証問題</a:t>
            </a:r>
            <a:r>
              <a:rPr lang="en-US" altLang="ja-JP" dirty="0">
                <a:hlinkClick r:id="rId3"/>
              </a:rPr>
              <a:t>】</a:t>
            </a:r>
            <a:r>
              <a:rPr lang="ja-JP" altLang="en-US" dirty="0">
                <a:hlinkClick r:id="rId3"/>
              </a:rPr>
              <a:t>トヨタグループで何が起き、今、何をしているのか？</a:t>
            </a:r>
            <a:endParaRPr lang="ja-JP" altLang="en-US" dirty="0"/>
          </a:p>
        </p:txBody>
      </p:sp>
      <p:sp>
        <p:nvSpPr>
          <p:cNvPr id="8" name="テキスト ボックス 7">
            <a:extLst>
              <a:ext uri="{FF2B5EF4-FFF2-40B4-BE49-F238E27FC236}">
                <a16:creationId xmlns:a16="http://schemas.microsoft.com/office/drawing/2014/main" id="{9C1432B6-E519-1953-008B-1EA87AD9C6D5}"/>
              </a:ext>
            </a:extLst>
          </p:cNvPr>
          <p:cNvSpPr txBox="1"/>
          <p:nvPr/>
        </p:nvSpPr>
        <p:spPr>
          <a:xfrm>
            <a:off x="317241" y="2015150"/>
            <a:ext cx="8046626" cy="646331"/>
          </a:xfrm>
          <a:prstGeom prst="rect">
            <a:avLst/>
          </a:prstGeom>
          <a:noFill/>
        </p:spPr>
        <p:txBody>
          <a:bodyPr wrap="none" rtlCol="0">
            <a:spAutoFit/>
          </a:bodyPr>
          <a:lstStyle/>
          <a:p>
            <a:r>
              <a:rPr kumimoji="1" lang="en-US" altLang="ja-JP" dirty="0"/>
              <a:t>TS</a:t>
            </a:r>
            <a:r>
              <a:rPr kumimoji="1" lang="ja-JP" altLang="en-US" dirty="0"/>
              <a:t>電技改革支援部では主にデジタルソフト開発センター</a:t>
            </a:r>
            <a:r>
              <a:rPr kumimoji="1" lang="en-US" altLang="ja-JP" dirty="0"/>
              <a:t>TPS</a:t>
            </a:r>
            <a:r>
              <a:rPr kumimoji="1" lang="ja-JP" altLang="en-US" dirty="0"/>
              <a:t>推進室（</a:t>
            </a:r>
            <a:r>
              <a:rPr kumimoji="1" lang="en-US" altLang="ja-JP" dirty="0"/>
              <a:t>DTPS</a:t>
            </a:r>
            <a:r>
              <a:rPr kumimoji="1" lang="ja-JP" altLang="en-US" dirty="0"/>
              <a:t>）と組んで</a:t>
            </a:r>
            <a:endParaRPr kumimoji="1" lang="en-US" altLang="ja-JP" dirty="0"/>
          </a:p>
          <a:p>
            <a:r>
              <a:rPr kumimoji="1" lang="en-US" altLang="ja-JP" dirty="0"/>
              <a:t>’24</a:t>
            </a:r>
            <a:r>
              <a:rPr kumimoji="1" lang="ja-JP" altLang="en-US" dirty="0"/>
              <a:t>年度から</a:t>
            </a:r>
            <a:r>
              <a:rPr lang="en-US" altLang="ja-JP" dirty="0"/>
              <a:t>TPS</a:t>
            </a:r>
            <a:r>
              <a:rPr lang="ja-JP" altLang="en-US" dirty="0"/>
              <a:t>の思想に基づいた現場改善活動を支援している。</a:t>
            </a:r>
            <a:endParaRPr lang="en-US" altLang="ja-JP" dirty="0"/>
          </a:p>
        </p:txBody>
      </p:sp>
      <p:pic>
        <p:nvPicPr>
          <p:cNvPr id="10" name="図 9">
            <a:extLst>
              <a:ext uri="{FF2B5EF4-FFF2-40B4-BE49-F238E27FC236}">
                <a16:creationId xmlns:a16="http://schemas.microsoft.com/office/drawing/2014/main" id="{B33D19AD-7C09-1995-109F-F60FDDD16AE1}"/>
              </a:ext>
            </a:extLst>
          </p:cNvPr>
          <p:cNvPicPr>
            <a:picLocks noChangeAspect="1"/>
          </p:cNvPicPr>
          <p:nvPr/>
        </p:nvPicPr>
        <p:blipFill>
          <a:blip r:embed="rId4"/>
          <a:stretch>
            <a:fillRect/>
          </a:stretch>
        </p:blipFill>
        <p:spPr>
          <a:xfrm>
            <a:off x="439575" y="2763432"/>
            <a:ext cx="7005125" cy="3644594"/>
          </a:xfrm>
          <a:prstGeom prst="rect">
            <a:avLst/>
          </a:prstGeom>
        </p:spPr>
      </p:pic>
    </p:spTree>
    <p:extLst>
      <p:ext uri="{BB962C8B-B14F-4D97-AF65-F5344CB8AC3E}">
        <p14:creationId xmlns:p14="http://schemas.microsoft.com/office/powerpoint/2010/main" val="2928009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CF01312-4125-8F25-12C0-8F2A6CA3E3F4}"/>
              </a:ext>
            </a:extLst>
          </p:cNvPr>
          <p:cNvSpPr>
            <a:spLocks noGrp="1"/>
          </p:cNvSpPr>
          <p:nvPr>
            <p:ph type="body" sz="quarter" idx="14"/>
          </p:nvPr>
        </p:nvSpPr>
        <p:spPr/>
        <p:txBody>
          <a:bodyPr/>
          <a:lstStyle/>
          <a:p>
            <a:r>
              <a:rPr kumimoji="1" lang="ja-JP" altLang="en-US" dirty="0"/>
              <a:t>着想・背景</a:t>
            </a:r>
          </a:p>
        </p:txBody>
      </p:sp>
      <p:sp>
        <p:nvSpPr>
          <p:cNvPr id="3" name="テキスト ボックス 2">
            <a:extLst>
              <a:ext uri="{FF2B5EF4-FFF2-40B4-BE49-F238E27FC236}">
                <a16:creationId xmlns:a16="http://schemas.microsoft.com/office/drawing/2014/main" id="{003838A4-5D69-A78E-8F7E-EFAE061A53C9}"/>
              </a:ext>
            </a:extLst>
          </p:cNvPr>
          <p:cNvSpPr txBox="1"/>
          <p:nvPr/>
        </p:nvSpPr>
        <p:spPr>
          <a:xfrm>
            <a:off x="415636" y="720692"/>
            <a:ext cx="8917826" cy="738664"/>
          </a:xfrm>
          <a:prstGeom prst="rect">
            <a:avLst/>
          </a:prstGeom>
          <a:noFill/>
        </p:spPr>
        <p:txBody>
          <a:bodyPr wrap="none" rtlCol="0">
            <a:spAutoFit/>
          </a:bodyPr>
          <a:lstStyle/>
          <a:p>
            <a:r>
              <a:rPr lang="en-US" altLang="ja-JP" dirty="0"/>
              <a:t>TPS</a:t>
            </a:r>
            <a:r>
              <a:rPr lang="ja-JP" altLang="en-US" dirty="0"/>
              <a:t>の考え方では、</a:t>
            </a:r>
            <a:r>
              <a:rPr lang="ja-JP" altLang="en-US" sz="2400" b="1" dirty="0">
                <a:solidFill>
                  <a:srgbClr val="0070C0"/>
                </a:solidFill>
              </a:rPr>
              <a:t>標準化</a:t>
            </a:r>
            <a:r>
              <a:rPr lang="ja-JP" altLang="en-US" dirty="0"/>
              <a:t>と</a:t>
            </a:r>
            <a:r>
              <a:rPr lang="ja-JP" altLang="en-US" sz="2400" b="1" dirty="0">
                <a:solidFill>
                  <a:srgbClr val="FF0000"/>
                </a:solidFill>
              </a:rPr>
              <a:t>異常検知</a:t>
            </a:r>
            <a:r>
              <a:rPr lang="ja-JP" altLang="en-US" sz="2400" b="1" dirty="0"/>
              <a:t>・改善</a:t>
            </a:r>
            <a:r>
              <a:rPr lang="ja-JP" altLang="en-US" dirty="0"/>
              <a:t>のサイクルによって業務を精錬させていく。</a:t>
            </a:r>
            <a:endParaRPr lang="en-US" altLang="ja-JP" dirty="0"/>
          </a:p>
          <a:p>
            <a:r>
              <a:rPr lang="ja-JP" altLang="en-US" dirty="0"/>
              <a:t>しかし事技系でこのサイクルが定着している現場はまだなく、多くは標準化すら出来ていない状況。</a:t>
            </a:r>
            <a:endParaRPr lang="en-US" altLang="ja-JP" dirty="0"/>
          </a:p>
        </p:txBody>
      </p:sp>
      <p:pic>
        <p:nvPicPr>
          <p:cNvPr id="4" name="図 3">
            <a:extLst>
              <a:ext uri="{FF2B5EF4-FFF2-40B4-BE49-F238E27FC236}">
                <a16:creationId xmlns:a16="http://schemas.microsoft.com/office/drawing/2014/main" id="{AA61CF37-84BD-EBA7-104D-87CDE45B8828}"/>
              </a:ext>
            </a:extLst>
          </p:cNvPr>
          <p:cNvPicPr>
            <a:picLocks noChangeAspect="1"/>
          </p:cNvPicPr>
          <p:nvPr/>
        </p:nvPicPr>
        <p:blipFill>
          <a:blip r:embed="rId2"/>
          <a:srcRect l="2759" t="28754" r="9161" b="4745"/>
          <a:stretch/>
        </p:blipFill>
        <p:spPr>
          <a:xfrm>
            <a:off x="336166" y="2825895"/>
            <a:ext cx="4185788" cy="1680422"/>
          </a:xfrm>
          <a:prstGeom prst="rect">
            <a:avLst/>
          </a:prstGeom>
        </p:spPr>
      </p:pic>
      <p:pic>
        <p:nvPicPr>
          <p:cNvPr id="5" name="図 4">
            <a:extLst>
              <a:ext uri="{FF2B5EF4-FFF2-40B4-BE49-F238E27FC236}">
                <a16:creationId xmlns:a16="http://schemas.microsoft.com/office/drawing/2014/main" id="{4B9DC678-4620-BCF7-CAAE-87D3D0643B14}"/>
              </a:ext>
            </a:extLst>
          </p:cNvPr>
          <p:cNvPicPr>
            <a:picLocks noChangeAspect="1"/>
          </p:cNvPicPr>
          <p:nvPr/>
        </p:nvPicPr>
        <p:blipFill>
          <a:blip r:embed="rId3"/>
          <a:srcRect b="51085"/>
          <a:stretch/>
        </p:blipFill>
        <p:spPr>
          <a:xfrm>
            <a:off x="578295" y="4353960"/>
            <a:ext cx="3791421" cy="1019245"/>
          </a:xfrm>
          <a:prstGeom prst="rect">
            <a:avLst/>
          </a:prstGeom>
        </p:spPr>
      </p:pic>
      <p:pic>
        <p:nvPicPr>
          <p:cNvPr id="6" name="図 5">
            <a:extLst>
              <a:ext uri="{FF2B5EF4-FFF2-40B4-BE49-F238E27FC236}">
                <a16:creationId xmlns:a16="http://schemas.microsoft.com/office/drawing/2014/main" id="{27BA7D36-A9F2-0A0A-20E6-886E010B0530}"/>
              </a:ext>
            </a:extLst>
          </p:cNvPr>
          <p:cNvPicPr>
            <a:picLocks noChangeAspect="1"/>
          </p:cNvPicPr>
          <p:nvPr/>
        </p:nvPicPr>
        <p:blipFill>
          <a:blip r:embed="rId4"/>
          <a:stretch>
            <a:fillRect/>
          </a:stretch>
        </p:blipFill>
        <p:spPr>
          <a:xfrm>
            <a:off x="6048476" y="3041867"/>
            <a:ext cx="5004391" cy="2008828"/>
          </a:xfrm>
          <a:prstGeom prst="rect">
            <a:avLst/>
          </a:prstGeom>
        </p:spPr>
      </p:pic>
      <p:pic>
        <p:nvPicPr>
          <p:cNvPr id="7" name="図 6">
            <a:extLst>
              <a:ext uri="{FF2B5EF4-FFF2-40B4-BE49-F238E27FC236}">
                <a16:creationId xmlns:a16="http://schemas.microsoft.com/office/drawing/2014/main" id="{132ED715-4833-BF21-B3C3-F16BFD2B9D87}"/>
              </a:ext>
            </a:extLst>
          </p:cNvPr>
          <p:cNvPicPr>
            <a:picLocks noChangeAspect="1"/>
          </p:cNvPicPr>
          <p:nvPr/>
        </p:nvPicPr>
        <p:blipFill>
          <a:blip r:embed="rId5"/>
          <a:srcRect b="30016"/>
          <a:stretch/>
        </p:blipFill>
        <p:spPr>
          <a:xfrm>
            <a:off x="6694372" y="3808311"/>
            <a:ext cx="5004391" cy="1962216"/>
          </a:xfrm>
          <a:prstGeom prst="rect">
            <a:avLst/>
          </a:prstGeom>
        </p:spPr>
      </p:pic>
      <p:sp>
        <p:nvSpPr>
          <p:cNvPr id="8" name="正方形/長方形 7">
            <a:extLst>
              <a:ext uri="{FF2B5EF4-FFF2-40B4-BE49-F238E27FC236}">
                <a16:creationId xmlns:a16="http://schemas.microsoft.com/office/drawing/2014/main" id="{35D9995F-5C38-BD8C-B596-AEAC22018344}"/>
              </a:ext>
            </a:extLst>
          </p:cNvPr>
          <p:cNvSpPr/>
          <p:nvPr/>
        </p:nvSpPr>
        <p:spPr>
          <a:xfrm>
            <a:off x="1456228" y="3768537"/>
            <a:ext cx="2504928" cy="766625"/>
          </a:xfrm>
          <a:prstGeom prst="rect">
            <a:avLst/>
          </a:prstGeom>
          <a:solidFill>
            <a:srgbClr val="FFFFFF">
              <a:alpha val="52157"/>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4000" b="1" dirty="0">
                <a:solidFill>
                  <a:srgbClr val="0070C0"/>
                </a:solidFill>
                <a:highlight>
                  <a:srgbClr val="FFFFFF"/>
                </a:highlight>
              </a:rPr>
              <a:t>標準化</a:t>
            </a:r>
            <a:endParaRPr kumimoji="1" lang="ja-JP" altLang="en-US" sz="4000" dirty="0">
              <a:solidFill>
                <a:schemeClr val="tx1"/>
              </a:solidFill>
            </a:endParaRPr>
          </a:p>
        </p:txBody>
      </p:sp>
      <p:sp>
        <p:nvSpPr>
          <p:cNvPr id="9" name="矢印: 下カーブ 8">
            <a:extLst>
              <a:ext uri="{FF2B5EF4-FFF2-40B4-BE49-F238E27FC236}">
                <a16:creationId xmlns:a16="http://schemas.microsoft.com/office/drawing/2014/main" id="{D0DE404D-D39C-1AD9-447F-41BE21912AAC}"/>
              </a:ext>
            </a:extLst>
          </p:cNvPr>
          <p:cNvSpPr/>
          <p:nvPr/>
        </p:nvSpPr>
        <p:spPr>
          <a:xfrm rot="10800000">
            <a:off x="3404811" y="4009954"/>
            <a:ext cx="5287330" cy="1614914"/>
          </a:xfrm>
          <a:prstGeom prst="curved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solidFill>
                <a:schemeClr val="tx1"/>
              </a:solidFill>
            </a:endParaRPr>
          </a:p>
        </p:txBody>
      </p:sp>
      <p:sp>
        <p:nvSpPr>
          <p:cNvPr id="10" name="矢印: 下カーブ 9">
            <a:extLst>
              <a:ext uri="{FF2B5EF4-FFF2-40B4-BE49-F238E27FC236}">
                <a16:creationId xmlns:a16="http://schemas.microsoft.com/office/drawing/2014/main" id="{97BE46A3-4BCE-2A8C-06C2-FD42789F8441}"/>
              </a:ext>
            </a:extLst>
          </p:cNvPr>
          <p:cNvSpPr/>
          <p:nvPr/>
        </p:nvSpPr>
        <p:spPr>
          <a:xfrm>
            <a:off x="3452335" y="2322035"/>
            <a:ext cx="5287330" cy="1614914"/>
          </a:xfrm>
          <a:prstGeom prst="curved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solidFill>
                <a:schemeClr val="tx1"/>
              </a:solidFill>
            </a:endParaRPr>
          </a:p>
        </p:txBody>
      </p:sp>
      <p:sp>
        <p:nvSpPr>
          <p:cNvPr id="11" name="正方形/長方形 10">
            <a:extLst>
              <a:ext uri="{FF2B5EF4-FFF2-40B4-BE49-F238E27FC236}">
                <a16:creationId xmlns:a16="http://schemas.microsoft.com/office/drawing/2014/main" id="{4B2B5F73-0FB5-F363-01B8-449E89DBEE83}"/>
              </a:ext>
            </a:extLst>
          </p:cNvPr>
          <p:cNvSpPr/>
          <p:nvPr/>
        </p:nvSpPr>
        <p:spPr>
          <a:xfrm>
            <a:off x="4012933" y="5860876"/>
            <a:ext cx="3983610" cy="76662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3600" b="1" dirty="0">
                <a:solidFill>
                  <a:schemeClr val="tx1"/>
                </a:solidFill>
              </a:rPr>
              <a:t>改善し標準化する</a:t>
            </a:r>
            <a:endParaRPr kumimoji="1" lang="ja-JP" altLang="en-US" sz="3600" dirty="0">
              <a:solidFill>
                <a:schemeClr val="tx1"/>
              </a:solidFill>
            </a:endParaRPr>
          </a:p>
        </p:txBody>
      </p:sp>
      <p:sp>
        <p:nvSpPr>
          <p:cNvPr id="12" name="正方形/長方形 11">
            <a:extLst>
              <a:ext uri="{FF2B5EF4-FFF2-40B4-BE49-F238E27FC236}">
                <a16:creationId xmlns:a16="http://schemas.microsoft.com/office/drawing/2014/main" id="{6DD232E9-6210-D263-95EC-0411626F46DC}"/>
              </a:ext>
            </a:extLst>
          </p:cNvPr>
          <p:cNvSpPr/>
          <p:nvPr/>
        </p:nvSpPr>
        <p:spPr>
          <a:xfrm>
            <a:off x="3802939" y="1542247"/>
            <a:ext cx="4403598" cy="76662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3600" b="1" dirty="0">
                <a:solidFill>
                  <a:schemeClr val="tx1"/>
                </a:solidFill>
              </a:rPr>
              <a:t>標準通りに業務をする</a:t>
            </a:r>
            <a:endParaRPr kumimoji="1" lang="ja-JP" altLang="en-US" sz="3600" dirty="0">
              <a:solidFill>
                <a:schemeClr val="tx1"/>
              </a:solidFill>
            </a:endParaRPr>
          </a:p>
        </p:txBody>
      </p:sp>
      <p:sp>
        <p:nvSpPr>
          <p:cNvPr id="13" name="乗算記号 12">
            <a:extLst>
              <a:ext uri="{FF2B5EF4-FFF2-40B4-BE49-F238E27FC236}">
                <a16:creationId xmlns:a16="http://schemas.microsoft.com/office/drawing/2014/main" id="{1239406E-F12D-C8CD-EF97-760FA76E8497}"/>
              </a:ext>
            </a:extLst>
          </p:cNvPr>
          <p:cNvSpPr/>
          <p:nvPr/>
        </p:nvSpPr>
        <p:spPr>
          <a:xfrm>
            <a:off x="5635284" y="2015150"/>
            <a:ext cx="738909" cy="738909"/>
          </a:xfrm>
          <a:prstGeom prst="mathMultiply">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乗算記号 13">
            <a:extLst>
              <a:ext uri="{FF2B5EF4-FFF2-40B4-BE49-F238E27FC236}">
                <a16:creationId xmlns:a16="http://schemas.microsoft.com/office/drawing/2014/main" id="{C5FCC2A4-8957-8890-7B21-9870E8F136A7}"/>
              </a:ext>
            </a:extLst>
          </p:cNvPr>
          <p:cNvSpPr/>
          <p:nvPr/>
        </p:nvSpPr>
        <p:spPr>
          <a:xfrm>
            <a:off x="5635284" y="5255414"/>
            <a:ext cx="738909" cy="738909"/>
          </a:xfrm>
          <a:prstGeom prst="mathMultiply">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34037C0F-9E62-0AF5-7F9F-54894F1DE282}"/>
              </a:ext>
            </a:extLst>
          </p:cNvPr>
          <p:cNvSpPr/>
          <p:nvPr/>
        </p:nvSpPr>
        <p:spPr>
          <a:xfrm>
            <a:off x="7683457" y="3874012"/>
            <a:ext cx="2504928" cy="766625"/>
          </a:xfrm>
          <a:prstGeom prst="rect">
            <a:avLst/>
          </a:prstGeom>
          <a:solidFill>
            <a:srgbClr val="FFFFFF">
              <a:alpha val="52157"/>
            </a:srgb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4000" b="1" dirty="0">
                <a:solidFill>
                  <a:srgbClr val="FF0000"/>
                </a:solidFill>
                <a:highlight>
                  <a:srgbClr val="FFFFFF"/>
                </a:highlight>
              </a:rPr>
              <a:t>異常検知</a:t>
            </a:r>
            <a:endParaRPr kumimoji="1" lang="ja-JP" altLang="en-US" sz="4000" dirty="0">
              <a:solidFill>
                <a:schemeClr val="tx1"/>
              </a:solidFill>
            </a:endParaRPr>
          </a:p>
        </p:txBody>
      </p:sp>
      <p:sp>
        <p:nvSpPr>
          <p:cNvPr id="16" name="乗算記号 15">
            <a:extLst>
              <a:ext uri="{FF2B5EF4-FFF2-40B4-BE49-F238E27FC236}">
                <a16:creationId xmlns:a16="http://schemas.microsoft.com/office/drawing/2014/main" id="{F51F3DF3-5960-0A5A-3FDE-8B5703443282}"/>
              </a:ext>
            </a:extLst>
          </p:cNvPr>
          <p:cNvSpPr/>
          <p:nvPr/>
        </p:nvSpPr>
        <p:spPr>
          <a:xfrm>
            <a:off x="1811749" y="2806203"/>
            <a:ext cx="1818175" cy="1818175"/>
          </a:xfrm>
          <a:prstGeom prst="mathMultiply">
            <a:avLst>
              <a:gd name="adj1" fmla="val 14433"/>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28768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7843B11-6BA9-5E28-97F8-4F0D445A7782}"/>
              </a:ext>
            </a:extLst>
          </p:cNvPr>
          <p:cNvSpPr>
            <a:spLocks noGrp="1"/>
          </p:cNvSpPr>
          <p:nvPr>
            <p:ph type="body" sz="quarter" idx="14"/>
          </p:nvPr>
        </p:nvSpPr>
        <p:spPr/>
        <p:txBody>
          <a:bodyPr/>
          <a:lstStyle/>
          <a:p>
            <a:r>
              <a:rPr kumimoji="1" lang="ja-JP" altLang="en-US" dirty="0"/>
              <a:t>着想・背景</a:t>
            </a:r>
          </a:p>
        </p:txBody>
      </p:sp>
      <p:sp>
        <p:nvSpPr>
          <p:cNvPr id="4" name="テキスト ボックス 3">
            <a:extLst>
              <a:ext uri="{FF2B5EF4-FFF2-40B4-BE49-F238E27FC236}">
                <a16:creationId xmlns:a16="http://schemas.microsoft.com/office/drawing/2014/main" id="{E69CBB9E-057B-10BB-95FB-885F0918CD29}"/>
              </a:ext>
            </a:extLst>
          </p:cNvPr>
          <p:cNvSpPr txBox="1"/>
          <p:nvPr/>
        </p:nvSpPr>
        <p:spPr>
          <a:xfrm>
            <a:off x="415636" y="832660"/>
            <a:ext cx="9801081" cy="923330"/>
          </a:xfrm>
          <a:prstGeom prst="rect">
            <a:avLst/>
          </a:prstGeom>
          <a:noFill/>
        </p:spPr>
        <p:txBody>
          <a:bodyPr wrap="none" rtlCol="0">
            <a:spAutoFit/>
          </a:bodyPr>
          <a:lstStyle/>
          <a:p>
            <a:r>
              <a:rPr lang="ja-JP" altLang="en-US" dirty="0"/>
              <a:t>標準化ができていない背景には「何から始めたらいいかわからない」「改善する余力がない」といった声がある。</a:t>
            </a:r>
            <a:endParaRPr lang="en-US" altLang="ja-JP" dirty="0"/>
          </a:p>
          <a:p>
            <a:r>
              <a:rPr lang="ja-JP" altLang="en-US" dirty="0"/>
              <a:t>そのため</a:t>
            </a:r>
            <a:r>
              <a:rPr lang="en-US" altLang="ja-JP" dirty="0"/>
              <a:t>DTPS</a:t>
            </a:r>
            <a:r>
              <a:rPr lang="ja-JP" altLang="en-US" dirty="0"/>
              <a:t>や</a:t>
            </a:r>
            <a:r>
              <a:rPr lang="en-US" altLang="ja-JP" dirty="0"/>
              <a:t>TS</a:t>
            </a:r>
            <a:r>
              <a:rPr lang="ja-JP" altLang="en-US" dirty="0"/>
              <a:t>が</a:t>
            </a:r>
            <a:r>
              <a:rPr lang="en-US" altLang="ja-JP" dirty="0"/>
              <a:t>TPS</a:t>
            </a:r>
            <a:r>
              <a:rPr lang="ja-JP" altLang="en-US" dirty="0"/>
              <a:t>改善のカウンターパートとして活動に入り込んで支援しているが、</a:t>
            </a:r>
            <a:endParaRPr lang="en-US" altLang="ja-JP" dirty="0"/>
          </a:p>
          <a:p>
            <a:r>
              <a:rPr lang="ja-JP" altLang="en-US" dirty="0"/>
              <a:t>それでもなお標準化には時間と労力がかかっている。</a:t>
            </a:r>
            <a:endParaRPr lang="en-US" altLang="ja-JP" dirty="0"/>
          </a:p>
        </p:txBody>
      </p:sp>
      <p:pic>
        <p:nvPicPr>
          <p:cNvPr id="6" name="図 5">
            <a:extLst>
              <a:ext uri="{FF2B5EF4-FFF2-40B4-BE49-F238E27FC236}">
                <a16:creationId xmlns:a16="http://schemas.microsoft.com/office/drawing/2014/main" id="{194F7862-D1AC-7618-9F0A-C9EBF90BA7A3}"/>
              </a:ext>
            </a:extLst>
          </p:cNvPr>
          <p:cNvPicPr>
            <a:picLocks noChangeAspect="1"/>
          </p:cNvPicPr>
          <p:nvPr/>
        </p:nvPicPr>
        <p:blipFill>
          <a:blip r:embed="rId2"/>
          <a:srcRect l="2759" t="28754" r="9161" b="4745"/>
          <a:stretch/>
        </p:blipFill>
        <p:spPr>
          <a:xfrm>
            <a:off x="937972" y="1967319"/>
            <a:ext cx="4539097" cy="18222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吹き出し: 四角形 6">
            <a:extLst>
              <a:ext uri="{FF2B5EF4-FFF2-40B4-BE49-F238E27FC236}">
                <a16:creationId xmlns:a16="http://schemas.microsoft.com/office/drawing/2014/main" id="{7CF17D42-3B38-0F3C-080A-AF1F26EB7A5E}"/>
              </a:ext>
            </a:extLst>
          </p:cNvPr>
          <p:cNvSpPr/>
          <p:nvPr/>
        </p:nvSpPr>
        <p:spPr>
          <a:xfrm>
            <a:off x="5182878" y="2081971"/>
            <a:ext cx="5980427" cy="1468449"/>
          </a:xfrm>
          <a:prstGeom prst="wedgeRectCallout">
            <a:avLst>
              <a:gd name="adj1" fmla="val -66987"/>
              <a:gd name="adj2" fmla="val -925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CAN300TPS</a:t>
            </a:r>
            <a:r>
              <a:rPr kumimoji="1" lang="ja-JP" altLang="en-US" dirty="0"/>
              <a:t>では現状の</a:t>
            </a:r>
            <a:r>
              <a:rPr kumimoji="1" lang="ja-JP" altLang="en-US" sz="2000" b="1" dirty="0">
                <a:solidFill>
                  <a:srgbClr val="FF0000"/>
                </a:solidFill>
              </a:rPr>
              <a:t>物情を表すのに半年～</a:t>
            </a:r>
            <a:r>
              <a:rPr kumimoji="1" lang="en-US" altLang="ja-JP" sz="2000" b="1" dirty="0">
                <a:solidFill>
                  <a:srgbClr val="FF0000"/>
                </a:solidFill>
              </a:rPr>
              <a:t>1</a:t>
            </a:r>
            <a:r>
              <a:rPr kumimoji="1" lang="ja-JP" altLang="en-US" sz="2000" b="1" dirty="0">
                <a:solidFill>
                  <a:srgbClr val="FF0000"/>
                </a:solidFill>
              </a:rPr>
              <a:t>年</a:t>
            </a:r>
            <a:r>
              <a:rPr kumimoji="1" lang="ja-JP" altLang="en-US" dirty="0"/>
              <a:t>かかった。</a:t>
            </a:r>
            <a:endParaRPr kumimoji="1" lang="en-US" altLang="ja-JP" dirty="0"/>
          </a:p>
          <a:p>
            <a:pPr algn="ctr"/>
            <a:r>
              <a:rPr lang="ja-JP" altLang="en-US" dirty="0"/>
              <a:t>何も知らないところから業務理解するのが大変。</a:t>
            </a:r>
            <a:endParaRPr kumimoji="1" lang="en-US" altLang="ja-JP" dirty="0"/>
          </a:p>
          <a:p>
            <a:pPr algn="ctr"/>
            <a:r>
              <a:rPr lang="ja-JP" altLang="en-US" dirty="0"/>
              <a:t>五月雨で情報が増えていき</a:t>
            </a:r>
            <a:r>
              <a:rPr lang="ja-JP" altLang="en-US" sz="2000" b="1" dirty="0">
                <a:solidFill>
                  <a:srgbClr val="FF0000"/>
                </a:solidFill>
              </a:rPr>
              <a:t>何度も書き直し</a:t>
            </a:r>
            <a:r>
              <a:rPr lang="ja-JP" altLang="en-US" dirty="0"/>
              <a:t>が発生。</a:t>
            </a:r>
            <a:endParaRPr lang="en-US" altLang="ja-JP" dirty="0"/>
          </a:p>
          <a:p>
            <a:pPr algn="ctr"/>
            <a:r>
              <a:rPr kumimoji="1" lang="ja-JP" altLang="en-US" dirty="0"/>
              <a:t>時には</a:t>
            </a:r>
            <a:r>
              <a:rPr kumimoji="1" lang="en-US" altLang="ja-JP" dirty="0"/>
              <a:t>1</a:t>
            </a:r>
            <a:r>
              <a:rPr kumimoji="1" lang="ja-JP" altLang="en-US" dirty="0"/>
              <a:t>から書き直すこともあった。</a:t>
            </a:r>
          </a:p>
        </p:txBody>
      </p:sp>
      <p:pic>
        <p:nvPicPr>
          <p:cNvPr id="8" name="図 7">
            <a:extLst>
              <a:ext uri="{FF2B5EF4-FFF2-40B4-BE49-F238E27FC236}">
                <a16:creationId xmlns:a16="http://schemas.microsoft.com/office/drawing/2014/main" id="{7F3DAC56-036F-E237-B4E7-E2124DDB53BE}"/>
              </a:ext>
            </a:extLst>
          </p:cNvPr>
          <p:cNvPicPr>
            <a:picLocks noChangeAspect="1"/>
          </p:cNvPicPr>
          <p:nvPr/>
        </p:nvPicPr>
        <p:blipFill>
          <a:blip r:embed="rId3"/>
          <a:srcRect b="51085"/>
          <a:stretch/>
        </p:blipFill>
        <p:spPr>
          <a:xfrm>
            <a:off x="937972" y="4115560"/>
            <a:ext cx="6152865" cy="16540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図 8">
            <a:extLst>
              <a:ext uri="{FF2B5EF4-FFF2-40B4-BE49-F238E27FC236}">
                <a16:creationId xmlns:a16="http://schemas.microsoft.com/office/drawing/2014/main" id="{5F6F3266-1834-C1B0-A49A-BE9529F2A2C8}"/>
              </a:ext>
            </a:extLst>
          </p:cNvPr>
          <p:cNvPicPr>
            <a:picLocks noChangeAspect="1"/>
          </p:cNvPicPr>
          <p:nvPr/>
        </p:nvPicPr>
        <p:blipFill>
          <a:blip r:embed="rId4"/>
          <a:srcRect l="14471" b="25123"/>
          <a:stretch/>
        </p:blipFill>
        <p:spPr>
          <a:xfrm>
            <a:off x="2312000" y="4974852"/>
            <a:ext cx="4883905" cy="12932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吹き出し: 四角形 9">
            <a:extLst>
              <a:ext uri="{FF2B5EF4-FFF2-40B4-BE49-F238E27FC236}">
                <a16:creationId xmlns:a16="http://schemas.microsoft.com/office/drawing/2014/main" id="{217CA9DE-EFD4-793F-2DD0-E8C1B9219255}"/>
              </a:ext>
            </a:extLst>
          </p:cNvPr>
          <p:cNvSpPr/>
          <p:nvPr/>
        </p:nvSpPr>
        <p:spPr>
          <a:xfrm>
            <a:off x="6732460" y="4115560"/>
            <a:ext cx="4846312" cy="1073104"/>
          </a:xfrm>
          <a:prstGeom prst="wedgeRectCallout">
            <a:avLst>
              <a:gd name="adj1" fmla="val -64509"/>
              <a:gd name="adj2" fmla="val -108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情報遷移図や標準作業組合せ票も、</a:t>
            </a:r>
            <a:endParaRPr kumimoji="1" lang="en-US" altLang="ja-JP" dirty="0"/>
          </a:p>
          <a:p>
            <a:pPr algn="ctr"/>
            <a:r>
              <a:rPr kumimoji="1" lang="ja-JP" altLang="en-US" dirty="0"/>
              <a:t>物情と関連性があるものの</a:t>
            </a:r>
            <a:endParaRPr kumimoji="1" lang="en-US" altLang="ja-JP" dirty="0"/>
          </a:p>
          <a:p>
            <a:pPr algn="ctr"/>
            <a:r>
              <a:rPr kumimoji="1" lang="ja-JP" altLang="en-US" dirty="0"/>
              <a:t>それぞれ独立して作成しており、</a:t>
            </a:r>
            <a:r>
              <a:rPr kumimoji="1" lang="ja-JP" altLang="en-US" b="1" dirty="0">
                <a:solidFill>
                  <a:srgbClr val="FF0000"/>
                </a:solidFill>
              </a:rPr>
              <a:t>転記のムダ</a:t>
            </a:r>
            <a:r>
              <a:rPr kumimoji="1" lang="ja-JP" altLang="en-US" dirty="0"/>
              <a:t>がある。</a:t>
            </a:r>
          </a:p>
        </p:txBody>
      </p:sp>
    </p:spTree>
    <p:extLst>
      <p:ext uri="{BB962C8B-B14F-4D97-AF65-F5344CB8AC3E}">
        <p14:creationId xmlns:p14="http://schemas.microsoft.com/office/powerpoint/2010/main" val="2893363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7843B11-6BA9-5E28-97F8-4F0D445A7782}"/>
              </a:ext>
            </a:extLst>
          </p:cNvPr>
          <p:cNvSpPr>
            <a:spLocks noGrp="1"/>
          </p:cNvSpPr>
          <p:nvPr>
            <p:ph type="body" sz="quarter" idx="14"/>
          </p:nvPr>
        </p:nvSpPr>
        <p:spPr/>
        <p:txBody>
          <a:bodyPr/>
          <a:lstStyle/>
          <a:p>
            <a:r>
              <a:rPr kumimoji="1" lang="ja-JP" altLang="en-US" dirty="0"/>
              <a:t>着想・背景</a:t>
            </a:r>
          </a:p>
        </p:txBody>
      </p:sp>
      <p:sp>
        <p:nvSpPr>
          <p:cNvPr id="4" name="テキスト ボックス 3">
            <a:extLst>
              <a:ext uri="{FF2B5EF4-FFF2-40B4-BE49-F238E27FC236}">
                <a16:creationId xmlns:a16="http://schemas.microsoft.com/office/drawing/2014/main" id="{E69CBB9E-057B-10BB-95FB-885F0918CD29}"/>
              </a:ext>
            </a:extLst>
          </p:cNvPr>
          <p:cNvSpPr txBox="1"/>
          <p:nvPr/>
        </p:nvSpPr>
        <p:spPr>
          <a:xfrm>
            <a:off x="415636" y="832660"/>
            <a:ext cx="10281982" cy="369332"/>
          </a:xfrm>
          <a:prstGeom prst="rect">
            <a:avLst/>
          </a:prstGeom>
          <a:noFill/>
        </p:spPr>
        <p:txBody>
          <a:bodyPr wrap="none" rtlCol="0">
            <a:spAutoFit/>
          </a:bodyPr>
          <a:lstStyle/>
          <a:p>
            <a:r>
              <a:rPr lang="ja-JP" altLang="en-US" dirty="0"/>
              <a:t>ごく一部の標準化が完了した業務でも、カウンターパートなしでは異常検知と改善のサイクルを維持できない。</a:t>
            </a:r>
            <a:endParaRPr lang="en-US" altLang="ja-JP" dirty="0"/>
          </a:p>
        </p:txBody>
      </p:sp>
      <p:pic>
        <p:nvPicPr>
          <p:cNvPr id="12" name="図 11">
            <a:extLst>
              <a:ext uri="{FF2B5EF4-FFF2-40B4-BE49-F238E27FC236}">
                <a16:creationId xmlns:a16="http://schemas.microsoft.com/office/drawing/2014/main" id="{59FAD0A5-0AF5-EB31-E4B1-448970123FF8}"/>
              </a:ext>
            </a:extLst>
          </p:cNvPr>
          <p:cNvPicPr>
            <a:picLocks noChangeAspect="1"/>
          </p:cNvPicPr>
          <p:nvPr/>
        </p:nvPicPr>
        <p:blipFill>
          <a:blip r:embed="rId2"/>
          <a:stretch>
            <a:fillRect/>
          </a:stretch>
        </p:blipFill>
        <p:spPr>
          <a:xfrm>
            <a:off x="742207" y="1473128"/>
            <a:ext cx="6405042" cy="346625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吹き出し: 四角形 6">
            <a:extLst>
              <a:ext uri="{FF2B5EF4-FFF2-40B4-BE49-F238E27FC236}">
                <a16:creationId xmlns:a16="http://schemas.microsoft.com/office/drawing/2014/main" id="{7CF17D42-3B38-0F3C-080A-AF1F26EB7A5E}"/>
              </a:ext>
            </a:extLst>
          </p:cNvPr>
          <p:cNvSpPr/>
          <p:nvPr/>
        </p:nvSpPr>
        <p:spPr>
          <a:xfrm>
            <a:off x="6327082" y="2433239"/>
            <a:ext cx="5318654" cy="1942818"/>
          </a:xfrm>
          <a:prstGeom prst="wedgeRectCallout">
            <a:avLst>
              <a:gd name="adj1" fmla="val -66987"/>
              <a:gd name="adj2" fmla="val -925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CANSRST</a:t>
            </a:r>
            <a:r>
              <a:rPr kumimoji="1" lang="ja-JP" altLang="en-US" dirty="0"/>
              <a:t>では異常検知の仕組みを組み込んで、</a:t>
            </a:r>
            <a:endParaRPr kumimoji="1" lang="en-US" altLang="ja-JP" dirty="0"/>
          </a:p>
          <a:p>
            <a:pPr algn="ctr"/>
            <a:r>
              <a:rPr lang="ja-JP" altLang="en-US" dirty="0"/>
              <a:t>カウンターパートが裏側で定期的に観察している。</a:t>
            </a:r>
            <a:endParaRPr lang="en-US" altLang="ja-JP" dirty="0"/>
          </a:p>
          <a:p>
            <a:pPr algn="ctr"/>
            <a:endParaRPr kumimoji="1" lang="en-US" altLang="ja-JP" dirty="0"/>
          </a:p>
          <a:p>
            <a:pPr algn="ctr"/>
            <a:r>
              <a:rPr lang="ja-JP" altLang="en-US" dirty="0"/>
              <a:t>しばしば標準外のプロセスを踏んでいるが、</a:t>
            </a:r>
            <a:endParaRPr lang="en-US" altLang="ja-JP" dirty="0"/>
          </a:p>
          <a:p>
            <a:pPr algn="ctr"/>
            <a:r>
              <a:rPr kumimoji="1" lang="ja-JP" altLang="en-US" dirty="0"/>
              <a:t>カウンターパートがフォローしなければ</a:t>
            </a:r>
            <a:endParaRPr kumimoji="1" lang="en-US" altLang="ja-JP" dirty="0"/>
          </a:p>
          <a:p>
            <a:pPr algn="ctr"/>
            <a:r>
              <a:rPr kumimoji="1" lang="ja-JP" altLang="en-US" dirty="0"/>
              <a:t>標準業務がメンテナンスされることはない。</a:t>
            </a:r>
          </a:p>
        </p:txBody>
      </p:sp>
    </p:spTree>
    <p:extLst>
      <p:ext uri="{BB962C8B-B14F-4D97-AF65-F5344CB8AC3E}">
        <p14:creationId xmlns:p14="http://schemas.microsoft.com/office/powerpoint/2010/main" val="3328366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2FCF6BB8-758C-D634-D33C-A9585147FFC3}"/>
              </a:ext>
            </a:extLst>
          </p:cNvPr>
          <p:cNvSpPr/>
          <p:nvPr/>
        </p:nvSpPr>
        <p:spPr>
          <a:xfrm>
            <a:off x="812895" y="1812047"/>
            <a:ext cx="5576933" cy="4602693"/>
          </a:xfrm>
          <a:prstGeom prst="rect">
            <a:avLst/>
          </a:prstGeom>
          <a:solidFill>
            <a:srgbClr val="E03253">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173674F-5563-6E59-794B-F79BF22C5D26}"/>
              </a:ext>
            </a:extLst>
          </p:cNvPr>
          <p:cNvSpPr/>
          <p:nvPr/>
        </p:nvSpPr>
        <p:spPr>
          <a:xfrm>
            <a:off x="6403998" y="1812047"/>
            <a:ext cx="4975108" cy="4602693"/>
          </a:xfrm>
          <a:prstGeom prst="rect">
            <a:avLst/>
          </a:prstGeom>
          <a:solidFill>
            <a:srgbClr val="0070C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13EF6C7-5947-9670-3899-AB467E3F45B4}"/>
              </a:ext>
            </a:extLst>
          </p:cNvPr>
          <p:cNvSpPr/>
          <p:nvPr/>
        </p:nvSpPr>
        <p:spPr>
          <a:xfrm>
            <a:off x="812894" y="1812048"/>
            <a:ext cx="10566211" cy="46026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b="1" dirty="0">
                <a:solidFill>
                  <a:schemeClr val="tx1"/>
                </a:solidFill>
              </a:rPr>
              <a:t>TPS</a:t>
            </a:r>
            <a:r>
              <a:rPr kumimoji="1" lang="ja-JP" altLang="en-US" b="1" dirty="0">
                <a:solidFill>
                  <a:schemeClr val="tx1"/>
                </a:solidFill>
              </a:rPr>
              <a:t>プラットフォーム</a:t>
            </a:r>
          </a:p>
        </p:txBody>
      </p:sp>
      <p:sp>
        <p:nvSpPr>
          <p:cNvPr id="2" name="テキスト プレースホルダー 1">
            <a:extLst>
              <a:ext uri="{FF2B5EF4-FFF2-40B4-BE49-F238E27FC236}">
                <a16:creationId xmlns:a16="http://schemas.microsoft.com/office/drawing/2014/main" id="{97843B11-6BA9-5E28-97F8-4F0D445A7782}"/>
              </a:ext>
            </a:extLst>
          </p:cNvPr>
          <p:cNvSpPr>
            <a:spLocks noGrp="1"/>
          </p:cNvSpPr>
          <p:nvPr>
            <p:ph type="body" sz="quarter" idx="14"/>
          </p:nvPr>
        </p:nvSpPr>
        <p:spPr/>
        <p:txBody>
          <a:bodyPr/>
          <a:lstStyle/>
          <a:p>
            <a:r>
              <a:rPr kumimoji="1" lang="ja-JP" altLang="en-US" dirty="0"/>
              <a:t>着想・背景</a:t>
            </a:r>
          </a:p>
        </p:txBody>
      </p:sp>
      <p:sp>
        <p:nvSpPr>
          <p:cNvPr id="3" name="テキスト ボックス 2">
            <a:extLst>
              <a:ext uri="{FF2B5EF4-FFF2-40B4-BE49-F238E27FC236}">
                <a16:creationId xmlns:a16="http://schemas.microsoft.com/office/drawing/2014/main" id="{0EEE464C-6681-97A9-4F5D-7F6ECE9BA2DB}"/>
              </a:ext>
            </a:extLst>
          </p:cNvPr>
          <p:cNvSpPr txBox="1"/>
          <p:nvPr/>
        </p:nvSpPr>
        <p:spPr>
          <a:xfrm>
            <a:off x="317241" y="806783"/>
            <a:ext cx="10285188" cy="923330"/>
          </a:xfrm>
          <a:prstGeom prst="rect">
            <a:avLst/>
          </a:prstGeom>
          <a:noFill/>
        </p:spPr>
        <p:txBody>
          <a:bodyPr wrap="none" rtlCol="0">
            <a:spAutoFit/>
          </a:bodyPr>
          <a:lstStyle/>
          <a:p>
            <a:r>
              <a:rPr kumimoji="1" lang="ja-JP" altLang="en-US" dirty="0"/>
              <a:t>標準化と異常検知・改善のサイクルをトータルで支援する</a:t>
            </a:r>
            <a:r>
              <a:rPr kumimoji="1" lang="en-US" altLang="ja-JP" dirty="0"/>
              <a:t>TPS</a:t>
            </a:r>
            <a:r>
              <a:rPr kumimoji="1" lang="ja-JP" altLang="en-US" dirty="0"/>
              <a:t>プラットフォームを考えた。</a:t>
            </a:r>
            <a:endParaRPr kumimoji="1" lang="en-US" altLang="ja-JP" dirty="0"/>
          </a:p>
          <a:p>
            <a:r>
              <a:rPr kumimoji="1" lang="ja-JP" altLang="en-US" dirty="0"/>
              <a:t>このプラットフォームにより、誰でも最小限の労力で</a:t>
            </a:r>
            <a:r>
              <a:rPr kumimoji="1" lang="en-US" altLang="ja-JP" dirty="0"/>
              <a:t>TPS</a:t>
            </a:r>
            <a:r>
              <a:rPr kumimoji="1" lang="ja-JP" altLang="en-US" dirty="0"/>
              <a:t>の思想に基いた改善活動を実践・継続できる。</a:t>
            </a:r>
            <a:endParaRPr kumimoji="1" lang="en-US" altLang="ja-JP" dirty="0"/>
          </a:p>
          <a:p>
            <a:r>
              <a:rPr lang="ja-JP" altLang="en-US" dirty="0"/>
              <a:t>生産性向上・全体最適化は国内企業共通のテーマであり、外販展開にも十分なポテンシャルがあると考えた。</a:t>
            </a:r>
            <a:endParaRPr lang="en-US" altLang="ja-JP" dirty="0"/>
          </a:p>
        </p:txBody>
      </p:sp>
      <p:pic>
        <p:nvPicPr>
          <p:cNvPr id="7" name="図 6">
            <a:extLst>
              <a:ext uri="{FF2B5EF4-FFF2-40B4-BE49-F238E27FC236}">
                <a16:creationId xmlns:a16="http://schemas.microsoft.com/office/drawing/2014/main" id="{D4DE27FB-496A-3690-0385-05CDD0C86495}"/>
              </a:ext>
            </a:extLst>
          </p:cNvPr>
          <p:cNvPicPr>
            <a:picLocks noChangeAspect="1"/>
          </p:cNvPicPr>
          <p:nvPr/>
        </p:nvPicPr>
        <p:blipFill>
          <a:blip r:embed="rId2"/>
          <a:srcRect l="14471" b="25123"/>
          <a:stretch/>
        </p:blipFill>
        <p:spPr>
          <a:xfrm>
            <a:off x="1450628" y="3655530"/>
            <a:ext cx="4402098" cy="1165649"/>
          </a:xfrm>
          <a:prstGeom prst="rect">
            <a:avLst/>
          </a:prstGeom>
        </p:spPr>
      </p:pic>
      <p:sp>
        <p:nvSpPr>
          <p:cNvPr id="8" name="テキスト ボックス 7">
            <a:extLst>
              <a:ext uri="{FF2B5EF4-FFF2-40B4-BE49-F238E27FC236}">
                <a16:creationId xmlns:a16="http://schemas.microsoft.com/office/drawing/2014/main" id="{5D019AD6-00D2-7AD9-D8AE-D3D065D97641}"/>
              </a:ext>
            </a:extLst>
          </p:cNvPr>
          <p:cNvSpPr txBox="1"/>
          <p:nvPr/>
        </p:nvSpPr>
        <p:spPr>
          <a:xfrm>
            <a:off x="2325007" y="3755104"/>
            <a:ext cx="2359940" cy="738664"/>
          </a:xfrm>
          <a:prstGeom prst="rect">
            <a:avLst/>
          </a:prstGeom>
          <a:noFill/>
        </p:spPr>
        <p:txBody>
          <a:bodyPr wrap="none" rtlCol="0">
            <a:spAutoFit/>
          </a:bodyPr>
          <a:lstStyle/>
          <a:p>
            <a:pPr algn="ctr"/>
            <a:r>
              <a:rPr kumimoji="1" lang="ja-JP" altLang="en-US" sz="2400" b="1" dirty="0">
                <a:highlight>
                  <a:srgbClr val="FFFF00"/>
                </a:highlight>
              </a:rPr>
              <a:t>表</a:t>
            </a:r>
            <a:r>
              <a:rPr kumimoji="1" lang="ja-JP" altLang="en-US" strike="sngStrike" dirty="0">
                <a:highlight>
                  <a:srgbClr val="FFFF00"/>
                </a:highlight>
              </a:rPr>
              <a:t>標</a:t>
            </a:r>
            <a:r>
              <a:rPr kumimoji="1" lang="ja-JP" altLang="en-US" dirty="0">
                <a:highlight>
                  <a:srgbClr val="FFFF00"/>
                </a:highlight>
              </a:rPr>
              <a:t>準作業組合せ票</a:t>
            </a:r>
            <a:endParaRPr kumimoji="1" lang="en-US" altLang="ja-JP" dirty="0">
              <a:highlight>
                <a:srgbClr val="FFFF00"/>
              </a:highlight>
            </a:endParaRPr>
          </a:p>
          <a:p>
            <a:pPr algn="ctr"/>
            <a:r>
              <a:rPr lang="ja-JP" altLang="en-US" dirty="0">
                <a:highlight>
                  <a:srgbClr val="FFFF00"/>
                </a:highlight>
              </a:rPr>
              <a:t>（エクセルからの脱却）</a:t>
            </a:r>
            <a:endParaRPr kumimoji="1" lang="ja-JP" altLang="en-US" dirty="0">
              <a:highlight>
                <a:srgbClr val="FFFF00"/>
              </a:highlight>
            </a:endParaRPr>
          </a:p>
        </p:txBody>
      </p:sp>
      <p:pic>
        <p:nvPicPr>
          <p:cNvPr id="9" name="図 8">
            <a:extLst>
              <a:ext uri="{FF2B5EF4-FFF2-40B4-BE49-F238E27FC236}">
                <a16:creationId xmlns:a16="http://schemas.microsoft.com/office/drawing/2014/main" id="{40A41B16-82DE-E4C5-6BE1-B18AF040802A}"/>
              </a:ext>
            </a:extLst>
          </p:cNvPr>
          <p:cNvPicPr>
            <a:picLocks noChangeAspect="1"/>
          </p:cNvPicPr>
          <p:nvPr/>
        </p:nvPicPr>
        <p:blipFill>
          <a:blip r:embed="rId3"/>
          <a:srcRect r="44510" b="51085"/>
          <a:stretch/>
        </p:blipFill>
        <p:spPr>
          <a:xfrm>
            <a:off x="6314021" y="2275470"/>
            <a:ext cx="2501271" cy="1211771"/>
          </a:xfrm>
          <a:prstGeom prst="rect">
            <a:avLst/>
          </a:prstGeom>
        </p:spPr>
      </p:pic>
      <p:pic>
        <p:nvPicPr>
          <p:cNvPr id="10" name="図 9">
            <a:extLst>
              <a:ext uri="{FF2B5EF4-FFF2-40B4-BE49-F238E27FC236}">
                <a16:creationId xmlns:a16="http://schemas.microsoft.com/office/drawing/2014/main" id="{4191BBCC-BF03-F256-5BFE-BE88EB4D4F87}"/>
              </a:ext>
            </a:extLst>
          </p:cNvPr>
          <p:cNvPicPr>
            <a:picLocks noChangeAspect="1"/>
          </p:cNvPicPr>
          <p:nvPr/>
        </p:nvPicPr>
        <p:blipFill>
          <a:blip r:embed="rId4"/>
          <a:srcRect b="47207"/>
          <a:stretch/>
        </p:blipFill>
        <p:spPr>
          <a:xfrm>
            <a:off x="4067684" y="5059914"/>
            <a:ext cx="3834512" cy="1134179"/>
          </a:xfrm>
          <a:prstGeom prst="rect">
            <a:avLst/>
          </a:prstGeom>
        </p:spPr>
      </p:pic>
      <p:sp>
        <p:nvSpPr>
          <p:cNvPr id="11" name="テキスト ボックス 10">
            <a:extLst>
              <a:ext uri="{FF2B5EF4-FFF2-40B4-BE49-F238E27FC236}">
                <a16:creationId xmlns:a16="http://schemas.microsoft.com/office/drawing/2014/main" id="{92F6B0B0-ED96-75B6-8C34-3C8C81D304CB}"/>
              </a:ext>
            </a:extLst>
          </p:cNvPr>
          <p:cNvSpPr txBox="1"/>
          <p:nvPr/>
        </p:nvSpPr>
        <p:spPr>
          <a:xfrm>
            <a:off x="5011858" y="5627452"/>
            <a:ext cx="2359940" cy="646331"/>
          </a:xfrm>
          <a:prstGeom prst="rect">
            <a:avLst/>
          </a:prstGeom>
          <a:noFill/>
        </p:spPr>
        <p:txBody>
          <a:bodyPr wrap="none" rtlCol="0">
            <a:spAutoFit/>
          </a:bodyPr>
          <a:lstStyle/>
          <a:p>
            <a:pPr algn="ctr"/>
            <a:r>
              <a:rPr kumimoji="1" lang="ja-JP" altLang="en-US" dirty="0">
                <a:highlight>
                  <a:srgbClr val="FFFF00"/>
                </a:highlight>
              </a:rPr>
              <a:t>カイゼン</a:t>
            </a:r>
            <a:endParaRPr kumimoji="1" lang="en-US" altLang="ja-JP" dirty="0">
              <a:highlight>
                <a:srgbClr val="FFFF00"/>
              </a:highlight>
            </a:endParaRPr>
          </a:p>
          <a:p>
            <a:pPr algn="ctr"/>
            <a:r>
              <a:rPr lang="ja-JP" altLang="en-US" dirty="0">
                <a:highlight>
                  <a:srgbClr val="FFFF00"/>
                </a:highlight>
              </a:rPr>
              <a:t>（エクセルからの脱却）</a:t>
            </a:r>
            <a:endParaRPr kumimoji="1" lang="ja-JP" altLang="en-US" dirty="0">
              <a:highlight>
                <a:srgbClr val="FFFF00"/>
              </a:highlight>
            </a:endParaRPr>
          </a:p>
        </p:txBody>
      </p:sp>
      <p:pic>
        <p:nvPicPr>
          <p:cNvPr id="12" name="図 11">
            <a:extLst>
              <a:ext uri="{FF2B5EF4-FFF2-40B4-BE49-F238E27FC236}">
                <a16:creationId xmlns:a16="http://schemas.microsoft.com/office/drawing/2014/main" id="{9F177A79-5F82-DB6F-9908-4577B06EEE6C}"/>
              </a:ext>
            </a:extLst>
          </p:cNvPr>
          <p:cNvPicPr>
            <a:picLocks noChangeAspect="1"/>
          </p:cNvPicPr>
          <p:nvPr/>
        </p:nvPicPr>
        <p:blipFill>
          <a:blip r:embed="rId5"/>
          <a:srcRect b="22026"/>
          <a:stretch/>
        </p:blipFill>
        <p:spPr>
          <a:xfrm>
            <a:off x="6732463" y="3675071"/>
            <a:ext cx="4119418" cy="1146108"/>
          </a:xfrm>
          <a:prstGeom prst="rect">
            <a:avLst/>
          </a:prstGeom>
        </p:spPr>
      </p:pic>
      <p:sp>
        <p:nvSpPr>
          <p:cNvPr id="13" name="テキスト ボックス 12">
            <a:extLst>
              <a:ext uri="{FF2B5EF4-FFF2-40B4-BE49-F238E27FC236}">
                <a16:creationId xmlns:a16="http://schemas.microsoft.com/office/drawing/2014/main" id="{EC36E29A-24C9-76CF-323D-5B9CF521C407}"/>
              </a:ext>
            </a:extLst>
          </p:cNvPr>
          <p:cNvSpPr txBox="1"/>
          <p:nvPr/>
        </p:nvSpPr>
        <p:spPr>
          <a:xfrm>
            <a:off x="7612203" y="3771435"/>
            <a:ext cx="2359940" cy="738664"/>
          </a:xfrm>
          <a:prstGeom prst="rect">
            <a:avLst/>
          </a:prstGeom>
          <a:noFill/>
        </p:spPr>
        <p:txBody>
          <a:bodyPr wrap="none" rtlCol="0">
            <a:spAutoFit/>
          </a:bodyPr>
          <a:lstStyle/>
          <a:p>
            <a:pPr algn="ctr"/>
            <a:r>
              <a:rPr kumimoji="1" lang="ja-JP" altLang="en-US" sz="2400" b="1" dirty="0">
                <a:highlight>
                  <a:srgbClr val="FFFF00"/>
                </a:highlight>
              </a:rPr>
              <a:t>標</a:t>
            </a:r>
            <a:r>
              <a:rPr kumimoji="1" lang="ja-JP" altLang="en-US" dirty="0">
                <a:highlight>
                  <a:srgbClr val="FFFF00"/>
                </a:highlight>
              </a:rPr>
              <a:t>準作業組合せ票</a:t>
            </a:r>
            <a:endParaRPr kumimoji="1" lang="en-US" altLang="ja-JP" dirty="0">
              <a:highlight>
                <a:srgbClr val="FFFF00"/>
              </a:highlight>
            </a:endParaRPr>
          </a:p>
          <a:p>
            <a:pPr algn="ctr"/>
            <a:r>
              <a:rPr lang="ja-JP" altLang="en-US" dirty="0">
                <a:highlight>
                  <a:srgbClr val="FFFF00"/>
                </a:highlight>
              </a:rPr>
              <a:t>（エクセルからの脱却）</a:t>
            </a:r>
            <a:endParaRPr kumimoji="1" lang="ja-JP" altLang="en-US" dirty="0">
              <a:highlight>
                <a:srgbClr val="FFFF00"/>
              </a:highlight>
            </a:endParaRPr>
          </a:p>
        </p:txBody>
      </p:sp>
      <p:cxnSp>
        <p:nvCxnSpPr>
          <p:cNvPr id="14" name="直線矢印コネクタ 13">
            <a:extLst>
              <a:ext uri="{FF2B5EF4-FFF2-40B4-BE49-F238E27FC236}">
                <a16:creationId xmlns:a16="http://schemas.microsoft.com/office/drawing/2014/main" id="{D9228642-405D-2FB0-2BAB-F6B94820A5A2}"/>
              </a:ext>
            </a:extLst>
          </p:cNvPr>
          <p:cNvCxnSpPr>
            <a:cxnSpLocks/>
          </p:cNvCxnSpPr>
          <p:nvPr/>
        </p:nvCxnSpPr>
        <p:spPr>
          <a:xfrm flipV="1">
            <a:off x="6829879" y="4420856"/>
            <a:ext cx="1064441" cy="130006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497527B2-762B-ECA2-D7FB-3073BD58D042}"/>
              </a:ext>
            </a:extLst>
          </p:cNvPr>
          <p:cNvCxnSpPr>
            <a:cxnSpLocks/>
          </p:cNvCxnSpPr>
          <p:nvPr/>
        </p:nvCxnSpPr>
        <p:spPr>
          <a:xfrm>
            <a:off x="3978086" y="4527135"/>
            <a:ext cx="1601965" cy="126652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6" name="テキスト ボックス 15">
            <a:extLst>
              <a:ext uri="{FF2B5EF4-FFF2-40B4-BE49-F238E27FC236}">
                <a16:creationId xmlns:a16="http://schemas.microsoft.com/office/drawing/2014/main" id="{AC8360AB-2463-3FD0-04A1-89EA9BDD552C}"/>
              </a:ext>
            </a:extLst>
          </p:cNvPr>
          <p:cNvSpPr txBox="1"/>
          <p:nvPr/>
        </p:nvSpPr>
        <p:spPr>
          <a:xfrm>
            <a:off x="3556834" y="5059914"/>
            <a:ext cx="1527982" cy="369332"/>
          </a:xfrm>
          <a:prstGeom prst="rect">
            <a:avLst/>
          </a:prstGeom>
          <a:noFill/>
        </p:spPr>
        <p:txBody>
          <a:bodyPr wrap="none" rtlCol="0">
            <a:spAutoFit/>
          </a:bodyPr>
          <a:lstStyle/>
          <a:p>
            <a:pPr algn="ctr"/>
            <a:r>
              <a:rPr kumimoji="1" lang="ja-JP" altLang="en-US" dirty="0">
                <a:highlight>
                  <a:srgbClr val="FFFF00"/>
                </a:highlight>
              </a:rPr>
              <a:t>課題の顕在化</a:t>
            </a:r>
          </a:p>
        </p:txBody>
      </p:sp>
      <p:cxnSp>
        <p:nvCxnSpPr>
          <p:cNvPr id="17" name="直線矢印コネクタ 16">
            <a:extLst>
              <a:ext uri="{FF2B5EF4-FFF2-40B4-BE49-F238E27FC236}">
                <a16:creationId xmlns:a16="http://schemas.microsoft.com/office/drawing/2014/main" id="{3893584A-EBAD-CA8E-5CE8-6C39582411C5}"/>
              </a:ext>
            </a:extLst>
          </p:cNvPr>
          <p:cNvCxnSpPr>
            <a:cxnSpLocks/>
          </p:cNvCxnSpPr>
          <p:nvPr/>
        </p:nvCxnSpPr>
        <p:spPr>
          <a:xfrm flipH="1">
            <a:off x="7798409" y="4517220"/>
            <a:ext cx="1728532" cy="158811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8" name="テキスト ボックス 17">
            <a:extLst>
              <a:ext uri="{FF2B5EF4-FFF2-40B4-BE49-F238E27FC236}">
                <a16:creationId xmlns:a16="http://schemas.microsoft.com/office/drawing/2014/main" id="{6056798C-ADB8-921B-ED08-3C6658B680E4}"/>
              </a:ext>
            </a:extLst>
          </p:cNvPr>
          <p:cNvSpPr txBox="1"/>
          <p:nvPr/>
        </p:nvSpPr>
        <p:spPr>
          <a:xfrm>
            <a:off x="8146502" y="5371706"/>
            <a:ext cx="1527982" cy="369332"/>
          </a:xfrm>
          <a:prstGeom prst="rect">
            <a:avLst/>
          </a:prstGeom>
          <a:noFill/>
        </p:spPr>
        <p:txBody>
          <a:bodyPr wrap="none" rtlCol="0">
            <a:spAutoFit/>
          </a:bodyPr>
          <a:lstStyle/>
          <a:p>
            <a:pPr algn="ctr"/>
            <a:r>
              <a:rPr kumimoji="1" lang="ja-JP" altLang="en-US" dirty="0">
                <a:highlight>
                  <a:srgbClr val="FFFF00"/>
                </a:highlight>
              </a:rPr>
              <a:t>課題の顕在化</a:t>
            </a:r>
          </a:p>
        </p:txBody>
      </p:sp>
      <p:cxnSp>
        <p:nvCxnSpPr>
          <p:cNvPr id="19" name="直線矢印コネクタ 18">
            <a:extLst>
              <a:ext uri="{FF2B5EF4-FFF2-40B4-BE49-F238E27FC236}">
                <a16:creationId xmlns:a16="http://schemas.microsoft.com/office/drawing/2014/main" id="{A496E1BA-FC68-B535-B65A-E436A8B881B6}"/>
              </a:ext>
            </a:extLst>
          </p:cNvPr>
          <p:cNvCxnSpPr>
            <a:cxnSpLocks/>
            <a:stCxn id="13" idx="0"/>
            <a:endCxn id="27" idx="3"/>
          </p:cNvCxnSpPr>
          <p:nvPr/>
        </p:nvCxnSpPr>
        <p:spPr>
          <a:xfrm flipH="1" flipV="1">
            <a:off x="7482617" y="2775329"/>
            <a:ext cx="1309556" cy="99610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0" name="楕円 19">
            <a:extLst>
              <a:ext uri="{FF2B5EF4-FFF2-40B4-BE49-F238E27FC236}">
                <a16:creationId xmlns:a16="http://schemas.microsoft.com/office/drawing/2014/main" id="{3DEC943B-18D0-19F5-7B2A-C20CA469D55E}"/>
              </a:ext>
            </a:extLst>
          </p:cNvPr>
          <p:cNvSpPr/>
          <p:nvPr/>
        </p:nvSpPr>
        <p:spPr>
          <a:xfrm>
            <a:off x="9034074" y="4626332"/>
            <a:ext cx="1957972" cy="5992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sz="1400" dirty="0"/>
              <a:t>標準外作業や遅れを</a:t>
            </a:r>
            <a:endParaRPr lang="en-US" altLang="ja-JP" sz="1400" dirty="0"/>
          </a:p>
          <a:p>
            <a:pPr algn="ctr"/>
            <a:r>
              <a:rPr lang="ja-JP" altLang="en-US" sz="1400" dirty="0"/>
              <a:t>異常として検知</a:t>
            </a:r>
            <a:endParaRPr lang="en-US" altLang="ja-JP" sz="1400" dirty="0"/>
          </a:p>
        </p:txBody>
      </p:sp>
      <p:sp>
        <p:nvSpPr>
          <p:cNvPr id="21" name="テキスト ボックス 20">
            <a:extLst>
              <a:ext uri="{FF2B5EF4-FFF2-40B4-BE49-F238E27FC236}">
                <a16:creationId xmlns:a16="http://schemas.microsoft.com/office/drawing/2014/main" id="{C376DBAA-583E-F137-8191-8488999B9D24}"/>
              </a:ext>
            </a:extLst>
          </p:cNvPr>
          <p:cNvSpPr txBox="1"/>
          <p:nvPr/>
        </p:nvSpPr>
        <p:spPr>
          <a:xfrm>
            <a:off x="6079253" y="4626332"/>
            <a:ext cx="2608407" cy="646331"/>
          </a:xfrm>
          <a:prstGeom prst="rect">
            <a:avLst/>
          </a:prstGeom>
          <a:noFill/>
        </p:spPr>
        <p:txBody>
          <a:bodyPr wrap="none" rtlCol="0">
            <a:spAutoFit/>
          </a:bodyPr>
          <a:lstStyle/>
          <a:p>
            <a:pPr algn="ctr"/>
            <a:r>
              <a:rPr kumimoji="1" lang="ja-JP" altLang="en-US" dirty="0">
                <a:highlight>
                  <a:srgbClr val="FFFF00"/>
                </a:highlight>
              </a:rPr>
              <a:t>標準作業の定義</a:t>
            </a:r>
            <a:endParaRPr kumimoji="1" lang="en-US" altLang="ja-JP" dirty="0">
              <a:highlight>
                <a:srgbClr val="FFFF00"/>
              </a:highlight>
            </a:endParaRPr>
          </a:p>
          <a:p>
            <a:pPr algn="ctr"/>
            <a:r>
              <a:rPr kumimoji="1" lang="ja-JP" altLang="en-US" dirty="0">
                <a:highlight>
                  <a:srgbClr val="FFFF00"/>
                </a:highlight>
              </a:rPr>
              <a:t>（良品条件・品質基準）</a:t>
            </a:r>
          </a:p>
        </p:txBody>
      </p:sp>
      <p:sp>
        <p:nvSpPr>
          <p:cNvPr id="22" name="テキスト ボックス 21">
            <a:extLst>
              <a:ext uri="{FF2B5EF4-FFF2-40B4-BE49-F238E27FC236}">
                <a16:creationId xmlns:a16="http://schemas.microsoft.com/office/drawing/2014/main" id="{D8CA90E1-57AF-BD81-BC2B-87353BF6811A}"/>
              </a:ext>
            </a:extLst>
          </p:cNvPr>
          <p:cNvSpPr txBox="1"/>
          <p:nvPr/>
        </p:nvSpPr>
        <p:spPr>
          <a:xfrm>
            <a:off x="812895" y="1920307"/>
            <a:ext cx="1675459" cy="400110"/>
          </a:xfrm>
          <a:prstGeom prst="rect">
            <a:avLst/>
          </a:prstGeom>
          <a:noFill/>
        </p:spPr>
        <p:txBody>
          <a:bodyPr wrap="none" rtlCol="0">
            <a:spAutoFit/>
          </a:bodyPr>
          <a:lstStyle/>
          <a:p>
            <a:r>
              <a:rPr kumimoji="1" lang="ja-JP" altLang="en-US" sz="2000" b="1" dirty="0">
                <a:solidFill>
                  <a:srgbClr val="0070C0"/>
                </a:solidFill>
                <a:effectLst>
                  <a:outerShdw blurRad="38100" dist="38100" dir="2700000" algn="tl">
                    <a:srgbClr val="000000">
                      <a:alpha val="43137"/>
                    </a:srgbClr>
                  </a:outerShdw>
                </a:effectLst>
              </a:rPr>
              <a:t>標準化</a:t>
            </a:r>
            <a:r>
              <a:rPr kumimoji="1" lang="ja-JP" altLang="en-US" sz="2000" b="1" dirty="0">
                <a:effectLst>
                  <a:outerShdw blurRad="38100" dist="38100" dir="2700000" algn="tl">
                    <a:srgbClr val="000000">
                      <a:alpha val="43137"/>
                    </a:srgbClr>
                  </a:outerShdw>
                </a:effectLst>
              </a:rPr>
              <a:t>を支援</a:t>
            </a:r>
          </a:p>
        </p:txBody>
      </p:sp>
      <p:sp>
        <p:nvSpPr>
          <p:cNvPr id="23" name="テキスト ボックス 22">
            <a:extLst>
              <a:ext uri="{FF2B5EF4-FFF2-40B4-BE49-F238E27FC236}">
                <a16:creationId xmlns:a16="http://schemas.microsoft.com/office/drawing/2014/main" id="{6046E71A-3F9E-7292-3705-427DADA72456}"/>
              </a:ext>
            </a:extLst>
          </p:cNvPr>
          <p:cNvSpPr txBox="1"/>
          <p:nvPr/>
        </p:nvSpPr>
        <p:spPr>
          <a:xfrm>
            <a:off x="7717590" y="1920307"/>
            <a:ext cx="3690434" cy="400110"/>
          </a:xfrm>
          <a:prstGeom prst="rect">
            <a:avLst/>
          </a:prstGeom>
          <a:noFill/>
        </p:spPr>
        <p:txBody>
          <a:bodyPr wrap="none" rtlCol="0">
            <a:spAutoFit/>
          </a:bodyPr>
          <a:lstStyle/>
          <a:p>
            <a:r>
              <a:rPr kumimoji="1" lang="ja-JP" altLang="en-US" sz="2000" b="1" dirty="0">
                <a:solidFill>
                  <a:srgbClr val="FF0000"/>
                </a:solidFill>
                <a:effectLst>
                  <a:outerShdw blurRad="38100" dist="38100" dir="2700000" algn="tl">
                    <a:srgbClr val="000000">
                      <a:alpha val="43137"/>
                    </a:srgbClr>
                  </a:outerShdw>
                </a:effectLst>
              </a:rPr>
              <a:t>異常検知</a:t>
            </a:r>
            <a:r>
              <a:rPr kumimoji="1" lang="ja-JP" altLang="en-US" sz="2000" b="1" dirty="0">
                <a:effectLst>
                  <a:outerShdw blurRad="38100" dist="38100" dir="2700000" algn="tl">
                    <a:srgbClr val="000000">
                      <a:alpha val="43137"/>
                    </a:srgbClr>
                  </a:outerShdw>
                </a:effectLst>
              </a:rPr>
              <a:t>・改善の繰り返しを支援</a:t>
            </a:r>
          </a:p>
        </p:txBody>
      </p:sp>
      <p:sp>
        <p:nvSpPr>
          <p:cNvPr id="24" name="楕円 23">
            <a:extLst>
              <a:ext uri="{FF2B5EF4-FFF2-40B4-BE49-F238E27FC236}">
                <a16:creationId xmlns:a16="http://schemas.microsoft.com/office/drawing/2014/main" id="{97DE5770-A8BA-DD30-5580-5F150D7C7CF2}"/>
              </a:ext>
            </a:extLst>
          </p:cNvPr>
          <p:cNvSpPr/>
          <p:nvPr/>
        </p:nvSpPr>
        <p:spPr>
          <a:xfrm>
            <a:off x="9143756" y="3264622"/>
            <a:ext cx="1277237" cy="5431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t>標準通りに</a:t>
            </a:r>
            <a:endParaRPr kumimoji="1" lang="en-US" altLang="ja-JP" sz="1400" dirty="0"/>
          </a:p>
          <a:p>
            <a:pPr algn="ctr"/>
            <a:r>
              <a:rPr lang="ja-JP" altLang="en-US" sz="1400" dirty="0"/>
              <a:t>業務遂行</a:t>
            </a:r>
            <a:endParaRPr kumimoji="1" lang="en-US" altLang="ja-JP" sz="1400" dirty="0"/>
          </a:p>
        </p:txBody>
      </p:sp>
      <p:pic>
        <p:nvPicPr>
          <p:cNvPr id="25" name="Picture 2">
            <a:extLst>
              <a:ext uri="{FF2B5EF4-FFF2-40B4-BE49-F238E27FC236}">
                <a16:creationId xmlns:a16="http://schemas.microsoft.com/office/drawing/2014/main" id="{A1A41261-80B4-39C3-BCFD-751260A535B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86313" y="3369263"/>
            <a:ext cx="775228" cy="82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図 25">
            <a:extLst>
              <a:ext uri="{FF2B5EF4-FFF2-40B4-BE49-F238E27FC236}">
                <a16:creationId xmlns:a16="http://schemas.microsoft.com/office/drawing/2014/main" id="{33850D40-5939-0A8D-A127-A7925066BB62}"/>
              </a:ext>
            </a:extLst>
          </p:cNvPr>
          <p:cNvPicPr>
            <a:picLocks noChangeAspect="1"/>
          </p:cNvPicPr>
          <p:nvPr/>
        </p:nvPicPr>
        <p:blipFill>
          <a:blip r:embed="rId7"/>
          <a:srcRect l="2759" t="28754" r="9161" b="4745"/>
          <a:stretch/>
        </p:blipFill>
        <p:spPr>
          <a:xfrm>
            <a:off x="3246018" y="2250031"/>
            <a:ext cx="3071580" cy="1233113"/>
          </a:xfrm>
          <a:prstGeom prst="rect">
            <a:avLst/>
          </a:prstGeom>
        </p:spPr>
      </p:pic>
      <p:sp>
        <p:nvSpPr>
          <p:cNvPr id="27" name="テキスト ボックス 26">
            <a:extLst>
              <a:ext uri="{FF2B5EF4-FFF2-40B4-BE49-F238E27FC236}">
                <a16:creationId xmlns:a16="http://schemas.microsoft.com/office/drawing/2014/main" id="{BCF37C2F-09D1-89D8-7847-5A0A9C8ECD6D}"/>
              </a:ext>
            </a:extLst>
          </p:cNvPr>
          <p:cNvSpPr txBox="1"/>
          <p:nvPr/>
        </p:nvSpPr>
        <p:spPr>
          <a:xfrm>
            <a:off x="5010465" y="2452163"/>
            <a:ext cx="2472152" cy="646331"/>
          </a:xfrm>
          <a:prstGeom prst="rect">
            <a:avLst/>
          </a:prstGeom>
          <a:noFill/>
        </p:spPr>
        <p:txBody>
          <a:bodyPr wrap="none" rtlCol="0">
            <a:spAutoFit/>
          </a:bodyPr>
          <a:lstStyle/>
          <a:p>
            <a:pPr algn="ctr"/>
            <a:r>
              <a:rPr kumimoji="1" lang="ja-JP" altLang="en-US" dirty="0">
                <a:highlight>
                  <a:srgbClr val="FFFF00"/>
                </a:highlight>
              </a:rPr>
              <a:t>物情・情報遷移図</a:t>
            </a:r>
            <a:endParaRPr kumimoji="1" lang="en-US" altLang="ja-JP" dirty="0">
              <a:highlight>
                <a:srgbClr val="FFFF00"/>
              </a:highlight>
            </a:endParaRPr>
          </a:p>
          <a:p>
            <a:pPr algn="ctr"/>
            <a:r>
              <a:rPr lang="ja-JP" altLang="en-US" dirty="0">
                <a:highlight>
                  <a:srgbClr val="FFFF00"/>
                </a:highlight>
              </a:rPr>
              <a:t>（お絵描きからの脱却）</a:t>
            </a:r>
            <a:endParaRPr kumimoji="1" lang="ja-JP" altLang="en-US" dirty="0">
              <a:highlight>
                <a:srgbClr val="FFFF00"/>
              </a:highlight>
            </a:endParaRPr>
          </a:p>
        </p:txBody>
      </p:sp>
      <p:cxnSp>
        <p:nvCxnSpPr>
          <p:cNvPr id="28" name="直線矢印コネクタ 27">
            <a:extLst>
              <a:ext uri="{FF2B5EF4-FFF2-40B4-BE49-F238E27FC236}">
                <a16:creationId xmlns:a16="http://schemas.microsoft.com/office/drawing/2014/main" id="{E6F3672F-8D0D-4B54-4AF9-BD5A1E4F56BF}"/>
              </a:ext>
            </a:extLst>
          </p:cNvPr>
          <p:cNvCxnSpPr>
            <a:cxnSpLocks/>
          </p:cNvCxnSpPr>
          <p:nvPr/>
        </p:nvCxnSpPr>
        <p:spPr>
          <a:xfrm flipV="1">
            <a:off x="2488354" y="2688899"/>
            <a:ext cx="2154203" cy="357449"/>
          </a:xfrm>
          <a:prstGeom prst="straightConnector1">
            <a:avLst/>
          </a:prstGeom>
          <a:ln w="76200">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2F2EDD93-3324-D9CC-9E49-39572CAFE9DC}"/>
              </a:ext>
            </a:extLst>
          </p:cNvPr>
          <p:cNvCxnSpPr>
            <a:cxnSpLocks/>
          </p:cNvCxnSpPr>
          <p:nvPr/>
        </p:nvCxnSpPr>
        <p:spPr>
          <a:xfrm>
            <a:off x="6035458" y="3098494"/>
            <a:ext cx="32965" cy="247826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0" name="テキスト ボックス 29">
            <a:extLst>
              <a:ext uri="{FF2B5EF4-FFF2-40B4-BE49-F238E27FC236}">
                <a16:creationId xmlns:a16="http://schemas.microsoft.com/office/drawing/2014/main" id="{9E422AB9-ADB1-B7E6-7CBD-3108694F0EBF}"/>
              </a:ext>
            </a:extLst>
          </p:cNvPr>
          <p:cNvSpPr txBox="1"/>
          <p:nvPr/>
        </p:nvSpPr>
        <p:spPr>
          <a:xfrm>
            <a:off x="5271209" y="3940349"/>
            <a:ext cx="1527982" cy="369332"/>
          </a:xfrm>
          <a:prstGeom prst="rect">
            <a:avLst/>
          </a:prstGeom>
          <a:noFill/>
        </p:spPr>
        <p:txBody>
          <a:bodyPr wrap="none" rtlCol="0">
            <a:spAutoFit/>
          </a:bodyPr>
          <a:lstStyle/>
          <a:p>
            <a:pPr algn="ctr"/>
            <a:r>
              <a:rPr kumimoji="1" lang="ja-JP" altLang="en-US" dirty="0">
                <a:highlight>
                  <a:srgbClr val="FFFF00"/>
                </a:highlight>
              </a:rPr>
              <a:t>課題の顕在化</a:t>
            </a:r>
          </a:p>
        </p:txBody>
      </p:sp>
      <p:sp>
        <p:nvSpPr>
          <p:cNvPr id="31" name="正方形/長方形 30">
            <a:extLst>
              <a:ext uri="{FF2B5EF4-FFF2-40B4-BE49-F238E27FC236}">
                <a16:creationId xmlns:a16="http://schemas.microsoft.com/office/drawing/2014/main" id="{22004F07-C6EE-491A-E809-777C6FCF4FDA}"/>
              </a:ext>
            </a:extLst>
          </p:cNvPr>
          <p:cNvSpPr/>
          <p:nvPr/>
        </p:nvSpPr>
        <p:spPr>
          <a:xfrm>
            <a:off x="1919583" y="2767348"/>
            <a:ext cx="516762" cy="558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UI</a:t>
            </a:r>
            <a:endParaRPr kumimoji="1" lang="ja-JP" altLang="en-US" dirty="0"/>
          </a:p>
        </p:txBody>
      </p:sp>
      <p:cxnSp>
        <p:nvCxnSpPr>
          <p:cNvPr id="32" name="直線矢印コネクタ 31">
            <a:extLst>
              <a:ext uri="{FF2B5EF4-FFF2-40B4-BE49-F238E27FC236}">
                <a16:creationId xmlns:a16="http://schemas.microsoft.com/office/drawing/2014/main" id="{D6925184-B76C-A6A6-C419-2C97166D4405}"/>
              </a:ext>
            </a:extLst>
          </p:cNvPr>
          <p:cNvCxnSpPr>
            <a:cxnSpLocks/>
          </p:cNvCxnSpPr>
          <p:nvPr/>
        </p:nvCxnSpPr>
        <p:spPr>
          <a:xfrm>
            <a:off x="2270884" y="3245130"/>
            <a:ext cx="483600" cy="568066"/>
          </a:xfrm>
          <a:prstGeom prst="straightConnector1">
            <a:avLst/>
          </a:prstGeom>
          <a:ln w="762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33" name="楕円 32">
            <a:extLst>
              <a:ext uri="{FF2B5EF4-FFF2-40B4-BE49-F238E27FC236}">
                <a16:creationId xmlns:a16="http://schemas.microsoft.com/office/drawing/2014/main" id="{440C68EC-A7DE-F8EC-F2BE-6011E0C4C30A}"/>
              </a:ext>
            </a:extLst>
          </p:cNvPr>
          <p:cNvSpPr/>
          <p:nvPr/>
        </p:nvSpPr>
        <p:spPr>
          <a:xfrm>
            <a:off x="472598" y="2784367"/>
            <a:ext cx="1277237" cy="5431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t>現状把握</a:t>
            </a:r>
            <a:endParaRPr kumimoji="1" lang="en-US" altLang="ja-JP" sz="1400" dirty="0"/>
          </a:p>
          <a:p>
            <a:pPr algn="ctr"/>
            <a:r>
              <a:rPr lang="ja-JP" altLang="en-US" sz="1400" dirty="0"/>
              <a:t>業務見える化</a:t>
            </a:r>
            <a:endParaRPr kumimoji="1" lang="en-US" altLang="ja-JP" sz="1400" dirty="0"/>
          </a:p>
        </p:txBody>
      </p:sp>
      <p:pic>
        <p:nvPicPr>
          <p:cNvPr id="34" name="Picture 2">
            <a:extLst>
              <a:ext uri="{FF2B5EF4-FFF2-40B4-BE49-F238E27FC236}">
                <a16:creationId xmlns:a16="http://schemas.microsoft.com/office/drawing/2014/main" id="{EFE371FC-E689-6C7F-0AF1-04A3F072B51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34206" y="2747529"/>
            <a:ext cx="775228" cy="82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楕円 34">
            <a:extLst>
              <a:ext uri="{FF2B5EF4-FFF2-40B4-BE49-F238E27FC236}">
                <a16:creationId xmlns:a16="http://schemas.microsoft.com/office/drawing/2014/main" id="{673FEF4A-7987-47E0-2977-8A25BDE1D6C6}"/>
              </a:ext>
            </a:extLst>
          </p:cNvPr>
          <p:cNvSpPr/>
          <p:nvPr/>
        </p:nvSpPr>
        <p:spPr>
          <a:xfrm>
            <a:off x="3493384" y="5840692"/>
            <a:ext cx="1277237" cy="5431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t>改善活動</a:t>
            </a:r>
            <a:endParaRPr kumimoji="1" lang="en-US" altLang="ja-JP" sz="1400" dirty="0"/>
          </a:p>
        </p:txBody>
      </p:sp>
      <p:pic>
        <p:nvPicPr>
          <p:cNvPr id="36" name="Picture 2">
            <a:extLst>
              <a:ext uri="{FF2B5EF4-FFF2-40B4-BE49-F238E27FC236}">
                <a16:creationId xmlns:a16="http://schemas.microsoft.com/office/drawing/2014/main" id="{0DBC9E19-BA75-CDC7-9B23-3E94BAB417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54992" y="5803854"/>
            <a:ext cx="775228" cy="82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8363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A7D3B-BE81-A489-F04A-4CF262FF7F57}"/>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0E6CB79-FF45-2D36-1101-35D139F265A9}"/>
              </a:ext>
            </a:extLst>
          </p:cNvPr>
          <p:cNvSpPr>
            <a:spLocks noGrp="1"/>
          </p:cNvSpPr>
          <p:nvPr>
            <p:ph type="body" sz="quarter" idx="14"/>
          </p:nvPr>
        </p:nvSpPr>
        <p:spPr/>
        <p:txBody>
          <a:bodyPr/>
          <a:lstStyle/>
          <a:p>
            <a:r>
              <a:rPr kumimoji="1" lang="en-US" altLang="ja-JP" dirty="0"/>
              <a:t>PoC#1</a:t>
            </a:r>
            <a:r>
              <a:rPr kumimoji="1" lang="ja-JP" altLang="en-US" dirty="0"/>
              <a:t>結果（</a:t>
            </a:r>
            <a:r>
              <a:rPr kumimoji="1" lang="en-US" altLang="ja-JP" dirty="0"/>
              <a:t>2025/7-9</a:t>
            </a:r>
            <a:r>
              <a:rPr kumimoji="1" lang="ja-JP" altLang="en-US" dirty="0"/>
              <a:t>）</a:t>
            </a:r>
          </a:p>
        </p:txBody>
      </p:sp>
      <p:sp>
        <p:nvSpPr>
          <p:cNvPr id="3" name="テキスト ボックス 2">
            <a:extLst>
              <a:ext uri="{FF2B5EF4-FFF2-40B4-BE49-F238E27FC236}">
                <a16:creationId xmlns:a16="http://schemas.microsoft.com/office/drawing/2014/main" id="{E5E84119-D89F-00C5-80EE-FDE76F3F8F3C}"/>
              </a:ext>
            </a:extLst>
          </p:cNvPr>
          <p:cNvSpPr txBox="1"/>
          <p:nvPr/>
        </p:nvSpPr>
        <p:spPr>
          <a:xfrm>
            <a:off x="226724" y="803157"/>
            <a:ext cx="11800435" cy="369332"/>
          </a:xfrm>
          <a:prstGeom prst="rect">
            <a:avLst/>
          </a:prstGeom>
          <a:noFill/>
        </p:spPr>
        <p:txBody>
          <a:bodyPr wrap="square" rtlCol="0">
            <a:spAutoFit/>
          </a:bodyPr>
          <a:lstStyle/>
          <a:p>
            <a:r>
              <a:rPr lang="ja-JP" altLang="en-US" dirty="0"/>
              <a:t>標準化の支援に着目して、構造化された業務情報から物情をリアルタイム生成できるかを検証した。</a:t>
            </a:r>
            <a:r>
              <a:rPr kumimoji="1" lang="ja-JP" altLang="en-US" dirty="0"/>
              <a:t>　　</a:t>
            </a:r>
          </a:p>
        </p:txBody>
      </p:sp>
      <p:pic>
        <p:nvPicPr>
          <p:cNvPr id="5" name="図 4">
            <a:extLst>
              <a:ext uri="{FF2B5EF4-FFF2-40B4-BE49-F238E27FC236}">
                <a16:creationId xmlns:a16="http://schemas.microsoft.com/office/drawing/2014/main" id="{BF73F802-8B99-B847-D69D-CAE2DF563741}"/>
              </a:ext>
            </a:extLst>
          </p:cNvPr>
          <p:cNvPicPr>
            <a:picLocks noChangeAspect="1"/>
          </p:cNvPicPr>
          <p:nvPr/>
        </p:nvPicPr>
        <p:blipFill>
          <a:blip r:embed="rId2"/>
          <a:stretch>
            <a:fillRect/>
          </a:stretch>
        </p:blipFill>
        <p:spPr>
          <a:xfrm>
            <a:off x="164841" y="1376041"/>
            <a:ext cx="5800851" cy="2553157"/>
          </a:xfrm>
          <a:prstGeom prst="rect">
            <a:avLst/>
          </a:prstGeom>
        </p:spPr>
      </p:pic>
      <p:pic>
        <p:nvPicPr>
          <p:cNvPr id="7" name="図 6">
            <a:extLst>
              <a:ext uri="{FF2B5EF4-FFF2-40B4-BE49-F238E27FC236}">
                <a16:creationId xmlns:a16="http://schemas.microsoft.com/office/drawing/2014/main" id="{E5B92C8A-0726-3838-BCE5-77E5F265B5F7}"/>
              </a:ext>
            </a:extLst>
          </p:cNvPr>
          <p:cNvPicPr>
            <a:picLocks noChangeAspect="1"/>
          </p:cNvPicPr>
          <p:nvPr/>
        </p:nvPicPr>
        <p:blipFill>
          <a:blip r:embed="rId3"/>
          <a:stretch>
            <a:fillRect/>
          </a:stretch>
        </p:blipFill>
        <p:spPr>
          <a:xfrm>
            <a:off x="3493163" y="2142693"/>
            <a:ext cx="8533996" cy="3573009"/>
          </a:xfrm>
          <a:prstGeom prst="rect">
            <a:avLst/>
          </a:prstGeom>
          <a:ln>
            <a:solidFill>
              <a:schemeClr val="accent1"/>
            </a:solidFill>
          </a:ln>
        </p:spPr>
      </p:pic>
      <p:sp>
        <p:nvSpPr>
          <p:cNvPr id="8" name="正方形/長方形 7">
            <a:extLst>
              <a:ext uri="{FF2B5EF4-FFF2-40B4-BE49-F238E27FC236}">
                <a16:creationId xmlns:a16="http://schemas.microsoft.com/office/drawing/2014/main" id="{A22DB0DE-D138-7C2C-1187-5D19E024BDC5}"/>
              </a:ext>
            </a:extLst>
          </p:cNvPr>
          <p:cNvSpPr/>
          <p:nvPr/>
        </p:nvSpPr>
        <p:spPr>
          <a:xfrm>
            <a:off x="410868" y="1510463"/>
            <a:ext cx="2883159" cy="145507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B28C338-285B-B680-21DF-0A77B520EDA0}"/>
              </a:ext>
            </a:extLst>
          </p:cNvPr>
          <p:cNvCxnSpPr>
            <a:cxnSpLocks/>
          </p:cNvCxnSpPr>
          <p:nvPr/>
        </p:nvCxnSpPr>
        <p:spPr>
          <a:xfrm>
            <a:off x="3294027" y="1510463"/>
            <a:ext cx="199136" cy="6322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F4E743EF-DFA1-E40D-1131-CB0872F30477}"/>
              </a:ext>
            </a:extLst>
          </p:cNvPr>
          <p:cNvCxnSpPr>
            <a:cxnSpLocks/>
          </p:cNvCxnSpPr>
          <p:nvPr/>
        </p:nvCxnSpPr>
        <p:spPr>
          <a:xfrm>
            <a:off x="3294027" y="2965539"/>
            <a:ext cx="199136" cy="27501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127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BB7EA50-1049-DF2C-5284-EB609C87D5FF}"/>
              </a:ext>
            </a:extLst>
          </p:cNvPr>
          <p:cNvSpPr>
            <a:spLocks noGrp="1"/>
          </p:cNvSpPr>
          <p:nvPr>
            <p:ph type="body" sz="quarter" idx="14"/>
          </p:nvPr>
        </p:nvSpPr>
        <p:spPr/>
        <p:txBody>
          <a:bodyPr/>
          <a:lstStyle/>
          <a:p>
            <a:r>
              <a:rPr lang="en-US" altLang="ja-JP" dirty="0"/>
              <a:t>PoC#1</a:t>
            </a:r>
            <a:r>
              <a:rPr lang="ja-JP" altLang="en-US" dirty="0"/>
              <a:t>結果（</a:t>
            </a:r>
            <a:r>
              <a:rPr lang="en-US" altLang="ja-JP" dirty="0"/>
              <a:t>2025/7-9</a:t>
            </a:r>
            <a:r>
              <a:rPr lang="ja-JP" altLang="en-US" dirty="0"/>
              <a:t>）</a:t>
            </a:r>
          </a:p>
        </p:txBody>
      </p:sp>
      <p:pic>
        <p:nvPicPr>
          <p:cNvPr id="4" name="図 3">
            <a:extLst>
              <a:ext uri="{FF2B5EF4-FFF2-40B4-BE49-F238E27FC236}">
                <a16:creationId xmlns:a16="http://schemas.microsoft.com/office/drawing/2014/main" id="{4784FE75-7D53-0FD6-4CDC-643FF9EA6C9F}"/>
              </a:ext>
            </a:extLst>
          </p:cNvPr>
          <p:cNvPicPr>
            <a:picLocks noChangeAspect="1"/>
          </p:cNvPicPr>
          <p:nvPr/>
        </p:nvPicPr>
        <p:blipFill>
          <a:blip r:embed="rId2"/>
          <a:stretch>
            <a:fillRect/>
          </a:stretch>
        </p:blipFill>
        <p:spPr>
          <a:xfrm>
            <a:off x="366683" y="1677614"/>
            <a:ext cx="10568871" cy="4641884"/>
          </a:xfrm>
          <a:prstGeom prst="rect">
            <a:avLst/>
          </a:prstGeom>
        </p:spPr>
      </p:pic>
      <p:sp>
        <p:nvSpPr>
          <p:cNvPr id="7" name="吹き出し: 四角形 6">
            <a:extLst>
              <a:ext uri="{FF2B5EF4-FFF2-40B4-BE49-F238E27FC236}">
                <a16:creationId xmlns:a16="http://schemas.microsoft.com/office/drawing/2014/main" id="{ABECBC33-1446-D966-53B8-4F9CA958C0BB}"/>
              </a:ext>
            </a:extLst>
          </p:cNvPr>
          <p:cNvSpPr/>
          <p:nvPr/>
        </p:nvSpPr>
        <p:spPr>
          <a:xfrm>
            <a:off x="2855167" y="2613561"/>
            <a:ext cx="3032449" cy="815439"/>
          </a:xfrm>
          <a:prstGeom prst="wedgeRectCallout">
            <a:avLst>
              <a:gd name="adj1" fmla="val 56204"/>
              <a:gd name="adj2" fmla="val -14123"/>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最低限、プロセス間のつながりは手動で引く必要がある。</a:t>
            </a:r>
            <a:endParaRPr kumimoji="1" lang="en-US" altLang="ja-JP" dirty="0"/>
          </a:p>
        </p:txBody>
      </p:sp>
      <p:sp>
        <p:nvSpPr>
          <p:cNvPr id="8" name="テキスト ボックス 7">
            <a:extLst>
              <a:ext uri="{FF2B5EF4-FFF2-40B4-BE49-F238E27FC236}">
                <a16:creationId xmlns:a16="http://schemas.microsoft.com/office/drawing/2014/main" id="{E07621D8-6206-A13E-C352-7BAA68BBA710}"/>
              </a:ext>
            </a:extLst>
          </p:cNvPr>
          <p:cNvSpPr txBox="1"/>
          <p:nvPr/>
        </p:nvSpPr>
        <p:spPr>
          <a:xfrm>
            <a:off x="226725" y="754284"/>
            <a:ext cx="11109970" cy="923330"/>
          </a:xfrm>
          <a:prstGeom prst="rect">
            <a:avLst/>
          </a:prstGeom>
          <a:noFill/>
        </p:spPr>
        <p:txBody>
          <a:bodyPr wrap="square" rtlCol="0">
            <a:spAutoFit/>
          </a:bodyPr>
          <a:lstStyle/>
          <a:p>
            <a:r>
              <a:rPr lang="ja-JP" altLang="en-US" dirty="0"/>
              <a:t>インプット、プロセス、アウトプットが複雑に絡み合うケースを自動生成するのは難しいことがわかった。</a:t>
            </a:r>
            <a:endParaRPr lang="en-US" altLang="ja-JP" dirty="0"/>
          </a:p>
          <a:p>
            <a:r>
              <a:rPr lang="ja-JP" altLang="en-US" dirty="0"/>
              <a:t>また表現の自由度を高めようとすればするほどホワイトボードアプリになり、その点で優位性を出すのは難しくなる。</a:t>
            </a:r>
            <a:endParaRPr lang="en-US" altLang="ja-JP" dirty="0"/>
          </a:p>
          <a:p>
            <a:r>
              <a:rPr lang="ja-JP" altLang="en-US" dirty="0"/>
              <a:t>総じて標準化工程で劇的に価値を発揮することは難しいと判断した。</a:t>
            </a:r>
            <a:endParaRPr lang="en-US" altLang="ja-JP" dirty="0"/>
          </a:p>
        </p:txBody>
      </p:sp>
      <p:sp>
        <p:nvSpPr>
          <p:cNvPr id="9" name="正方形/長方形 8">
            <a:extLst>
              <a:ext uri="{FF2B5EF4-FFF2-40B4-BE49-F238E27FC236}">
                <a16:creationId xmlns:a16="http://schemas.microsoft.com/office/drawing/2014/main" id="{8B5614C0-EEDA-B814-6714-93C07584BB37}"/>
              </a:ext>
            </a:extLst>
          </p:cNvPr>
          <p:cNvSpPr/>
          <p:nvPr/>
        </p:nvSpPr>
        <p:spPr>
          <a:xfrm>
            <a:off x="6199936" y="2600944"/>
            <a:ext cx="628384" cy="92333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8577D66F-CA35-4AA5-F3E1-69E3BE49AA40}"/>
              </a:ext>
            </a:extLst>
          </p:cNvPr>
          <p:cNvSpPr/>
          <p:nvPr/>
        </p:nvSpPr>
        <p:spPr>
          <a:xfrm>
            <a:off x="8376099" y="2423661"/>
            <a:ext cx="2484733" cy="323068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四角形 10">
            <a:extLst>
              <a:ext uri="{FF2B5EF4-FFF2-40B4-BE49-F238E27FC236}">
                <a16:creationId xmlns:a16="http://schemas.microsoft.com/office/drawing/2014/main" id="{25E8DB8B-082B-B2C9-37A7-529D7FAD3B11}"/>
              </a:ext>
            </a:extLst>
          </p:cNvPr>
          <p:cNvSpPr/>
          <p:nvPr/>
        </p:nvSpPr>
        <p:spPr>
          <a:xfrm>
            <a:off x="1940767" y="3742194"/>
            <a:ext cx="6201990" cy="923330"/>
          </a:xfrm>
          <a:prstGeom prst="wedgeRectCallout">
            <a:avLst>
              <a:gd name="adj1" fmla="val 56204"/>
              <a:gd name="adj2" fmla="val -14123"/>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dirty="0"/>
              <a:t>フレームワークに沿うことで誰でも</a:t>
            </a:r>
            <a:r>
              <a:rPr kumimoji="1" lang="ja-JP" altLang="en-US" dirty="0"/>
              <a:t>業務整理がしやすいメリットがある。</a:t>
            </a:r>
            <a:endParaRPr kumimoji="1" lang="en-US" altLang="ja-JP" dirty="0"/>
          </a:p>
          <a:p>
            <a:pPr algn="ctr"/>
            <a:r>
              <a:rPr kumimoji="1" lang="ja-JP" altLang="en-US" dirty="0"/>
              <a:t>ただし自由度とのトレードオフになる。</a:t>
            </a:r>
            <a:endParaRPr kumimoji="1" lang="en-US" altLang="ja-JP" dirty="0"/>
          </a:p>
        </p:txBody>
      </p:sp>
    </p:spTree>
    <p:extLst>
      <p:ext uri="{BB962C8B-B14F-4D97-AF65-F5344CB8AC3E}">
        <p14:creationId xmlns:p14="http://schemas.microsoft.com/office/powerpoint/2010/main" val="1536116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078B1-031B-80FA-4DCA-F3B0D5D62E2E}"/>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0D32AA0-EE8B-F876-A1C7-9F16BA8931EE}"/>
              </a:ext>
            </a:extLst>
          </p:cNvPr>
          <p:cNvSpPr>
            <a:spLocks noGrp="1"/>
          </p:cNvSpPr>
          <p:nvPr>
            <p:ph type="body" sz="quarter" idx="14"/>
          </p:nvPr>
        </p:nvSpPr>
        <p:spPr/>
        <p:txBody>
          <a:bodyPr/>
          <a:lstStyle/>
          <a:p>
            <a:r>
              <a:rPr lang="en-US" altLang="ja-JP" dirty="0"/>
              <a:t>PoC#1</a:t>
            </a:r>
            <a:r>
              <a:rPr lang="ja-JP" altLang="en-US" dirty="0"/>
              <a:t>結果（</a:t>
            </a:r>
            <a:r>
              <a:rPr lang="en-US" altLang="ja-JP" dirty="0"/>
              <a:t>2025/7-9</a:t>
            </a:r>
            <a:r>
              <a:rPr lang="ja-JP" altLang="en-US" dirty="0"/>
              <a:t>）</a:t>
            </a:r>
          </a:p>
        </p:txBody>
      </p:sp>
      <p:sp>
        <p:nvSpPr>
          <p:cNvPr id="8" name="テキスト ボックス 7">
            <a:extLst>
              <a:ext uri="{FF2B5EF4-FFF2-40B4-BE49-F238E27FC236}">
                <a16:creationId xmlns:a16="http://schemas.microsoft.com/office/drawing/2014/main" id="{FB59ABF1-49B3-5A9F-4EB7-239F77B0D890}"/>
              </a:ext>
            </a:extLst>
          </p:cNvPr>
          <p:cNvSpPr txBox="1"/>
          <p:nvPr/>
        </p:nvSpPr>
        <p:spPr>
          <a:xfrm>
            <a:off x="226724" y="754284"/>
            <a:ext cx="10288875" cy="923330"/>
          </a:xfrm>
          <a:prstGeom prst="rect">
            <a:avLst/>
          </a:prstGeom>
          <a:noFill/>
        </p:spPr>
        <p:txBody>
          <a:bodyPr wrap="square" rtlCol="0">
            <a:spAutoFit/>
          </a:bodyPr>
          <a:lstStyle/>
          <a:p>
            <a:r>
              <a:rPr lang="ja-JP" altLang="en-US" dirty="0"/>
              <a:t>次は異常検知・改善の繰り返しに着目した。</a:t>
            </a:r>
            <a:endParaRPr lang="en-US" altLang="ja-JP" dirty="0"/>
          </a:p>
          <a:p>
            <a:r>
              <a:rPr lang="en-US" altLang="ja-JP" dirty="0"/>
              <a:t>TMC</a:t>
            </a:r>
            <a:r>
              <a:rPr lang="ja-JP" altLang="en-US" dirty="0"/>
              <a:t>でこれが適切にできている現場はなく、強いニーズがあると考えた。</a:t>
            </a:r>
            <a:endParaRPr lang="en-US" altLang="ja-JP" dirty="0"/>
          </a:p>
          <a:p>
            <a:r>
              <a:rPr lang="ja-JP" altLang="en-US" dirty="0"/>
              <a:t>しかし標準化工程と違い経験がなくプロセスや課題が明確になっていないため、まずは仮説立てを実施した。</a:t>
            </a:r>
            <a:endParaRPr lang="en-US" altLang="ja-JP" dirty="0"/>
          </a:p>
        </p:txBody>
      </p:sp>
      <p:pic>
        <p:nvPicPr>
          <p:cNvPr id="3" name="図 2">
            <a:extLst>
              <a:ext uri="{FF2B5EF4-FFF2-40B4-BE49-F238E27FC236}">
                <a16:creationId xmlns:a16="http://schemas.microsoft.com/office/drawing/2014/main" id="{BBF74C1C-E30B-4052-4C68-F8BEFC36E62E}"/>
              </a:ext>
            </a:extLst>
          </p:cNvPr>
          <p:cNvPicPr>
            <a:picLocks noChangeAspect="1"/>
          </p:cNvPicPr>
          <p:nvPr/>
        </p:nvPicPr>
        <p:blipFill>
          <a:blip r:embed="rId2"/>
          <a:stretch>
            <a:fillRect/>
          </a:stretch>
        </p:blipFill>
        <p:spPr>
          <a:xfrm>
            <a:off x="71535" y="1694379"/>
            <a:ext cx="5978239" cy="2631232"/>
          </a:xfrm>
          <a:prstGeom prst="rect">
            <a:avLst/>
          </a:prstGeom>
        </p:spPr>
      </p:pic>
      <p:sp>
        <p:nvSpPr>
          <p:cNvPr id="5" name="正方形/長方形 4">
            <a:extLst>
              <a:ext uri="{FF2B5EF4-FFF2-40B4-BE49-F238E27FC236}">
                <a16:creationId xmlns:a16="http://schemas.microsoft.com/office/drawing/2014/main" id="{63AB6571-5BEC-7C9A-6CC2-B18733508C1A}"/>
              </a:ext>
            </a:extLst>
          </p:cNvPr>
          <p:cNvSpPr/>
          <p:nvPr/>
        </p:nvSpPr>
        <p:spPr>
          <a:xfrm>
            <a:off x="3293706" y="1761590"/>
            <a:ext cx="2649894" cy="24539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32776212-CEF8-3454-A0E2-2BC9EBD61402}"/>
              </a:ext>
            </a:extLst>
          </p:cNvPr>
          <p:cNvPicPr>
            <a:picLocks noChangeAspect="1"/>
          </p:cNvPicPr>
          <p:nvPr/>
        </p:nvPicPr>
        <p:blipFill>
          <a:blip r:embed="rId3"/>
          <a:stretch>
            <a:fillRect/>
          </a:stretch>
        </p:blipFill>
        <p:spPr>
          <a:xfrm>
            <a:off x="6181275" y="1761589"/>
            <a:ext cx="5478833" cy="4545905"/>
          </a:xfrm>
          <a:prstGeom prst="rect">
            <a:avLst/>
          </a:prstGeom>
          <a:ln>
            <a:solidFill>
              <a:schemeClr val="bg2"/>
            </a:solidFill>
          </a:ln>
        </p:spPr>
      </p:pic>
      <p:sp>
        <p:nvSpPr>
          <p:cNvPr id="13" name="正方形/長方形 12">
            <a:extLst>
              <a:ext uri="{FF2B5EF4-FFF2-40B4-BE49-F238E27FC236}">
                <a16:creationId xmlns:a16="http://schemas.microsoft.com/office/drawing/2014/main" id="{02975346-99D7-F08A-82D8-68B56E242429}"/>
              </a:ext>
            </a:extLst>
          </p:cNvPr>
          <p:cNvSpPr/>
          <p:nvPr/>
        </p:nvSpPr>
        <p:spPr>
          <a:xfrm>
            <a:off x="298580" y="1761589"/>
            <a:ext cx="2995126" cy="2453952"/>
          </a:xfrm>
          <a:prstGeom prst="rect">
            <a:avLst/>
          </a:prstGeom>
          <a:solidFill>
            <a:schemeClr val="tx1">
              <a:alpha val="388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四角形 13">
            <a:extLst>
              <a:ext uri="{FF2B5EF4-FFF2-40B4-BE49-F238E27FC236}">
                <a16:creationId xmlns:a16="http://schemas.microsoft.com/office/drawing/2014/main" id="{B33385FD-54CC-1903-125D-E2D4BCB780EE}"/>
              </a:ext>
            </a:extLst>
          </p:cNvPr>
          <p:cNvSpPr/>
          <p:nvPr/>
        </p:nvSpPr>
        <p:spPr>
          <a:xfrm>
            <a:off x="653143" y="4506687"/>
            <a:ext cx="5357583" cy="1427582"/>
          </a:xfrm>
          <a:prstGeom prst="wedgeRectCallout">
            <a:avLst>
              <a:gd name="adj1" fmla="val 59861"/>
              <a:gd name="adj2" fmla="val -22634"/>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CAN300</a:t>
            </a:r>
            <a:r>
              <a:rPr lang="ja-JP" altLang="en-US" dirty="0"/>
              <a:t>（</a:t>
            </a:r>
            <a:r>
              <a:rPr lang="en-US" altLang="ja-JP" dirty="0"/>
              <a:t>TMC</a:t>
            </a:r>
            <a:r>
              <a:rPr lang="ja-JP" altLang="en-US" dirty="0"/>
              <a:t>）</a:t>
            </a:r>
            <a:r>
              <a:rPr kumimoji="1" lang="ja-JP" altLang="en-US" dirty="0"/>
              <a:t>、リクナビ（リクルート</a:t>
            </a:r>
            <a:r>
              <a:rPr lang="ja-JP" altLang="en-US" dirty="0"/>
              <a:t>）</a:t>
            </a:r>
            <a:r>
              <a:rPr kumimoji="1" lang="ja-JP" altLang="en-US" dirty="0"/>
              <a:t>、</a:t>
            </a:r>
            <a:endParaRPr kumimoji="1" lang="en-US" altLang="ja-JP" dirty="0"/>
          </a:p>
          <a:p>
            <a:pPr algn="ctr"/>
            <a:r>
              <a:rPr kumimoji="1" lang="ja-JP" altLang="en-US" dirty="0"/>
              <a:t>カーセンサー（リクルート）のプロジェクトを例として、</a:t>
            </a:r>
            <a:endParaRPr kumimoji="1" lang="en-US" altLang="ja-JP" dirty="0"/>
          </a:p>
          <a:p>
            <a:pPr algn="ctr"/>
            <a:r>
              <a:rPr kumimoji="1" lang="ja-JP" altLang="en-US" dirty="0"/>
              <a:t>異常発生、暫定対策、恒久対策、標準業務更新の</a:t>
            </a:r>
            <a:endParaRPr kumimoji="1" lang="en-US" altLang="ja-JP" dirty="0"/>
          </a:p>
          <a:p>
            <a:pPr algn="ctr"/>
            <a:r>
              <a:rPr lang="ja-JP" altLang="en-US" dirty="0"/>
              <a:t>代表的な流れを定義した。</a:t>
            </a:r>
            <a:endParaRPr kumimoji="1" lang="en-US" altLang="ja-JP" dirty="0"/>
          </a:p>
        </p:txBody>
      </p:sp>
    </p:spTree>
    <p:extLst>
      <p:ext uri="{BB962C8B-B14F-4D97-AF65-F5344CB8AC3E}">
        <p14:creationId xmlns:p14="http://schemas.microsoft.com/office/powerpoint/2010/main" val="1974277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1A73-0631-80B8-CD06-04938938DCB7}"/>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FBD358F-1D9F-03C0-6541-6CAB97026527}"/>
              </a:ext>
            </a:extLst>
          </p:cNvPr>
          <p:cNvSpPr>
            <a:spLocks noGrp="1"/>
          </p:cNvSpPr>
          <p:nvPr>
            <p:ph type="body" sz="quarter" idx="14"/>
          </p:nvPr>
        </p:nvSpPr>
        <p:spPr/>
        <p:txBody>
          <a:bodyPr/>
          <a:lstStyle/>
          <a:p>
            <a:r>
              <a:rPr lang="en-US" altLang="ja-JP" dirty="0"/>
              <a:t>PoC#1</a:t>
            </a:r>
            <a:r>
              <a:rPr lang="ja-JP" altLang="en-US" dirty="0"/>
              <a:t>結果（</a:t>
            </a:r>
            <a:r>
              <a:rPr lang="en-US" altLang="ja-JP" dirty="0"/>
              <a:t>2025/7-9</a:t>
            </a:r>
            <a:r>
              <a:rPr lang="ja-JP" altLang="en-US" dirty="0"/>
              <a:t>）</a:t>
            </a:r>
          </a:p>
        </p:txBody>
      </p:sp>
      <p:sp>
        <p:nvSpPr>
          <p:cNvPr id="3" name="テキスト ボックス 2">
            <a:extLst>
              <a:ext uri="{FF2B5EF4-FFF2-40B4-BE49-F238E27FC236}">
                <a16:creationId xmlns:a16="http://schemas.microsoft.com/office/drawing/2014/main" id="{2A9E86F1-80D0-1C18-CA5E-C3A868CF426E}"/>
              </a:ext>
            </a:extLst>
          </p:cNvPr>
          <p:cNvSpPr txBox="1"/>
          <p:nvPr/>
        </p:nvSpPr>
        <p:spPr>
          <a:xfrm>
            <a:off x="226725" y="754284"/>
            <a:ext cx="8991920" cy="369332"/>
          </a:xfrm>
          <a:prstGeom prst="rect">
            <a:avLst/>
          </a:prstGeom>
          <a:noFill/>
        </p:spPr>
        <p:txBody>
          <a:bodyPr wrap="square" rtlCol="0">
            <a:spAutoFit/>
          </a:bodyPr>
          <a:lstStyle/>
          <a:p>
            <a:r>
              <a:rPr lang="ja-JP" altLang="en-US" dirty="0"/>
              <a:t>定義した流れの中で、異常検知・改善を妨げる課題を書き出し、それに対しての深堀を実施した。</a:t>
            </a:r>
            <a:endParaRPr lang="en-US" altLang="ja-JP" dirty="0"/>
          </a:p>
        </p:txBody>
      </p:sp>
      <p:graphicFrame>
        <p:nvGraphicFramePr>
          <p:cNvPr id="5" name="表 4">
            <a:extLst>
              <a:ext uri="{FF2B5EF4-FFF2-40B4-BE49-F238E27FC236}">
                <a16:creationId xmlns:a16="http://schemas.microsoft.com/office/drawing/2014/main" id="{B7A1B08E-710C-6868-4D4D-B63247C72C1C}"/>
              </a:ext>
            </a:extLst>
          </p:cNvPr>
          <p:cNvGraphicFramePr>
            <a:graphicFrameLocks noGrp="1"/>
          </p:cNvGraphicFramePr>
          <p:nvPr>
            <p:extLst>
              <p:ext uri="{D42A27DB-BD31-4B8C-83A1-F6EECF244321}">
                <p14:modId xmlns:p14="http://schemas.microsoft.com/office/powerpoint/2010/main" val="501160567"/>
              </p:ext>
            </p:extLst>
          </p:nvPr>
        </p:nvGraphicFramePr>
        <p:xfrm>
          <a:off x="446949" y="1278295"/>
          <a:ext cx="11298102" cy="5035208"/>
        </p:xfrm>
        <a:graphic>
          <a:graphicData uri="http://schemas.openxmlformats.org/drawingml/2006/table">
            <a:tbl>
              <a:tblPr firstRow="1" bandRow="1">
                <a:tableStyleId>{93296810-A885-4BE3-A3E7-6D5BEEA58F35}</a:tableStyleId>
              </a:tblPr>
              <a:tblGrid>
                <a:gridCol w="2919212">
                  <a:extLst>
                    <a:ext uri="{9D8B030D-6E8A-4147-A177-3AD203B41FA5}">
                      <a16:colId xmlns:a16="http://schemas.microsoft.com/office/drawing/2014/main" val="867970317"/>
                    </a:ext>
                  </a:extLst>
                </a:gridCol>
                <a:gridCol w="4282751">
                  <a:extLst>
                    <a:ext uri="{9D8B030D-6E8A-4147-A177-3AD203B41FA5}">
                      <a16:colId xmlns:a16="http://schemas.microsoft.com/office/drawing/2014/main" val="932922824"/>
                    </a:ext>
                  </a:extLst>
                </a:gridCol>
                <a:gridCol w="4096139">
                  <a:extLst>
                    <a:ext uri="{9D8B030D-6E8A-4147-A177-3AD203B41FA5}">
                      <a16:colId xmlns:a16="http://schemas.microsoft.com/office/drawing/2014/main" val="1245789188"/>
                    </a:ext>
                  </a:extLst>
                </a:gridCol>
              </a:tblGrid>
              <a:tr h="351009">
                <a:tc>
                  <a:txBody>
                    <a:bodyPr/>
                    <a:lstStyle/>
                    <a:p>
                      <a:r>
                        <a:rPr kumimoji="1" lang="ja-JP" altLang="en-US" sz="1400" dirty="0"/>
                        <a:t>課題仮説</a:t>
                      </a:r>
                    </a:p>
                  </a:txBody>
                  <a:tcPr/>
                </a:tc>
                <a:tc>
                  <a:txBody>
                    <a:bodyPr/>
                    <a:lstStyle/>
                    <a:p>
                      <a:r>
                        <a:rPr kumimoji="1" lang="ja-JP" altLang="en-US" sz="1400" dirty="0"/>
                        <a:t>想像される原因</a:t>
                      </a:r>
                    </a:p>
                  </a:txBody>
                  <a:tcPr/>
                </a:tc>
                <a:tc>
                  <a:txBody>
                    <a:bodyPr/>
                    <a:lstStyle/>
                    <a:p>
                      <a:r>
                        <a:rPr kumimoji="1" lang="ja-JP" altLang="en-US" sz="1400" dirty="0"/>
                        <a:t>ソリューション案</a:t>
                      </a:r>
                    </a:p>
                  </a:txBody>
                  <a:tcPr/>
                </a:tc>
                <a:extLst>
                  <a:ext uri="{0D108BD9-81ED-4DB2-BD59-A6C34878D82A}">
                    <a16:rowId xmlns:a16="http://schemas.microsoft.com/office/drawing/2014/main" val="2400634172"/>
                  </a:ext>
                </a:extLst>
              </a:tr>
              <a:tr h="1009751">
                <a:tc>
                  <a:txBody>
                    <a:bodyPr/>
                    <a:lstStyle/>
                    <a:p>
                      <a:r>
                        <a:rPr kumimoji="1" lang="ja-JP" altLang="en-US" sz="1400" dirty="0"/>
                        <a:t>担当者が異常を異常として認識していない</a:t>
                      </a:r>
                    </a:p>
                  </a:txBody>
                  <a:tcPr/>
                </a:tc>
                <a:tc>
                  <a:txBody>
                    <a:bodyPr/>
                    <a:lstStyle/>
                    <a:p>
                      <a:r>
                        <a:rPr kumimoji="1" lang="ja-JP" altLang="en-US" sz="1400" dirty="0"/>
                        <a:t>・良品条件、品質基準を定めていない</a:t>
                      </a:r>
                      <a:endParaRPr kumimoji="1" lang="en-US" altLang="ja-JP" sz="1400" dirty="0"/>
                    </a:p>
                    <a:p>
                      <a:r>
                        <a:rPr kumimoji="1" lang="ja-JP" altLang="en-US" sz="1400" dirty="0"/>
                        <a:t>・標準作業をもとにした作業計画になっていない</a:t>
                      </a:r>
                      <a:endParaRPr kumimoji="1" lang="en-US" altLang="ja-JP" sz="1400" dirty="0"/>
                    </a:p>
                    <a:p>
                      <a:r>
                        <a:rPr kumimoji="1" lang="ja-JP" altLang="en-US" sz="1400" dirty="0"/>
                        <a:t>・標準以外を異常とする思想が染みついていない</a:t>
                      </a:r>
                      <a:endParaRPr kumimoji="1" lang="en-US" altLang="ja-JP" sz="1400" dirty="0"/>
                    </a:p>
                    <a:p>
                      <a:r>
                        <a:rPr kumimoji="1" lang="ja-JP" altLang="en-US" sz="1400" dirty="0"/>
                        <a:t>・良品条件、品質基準をチェックする仕組みがない</a:t>
                      </a:r>
                      <a:endParaRPr kumimoji="1" lang="en-US" altLang="ja-JP" sz="1400" dirty="0"/>
                    </a:p>
                  </a:txBody>
                  <a:tcPr/>
                </a:tc>
                <a:tc>
                  <a:txBody>
                    <a:bodyPr/>
                    <a:lstStyle/>
                    <a:p>
                      <a:r>
                        <a:rPr kumimoji="1" lang="ja-JP" altLang="en-US" sz="1400" dirty="0"/>
                        <a:t>・プラットフォーム上で良品条件</a:t>
                      </a:r>
                      <a:r>
                        <a:rPr kumimoji="1" lang="en-US" altLang="ja-JP" sz="1400" dirty="0"/>
                        <a:t>*</a:t>
                      </a:r>
                      <a:r>
                        <a:rPr kumimoji="1" lang="ja-JP" altLang="en-US" sz="1400" dirty="0"/>
                        <a:t>、品質基準を定義してそれを満たしていることを確認できる。</a:t>
                      </a:r>
                      <a:endParaRPr kumimoji="1" lang="en-US" altLang="ja-JP" sz="1400" dirty="0"/>
                    </a:p>
                    <a:p>
                      <a:endParaRPr kumimoji="1" lang="en-US" altLang="ja-JP" sz="1400" dirty="0"/>
                    </a:p>
                    <a:p>
                      <a:r>
                        <a:rPr kumimoji="1" lang="en-US" altLang="ja-JP" sz="1400" dirty="0"/>
                        <a:t>*</a:t>
                      </a:r>
                      <a:r>
                        <a:rPr kumimoji="1" lang="ja-JP" altLang="en-US" sz="1400" dirty="0"/>
                        <a:t>特に業務インプットと標準作業組み合わせ票</a:t>
                      </a:r>
                    </a:p>
                  </a:txBody>
                  <a:tcPr/>
                </a:tc>
                <a:extLst>
                  <a:ext uri="{0D108BD9-81ED-4DB2-BD59-A6C34878D82A}">
                    <a16:rowId xmlns:a16="http://schemas.microsoft.com/office/drawing/2014/main" val="3573892948"/>
                  </a:ext>
                </a:extLst>
              </a:tr>
              <a:tr h="548151">
                <a:tc>
                  <a:txBody>
                    <a:bodyPr/>
                    <a:lstStyle/>
                    <a:p>
                      <a:r>
                        <a:rPr kumimoji="1" lang="ja-JP" altLang="en-US" sz="1400" dirty="0"/>
                        <a:t>担当者が管理者に異常を報告していない</a:t>
                      </a:r>
                    </a:p>
                  </a:txBody>
                  <a:tcPr/>
                </a:tc>
                <a:tc>
                  <a:txBody>
                    <a:bodyPr/>
                    <a:lstStyle/>
                    <a:p>
                      <a:r>
                        <a:rPr kumimoji="1" lang="ja-JP" altLang="en-US" sz="1400" dirty="0"/>
                        <a:t>・担当者の心理的負担が高い</a:t>
                      </a:r>
                    </a:p>
                  </a:txBody>
                  <a:tcPr/>
                </a:tc>
                <a:tc>
                  <a:txBody>
                    <a:bodyPr/>
                    <a:lstStyle/>
                    <a:p>
                      <a:r>
                        <a:rPr kumimoji="1" lang="ja-JP" altLang="en-US" sz="1400" dirty="0"/>
                        <a:t>・プラットフォーム上で気軽に報告できる。</a:t>
                      </a:r>
                    </a:p>
                  </a:txBody>
                  <a:tcPr/>
                </a:tc>
                <a:extLst>
                  <a:ext uri="{0D108BD9-81ED-4DB2-BD59-A6C34878D82A}">
                    <a16:rowId xmlns:a16="http://schemas.microsoft.com/office/drawing/2014/main" val="2448303028"/>
                  </a:ext>
                </a:extLst>
              </a:tr>
              <a:tr h="751015">
                <a:tc>
                  <a:txBody>
                    <a:bodyPr/>
                    <a:lstStyle/>
                    <a:p>
                      <a:r>
                        <a:rPr kumimoji="1" lang="ja-JP" altLang="en-US" sz="1400" dirty="0"/>
                        <a:t>工程スルーの打ち合わせが実施されない</a:t>
                      </a:r>
                    </a:p>
                  </a:txBody>
                  <a:tcPr/>
                </a:tc>
                <a:tc>
                  <a:txBody>
                    <a:bodyPr/>
                    <a:lstStyle/>
                    <a:p>
                      <a:r>
                        <a:rPr kumimoji="1" lang="ja-JP" altLang="en-US" sz="1400" dirty="0"/>
                        <a:t>・部署間連携のハードルが高い（迷惑をかけたくないという心理的負担が高い）</a:t>
                      </a:r>
                      <a:endParaRPr kumimoji="1" lang="en-US" altLang="ja-JP" sz="1400" dirty="0"/>
                    </a:p>
                  </a:txBody>
                  <a:tcPr/>
                </a:tc>
                <a:tc>
                  <a:txBody>
                    <a:bodyPr/>
                    <a:lstStyle/>
                    <a:p>
                      <a:r>
                        <a:rPr kumimoji="1" lang="ja-JP" altLang="en-US" sz="1400" dirty="0"/>
                        <a:t>・包括的なソリューションとして推奨する体制を定義し、</a:t>
                      </a:r>
                      <a:r>
                        <a:rPr kumimoji="1" lang="en-US" altLang="ja-JP" sz="1400" dirty="0"/>
                        <a:t>TPS</a:t>
                      </a:r>
                      <a:r>
                        <a:rPr kumimoji="1" lang="ja-JP" altLang="en-US" sz="1400" dirty="0"/>
                        <a:t>カウンターパートが部署間連携を推進する。</a:t>
                      </a:r>
                      <a:endParaRPr kumimoji="1" lang="en-US" altLang="ja-JP" sz="1400" dirty="0"/>
                    </a:p>
                    <a:p>
                      <a:r>
                        <a:rPr kumimoji="1" lang="ja-JP" altLang="en-US" sz="1400" dirty="0"/>
                        <a:t>（ここはツールによる解決は難しい）</a:t>
                      </a:r>
                      <a:endParaRPr kumimoji="1" lang="en-US" altLang="ja-JP" sz="1400" dirty="0"/>
                    </a:p>
                    <a:p>
                      <a:r>
                        <a:rPr kumimoji="1" lang="ja-JP" altLang="en-US" sz="1400" dirty="0"/>
                        <a:t>・改善活動の計画立案ができる（会議体、成果物の提案）</a:t>
                      </a:r>
                    </a:p>
                  </a:txBody>
                  <a:tcPr/>
                </a:tc>
                <a:extLst>
                  <a:ext uri="{0D108BD9-81ED-4DB2-BD59-A6C34878D82A}">
                    <a16:rowId xmlns:a16="http://schemas.microsoft.com/office/drawing/2014/main" val="2257352853"/>
                  </a:ext>
                </a:extLst>
              </a:tr>
              <a:tr h="778950">
                <a:tc>
                  <a:txBody>
                    <a:bodyPr/>
                    <a:lstStyle/>
                    <a:p>
                      <a:r>
                        <a:rPr kumimoji="1" lang="ja-JP" altLang="en-US" sz="1400" dirty="0"/>
                        <a:t>新たな目指す姿（恒久改善）を考えていない</a:t>
                      </a:r>
                    </a:p>
                  </a:txBody>
                  <a:tcPr/>
                </a:tc>
                <a:tc>
                  <a:txBody>
                    <a:bodyPr/>
                    <a:lstStyle/>
                    <a:p>
                      <a:r>
                        <a:rPr kumimoji="1" lang="ja-JP" altLang="en-US" sz="1400" dirty="0"/>
                        <a:t>・リカバリ時点で問題解決完了と判断する</a:t>
                      </a:r>
                      <a:endParaRPr kumimoji="1" lang="en-US" altLang="ja-JP" sz="1400" dirty="0"/>
                    </a:p>
                    <a:p>
                      <a:r>
                        <a:rPr kumimoji="1" lang="ja-JP" altLang="en-US" sz="1400" dirty="0"/>
                        <a:t>・事業</a:t>
                      </a:r>
                      <a:r>
                        <a:rPr kumimoji="1" lang="en-US" altLang="ja-JP" sz="1400" dirty="0"/>
                        <a:t>KPI</a:t>
                      </a:r>
                      <a:r>
                        <a:rPr kumimoji="1" lang="ja-JP" altLang="en-US" sz="1400" dirty="0"/>
                        <a:t>、担当者のミッションと恒久改善による効果がリンクしていない（恒久改善の優先度が低い）</a:t>
                      </a:r>
                    </a:p>
                  </a:txBody>
                  <a:tcPr/>
                </a:tc>
                <a:tc>
                  <a:txBody>
                    <a:bodyPr/>
                    <a:lstStyle/>
                    <a:p>
                      <a:r>
                        <a:rPr kumimoji="1" lang="ja-JP" altLang="en-US" sz="1400" dirty="0"/>
                        <a:t>・暫定改善、恒久改善を切り分けて管理できる。</a:t>
                      </a:r>
                      <a:endParaRPr kumimoji="1" lang="en-US" altLang="ja-JP" sz="1400" dirty="0"/>
                    </a:p>
                    <a:p>
                      <a:r>
                        <a:rPr kumimoji="1" lang="ja-JP" altLang="en-US" sz="1400" dirty="0"/>
                        <a:t>・再発率、改善効果を可視化できる。</a:t>
                      </a:r>
                    </a:p>
                  </a:txBody>
                  <a:tcPr/>
                </a:tc>
                <a:extLst>
                  <a:ext uri="{0D108BD9-81ED-4DB2-BD59-A6C34878D82A}">
                    <a16:rowId xmlns:a16="http://schemas.microsoft.com/office/drawing/2014/main" val="2420730311"/>
                  </a:ext>
                </a:extLst>
              </a:tr>
              <a:tr h="1189107">
                <a:tc>
                  <a:txBody>
                    <a:bodyPr/>
                    <a:lstStyle/>
                    <a:p>
                      <a:r>
                        <a:rPr kumimoji="1" lang="ja-JP" altLang="en-US" sz="1400" dirty="0"/>
                        <a:t>目指す姿を現状の姿としてアップデートしていない</a:t>
                      </a:r>
                    </a:p>
                  </a:txBody>
                  <a:tcPr/>
                </a:tc>
                <a:tc>
                  <a:txBody>
                    <a:bodyPr/>
                    <a:lstStyle/>
                    <a:p>
                      <a:r>
                        <a:rPr kumimoji="1" lang="ja-JP" altLang="en-US" sz="1400" dirty="0"/>
                        <a:t>・標準業務改訂の責任やプロセスが曖昧</a:t>
                      </a:r>
                      <a:endParaRPr kumimoji="1" lang="en-US" altLang="ja-JP" sz="1400" dirty="0"/>
                    </a:p>
                    <a:p>
                      <a:r>
                        <a:rPr kumimoji="1" lang="ja-JP" altLang="en-US" sz="1400" dirty="0"/>
                        <a:t>・標準業務が陳腐化した際のリスクが実感、数値化されていない</a:t>
                      </a:r>
                      <a:endParaRPr kumimoji="1" lang="en-US" altLang="ja-JP" sz="1400" dirty="0"/>
                    </a:p>
                  </a:txBody>
                  <a:tcPr/>
                </a:tc>
                <a:tc>
                  <a:txBody>
                    <a:bodyPr/>
                    <a:lstStyle/>
                    <a:p>
                      <a:r>
                        <a:rPr kumimoji="1" lang="ja-JP" altLang="en-US" sz="1400" dirty="0"/>
                        <a:t>・改善活動の中で自然にアップデートされる。</a:t>
                      </a:r>
                      <a:endParaRPr kumimoji="1" lang="en-US" altLang="ja-JP" sz="1400" dirty="0"/>
                    </a:p>
                    <a:p>
                      <a:r>
                        <a:rPr kumimoji="1" lang="ja-JP" altLang="en-US" sz="1400" dirty="0"/>
                        <a:t>・包括的なソリューションとして推奨する体制・役割を定義する。</a:t>
                      </a:r>
                      <a:endParaRPr kumimoji="1" lang="en-US" altLang="ja-JP" sz="1400" dirty="0"/>
                    </a:p>
                    <a:p>
                      <a:r>
                        <a:rPr kumimoji="1" lang="ja-JP" altLang="en-US" sz="1400" dirty="0"/>
                        <a:t>・標準の最終更新日、活用状況、遵守率を可視化できる。</a:t>
                      </a:r>
                    </a:p>
                  </a:txBody>
                  <a:tcPr/>
                </a:tc>
                <a:extLst>
                  <a:ext uri="{0D108BD9-81ED-4DB2-BD59-A6C34878D82A}">
                    <a16:rowId xmlns:a16="http://schemas.microsoft.com/office/drawing/2014/main" val="3442425787"/>
                  </a:ext>
                </a:extLst>
              </a:tr>
            </a:tbl>
          </a:graphicData>
        </a:graphic>
      </p:graphicFrame>
    </p:spTree>
    <p:extLst>
      <p:ext uri="{BB962C8B-B14F-4D97-AF65-F5344CB8AC3E}">
        <p14:creationId xmlns:p14="http://schemas.microsoft.com/office/powerpoint/2010/main" val="189362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451F0-CBFB-503B-A00D-487F63D9940C}"/>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B7B2678-61FC-A648-37BE-B549DC41B943}"/>
              </a:ext>
            </a:extLst>
          </p:cNvPr>
          <p:cNvSpPr>
            <a:spLocks noGrp="1"/>
          </p:cNvSpPr>
          <p:nvPr>
            <p:ph type="body" sz="quarter" idx="14"/>
          </p:nvPr>
        </p:nvSpPr>
        <p:spPr/>
        <p:txBody>
          <a:bodyPr/>
          <a:lstStyle/>
          <a:p>
            <a:r>
              <a:rPr kumimoji="1" lang="en-US" altLang="ja-JP" dirty="0"/>
              <a:t>PoC#2</a:t>
            </a:r>
            <a:r>
              <a:rPr kumimoji="1" lang="ja-JP" altLang="en-US" dirty="0"/>
              <a:t>計画・チーム体制・予算</a:t>
            </a:r>
          </a:p>
        </p:txBody>
      </p:sp>
      <p:graphicFrame>
        <p:nvGraphicFramePr>
          <p:cNvPr id="7" name="表 6">
            <a:extLst>
              <a:ext uri="{FF2B5EF4-FFF2-40B4-BE49-F238E27FC236}">
                <a16:creationId xmlns:a16="http://schemas.microsoft.com/office/drawing/2014/main" id="{207AB78B-21E4-6A6F-BE46-108F07159E70}"/>
              </a:ext>
            </a:extLst>
          </p:cNvPr>
          <p:cNvGraphicFramePr>
            <a:graphicFrameLocks noGrp="1"/>
          </p:cNvGraphicFramePr>
          <p:nvPr>
            <p:extLst>
              <p:ext uri="{D42A27DB-BD31-4B8C-83A1-F6EECF244321}">
                <p14:modId xmlns:p14="http://schemas.microsoft.com/office/powerpoint/2010/main" val="3661442685"/>
              </p:ext>
            </p:extLst>
          </p:nvPr>
        </p:nvGraphicFramePr>
        <p:xfrm>
          <a:off x="378352" y="1127640"/>
          <a:ext cx="11132928" cy="3069891"/>
        </p:xfrm>
        <a:graphic>
          <a:graphicData uri="http://schemas.openxmlformats.org/drawingml/2006/table">
            <a:tbl>
              <a:tblPr firstRow="1" bandRow="1">
                <a:tableStyleId>{93296810-A885-4BE3-A3E7-6D5BEEA58F35}</a:tableStyleId>
              </a:tblPr>
              <a:tblGrid>
                <a:gridCol w="3710976">
                  <a:extLst>
                    <a:ext uri="{9D8B030D-6E8A-4147-A177-3AD203B41FA5}">
                      <a16:colId xmlns:a16="http://schemas.microsoft.com/office/drawing/2014/main" val="3725392500"/>
                    </a:ext>
                  </a:extLst>
                </a:gridCol>
                <a:gridCol w="3710976">
                  <a:extLst>
                    <a:ext uri="{9D8B030D-6E8A-4147-A177-3AD203B41FA5}">
                      <a16:colId xmlns:a16="http://schemas.microsoft.com/office/drawing/2014/main" val="364460912"/>
                    </a:ext>
                  </a:extLst>
                </a:gridCol>
                <a:gridCol w="3710976">
                  <a:extLst>
                    <a:ext uri="{9D8B030D-6E8A-4147-A177-3AD203B41FA5}">
                      <a16:colId xmlns:a16="http://schemas.microsoft.com/office/drawing/2014/main" val="344862816"/>
                    </a:ext>
                  </a:extLst>
                </a:gridCol>
              </a:tblGrid>
              <a:tr h="0">
                <a:tc>
                  <a:txBody>
                    <a:bodyPr/>
                    <a:lstStyle/>
                    <a:p>
                      <a:r>
                        <a:rPr kumimoji="1" lang="en-US" altLang="ja-JP" sz="1400" dirty="0"/>
                        <a:t>’25</a:t>
                      </a:r>
                    </a:p>
                    <a:p>
                      <a:r>
                        <a:rPr kumimoji="1" lang="en-US" altLang="ja-JP" sz="1400" dirty="0"/>
                        <a:t>10</a:t>
                      </a:r>
                      <a:r>
                        <a:rPr kumimoji="1" lang="ja-JP" altLang="en-US" sz="1400" dirty="0"/>
                        <a:t>月</a:t>
                      </a:r>
                    </a:p>
                  </a:txBody>
                  <a:tcPr/>
                </a:tc>
                <a:tc>
                  <a:txBody>
                    <a:bodyPr/>
                    <a:lstStyle/>
                    <a:p>
                      <a:endParaRPr kumimoji="1" lang="en-US" altLang="ja-JP" sz="1400" dirty="0"/>
                    </a:p>
                    <a:p>
                      <a:r>
                        <a:rPr kumimoji="1" lang="en-US" altLang="ja-JP" sz="1400" dirty="0"/>
                        <a:t>11</a:t>
                      </a:r>
                      <a:r>
                        <a:rPr kumimoji="1" lang="ja-JP" altLang="en-US" sz="1400" dirty="0"/>
                        <a:t>月</a:t>
                      </a:r>
                    </a:p>
                  </a:txBody>
                  <a:tcPr/>
                </a:tc>
                <a:tc>
                  <a:txBody>
                    <a:bodyPr/>
                    <a:lstStyle/>
                    <a:p>
                      <a:endParaRPr kumimoji="1" lang="en-US" altLang="ja-JP" sz="1400" dirty="0"/>
                    </a:p>
                    <a:p>
                      <a:r>
                        <a:rPr kumimoji="1" lang="en-US" altLang="ja-JP" sz="1400" dirty="0"/>
                        <a:t>12</a:t>
                      </a:r>
                      <a:r>
                        <a:rPr kumimoji="1" lang="ja-JP" altLang="en-US" sz="1400" dirty="0"/>
                        <a:t>月</a:t>
                      </a:r>
                    </a:p>
                  </a:txBody>
                  <a:tcPr/>
                </a:tc>
                <a:extLst>
                  <a:ext uri="{0D108BD9-81ED-4DB2-BD59-A6C34878D82A}">
                    <a16:rowId xmlns:a16="http://schemas.microsoft.com/office/drawing/2014/main" val="1030881511"/>
                  </a:ext>
                </a:extLst>
              </a:tr>
              <a:tr h="2551731">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718572403"/>
                  </a:ext>
                </a:extLst>
              </a:tr>
            </a:tbl>
          </a:graphicData>
        </a:graphic>
      </p:graphicFrame>
      <p:sp>
        <p:nvSpPr>
          <p:cNvPr id="10" name="矢印: 五方向 9">
            <a:extLst>
              <a:ext uri="{FF2B5EF4-FFF2-40B4-BE49-F238E27FC236}">
                <a16:creationId xmlns:a16="http://schemas.microsoft.com/office/drawing/2014/main" id="{EBC123AC-354E-5D61-DFEC-2FD52B9C5C7F}"/>
              </a:ext>
            </a:extLst>
          </p:cNvPr>
          <p:cNvSpPr/>
          <p:nvPr/>
        </p:nvSpPr>
        <p:spPr>
          <a:xfrm>
            <a:off x="2612570" y="2502198"/>
            <a:ext cx="1431109" cy="41910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t>PoC</a:t>
            </a:r>
            <a:r>
              <a:rPr lang="ja-JP" altLang="en-US" sz="1400" dirty="0"/>
              <a:t>範囲、目的、</a:t>
            </a:r>
            <a:endParaRPr lang="en-US" altLang="ja-JP" sz="1400" dirty="0"/>
          </a:p>
          <a:p>
            <a:pPr algn="ctr"/>
            <a:r>
              <a:rPr lang="ja-JP" altLang="en-US" sz="1400" dirty="0"/>
              <a:t>目標設定</a:t>
            </a:r>
            <a:endParaRPr kumimoji="1" lang="ja-JP" altLang="en-US" sz="1400" dirty="0"/>
          </a:p>
        </p:txBody>
      </p:sp>
      <p:sp>
        <p:nvSpPr>
          <p:cNvPr id="11" name="矢印: 五方向 10">
            <a:extLst>
              <a:ext uri="{FF2B5EF4-FFF2-40B4-BE49-F238E27FC236}">
                <a16:creationId xmlns:a16="http://schemas.microsoft.com/office/drawing/2014/main" id="{C6C345EA-27F1-AD11-E1D9-92FB3C3CFBDD}"/>
              </a:ext>
            </a:extLst>
          </p:cNvPr>
          <p:cNvSpPr/>
          <p:nvPr/>
        </p:nvSpPr>
        <p:spPr>
          <a:xfrm>
            <a:off x="4121096" y="3044315"/>
            <a:ext cx="3651304" cy="307777"/>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dirty="0"/>
              <a:t>PoC</a:t>
            </a:r>
            <a:endParaRPr kumimoji="1" lang="ja-JP" altLang="en-US" sz="1400" dirty="0"/>
          </a:p>
        </p:txBody>
      </p:sp>
      <p:sp>
        <p:nvSpPr>
          <p:cNvPr id="13" name="矢印: 五方向 12">
            <a:extLst>
              <a:ext uri="{FF2B5EF4-FFF2-40B4-BE49-F238E27FC236}">
                <a16:creationId xmlns:a16="http://schemas.microsoft.com/office/drawing/2014/main" id="{2FAD5138-8D38-A413-FF0E-30F0BC6C77E2}"/>
              </a:ext>
            </a:extLst>
          </p:cNvPr>
          <p:cNvSpPr/>
          <p:nvPr/>
        </p:nvSpPr>
        <p:spPr>
          <a:xfrm>
            <a:off x="7772400" y="3054054"/>
            <a:ext cx="3281680" cy="307777"/>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結果検証、再計画</a:t>
            </a:r>
            <a:endParaRPr kumimoji="1" lang="ja-JP" altLang="en-US" sz="1400" dirty="0"/>
          </a:p>
        </p:txBody>
      </p:sp>
      <p:sp>
        <p:nvSpPr>
          <p:cNvPr id="15" name="矢印: 五方向 14">
            <a:extLst>
              <a:ext uri="{FF2B5EF4-FFF2-40B4-BE49-F238E27FC236}">
                <a16:creationId xmlns:a16="http://schemas.microsoft.com/office/drawing/2014/main" id="{33382531-3501-139C-CBBF-3A03E1EDEB3F}"/>
              </a:ext>
            </a:extLst>
          </p:cNvPr>
          <p:cNvSpPr/>
          <p:nvPr/>
        </p:nvSpPr>
        <p:spPr>
          <a:xfrm>
            <a:off x="4121096" y="3496170"/>
            <a:ext cx="3647440" cy="41910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外販ニーズ調査</a:t>
            </a:r>
            <a:endParaRPr lang="en-US" altLang="ja-JP" sz="1400" dirty="0"/>
          </a:p>
          <a:p>
            <a:pPr algn="ctr"/>
            <a:r>
              <a:rPr kumimoji="1" lang="ja-JP" altLang="en-US" sz="1400" dirty="0"/>
              <a:t>（</a:t>
            </a:r>
            <a:r>
              <a:rPr kumimoji="1" lang="en-US" altLang="ja-JP" sz="1400" dirty="0" err="1"/>
              <a:t>Youtube</a:t>
            </a:r>
            <a:r>
              <a:rPr kumimoji="1" lang="en-US" altLang="ja-JP" sz="1400" dirty="0"/>
              <a:t> Live</a:t>
            </a:r>
            <a:r>
              <a:rPr kumimoji="1" lang="ja-JP" altLang="en-US" sz="1400" dirty="0"/>
              <a:t>イベント登壇、アンケート）</a:t>
            </a:r>
          </a:p>
        </p:txBody>
      </p:sp>
      <p:sp>
        <p:nvSpPr>
          <p:cNvPr id="16" name="テキスト ボックス 15">
            <a:extLst>
              <a:ext uri="{FF2B5EF4-FFF2-40B4-BE49-F238E27FC236}">
                <a16:creationId xmlns:a16="http://schemas.microsoft.com/office/drawing/2014/main" id="{471ABEB4-892C-3E61-C3AE-605108028A0E}"/>
              </a:ext>
            </a:extLst>
          </p:cNvPr>
          <p:cNvSpPr txBox="1"/>
          <p:nvPr/>
        </p:nvSpPr>
        <p:spPr>
          <a:xfrm>
            <a:off x="10731300" y="3473154"/>
            <a:ext cx="1082348" cy="307777"/>
          </a:xfrm>
          <a:prstGeom prst="rect">
            <a:avLst/>
          </a:prstGeom>
          <a:noFill/>
        </p:spPr>
        <p:txBody>
          <a:bodyPr wrap="none" rtlCol="0">
            <a:spAutoFit/>
          </a:bodyPr>
          <a:lstStyle/>
          <a:p>
            <a:r>
              <a:rPr kumimoji="1" lang="ja-JP" altLang="en-US" sz="1400" dirty="0"/>
              <a:t>▲結果報告</a:t>
            </a:r>
          </a:p>
        </p:txBody>
      </p:sp>
      <p:sp>
        <p:nvSpPr>
          <p:cNvPr id="18" name="テキスト ボックス 17">
            <a:extLst>
              <a:ext uri="{FF2B5EF4-FFF2-40B4-BE49-F238E27FC236}">
                <a16:creationId xmlns:a16="http://schemas.microsoft.com/office/drawing/2014/main" id="{A724914C-D839-8BD6-7AEC-693B4A7C07A9}"/>
              </a:ext>
            </a:extLst>
          </p:cNvPr>
          <p:cNvSpPr txBox="1"/>
          <p:nvPr/>
        </p:nvSpPr>
        <p:spPr>
          <a:xfrm>
            <a:off x="226724" y="768539"/>
            <a:ext cx="1358064" cy="369332"/>
          </a:xfrm>
          <a:prstGeom prst="rect">
            <a:avLst/>
          </a:prstGeom>
          <a:noFill/>
        </p:spPr>
        <p:txBody>
          <a:bodyPr wrap="none" rtlCol="0">
            <a:spAutoFit/>
          </a:bodyPr>
          <a:lstStyle/>
          <a:p>
            <a:r>
              <a:rPr kumimoji="1" lang="ja-JP" altLang="en-US" b="1" dirty="0"/>
              <a:t>スケジュール</a:t>
            </a:r>
          </a:p>
        </p:txBody>
      </p:sp>
      <p:sp>
        <p:nvSpPr>
          <p:cNvPr id="3" name="矢印: 五方向 2">
            <a:extLst>
              <a:ext uri="{FF2B5EF4-FFF2-40B4-BE49-F238E27FC236}">
                <a16:creationId xmlns:a16="http://schemas.microsoft.com/office/drawing/2014/main" id="{2BDD887D-8D43-5C01-CA82-E0F3381DCC97}"/>
              </a:ext>
            </a:extLst>
          </p:cNvPr>
          <p:cNvSpPr/>
          <p:nvPr/>
        </p:nvSpPr>
        <p:spPr>
          <a:xfrm>
            <a:off x="378352" y="1790889"/>
            <a:ext cx="2234218" cy="419100"/>
          </a:xfrm>
          <a:prstGeom prst="homePlat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t>ソリューション案の</a:t>
            </a:r>
            <a:endParaRPr lang="en-US" altLang="ja-JP" sz="1400" dirty="0"/>
          </a:p>
          <a:p>
            <a:pPr algn="ctr"/>
            <a:r>
              <a:rPr lang="ja-JP" altLang="en-US" sz="1400" dirty="0"/>
              <a:t>具体化</a:t>
            </a:r>
            <a:endParaRPr kumimoji="1" lang="ja-JP" altLang="en-US" sz="1400" dirty="0"/>
          </a:p>
        </p:txBody>
      </p:sp>
      <p:sp>
        <p:nvSpPr>
          <p:cNvPr id="4" name="吹き出し: 四角形 3">
            <a:extLst>
              <a:ext uri="{FF2B5EF4-FFF2-40B4-BE49-F238E27FC236}">
                <a16:creationId xmlns:a16="http://schemas.microsoft.com/office/drawing/2014/main" id="{B33E8FE0-000B-555B-D2C9-E75B4166AC42}"/>
              </a:ext>
            </a:extLst>
          </p:cNvPr>
          <p:cNvSpPr/>
          <p:nvPr/>
        </p:nvSpPr>
        <p:spPr>
          <a:xfrm>
            <a:off x="2760804" y="1700336"/>
            <a:ext cx="4505517" cy="686895"/>
          </a:xfrm>
          <a:prstGeom prst="wedgeRectCallout">
            <a:avLst>
              <a:gd name="adj1" fmla="val -56182"/>
              <a:gd name="adj2" fmla="val -698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400" dirty="0"/>
              <a:t>機能イメージを書いて課題解決が見込めるかを考察する</a:t>
            </a:r>
            <a:endParaRPr kumimoji="1" lang="en-US" altLang="ja-JP" sz="1400" dirty="0"/>
          </a:p>
          <a:p>
            <a:pPr algn="ctr"/>
            <a:r>
              <a:rPr lang="ja-JP" altLang="en-US" sz="1400" dirty="0"/>
              <a:t>特に「品質基準の逸脱からプロセスの異常を検知できるか」を</a:t>
            </a:r>
            <a:endParaRPr lang="en-US" altLang="ja-JP" sz="1400" dirty="0"/>
          </a:p>
          <a:p>
            <a:pPr algn="ctr"/>
            <a:r>
              <a:rPr lang="ja-JP" altLang="en-US" sz="1400" dirty="0"/>
              <a:t>重点的に検証予定</a:t>
            </a:r>
            <a:endParaRPr kumimoji="1" lang="ja-JP" altLang="en-US" sz="1400" dirty="0"/>
          </a:p>
        </p:txBody>
      </p:sp>
      <p:sp>
        <p:nvSpPr>
          <p:cNvPr id="8" name="吹き出し: 四角形 7">
            <a:extLst>
              <a:ext uri="{FF2B5EF4-FFF2-40B4-BE49-F238E27FC236}">
                <a16:creationId xmlns:a16="http://schemas.microsoft.com/office/drawing/2014/main" id="{DCD03175-2D10-2A9C-B800-868468CDEC06}"/>
              </a:ext>
            </a:extLst>
          </p:cNvPr>
          <p:cNvSpPr/>
          <p:nvPr/>
        </p:nvSpPr>
        <p:spPr>
          <a:xfrm>
            <a:off x="4043680" y="2480027"/>
            <a:ext cx="3355496" cy="471491"/>
          </a:xfrm>
          <a:prstGeom prst="wedgeRectCallout">
            <a:avLst>
              <a:gd name="adj1" fmla="val -54993"/>
              <a:gd name="adj2" fmla="val -384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400" dirty="0"/>
              <a:t>仮説の立証条件を作りこむ</a:t>
            </a:r>
            <a:endParaRPr kumimoji="1" lang="en-US" altLang="ja-JP" sz="1400" dirty="0"/>
          </a:p>
          <a:p>
            <a:pPr algn="ctr"/>
            <a:r>
              <a:rPr lang="ja-JP" altLang="en-US" sz="1400" dirty="0"/>
              <a:t>（どうなったら立証か？をなるべく定量化）</a:t>
            </a:r>
            <a:endParaRPr kumimoji="1" lang="en-US" altLang="ja-JP" sz="1400" dirty="0"/>
          </a:p>
        </p:txBody>
      </p:sp>
      <p:sp>
        <p:nvSpPr>
          <p:cNvPr id="5" name="テキスト ボックス 4">
            <a:extLst>
              <a:ext uri="{FF2B5EF4-FFF2-40B4-BE49-F238E27FC236}">
                <a16:creationId xmlns:a16="http://schemas.microsoft.com/office/drawing/2014/main" id="{19A6F918-8A82-4C12-CEF3-1E3612943ED5}"/>
              </a:ext>
            </a:extLst>
          </p:cNvPr>
          <p:cNvSpPr txBox="1"/>
          <p:nvPr/>
        </p:nvSpPr>
        <p:spPr>
          <a:xfrm>
            <a:off x="2420415" y="4312909"/>
            <a:ext cx="646331" cy="369332"/>
          </a:xfrm>
          <a:prstGeom prst="rect">
            <a:avLst/>
          </a:prstGeom>
          <a:noFill/>
        </p:spPr>
        <p:txBody>
          <a:bodyPr wrap="none" rtlCol="0">
            <a:spAutoFit/>
          </a:bodyPr>
          <a:lstStyle/>
          <a:p>
            <a:r>
              <a:rPr kumimoji="1" lang="ja-JP" altLang="en-US" b="1" dirty="0"/>
              <a:t>体制</a:t>
            </a:r>
          </a:p>
        </p:txBody>
      </p:sp>
      <p:sp>
        <p:nvSpPr>
          <p:cNvPr id="6" name="正方形/長方形 5">
            <a:extLst>
              <a:ext uri="{FF2B5EF4-FFF2-40B4-BE49-F238E27FC236}">
                <a16:creationId xmlns:a16="http://schemas.microsoft.com/office/drawing/2014/main" id="{191AB08A-D20F-86DA-3BF1-15BC840C912B}"/>
              </a:ext>
            </a:extLst>
          </p:cNvPr>
          <p:cNvSpPr/>
          <p:nvPr/>
        </p:nvSpPr>
        <p:spPr>
          <a:xfrm>
            <a:off x="2760804" y="4780198"/>
            <a:ext cx="1016000" cy="36933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片岡</a:t>
            </a:r>
          </a:p>
        </p:txBody>
      </p:sp>
      <p:sp>
        <p:nvSpPr>
          <p:cNvPr id="9" name="正方形/長方形 8">
            <a:extLst>
              <a:ext uri="{FF2B5EF4-FFF2-40B4-BE49-F238E27FC236}">
                <a16:creationId xmlns:a16="http://schemas.microsoft.com/office/drawing/2014/main" id="{CB4805D6-EB8B-94CC-C54E-066E81FBBB7B}"/>
              </a:ext>
            </a:extLst>
          </p:cNvPr>
          <p:cNvSpPr/>
          <p:nvPr/>
        </p:nvSpPr>
        <p:spPr>
          <a:xfrm>
            <a:off x="2760804" y="5528586"/>
            <a:ext cx="1016000" cy="36933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NBX</a:t>
            </a:r>
            <a:endParaRPr kumimoji="1" lang="ja-JP" altLang="en-US" dirty="0"/>
          </a:p>
        </p:txBody>
      </p:sp>
      <p:cxnSp>
        <p:nvCxnSpPr>
          <p:cNvPr id="12" name="直線コネクタ 11">
            <a:extLst>
              <a:ext uri="{FF2B5EF4-FFF2-40B4-BE49-F238E27FC236}">
                <a16:creationId xmlns:a16="http://schemas.microsoft.com/office/drawing/2014/main" id="{036DA72B-8AEB-E733-A902-E0E14FA0223E}"/>
              </a:ext>
            </a:extLst>
          </p:cNvPr>
          <p:cNvCxnSpPr>
            <a:stCxn id="6" idx="2"/>
            <a:endCxn id="9" idx="0"/>
          </p:cNvCxnSpPr>
          <p:nvPr/>
        </p:nvCxnSpPr>
        <p:spPr>
          <a:xfrm>
            <a:off x="3268804" y="5149530"/>
            <a:ext cx="0" cy="379056"/>
          </a:xfrm>
          <a:prstGeom prst="line">
            <a:avLst/>
          </a:prstGeom>
        </p:spPr>
        <p:style>
          <a:lnRef idx="1">
            <a:schemeClr val="dk1"/>
          </a:lnRef>
          <a:fillRef idx="0">
            <a:schemeClr val="dk1"/>
          </a:fillRef>
          <a:effectRef idx="0">
            <a:schemeClr val="dk1"/>
          </a:effectRef>
          <a:fontRef idx="minor">
            <a:schemeClr val="tx1"/>
          </a:fontRef>
        </p:style>
      </p:cxnSp>
      <p:sp>
        <p:nvSpPr>
          <p:cNvPr id="14" name="テキスト ボックス 13">
            <a:extLst>
              <a:ext uri="{FF2B5EF4-FFF2-40B4-BE49-F238E27FC236}">
                <a16:creationId xmlns:a16="http://schemas.microsoft.com/office/drawing/2014/main" id="{21C7FD25-09EA-A1CA-A208-4E47BF2395E9}"/>
              </a:ext>
            </a:extLst>
          </p:cNvPr>
          <p:cNvSpPr txBox="1"/>
          <p:nvPr/>
        </p:nvSpPr>
        <p:spPr>
          <a:xfrm>
            <a:off x="5607615" y="4312909"/>
            <a:ext cx="646331" cy="369332"/>
          </a:xfrm>
          <a:prstGeom prst="rect">
            <a:avLst/>
          </a:prstGeom>
          <a:noFill/>
        </p:spPr>
        <p:txBody>
          <a:bodyPr wrap="none" rtlCol="0">
            <a:spAutoFit/>
          </a:bodyPr>
          <a:lstStyle/>
          <a:p>
            <a:r>
              <a:rPr kumimoji="1" lang="ja-JP" altLang="en-US" b="1" dirty="0"/>
              <a:t>金額</a:t>
            </a:r>
          </a:p>
        </p:txBody>
      </p:sp>
      <p:sp>
        <p:nvSpPr>
          <p:cNvPr id="17" name="テキスト ボックス 16">
            <a:extLst>
              <a:ext uri="{FF2B5EF4-FFF2-40B4-BE49-F238E27FC236}">
                <a16:creationId xmlns:a16="http://schemas.microsoft.com/office/drawing/2014/main" id="{1BFC7859-F053-170F-A1C7-E1771E5647C9}"/>
              </a:ext>
            </a:extLst>
          </p:cNvPr>
          <p:cNvSpPr txBox="1"/>
          <p:nvPr/>
        </p:nvSpPr>
        <p:spPr>
          <a:xfrm>
            <a:off x="272817" y="4312789"/>
            <a:ext cx="877163" cy="369332"/>
          </a:xfrm>
          <a:prstGeom prst="rect">
            <a:avLst/>
          </a:prstGeom>
          <a:noFill/>
        </p:spPr>
        <p:txBody>
          <a:bodyPr wrap="none" rtlCol="0">
            <a:spAutoFit/>
          </a:bodyPr>
          <a:lstStyle/>
          <a:p>
            <a:r>
              <a:rPr kumimoji="1" lang="ja-JP" altLang="en-US" b="1" dirty="0"/>
              <a:t>成果物</a:t>
            </a:r>
          </a:p>
        </p:txBody>
      </p:sp>
      <p:sp>
        <p:nvSpPr>
          <p:cNvPr id="19" name="テキスト ボックス 18">
            <a:extLst>
              <a:ext uri="{FF2B5EF4-FFF2-40B4-BE49-F238E27FC236}">
                <a16:creationId xmlns:a16="http://schemas.microsoft.com/office/drawing/2014/main" id="{51B7E34D-DD0A-5561-821C-C3B026C16D0C}"/>
              </a:ext>
            </a:extLst>
          </p:cNvPr>
          <p:cNvSpPr txBox="1"/>
          <p:nvPr/>
        </p:nvSpPr>
        <p:spPr>
          <a:xfrm>
            <a:off x="533225" y="4780198"/>
            <a:ext cx="1454244" cy="369332"/>
          </a:xfrm>
          <a:prstGeom prst="rect">
            <a:avLst/>
          </a:prstGeom>
          <a:noFill/>
        </p:spPr>
        <p:txBody>
          <a:bodyPr wrap="none" rtlCol="0">
            <a:spAutoFit/>
          </a:bodyPr>
          <a:lstStyle/>
          <a:p>
            <a:r>
              <a:rPr kumimoji="1" lang="ja-JP" altLang="en-US" dirty="0"/>
              <a:t>・事業計画書</a:t>
            </a:r>
            <a:endParaRPr kumimoji="1" lang="en-US" altLang="ja-JP" dirty="0"/>
          </a:p>
        </p:txBody>
      </p:sp>
      <p:graphicFrame>
        <p:nvGraphicFramePr>
          <p:cNvPr id="20" name="表 19">
            <a:extLst>
              <a:ext uri="{FF2B5EF4-FFF2-40B4-BE49-F238E27FC236}">
                <a16:creationId xmlns:a16="http://schemas.microsoft.com/office/drawing/2014/main" id="{0E1B53B3-4AB6-E232-C38A-DE7E7C6B6BA2}"/>
              </a:ext>
            </a:extLst>
          </p:cNvPr>
          <p:cNvGraphicFramePr>
            <a:graphicFrameLocks noGrp="1"/>
          </p:cNvGraphicFramePr>
          <p:nvPr>
            <p:extLst>
              <p:ext uri="{D42A27DB-BD31-4B8C-83A1-F6EECF244321}">
                <p14:modId xmlns:p14="http://schemas.microsoft.com/office/powerpoint/2010/main" val="2670979236"/>
              </p:ext>
            </p:extLst>
          </p:nvPr>
        </p:nvGraphicFramePr>
        <p:xfrm>
          <a:off x="6096000" y="5039466"/>
          <a:ext cx="3630680" cy="1524000"/>
        </p:xfrm>
        <a:graphic>
          <a:graphicData uri="http://schemas.openxmlformats.org/drawingml/2006/table">
            <a:tbl>
              <a:tblPr firstRow="1" bandRow="1">
                <a:tableStyleId>{93296810-A885-4BE3-A3E7-6D5BEEA58F35}</a:tableStyleId>
              </a:tblPr>
              <a:tblGrid>
                <a:gridCol w="561655">
                  <a:extLst>
                    <a:ext uri="{9D8B030D-6E8A-4147-A177-3AD203B41FA5}">
                      <a16:colId xmlns:a16="http://schemas.microsoft.com/office/drawing/2014/main" val="2554253876"/>
                    </a:ext>
                  </a:extLst>
                </a:gridCol>
                <a:gridCol w="957580">
                  <a:extLst>
                    <a:ext uri="{9D8B030D-6E8A-4147-A177-3AD203B41FA5}">
                      <a16:colId xmlns:a16="http://schemas.microsoft.com/office/drawing/2014/main" val="3946987862"/>
                    </a:ext>
                  </a:extLst>
                </a:gridCol>
                <a:gridCol w="1059180">
                  <a:extLst>
                    <a:ext uri="{9D8B030D-6E8A-4147-A177-3AD203B41FA5}">
                      <a16:colId xmlns:a16="http://schemas.microsoft.com/office/drawing/2014/main" val="2561425920"/>
                    </a:ext>
                  </a:extLst>
                </a:gridCol>
                <a:gridCol w="1052265">
                  <a:extLst>
                    <a:ext uri="{9D8B030D-6E8A-4147-A177-3AD203B41FA5}">
                      <a16:colId xmlns:a16="http://schemas.microsoft.com/office/drawing/2014/main" val="94172933"/>
                    </a:ext>
                  </a:extLst>
                </a:gridCol>
              </a:tblGrid>
              <a:tr h="206976">
                <a:tc>
                  <a:txBody>
                    <a:bodyPr/>
                    <a:lstStyle/>
                    <a:p>
                      <a:pPr algn="ctr"/>
                      <a:endParaRPr kumimoji="1" lang="ja-JP" altLang="en-US" sz="1400" dirty="0"/>
                    </a:p>
                  </a:txBody>
                  <a:tcPr anchor="ctr"/>
                </a:tc>
                <a:tc>
                  <a:txBody>
                    <a:bodyPr/>
                    <a:lstStyle/>
                    <a:p>
                      <a:pPr algn="ctr"/>
                      <a:r>
                        <a:rPr kumimoji="1" lang="ja-JP" altLang="en-US" sz="1400" dirty="0"/>
                        <a:t>工数</a:t>
                      </a:r>
                      <a:r>
                        <a:rPr kumimoji="1" lang="en-US" altLang="ja-JP" sz="1100" dirty="0"/>
                        <a:t>(</a:t>
                      </a:r>
                      <a:r>
                        <a:rPr kumimoji="1" lang="ja-JP" altLang="en-US" sz="1100" dirty="0"/>
                        <a:t>人月</a:t>
                      </a:r>
                      <a:r>
                        <a:rPr kumimoji="1" lang="en-US" altLang="ja-JP" sz="1100" dirty="0"/>
                        <a:t>)</a:t>
                      </a:r>
                      <a:endParaRPr kumimoji="1" lang="ja-JP"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単価</a:t>
                      </a:r>
                      <a:r>
                        <a:rPr kumimoji="1" lang="en-US" altLang="ja-JP" sz="1100" dirty="0"/>
                        <a:t>(</a:t>
                      </a:r>
                      <a:r>
                        <a:rPr kumimoji="1" lang="ja-JP" altLang="en-US" sz="1100" dirty="0"/>
                        <a:t>千円</a:t>
                      </a:r>
                      <a:r>
                        <a:rPr kumimoji="1" lang="en-US" altLang="ja-JP" sz="1100" dirty="0"/>
                        <a:t>)</a:t>
                      </a:r>
                      <a:endParaRPr kumimoji="1" lang="ja-JP" altLang="en-US" sz="1800" dirty="0"/>
                    </a:p>
                  </a:txBody>
                  <a:tcPr anchor="ctr"/>
                </a:tc>
                <a:tc>
                  <a:txBody>
                    <a:bodyPr/>
                    <a:lstStyle/>
                    <a:p>
                      <a:pPr algn="ctr"/>
                      <a:r>
                        <a:rPr kumimoji="1" lang="ja-JP" altLang="en-US" sz="1400" dirty="0"/>
                        <a:t>金額</a:t>
                      </a:r>
                      <a:r>
                        <a:rPr kumimoji="1" lang="en-US" altLang="ja-JP" sz="1100" dirty="0"/>
                        <a:t>(</a:t>
                      </a:r>
                      <a:r>
                        <a:rPr kumimoji="1" lang="ja-JP" altLang="en-US" sz="1100" dirty="0"/>
                        <a:t>千円</a:t>
                      </a:r>
                      <a:r>
                        <a:rPr kumimoji="1" lang="en-US" altLang="ja-JP" sz="1100" dirty="0"/>
                        <a:t>)</a:t>
                      </a:r>
                      <a:endParaRPr kumimoji="1" lang="ja-JP" altLang="en-US" sz="1400" dirty="0"/>
                    </a:p>
                  </a:txBody>
                  <a:tcPr anchor="ctr"/>
                </a:tc>
                <a:extLst>
                  <a:ext uri="{0D108BD9-81ED-4DB2-BD59-A6C34878D82A}">
                    <a16:rowId xmlns:a16="http://schemas.microsoft.com/office/drawing/2014/main" val="1902760326"/>
                  </a:ext>
                </a:extLst>
              </a:tr>
              <a:tr h="206976">
                <a:tc>
                  <a:txBody>
                    <a:bodyPr/>
                    <a:lstStyle/>
                    <a:p>
                      <a:pPr algn="ctr"/>
                      <a:r>
                        <a:rPr kumimoji="1" lang="ja-JP" altLang="en-US" sz="1400" dirty="0"/>
                        <a:t>片岡</a:t>
                      </a:r>
                    </a:p>
                  </a:txBody>
                  <a:tcPr anchor="ctr"/>
                </a:tc>
                <a:tc>
                  <a:txBody>
                    <a:bodyPr/>
                    <a:lstStyle/>
                    <a:p>
                      <a:pPr algn="r"/>
                      <a:r>
                        <a:rPr kumimoji="1" lang="en-US" altLang="ja-JP" sz="1400" dirty="0"/>
                        <a:t>0.6</a:t>
                      </a:r>
                      <a:endParaRPr kumimoji="1" lang="ja-JP" altLang="en-US" sz="1400" dirty="0"/>
                    </a:p>
                  </a:txBody>
                  <a:tcPr anchor="ctr"/>
                </a:tc>
                <a:tc>
                  <a:txBody>
                    <a:bodyPr/>
                    <a:lstStyle/>
                    <a:p>
                      <a:pPr algn="r"/>
                      <a:r>
                        <a:rPr kumimoji="1" lang="en-US" altLang="ja-JP" sz="1400" dirty="0"/>
                        <a:t>769</a:t>
                      </a:r>
                      <a:endParaRPr kumimoji="1" lang="ja-JP" altLang="en-US" sz="1400" dirty="0"/>
                    </a:p>
                  </a:txBody>
                  <a:tcPr anchor="ctr"/>
                </a:tc>
                <a:tc>
                  <a:txBody>
                    <a:bodyPr/>
                    <a:lstStyle/>
                    <a:p>
                      <a:pPr algn="r"/>
                      <a:r>
                        <a:rPr kumimoji="1" lang="en-US" altLang="ja-JP" sz="1400" dirty="0"/>
                        <a:t>461.3</a:t>
                      </a:r>
                      <a:endParaRPr kumimoji="1" lang="ja-JP" altLang="en-US" sz="1400" dirty="0"/>
                    </a:p>
                  </a:txBody>
                  <a:tcPr anchor="ctr"/>
                </a:tc>
                <a:extLst>
                  <a:ext uri="{0D108BD9-81ED-4DB2-BD59-A6C34878D82A}">
                    <a16:rowId xmlns:a16="http://schemas.microsoft.com/office/drawing/2014/main" val="1695091759"/>
                  </a:ext>
                </a:extLst>
              </a:tr>
              <a:tr h="206976">
                <a:tc>
                  <a:txBody>
                    <a:bodyPr/>
                    <a:lstStyle/>
                    <a:p>
                      <a:pPr algn="ctr"/>
                      <a:r>
                        <a:rPr kumimoji="1" lang="en-US" altLang="ja-JP" sz="1400" dirty="0"/>
                        <a:t>NBX</a:t>
                      </a:r>
                      <a:endParaRPr kumimoji="1" lang="ja-JP" altLang="en-US" sz="1400" dirty="0"/>
                    </a:p>
                  </a:txBody>
                  <a:tcPr anchor="ctr"/>
                </a:tc>
                <a:tc>
                  <a:txBody>
                    <a:bodyPr/>
                    <a:lstStyle/>
                    <a:p>
                      <a:pPr algn="r"/>
                      <a:r>
                        <a:rPr kumimoji="1" lang="en-US" altLang="ja-JP" sz="1400" dirty="0"/>
                        <a:t>0.3</a:t>
                      </a:r>
                      <a:endParaRPr kumimoji="1" lang="ja-JP" altLang="en-US" sz="1400" dirty="0"/>
                    </a:p>
                  </a:txBody>
                  <a:tcPr anchor="ctr"/>
                </a:tc>
                <a:tc>
                  <a:txBody>
                    <a:bodyPr/>
                    <a:lstStyle/>
                    <a:p>
                      <a:pPr algn="r"/>
                      <a:r>
                        <a:rPr kumimoji="1" lang="en-US" altLang="ja-JP" sz="1400" dirty="0"/>
                        <a:t>2,640</a:t>
                      </a:r>
                      <a:endParaRPr kumimoji="1" lang="ja-JP" altLang="en-US" sz="1400" dirty="0"/>
                    </a:p>
                  </a:txBody>
                  <a:tcPr anchor="ctr"/>
                </a:tc>
                <a:tc>
                  <a:txBody>
                    <a:bodyPr/>
                    <a:lstStyle/>
                    <a:p>
                      <a:pPr algn="r"/>
                      <a:r>
                        <a:rPr kumimoji="1" lang="en-US" altLang="ja-JP" sz="1400" dirty="0"/>
                        <a:t>792.0</a:t>
                      </a:r>
                      <a:endParaRPr kumimoji="1" lang="ja-JP" altLang="en-US" sz="1400" dirty="0"/>
                    </a:p>
                  </a:txBody>
                  <a:tcPr anchor="ctr"/>
                </a:tc>
                <a:extLst>
                  <a:ext uri="{0D108BD9-81ED-4DB2-BD59-A6C34878D82A}">
                    <a16:rowId xmlns:a16="http://schemas.microsoft.com/office/drawing/2014/main" val="2536239111"/>
                  </a:ext>
                </a:extLst>
              </a:tr>
              <a:tr h="206976">
                <a:tc>
                  <a:txBody>
                    <a:bodyPr/>
                    <a:lstStyle/>
                    <a:p>
                      <a:pPr algn="ctr"/>
                      <a:r>
                        <a:rPr kumimoji="1" lang="en-US" altLang="ja-JP" sz="1400" dirty="0"/>
                        <a:t>NBX</a:t>
                      </a:r>
                      <a:endParaRPr kumimoji="1" lang="ja-JP" altLang="en-US" sz="1400" dirty="0"/>
                    </a:p>
                  </a:txBody>
                  <a:tcPr anchor="ctr"/>
                </a:tc>
                <a:tc>
                  <a:txBody>
                    <a:bodyPr/>
                    <a:lstStyle/>
                    <a:p>
                      <a:pPr algn="r"/>
                      <a:r>
                        <a:rPr kumimoji="1" lang="en-US" altLang="ja-JP" sz="1400" dirty="0"/>
                        <a:t>4.5</a:t>
                      </a:r>
                      <a:endParaRPr kumimoji="1" lang="ja-JP" altLang="en-US" sz="1400" dirty="0"/>
                    </a:p>
                  </a:txBody>
                  <a:tcPr anchor="ctr"/>
                </a:tc>
                <a:tc>
                  <a:txBody>
                    <a:bodyPr/>
                    <a:lstStyle/>
                    <a:p>
                      <a:pPr algn="r"/>
                      <a:r>
                        <a:rPr kumimoji="1" lang="en-US" altLang="ja-JP" sz="1400" dirty="0"/>
                        <a:t>1,320</a:t>
                      </a:r>
                      <a:endParaRPr kumimoji="1" lang="ja-JP" altLang="en-US" sz="1400" dirty="0"/>
                    </a:p>
                  </a:txBody>
                  <a:tcPr anchor="ctr"/>
                </a:tc>
                <a:tc>
                  <a:txBody>
                    <a:bodyPr/>
                    <a:lstStyle/>
                    <a:p>
                      <a:pPr algn="r"/>
                      <a:r>
                        <a:rPr kumimoji="1" lang="en-US" altLang="ja-JP" sz="1400" dirty="0"/>
                        <a:t>5,940.0</a:t>
                      </a:r>
                      <a:endParaRPr kumimoji="1" lang="ja-JP" altLang="en-US" sz="1400" dirty="0"/>
                    </a:p>
                  </a:txBody>
                  <a:tcPr anchor="ctr"/>
                </a:tc>
                <a:extLst>
                  <a:ext uri="{0D108BD9-81ED-4DB2-BD59-A6C34878D82A}">
                    <a16:rowId xmlns:a16="http://schemas.microsoft.com/office/drawing/2014/main" val="3302482022"/>
                  </a:ext>
                </a:extLst>
              </a:tr>
              <a:tr h="206976">
                <a:tc gridSpan="3">
                  <a:txBody>
                    <a:bodyPr/>
                    <a:lstStyle/>
                    <a:p>
                      <a:pPr algn="ctr"/>
                      <a:r>
                        <a:rPr kumimoji="1" lang="ja-JP" altLang="en-US" sz="1400" dirty="0"/>
                        <a:t>直課費用（旅費）</a:t>
                      </a:r>
                    </a:p>
                  </a:txBody>
                  <a:tcPr anchor="ctr"/>
                </a:tc>
                <a:tc hMerge="1">
                  <a:txBody>
                    <a:bodyPr/>
                    <a:lstStyle/>
                    <a:p>
                      <a:pPr algn="r"/>
                      <a:endParaRPr kumimoji="1" lang="ja-JP" altLang="en-US" sz="1400" dirty="0"/>
                    </a:p>
                  </a:txBody>
                  <a:tcPr anchor="ctr"/>
                </a:tc>
                <a:tc hMerge="1">
                  <a:txBody>
                    <a:bodyPr/>
                    <a:lstStyle/>
                    <a:p>
                      <a:pPr algn="r"/>
                      <a:endParaRPr kumimoji="1" lang="ja-JP" altLang="en-US" sz="1400" dirty="0"/>
                    </a:p>
                  </a:txBody>
                  <a:tcPr anchor="ctr"/>
                </a:tc>
                <a:tc>
                  <a:txBody>
                    <a:bodyPr/>
                    <a:lstStyle/>
                    <a:p>
                      <a:pPr algn="r"/>
                      <a:r>
                        <a:rPr kumimoji="1" lang="en-US" altLang="ja-JP" sz="1400" dirty="0"/>
                        <a:t>70.0</a:t>
                      </a:r>
                      <a:endParaRPr kumimoji="1" lang="ja-JP" altLang="en-US" sz="1400" dirty="0"/>
                    </a:p>
                  </a:txBody>
                  <a:tcPr anchor="ctr"/>
                </a:tc>
                <a:extLst>
                  <a:ext uri="{0D108BD9-81ED-4DB2-BD59-A6C34878D82A}">
                    <a16:rowId xmlns:a16="http://schemas.microsoft.com/office/drawing/2014/main" val="3021471678"/>
                  </a:ext>
                </a:extLst>
              </a:tr>
            </a:tbl>
          </a:graphicData>
        </a:graphic>
      </p:graphicFrame>
      <p:sp>
        <p:nvSpPr>
          <p:cNvPr id="21" name="テキスト ボックス 20">
            <a:extLst>
              <a:ext uri="{FF2B5EF4-FFF2-40B4-BE49-F238E27FC236}">
                <a16:creationId xmlns:a16="http://schemas.microsoft.com/office/drawing/2014/main" id="{F58E93B8-84B2-071A-1825-631437C20B81}"/>
              </a:ext>
            </a:extLst>
          </p:cNvPr>
          <p:cNvSpPr txBox="1"/>
          <p:nvPr/>
        </p:nvSpPr>
        <p:spPr>
          <a:xfrm>
            <a:off x="3814728" y="4781739"/>
            <a:ext cx="1107996" cy="369332"/>
          </a:xfrm>
          <a:prstGeom prst="rect">
            <a:avLst/>
          </a:prstGeom>
          <a:noFill/>
        </p:spPr>
        <p:txBody>
          <a:bodyPr wrap="none" rtlCol="0">
            <a:spAutoFit/>
          </a:bodyPr>
          <a:lstStyle/>
          <a:p>
            <a:r>
              <a:rPr lang="ja-JP" altLang="en-US" dirty="0"/>
              <a:t>活動推進</a:t>
            </a:r>
            <a:endParaRPr kumimoji="1" lang="en-US" altLang="ja-JP" dirty="0"/>
          </a:p>
        </p:txBody>
      </p:sp>
      <p:sp>
        <p:nvSpPr>
          <p:cNvPr id="22" name="テキスト ボックス 21">
            <a:extLst>
              <a:ext uri="{FF2B5EF4-FFF2-40B4-BE49-F238E27FC236}">
                <a16:creationId xmlns:a16="http://schemas.microsoft.com/office/drawing/2014/main" id="{20796F4C-5107-449A-D674-AB139E1C5871}"/>
              </a:ext>
            </a:extLst>
          </p:cNvPr>
          <p:cNvSpPr txBox="1"/>
          <p:nvPr/>
        </p:nvSpPr>
        <p:spPr>
          <a:xfrm>
            <a:off x="3814728" y="5390086"/>
            <a:ext cx="1529008" cy="646331"/>
          </a:xfrm>
          <a:prstGeom prst="rect">
            <a:avLst/>
          </a:prstGeom>
          <a:noFill/>
        </p:spPr>
        <p:txBody>
          <a:bodyPr wrap="none" rtlCol="0">
            <a:spAutoFit/>
          </a:bodyPr>
          <a:lstStyle/>
          <a:p>
            <a:r>
              <a:rPr lang="ja-JP" altLang="en-US" dirty="0"/>
              <a:t>活動補佐</a:t>
            </a:r>
            <a:endParaRPr lang="en-US" altLang="ja-JP" dirty="0"/>
          </a:p>
          <a:p>
            <a:r>
              <a:rPr lang="en-US" altLang="ja-JP" dirty="0"/>
              <a:t>PoC</a:t>
            </a:r>
            <a:r>
              <a:rPr lang="ja-JP" altLang="en-US" dirty="0"/>
              <a:t>アプリ開発</a:t>
            </a:r>
            <a:endParaRPr lang="en-US" altLang="ja-JP" dirty="0"/>
          </a:p>
        </p:txBody>
      </p:sp>
      <p:sp>
        <p:nvSpPr>
          <p:cNvPr id="25" name="吹き出し: 四角形 24">
            <a:extLst>
              <a:ext uri="{FF2B5EF4-FFF2-40B4-BE49-F238E27FC236}">
                <a16:creationId xmlns:a16="http://schemas.microsoft.com/office/drawing/2014/main" id="{9DEF7646-A29E-092A-17CB-E9F7AF99F5D4}"/>
              </a:ext>
            </a:extLst>
          </p:cNvPr>
          <p:cNvSpPr/>
          <p:nvPr/>
        </p:nvSpPr>
        <p:spPr>
          <a:xfrm>
            <a:off x="7781350" y="3488434"/>
            <a:ext cx="2094169" cy="426835"/>
          </a:xfrm>
          <a:prstGeom prst="wedgeRectCallout">
            <a:avLst>
              <a:gd name="adj1" fmla="val -58886"/>
              <a:gd name="adj2" fmla="val -582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400" dirty="0"/>
              <a:t>NBX</a:t>
            </a:r>
            <a:r>
              <a:rPr kumimoji="1" lang="ja-JP" altLang="en-US" sz="1400" dirty="0"/>
              <a:t>コネクションを利用</a:t>
            </a:r>
            <a:endParaRPr kumimoji="1" lang="en-US" altLang="ja-JP" sz="1400" dirty="0"/>
          </a:p>
          <a:p>
            <a:pPr algn="ctr"/>
            <a:r>
              <a:rPr kumimoji="1" lang="en-US" altLang="ja-JP" sz="1400" dirty="0"/>
              <a:t>5</a:t>
            </a:r>
            <a:r>
              <a:rPr kumimoji="1" lang="ja-JP" altLang="en-US" sz="1400" dirty="0"/>
              <a:t>社程度にアンケート予定</a:t>
            </a:r>
          </a:p>
        </p:txBody>
      </p:sp>
      <p:sp>
        <p:nvSpPr>
          <p:cNvPr id="23" name="テキスト ボックス 22">
            <a:extLst>
              <a:ext uri="{FF2B5EF4-FFF2-40B4-BE49-F238E27FC236}">
                <a16:creationId xmlns:a16="http://schemas.microsoft.com/office/drawing/2014/main" id="{30D72884-21BD-E354-6F4E-01BFAF777301}"/>
              </a:ext>
            </a:extLst>
          </p:cNvPr>
          <p:cNvSpPr txBox="1"/>
          <p:nvPr/>
        </p:nvSpPr>
        <p:spPr>
          <a:xfrm>
            <a:off x="5930780" y="4609142"/>
            <a:ext cx="1370888" cy="369332"/>
          </a:xfrm>
          <a:prstGeom prst="rect">
            <a:avLst/>
          </a:prstGeom>
          <a:noFill/>
        </p:spPr>
        <p:txBody>
          <a:bodyPr wrap="none" rtlCol="0">
            <a:spAutoFit/>
          </a:bodyPr>
          <a:lstStyle/>
          <a:p>
            <a:r>
              <a:rPr kumimoji="1" lang="en-US" altLang="ja-JP" dirty="0"/>
              <a:t>7,263.3</a:t>
            </a:r>
            <a:r>
              <a:rPr kumimoji="1" lang="ja-JP" altLang="en-US" dirty="0"/>
              <a:t>千円</a:t>
            </a:r>
          </a:p>
        </p:txBody>
      </p:sp>
    </p:spTree>
    <p:extLst>
      <p:ext uri="{BB962C8B-B14F-4D97-AF65-F5344CB8AC3E}">
        <p14:creationId xmlns:p14="http://schemas.microsoft.com/office/powerpoint/2010/main" val="2663715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759CF1D-5A73-40BA-55A9-C1EDFF73DB8B}"/>
              </a:ext>
            </a:extLst>
          </p:cNvPr>
          <p:cNvSpPr txBox="1"/>
          <p:nvPr/>
        </p:nvSpPr>
        <p:spPr>
          <a:xfrm>
            <a:off x="529412" y="2921168"/>
            <a:ext cx="11133176" cy="1015663"/>
          </a:xfrm>
          <a:prstGeom prst="rect">
            <a:avLst/>
          </a:prstGeom>
          <a:noFill/>
        </p:spPr>
        <p:txBody>
          <a:bodyPr wrap="none" rtlCol="0">
            <a:spAutoFit/>
          </a:bodyPr>
          <a:lstStyle/>
          <a:p>
            <a:r>
              <a:rPr kumimoji="1" lang="ja-JP" altLang="en-US" sz="6000" dirty="0"/>
              <a:t>以下は</a:t>
            </a:r>
            <a:r>
              <a:rPr lang="en-US" altLang="ja-JP" sz="6000" dirty="0"/>
              <a:t>2025/9/19</a:t>
            </a:r>
            <a:r>
              <a:rPr lang="ja-JP" altLang="en-US" sz="6000" dirty="0"/>
              <a:t>時点</a:t>
            </a:r>
            <a:r>
              <a:rPr kumimoji="1" lang="ja-JP" altLang="en-US" sz="6000" dirty="0"/>
              <a:t>の事業計画</a:t>
            </a:r>
          </a:p>
        </p:txBody>
      </p:sp>
    </p:spTree>
    <p:extLst>
      <p:ext uri="{BB962C8B-B14F-4D97-AF65-F5344CB8AC3E}">
        <p14:creationId xmlns:p14="http://schemas.microsoft.com/office/powerpoint/2010/main" val="2715597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1D19424-2320-DC5B-D628-26BE63FC79B4}"/>
              </a:ext>
            </a:extLst>
          </p:cNvPr>
          <p:cNvSpPr>
            <a:spLocks noGrp="1"/>
          </p:cNvSpPr>
          <p:nvPr>
            <p:ph type="body" sz="quarter" idx="14"/>
          </p:nvPr>
        </p:nvSpPr>
        <p:spPr/>
        <p:txBody>
          <a:bodyPr/>
          <a:lstStyle/>
          <a:p>
            <a:r>
              <a:rPr kumimoji="1" lang="ja-JP" altLang="en-US" dirty="0"/>
              <a:t>提供価値</a:t>
            </a:r>
          </a:p>
        </p:txBody>
      </p:sp>
      <p:pic>
        <p:nvPicPr>
          <p:cNvPr id="1026" name="Picture 2" descr="Images of 自動列車保安装置 - JapaneseClass.jp">
            <a:extLst>
              <a:ext uri="{FF2B5EF4-FFF2-40B4-BE49-F238E27FC236}">
                <a16:creationId xmlns:a16="http://schemas.microsoft.com/office/drawing/2014/main" id="{D53B087B-780D-E263-74B0-A421A125B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6861" y="5045449"/>
            <a:ext cx="2634027" cy="158700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5" name="表 24">
            <a:extLst>
              <a:ext uri="{FF2B5EF4-FFF2-40B4-BE49-F238E27FC236}">
                <a16:creationId xmlns:a16="http://schemas.microsoft.com/office/drawing/2014/main" id="{15610DDE-BAFC-8873-73FB-47A6284875D8}"/>
              </a:ext>
            </a:extLst>
          </p:cNvPr>
          <p:cNvGraphicFramePr>
            <a:graphicFrameLocks noGrp="1"/>
          </p:cNvGraphicFramePr>
          <p:nvPr>
            <p:extLst>
              <p:ext uri="{D42A27DB-BD31-4B8C-83A1-F6EECF244321}">
                <p14:modId xmlns:p14="http://schemas.microsoft.com/office/powerpoint/2010/main" val="4182757537"/>
              </p:ext>
            </p:extLst>
          </p:nvPr>
        </p:nvGraphicFramePr>
        <p:xfrm>
          <a:off x="638994" y="1217232"/>
          <a:ext cx="11084561" cy="3474720"/>
        </p:xfrm>
        <a:graphic>
          <a:graphicData uri="http://schemas.openxmlformats.org/drawingml/2006/table">
            <a:tbl>
              <a:tblPr firstRow="1" bandRow="1">
                <a:tableStyleId>{93296810-A885-4BE3-A3E7-6D5BEEA58F35}</a:tableStyleId>
              </a:tblPr>
              <a:tblGrid>
                <a:gridCol w="1730693">
                  <a:extLst>
                    <a:ext uri="{9D8B030D-6E8A-4147-A177-3AD203B41FA5}">
                      <a16:colId xmlns:a16="http://schemas.microsoft.com/office/drawing/2014/main" val="3586572765"/>
                    </a:ext>
                  </a:extLst>
                </a:gridCol>
                <a:gridCol w="6610668">
                  <a:extLst>
                    <a:ext uri="{9D8B030D-6E8A-4147-A177-3AD203B41FA5}">
                      <a16:colId xmlns:a16="http://schemas.microsoft.com/office/drawing/2014/main" val="228198464"/>
                    </a:ext>
                  </a:extLst>
                </a:gridCol>
                <a:gridCol w="2743200">
                  <a:extLst>
                    <a:ext uri="{9D8B030D-6E8A-4147-A177-3AD203B41FA5}">
                      <a16:colId xmlns:a16="http://schemas.microsoft.com/office/drawing/2014/main" val="611386718"/>
                    </a:ext>
                  </a:extLst>
                </a:gridCol>
              </a:tblGrid>
              <a:tr h="211962">
                <a:tc>
                  <a:txBody>
                    <a:bodyPr/>
                    <a:lstStyle/>
                    <a:p>
                      <a:r>
                        <a:rPr kumimoji="1" lang="ja-JP" altLang="en-US" sz="1200" dirty="0"/>
                        <a:t>工程</a:t>
                      </a:r>
                    </a:p>
                  </a:txBody>
                  <a:tcPr/>
                </a:tc>
                <a:tc>
                  <a:txBody>
                    <a:bodyPr/>
                    <a:lstStyle/>
                    <a:p>
                      <a:r>
                        <a:rPr kumimoji="1" lang="ja-JP" altLang="en-US" sz="1200" dirty="0"/>
                        <a:t>提供価値</a:t>
                      </a:r>
                    </a:p>
                  </a:txBody>
                  <a:tcPr/>
                </a:tc>
                <a:tc>
                  <a:txBody>
                    <a:bodyPr/>
                    <a:lstStyle/>
                    <a:p>
                      <a:r>
                        <a:rPr kumimoji="1" lang="ja-JP" altLang="en-US" sz="1200" dirty="0"/>
                        <a:t>主な対象者</a:t>
                      </a:r>
                    </a:p>
                  </a:txBody>
                  <a:tcPr/>
                </a:tc>
                <a:extLst>
                  <a:ext uri="{0D108BD9-81ED-4DB2-BD59-A6C34878D82A}">
                    <a16:rowId xmlns:a16="http://schemas.microsoft.com/office/drawing/2014/main" val="34955557"/>
                  </a:ext>
                </a:extLst>
              </a:tr>
              <a:tr h="211962">
                <a:tc rowSpan="4">
                  <a:txBody>
                    <a:bodyPr/>
                    <a:lstStyle/>
                    <a:p>
                      <a:r>
                        <a:rPr kumimoji="1" lang="ja-JP" altLang="en-US" sz="1200" dirty="0"/>
                        <a:t>標準化</a:t>
                      </a:r>
                    </a:p>
                  </a:txBody>
                  <a:tcPr/>
                </a:tc>
                <a:tc>
                  <a:txBody>
                    <a:bodyPr/>
                    <a:lstStyle/>
                    <a:p>
                      <a:r>
                        <a:rPr kumimoji="1" lang="en-US" altLang="ja-JP" sz="1200" dirty="0"/>
                        <a:t>TPS</a:t>
                      </a:r>
                      <a:r>
                        <a:rPr kumimoji="1" lang="ja-JP" altLang="en-US" sz="1200" dirty="0"/>
                        <a:t>の作法に沿ったフレームワークで機械的に業務を表せる</a:t>
                      </a:r>
                    </a:p>
                  </a:txBody>
                  <a:tcPr/>
                </a:tc>
                <a:tc>
                  <a:txBody>
                    <a:bodyPr/>
                    <a:lstStyle/>
                    <a:p>
                      <a:r>
                        <a:rPr kumimoji="1" lang="ja-JP" altLang="en-US" sz="1200" dirty="0"/>
                        <a:t>現場担当者</a:t>
                      </a:r>
                    </a:p>
                  </a:txBody>
                  <a:tcPr/>
                </a:tc>
                <a:extLst>
                  <a:ext uri="{0D108BD9-81ED-4DB2-BD59-A6C34878D82A}">
                    <a16:rowId xmlns:a16="http://schemas.microsoft.com/office/drawing/2014/main" val="1796564594"/>
                  </a:ext>
                </a:extLst>
              </a:tr>
              <a:tr h="211962">
                <a:tc vMerge="1">
                  <a:txBody>
                    <a:bodyPr/>
                    <a:lstStyle/>
                    <a:p>
                      <a:endParaRPr kumimoji="1" lang="ja-JP" altLang="en-US" dirty="0"/>
                    </a:p>
                  </a:txBody>
                  <a:tcPr/>
                </a:tc>
                <a:tc>
                  <a:txBody>
                    <a:bodyPr/>
                    <a:lstStyle/>
                    <a:p>
                      <a:r>
                        <a:rPr kumimoji="1" lang="en-US" altLang="ja-JP" sz="1200" dirty="0">
                          <a:solidFill>
                            <a:schemeClr val="bg1">
                              <a:lumMod val="75000"/>
                            </a:schemeClr>
                          </a:solidFill>
                        </a:rPr>
                        <a:t>[AI] TPS</a:t>
                      </a:r>
                      <a:r>
                        <a:rPr kumimoji="1" lang="ja-JP" altLang="en-US" sz="1200" dirty="0">
                          <a:solidFill>
                            <a:schemeClr val="bg1">
                              <a:lumMod val="75000"/>
                            </a:schemeClr>
                          </a:solidFill>
                        </a:rPr>
                        <a:t>カウンターパートの業務理解を促進する</a:t>
                      </a:r>
                    </a:p>
                  </a:txBody>
                  <a:tcPr/>
                </a:tc>
                <a:tc>
                  <a:txBody>
                    <a:bodyPr/>
                    <a:lstStyle/>
                    <a:p>
                      <a:r>
                        <a:rPr kumimoji="1" lang="en-US" altLang="ja-JP" sz="1200" dirty="0"/>
                        <a:t>TPS</a:t>
                      </a:r>
                      <a:r>
                        <a:rPr kumimoji="1" lang="ja-JP" altLang="en-US" sz="1200" dirty="0"/>
                        <a:t>カウンターパート</a:t>
                      </a:r>
                    </a:p>
                  </a:txBody>
                  <a:tcPr/>
                </a:tc>
                <a:extLst>
                  <a:ext uri="{0D108BD9-81ED-4DB2-BD59-A6C34878D82A}">
                    <a16:rowId xmlns:a16="http://schemas.microsoft.com/office/drawing/2014/main" val="1306284869"/>
                  </a:ext>
                </a:extLst>
              </a:tr>
              <a:tr h="211962">
                <a:tc vMerge="1">
                  <a:txBody>
                    <a:bodyPr/>
                    <a:lstStyle/>
                    <a:p>
                      <a:endParaRPr kumimoji="1" lang="ja-JP" altLang="en-US" dirty="0"/>
                    </a:p>
                  </a:txBody>
                  <a:tcPr/>
                </a:tc>
                <a:tc>
                  <a:txBody>
                    <a:bodyPr/>
                    <a:lstStyle/>
                    <a:p>
                      <a:r>
                        <a:rPr kumimoji="1" lang="ja-JP" altLang="en-US" sz="1200" dirty="0"/>
                        <a:t>物情と標準作業組合せ票を紐づけて各自の見たい粒度で見られる</a:t>
                      </a:r>
                    </a:p>
                  </a:txBody>
                  <a:tcPr/>
                </a:tc>
                <a:tc>
                  <a:txBody>
                    <a:bodyPr/>
                    <a:lstStyle/>
                    <a:p>
                      <a:r>
                        <a:rPr kumimoji="1" lang="ja-JP" altLang="en-US" sz="1200" dirty="0"/>
                        <a:t>全ステークホルダー</a:t>
                      </a:r>
                    </a:p>
                  </a:txBody>
                  <a:tcPr/>
                </a:tc>
                <a:extLst>
                  <a:ext uri="{0D108BD9-81ED-4DB2-BD59-A6C34878D82A}">
                    <a16:rowId xmlns:a16="http://schemas.microsoft.com/office/drawing/2014/main" val="473512092"/>
                  </a:ext>
                </a:extLst>
              </a:tr>
              <a:tr h="211962">
                <a:tc vMerge="1">
                  <a:txBody>
                    <a:bodyPr/>
                    <a:lstStyle/>
                    <a:p>
                      <a:endParaRPr kumimoji="1" lang="ja-JP" altLang="en-US" dirty="0"/>
                    </a:p>
                  </a:txBody>
                  <a:tcPr/>
                </a:tc>
                <a:tc>
                  <a:txBody>
                    <a:bodyPr/>
                    <a:lstStyle/>
                    <a:p>
                      <a:r>
                        <a:rPr kumimoji="1" lang="ja-JP" altLang="en-US" sz="1200" dirty="0"/>
                        <a:t>現業務の課題や改善を進める中での課題を物情と紐づけて管理できる</a:t>
                      </a:r>
                    </a:p>
                  </a:txBody>
                  <a:tcPr/>
                </a:tc>
                <a:tc>
                  <a:txBody>
                    <a:bodyPr/>
                    <a:lstStyle/>
                    <a:p>
                      <a:r>
                        <a:rPr kumimoji="1" lang="ja-JP" altLang="en-US" sz="1200" dirty="0"/>
                        <a:t>全ステークホルダー</a:t>
                      </a:r>
                    </a:p>
                  </a:txBody>
                  <a:tcPr/>
                </a:tc>
                <a:extLst>
                  <a:ext uri="{0D108BD9-81ED-4DB2-BD59-A6C34878D82A}">
                    <a16:rowId xmlns:a16="http://schemas.microsoft.com/office/drawing/2014/main" val="3094190736"/>
                  </a:ext>
                </a:extLst>
              </a:tr>
              <a:tr h="353270">
                <a:tc rowSpan="7">
                  <a:txBody>
                    <a:bodyPr/>
                    <a:lstStyle/>
                    <a:p>
                      <a:r>
                        <a:rPr kumimoji="1" lang="ja-JP" altLang="en-US" sz="1200" dirty="0"/>
                        <a:t>異常検知・改善</a:t>
                      </a:r>
                    </a:p>
                  </a:txBody>
                  <a:tcPr/>
                </a:tc>
                <a:tc>
                  <a:txBody>
                    <a:bodyPr/>
                    <a:lstStyle/>
                    <a:p>
                      <a:r>
                        <a:rPr kumimoji="1" lang="ja-JP" altLang="en-US" sz="1200" dirty="0"/>
                        <a:t>標準作業組合せ票を進捗管理表として利用できる</a:t>
                      </a:r>
                    </a:p>
                  </a:txBody>
                  <a:tcPr/>
                </a:tc>
                <a:tc>
                  <a:txBody>
                    <a:bodyPr/>
                    <a:lstStyle/>
                    <a:p>
                      <a:r>
                        <a:rPr kumimoji="1" lang="ja-JP" altLang="en-US" sz="1200" dirty="0"/>
                        <a:t>プロジェクトマネージャ</a:t>
                      </a:r>
                      <a:endParaRPr kumimoji="1" lang="en-US" altLang="ja-JP" sz="1200" dirty="0"/>
                    </a:p>
                    <a:p>
                      <a:r>
                        <a:rPr kumimoji="1" lang="ja-JP" altLang="en-US" sz="1200" dirty="0"/>
                        <a:t>現場担当者</a:t>
                      </a:r>
                    </a:p>
                  </a:txBody>
                  <a:tcPr/>
                </a:tc>
                <a:extLst>
                  <a:ext uri="{0D108BD9-81ED-4DB2-BD59-A6C34878D82A}">
                    <a16:rowId xmlns:a16="http://schemas.microsoft.com/office/drawing/2014/main" val="4209768310"/>
                  </a:ext>
                </a:extLst>
              </a:tr>
              <a:tr h="211962">
                <a:tc vMerge="1">
                  <a:txBody>
                    <a:bodyPr/>
                    <a:lstStyle/>
                    <a:p>
                      <a:endParaRPr kumimoji="1" lang="ja-JP" altLang="en-US" dirty="0"/>
                    </a:p>
                  </a:txBody>
                  <a:tcPr/>
                </a:tc>
                <a:tc>
                  <a:txBody>
                    <a:bodyPr/>
                    <a:lstStyle/>
                    <a:p>
                      <a:r>
                        <a:rPr kumimoji="1" lang="ja-JP" altLang="en-US" sz="1200" dirty="0"/>
                        <a:t>異常発生時にアンドンを引ける</a:t>
                      </a:r>
                    </a:p>
                  </a:txBody>
                  <a:tcPr/>
                </a:tc>
                <a:tc>
                  <a:txBody>
                    <a:bodyPr/>
                    <a:lstStyle/>
                    <a:p>
                      <a:r>
                        <a:rPr kumimoji="1" lang="ja-JP" altLang="en-US" sz="1200" dirty="0"/>
                        <a:t>現場担当者</a:t>
                      </a:r>
                    </a:p>
                  </a:txBody>
                  <a:tcPr/>
                </a:tc>
                <a:extLst>
                  <a:ext uri="{0D108BD9-81ED-4DB2-BD59-A6C34878D82A}">
                    <a16:rowId xmlns:a16="http://schemas.microsoft.com/office/drawing/2014/main" val="3272571770"/>
                  </a:ext>
                </a:extLst>
              </a:tr>
              <a:tr h="211962">
                <a:tc vMerge="1">
                  <a:txBody>
                    <a:bodyPr/>
                    <a:lstStyle/>
                    <a:p>
                      <a:endParaRPr kumimoji="1" lang="ja-JP" altLang="en-US"/>
                    </a:p>
                  </a:txBody>
                  <a:tcPr/>
                </a:tc>
                <a:tc>
                  <a:txBody>
                    <a:bodyPr/>
                    <a:lstStyle/>
                    <a:p>
                      <a:r>
                        <a:rPr kumimoji="1" lang="en-US" altLang="ja-JP" sz="1200" dirty="0">
                          <a:solidFill>
                            <a:schemeClr val="bg1">
                              <a:lumMod val="75000"/>
                            </a:schemeClr>
                          </a:solidFill>
                        </a:rPr>
                        <a:t>[AI] </a:t>
                      </a:r>
                      <a:r>
                        <a:rPr kumimoji="1" lang="ja-JP" altLang="en-US" sz="1200" dirty="0">
                          <a:solidFill>
                            <a:schemeClr val="bg1">
                              <a:lumMod val="75000"/>
                            </a:schemeClr>
                          </a:solidFill>
                        </a:rPr>
                        <a:t>担当者が気付かない潜在的な異常を検知できる（良品条件、品質基準からの逸脱）</a:t>
                      </a:r>
                    </a:p>
                  </a:txBody>
                  <a:tcPr/>
                </a:tc>
                <a:tc>
                  <a:txBody>
                    <a:bodyPr/>
                    <a:lstStyle/>
                    <a:p>
                      <a:r>
                        <a:rPr kumimoji="1" lang="ja-JP" altLang="en-US" sz="1200" dirty="0"/>
                        <a:t>プロジェクトマネージャ</a:t>
                      </a:r>
                    </a:p>
                  </a:txBody>
                  <a:tcPr/>
                </a:tc>
                <a:extLst>
                  <a:ext uri="{0D108BD9-81ED-4DB2-BD59-A6C34878D82A}">
                    <a16:rowId xmlns:a16="http://schemas.microsoft.com/office/drawing/2014/main" val="1477382954"/>
                  </a:ext>
                </a:extLst>
              </a:tr>
              <a:tr h="211962">
                <a:tc vMerge="1">
                  <a:txBody>
                    <a:bodyPr/>
                    <a:lstStyle/>
                    <a:p>
                      <a:endParaRPr kumimoji="1" lang="ja-JP" altLang="en-US" dirty="0"/>
                    </a:p>
                  </a:txBody>
                  <a:tcPr/>
                </a:tc>
                <a:tc>
                  <a:txBody>
                    <a:bodyPr/>
                    <a:lstStyle/>
                    <a:p>
                      <a:r>
                        <a:rPr kumimoji="1" lang="ja-JP" altLang="en-US" sz="1200" dirty="0"/>
                        <a:t>異常発生や期間超過がリアルタイムでわかる</a:t>
                      </a:r>
                    </a:p>
                  </a:txBody>
                  <a:tcPr/>
                </a:tc>
                <a:tc>
                  <a:txBody>
                    <a:bodyPr/>
                    <a:lstStyle/>
                    <a:p>
                      <a:r>
                        <a:rPr kumimoji="1" lang="ja-JP" altLang="en-US" sz="1200" dirty="0"/>
                        <a:t>プロジェクトマネージャ</a:t>
                      </a:r>
                    </a:p>
                  </a:txBody>
                  <a:tcPr/>
                </a:tc>
                <a:extLst>
                  <a:ext uri="{0D108BD9-81ED-4DB2-BD59-A6C34878D82A}">
                    <a16:rowId xmlns:a16="http://schemas.microsoft.com/office/drawing/2014/main" val="3981734933"/>
                  </a:ext>
                </a:extLst>
              </a:tr>
              <a:tr h="211962">
                <a:tc vMerge="1">
                  <a:txBody>
                    <a:bodyPr/>
                    <a:lstStyle/>
                    <a:p>
                      <a:endParaRPr kumimoji="1" lang="ja-JP" altLang="en-US" dirty="0"/>
                    </a:p>
                  </a:txBody>
                  <a:tcPr/>
                </a:tc>
                <a:tc>
                  <a:txBody>
                    <a:bodyPr/>
                    <a:lstStyle/>
                    <a:p>
                      <a:r>
                        <a:rPr kumimoji="1" lang="ja-JP" altLang="en-US" sz="1200" dirty="0"/>
                        <a:t>異常を課題として物情と紐づけて管理できる</a:t>
                      </a:r>
                    </a:p>
                  </a:txBody>
                  <a:tcPr/>
                </a:tc>
                <a:tc>
                  <a:txBody>
                    <a:bodyPr/>
                    <a:lstStyle/>
                    <a:p>
                      <a:r>
                        <a:rPr kumimoji="1" lang="ja-JP" altLang="en-US" sz="1200" dirty="0"/>
                        <a:t>全ステークホルダー</a:t>
                      </a:r>
                    </a:p>
                  </a:txBody>
                  <a:tcPr/>
                </a:tc>
                <a:extLst>
                  <a:ext uri="{0D108BD9-81ED-4DB2-BD59-A6C34878D82A}">
                    <a16:rowId xmlns:a16="http://schemas.microsoft.com/office/drawing/2014/main" val="457866191"/>
                  </a:ext>
                </a:extLst>
              </a:tr>
              <a:tr h="211962">
                <a:tc vMerge="1">
                  <a:txBody>
                    <a:bodyPr/>
                    <a:lstStyle/>
                    <a:p>
                      <a:endParaRPr kumimoji="1" lang="ja-JP" altLang="en-US" sz="1400" dirty="0"/>
                    </a:p>
                  </a:txBody>
                  <a:tcPr/>
                </a:tc>
                <a:tc>
                  <a:txBody>
                    <a:bodyPr/>
                    <a:lstStyle/>
                    <a:p>
                      <a:r>
                        <a:rPr kumimoji="1" lang="ja-JP" altLang="en-US" sz="1200" dirty="0"/>
                        <a:t>標準業務の変更を簡単に反映できる</a:t>
                      </a:r>
                    </a:p>
                  </a:txBody>
                  <a:tcPr/>
                </a:tc>
                <a:tc>
                  <a:txBody>
                    <a:bodyPr/>
                    <a:lstStyle/>
                    <a:p>
                      <a:r>
                        <a:rPr kumimoji="1" lang="ja-JP" altLang="en-US" sz="1200" dirty="0"/>
                        <a:t>全ステークホルダー</a:t>
                      </a:r>
                    </a:p>
                  </a:txBody>
                  <a:tcPr/>
                </a:tc>
                <a:extLst>
                  <a:ext uri="{0D108BD9-81ED-4DB2-BD59-A6C34878D82A}">
                    <a16:rowId xmlns:a16="http://schemas.microsoft.com/office/drawing/2014/main" val="1618263555"/>
                  </a:ext>
                </a:extLst>
              </a:tr>
              <a:tr h="211962">
                <a:tc vMerge="1">
                  <a:txBody>
                    <a:bodyPr/>
                    <a:lstStyle/>
                    <a:p>
                      <a:endParaRPr kumimoji="1" lang="ja-JP" altLang="en-US" sz="1400" dirty="0"/>
                    </a:p>
                  </a:txBody>
                  <a:tcPr/>
                </a:tc>
                <a:tc>
                  <a:txBody>
                    <a:bodyPr/>
                    <a:lstStyle/>
                    <a:p>
                      <a:r>
                        <a:rPr kumimoji="1" lang="ja-JP" altLang="en-US" sz="1200" dirty="0"/>
                        <a:t>改善効果と標準の陳腐化リスクを可視化できる</a:t>
                      </a:r>
                    </a:p>
                  </a:txBody>
                  <a:tcPr/>
                </a:tc>
                <a:tc>
                  <a:txBody>
                    <a:bodyPr/>
                    <a:lstStyle/>
                    <a:p>
                      <a:r>
                        <a:rPr kumimoji="1" lang="ja-JP" altLang="en-US" sz="1200" dirty="0"/>
                        <a:t>プロジェクトマネージャ</a:t>
                      </a:r>
                    </a:p>
                  </a:txBody>
                  <a:tcPr/>
                </a:tc>
                <a:extLst>
                  <a:ext uri="{0D108BD9-81ED-4DB2-BD59-A6C34878D82A}">
                    <a16:rowId xmlns:a16="http://schemas.microsoft.com/office/drawing/2014/main" val="3124207341"/>
                  </a:ext>
                </a:extLst>
              </a:tr>
            </a:tbl>
          </a:graphicData>
        </a:graphic>
      </p:graphicFrame>
      <p:sp>
        <p:nvSpPr>
          <p:cNvPr id="26" name="テキスト ボックス 25">
            <a:extLst>
              <a:ext uri="{FF2B5EF4-FFF2-40B4-BE49-F238E27FC236}">
                <a16:creationId xmlns:a16="http://schemas.microsoft.com/office/drawing/2014/main" id="{C80CF457-88AE-8240-F608-2EE7DAEAD3F1}"/>
              </a:ext>
            </a:extLst>
          </p:cNvPr>
          <p:cNvSpPr txBox="1"/>
          <p:nvPr/>
        </p:nvSpPr>
        <p:spPr>
          <a:xfrm>
            <a:off x="415636" y="832660"/>
            <a:ext cx="4580100" cy="369332"/>
          </a:xfrm>
          <a:prstGeom prst="rect">
            <a:avLst/>
          </a:prstGeom>
          <a:noFill/>
        </p:spPr>
        <p:txBody>
          <a:bodyPr wrap="none" rtlCol="0">
            <a:spAutoFit/>
          </a:bodyPr>
          <a:lstStyle/>
          <a:p>
            <a:r>
              <a:rPr lang="ja-JP" altLang="en-US" dirty="0"/>
              <a:t>本サービスは以下の価値を提供するものである。</a:t>
            </a:r>
            <a:endParaRPr lang="en-US" altLang="ja-JP" dirty="0"/>
          </a:p>
        </p:txBody>
      </p:sp>
      <p:pic>
        <p:nvPicPr>
          <p:cNvPr id="27" name="Picture 2">
            <a:extLst>
              <a:ext uri="{FF2B5EF4-FFF2-40B4-BE49-F238E27FC236}">
                <a16:creationId xmlns:a16="http://schemas.microsoft.com/office/drawing/2014/main" id="{3811EAB6-DBA1-9B2D-CBC2-5B0FAFAD9F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523" r="33891"/>
          <a:stretch/>
        </p:blipFill>
        <p:spPr bwMode="auto">
          <a:xfrm>
            <a:off x="4245260" y="5045449"/>
            <a:ext cx="2080895" cy="1587003"/>
          </a:xfrm>
          <a:prstGeom prst="rect">
            <a:avLst/>
          </a:prstGeom>
          <a:noFill/>
          <a:extLst>
            <a:ext uri="{909E8E84-426E-40DD-AFC4-6F175D3DCCD1}">
              <a14:hiddenFill xmlns:a14="http://schemas.microsoft.com/office/drawing/2010/main">
                <a:solidFill>
                  <a:srgbClr val="FFFFFF"/>
                </a:solidFill>
              </a14:hiddenFill>
            </a:ext>
          </a:extLst>
        </p:spPr>
      </p:pic>
      <p:sp>
        <p:nvSpPr>
          <p:cNvPr id="29" name="テキスト ボックス 28">
            <a:extLst>
              <a:ext uri="{FF2B5EF4-FFF2-40B4-BE49-F238E27FC236}">
                <a16:creationId xmlns:a16="http://schemas.microsoft.com/office/drawing/2014/main" id="{67E22D82-8C22-B82B-EDEE-7A3187EDFE9A}"/>
              </a:ext>
            </a:extLst>
          </p:cNvPr>
          <p:cNvSpPr txBox="1"/>
          <p:nvPr/>
        </p:nvSpPr>
        <p:spPr>
          <a:xfrm>
            <a:off x="4198650" y="4737672"/>
            <a:ext cx="2127505" cy="307777"/>
          </a:xfrm>
          <a:prstGeom prst="rect">
            <a:avLst/>
          </a:prstGeom>
          <a:noFill/>
        </p:spPr>
        <p:txBody>
          <a:bodyPr wrap="none" rtlCol="0">
            <a:spAutoFit/>
          </a:bodyPr>
          <a:lstStyle/>
          <a:p>
            <a:r>
              <a:rPr lang="ja-JP" altLang="en-US" sz="1400" dirty="0"/>
              <a:t>イメージ：異常時のアンドン</a:t>
            </a:r>
            <a:endParaRPr lang="en-US" altLang="ja-JP" sz="1400" dirty="0"/>
          </a:p>
        </p:txBody>
      </p:sp>
      <p:sp>
        <p:nvSpPr>
          <p:cNvPr id="30" name="テキスト ボックス 29">
            <a:extLst>
              <a:ext uri="{FF2B5EF4-FFF2-40B4-BE49-F238E27FC236}">
                <a16:creationId xmlns:a16="http://schemas.microsoft.com/office/drawing/2014/main" id="{87AC7D08-6AE9-98E8-8461-0543F55D0984}"/>
              </a:ext>
            </a:extLst>
          </p:cNvPr>
          <p:cNvSpPr txBox="1"/>
          <p:nvPr/>
        </p:nvSpPr>
        <p:spPr>
          <a:xfrm>
            <a:off x="6561589" y="4737672"/>
            <a:ext cx="3118161" cy="307777"/>
          </a:xfrm>
          <a:prstGeom prst="rect">
            <a:avLst/>
          </a:prstGeom>
          <a:noFill/>
        </p:spPr>
        <p:txBody>
          <a:bodyPr wrap="none" rtlCol="0">
            <a:spAutoFit/>
          </a:bodyPr>
          <a:lstStyle/>
          <a:p>
            <a:r>
              <a:rPr lang="ja-JP" altLang="en-US" sz="1400" dirty="0"/>
              <a:t>イメージ：異常発生や期間超過の検知</a:t>
            </a:r>
            <a:endParaRPr lang="en-US" altLang="ja-JP" sz="1400" dirty="0"/>
          </a:p>
        </p:txBody>
      </p:sp>
    </p:spTree>
    <p:extLst>
      <p:ext uri="{BB962C8B-B14F-4D97-AF65-F5344CB8AC3E}">
        <p14:creationId xmlns:p14="http://schemas.microsoft.com/office/powerpoint/2010/main" val="1120580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20F932A-B08A-4C18-11A2-F6A3B457898F}"/>
              </a:ext>
            </a:extLst>
          </p:cNvPr>
          <p:cNvSpPr>
            <a:spLocks noGrp="1"/>
          </p:cNvSpPr>
          <p:nvPr>
            <p:ph type="body" sz="quarter" idx="14"/>
          </p:nvPr>
        </p:nvSpPr>
        <p:spPr/>
        <p:txBody>
          <a:bodyPr/>
          <a:lstStyle/>
          <a:p>
            <a:r>
              <a:rPr kumimoji="1" lang="ja-JP" altLang="en-US" dirty="0"/>
              <a:t>独自性・技術優位性</a:t>
            </a:r>
          </a:p>
        </p:txBody>
      </p:sp>
      <p:sp>
        <p:nvSpPr>
          <p:cNvPr id="3" name="テキスト ボックス 2">
            <a:extLst>
              <a:ext uri="{FF2B5EF4-FFF2-40B4-BE49-F238E27FC236}">
                <a16:creationId xmlns:a16="http://schemas.microsoft.com/office/drawing/2014/main" id="{9013255A-18F4-303F-5E0E-724967A89A0B}"/>
              </a:ext>
            </a:extLst>
          </p:cNvPr>
          <p:cNvSpPr txBox="1"/>
          <p:nvPr/>
        </p:nvSpPr>
        <p:spPr>
          <a:xfrm>
            <a:off x="415636" y="1245362"/>
            <a:ext cx="10681129" cy="1477328"/>
          </a:xfrm>
          <a:prstGeom prst="rect">
            <a:avLst/>
          </a:prstGeom>
          <a:noFill/>
        </p:spPr>
        <p:txBody>
          <a:bodyPr wrap="none" rtlCol="0">
            <a:spAutoFit/>
          </a:bodyPr>
          <a:lstStyle/>
          <a:p>
            <a:r>
              <a:rPr lang="ja-JP" altLang="en-US" dirty="0"/>
              <a:t>本サービスは</a:t>
            </a:r>
            <a:r>
              <a:rPr lang="en-US" altLang="ja-JP" dirty="0"/>
              <a:t>TPS</a:t>
            </a:r>
            <a:r>
              <a:rPr lang="ja-JP" altLang="en-US" dirty="0"/>
              <a:t>の思想による具体的な改善の知見をベースとして設計しており、</a:t>
            </a:r>
            <a:endParaRPr lang="en-US" altLang="ja-JP" dirty="0"/>
          </a:p>
          <a:p>
            <a:r>
              <a:rPr lang="ja-JP" altLang="en-US" dirty="0"/>
              <a:t>専門知識がなくてもフレームワークに沿ってトヨタ流の改善を推進できるものである。</a:t>
            </a:r>
            <a:endParaRPr lang="en-US" altLang="ja-JP" dirty="0"/>
          </a:p>
          <a:p>
            <a:endParaRPr lang="en-US" altLang="ja-JP" dirty="0"/>
          </a:p>
          <a:p>
            <a:r>
              <a:rPr lang="ja-JP" altLang="en-US" dirty="0"/>
              <a:t>本サービスがトヨタグループ自身によって提供されることにより、</a:t>
            </a:r>
            <a:endParaRPr lang="en-US" altLang="ja-JP" dirty="0"/>
          </a:p>
          <a:p>
            <a:r>
              <a:rPr lang="ja-JP" altLang="en-US" dirty="0"/>
              <a:t>トヨタ流の改善思想を「トヨタ直伝」のかたちで学びながら活用できる、という他にはない信頼性と説得力を備えている。</a:t>
            </a:r>
            <a:endParaRPr lang="en-US" altLang="ja-JP" dirty="0"/>
          </a:p>
        </p:txBody>
      </p:sp>
      <p:sp>
        <p:nvSpPr>
          <p:cNvPr id="6" name="テキスト ボックス 5">
            <a:extLst>
              <a:ext uri="{FF2B5EF4-FFF2-40B4-BE49-F238E27FC236}">
                <a16:creationId xmlns:a16="http://schemas.microsoft.com/office/drawing/2014/main" id="{E12D7BAB-5CA0-FB20-1667-79F0271956F9}"/>
              </a:ext>
            </a:extLst>
          </p:cNvPr>
          <p:cNvSpPr txBox="1"/>
          <p:nvPr/>
        </p:nvSpPr>
        <p:spPr>
          <a:xfrm>
            <a:off x="304800" y="805786"/>
            <a:ext cx="2262158" cy="369332"/>
          </a:xfrm>
          <a:prstGeom prst="rect">
            <a:avLst/>
          </a:prstGeom>
          <a:noFill/>
        </p:spPr>
        <p:txBody>
          <a:bodyPr wrap="none" rtlCol="0">
            <a:spAutoFit/>
          </a:bodyPr>
          <a:lstStyle/>
          <a:p>
            <a:r>
              <a:rPr kumimoji="1" lang="ja-JP" altLang="en-US" b="1" u="sng" dirty="0"/>
              <a:t>トヨタ直伝の</a:t>
            </a:r>
            <a:r>
              <a:rPr kumimoji="1" lang="en-US" altLang="ja-JP" b="1" u="sng" dirty="0"/>
              <a:t>TPS</a:t>
            </a:r>
            <a:r>
              <a:rPr kumimoji="1" lang="ja-JP" altLang="en-US" b="1" u="sng" dirty="0"/>
              <a:t>思想</a:t>
            </a:r>
          </a:p>
        </p:txBody>
      </p:sp>
      <p:sp>
        <p:nvSpPr>
          <p:cNvPr id="7" name="テキスト ボックス 6">
            <a:extLst>
              <a:ext uri="{FF2B5EF4-FFF2-40B4-BE49-F238E27FC236}">
                <a16:creationId xmlns:a16="http://schemas.microsoft.com/office/drawing/2014/main" id="{9013255A-18F4-303F-5E0E-724967A89A0B}"/>
              </a:ext>
            </a:extLst>
          </p:cNvPr>
          <p:cNvSpPr txBox="1"/>
          <p:nvPr/>
        </p:nvSpPr>
        <p:spPr>
          <a:xfrm>
            <a:off x="415636" y="3835159"/>
            <a:ext cx="10155344" cy="1477328"/>
          </a:xfrm>
          <a:prstGeom prst="rect">
            <a:avLst/>
          </a:prstGeom>
          <a:noFill/>
        </p:spPr>
        <p:txBody>
          <a:bodyPr wrap="none" rtlCol="0">
            <a:spAutoFit/>
          </a:bodyPr>
          <a:lstStyle/>
          <a:p>
            <a:r>
              <a:rPr lang="ja-JP" altLang="en-US" dirty="0"/>
              <a:t>世の中に業務改善を目的としたサービスは多くあるが、</a:t>
            </a:r>
            <a:endParaRPr lang="en-US" altLang="ja-JP" dirty="0"/>
          </a:p>
          <a:p>
            <a:r>
              <a:rPr lang="ja-JP" altLang="en-US" dirty="0"/>
              <a:t>標準化から始まり、標準化後の異常検知・改善の繰り返しの定着までをトータルでサポートするものはない。</a:t>
            </a:r>
            <a:endParaRPr lang="en-US" altLang="ja-JP" dirty="0"/>
          </a:p>
          <a:p>
            <a:endParaRPr lang="en-US" altLang="ja-JP" dirty="0"/>
          </a:p>
          <a:p>
            <a:r>
              <a:rPr lang="ja-JP" altLang="en-US" dirty="0"/>
              <a:t>特に異常検知・改善の繰り返しに関しては、これまでトヨタのほとんどの現場で定着していない。</a:t>
            </a:r>
            <a:endParaRPr lang="en-US" altLang="ja-JP" dirty="0"/>
          </a:p>
          <a:p>
            <a:r>
              <a:rPr lang="ja-JP" altLang="en-US" dirty="0"/>
              <a:t>本サービスにより改善活動を一過性のものにせず、「改善に終わりはない」という</a:t>
            </a:r>
            <a:r>
              <a:rPr lang="en-US" altLang="ja-JP" dirty="0"/>
              <a:t>TPS</a:t>
            </a:r>
            <a:r>
              <a:rPr lang="ja-JP" altLang="en-US" dirty="0"/>
              <a:t>本来の思想を実現できる。</a:t>
            </a:r>
            <a:endParaRPr lang="en-US" altLang="ja-JP" dirty="0"/>
          </a:p>
        </p:txBody>
      </p:sp>
      <p:sp>
        <p:nvSpPr>
          <p:cNvPr id="8" name="テキスト ボックス 7">
            <a:extLst>
              <a:ext uri="{FF2B5EF4-FFF2-40B4-BE49-F238E27FC236}">
                <a16:creationId xmlns:a16="http://schemas.microsoft.com/office/drawing/2014/main" id="{E12D7BAB-5CA0-FB20-1667-79F0271956F9}"/>
              </a:ext>
            </a:extLst>
          </p:cNvPr>
          <p:cNvSpPr txBox="1"/>
          <p:nvPr/>
        </p:nvSpPr>
        <p:spPr>
          <a:xfrm>
            <a:off x="304800" y="3391725"/>
            <a:ext cx="2807179" cy="369332"/>
          </a:xfrm>
          <a:prstGeom prst="rect">
            <a:avLst/>
          </a:prstGeom>
          <a:noFill/>
        </p:spPr>
        <p:txBody>
          <a:bodyPr wrap="none" rtlCol="0">
            <a:spAutoFit/>
          </a:bodyPr>
          <a:lstStyle/>
          <a:p>
            <a:r>
              <a:rPr lang="ja-JP" altLang="en-US" b="1" u="sng" dirty="0"/>
              <a:t>改善活動</a:t>
            </a:r>
            <a:r>
              <a:rPr kumimoji="1" lang="ja-JP" altLang="en-US" b="1" u="sng" dirty="0"/>
              <a:t>をトータルサポート</a:t>
            </a:r>
          </a:p>
        </p:txBody>
      </p:sp>
    </p:spTree>
    <p:extLst>
      <p:ext uri="{BB962C8B-B14F-4D97-AF65-F5344CB8AC3E}">
        <p14:creationId xmlns:p14="http://schemas.microsoft.com/office/powerpoint/2010/main" val="1814238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856E1A70-8EFE-24BD-4862-C57EAF33C378}"/>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8658" b="7944"/>
          <a:stretch/>
        </p:blipFill>
        <p:spPr bwMode="auto">
          <a:xfrm>
            <a:off x="702586" y="1486398"/>
            <a:ext cx="4876800" cy="4067176"/>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1">
            <a:extLst>
              <a:ext uri="{FF2B5EF4-FFF2-40B4-BE49-F238E27FC236}">
                <a16:creationId xmlns:a16="http://schemas.microsoft.com/office/drawing/2014/main" id="{AF6A8539-1704-9BB9-5853-71EC706995AC}"/>
              </a:ext>
            </a:extLst>
          </p:cNvPr>
          <p:cNvSpPr>
            <a:spLocks noGrp="1"/>
          </p:cNvSpPr>
          <p:nvPr>
            <p:ph type="body" sz="quarter" idx="14"/>
          </p:nvPr>
        </p:nvSpPr>
        <p:spPr/>
        <p:txBody>
          <a:bodyPr/>
          <a:lstStyle/>
          <a:p>
            <a:r>
              <a:rPr kumimoji="1" lang="ja-JP" altLang="en-US" dirty="0"/>
              <a:t>ターゲット顧客</a:t>
            </a:r>
          </a:p>
        </p:txBody>
      </p:sp>
      <p:pic>
        <p:nvPicPr>
          <p:cNvPr id="2050" name="Picture 2" descr="Ícone de Gerente Dinosoft Flat">
            <a:extLst>
              <a:ext uri="{FF2B5EF4-FFF2-40B4-BE49-F238E27FC236}">
                <a16:creationId xmlns:a16="http://schemas.microsoft.com/office/drawing/2014/main" id="{CDD2CC4B-A0DC-E934-D2E5-31A95AE20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717" y="2181730"/>
            <a:ext cx="1247270" cy="124727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taff - Free professions and jobs icons">
            <a:extLst>
              <a:ext uri="{FF2B5EF4-FFF2-40B4-BE49-F238E27FC236}">
                <a16:creationId xmlns:a16="http://schemas.microsoft.com/office/drawing/2014/main" id="{F1AF7DEC-D615-61FD-306A-829B382A9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7304" y="3458840"/>
            <a:ext cx="1678096" cy="1678096"/>
          </a:xfrm>
          <a:prstGeom prst="rect">
            <a:avLst/>
          </a:prstGeom>
          <a:noFill/>
          <a:extLst>
            <a:ext uri="{909E8E84-426E-40DD-AFC4-6F175D3DCCD1}">
              <a14:hiddenFill xmlns:a14="http://schemas.microsoft.com/office/drawing/2010/main">
                <a:solidFill>
                  <a:srgbClr val="FFFFFF"/>
                </a:solidFill>
              </a14:hiddenFill>
            </a:ext>
          </a:extLst>
        </p:spPr>
      </p:pic>
      <p:sp>
        <p:nvSpPr>
          <p:cNvPr id="4" name="吹き出し: 折線 (強調線付き) 3">
            <a:extLst>
              <a:ext uri="{FF2B5EF4-FFF2-40B4-BE49-F238E27FC236}">
                <a16:creationId xmlns:a16="http://schemas.microsoft.com/office/drawing/2014/main" id="{BE7EFDB6-29D3-551A-68EB-98DBAE19EFF7}"/>
              </a:ext>
            </a:extLst>
          </p:cNvPr>
          <p:cNvSpPr/>
          <p:nvPr/>
        </p:nvSpPr>
        <p:spPr>
          <a:xfrm>
            <a:off x="5724136" y="1133974"/>
            <a:ext cx="5585179" cy="796426"/>
          </a:xfrm>
          <a:prstGeom prst="accentCallout2">
            <a:avLst>
              <a:gd name="adj1" fmla="val 19899"/>
              <a:gd name="adj2" fmla="val -1517"/>
              <a:gd name="adj3" fmla="val 18750"/>
              <a:gd name="adj4" fmla="val -16667"/>
              <a:gd name="adj5" fmla="val 92241"/>
              <a:gd name="adj6" fmla="val -44870"/>
            </a:avLst>
          </a:prstGeom>
          <a:ln w="19050"/>
        </p:spPr>
        <p:style>
          <a:lnRef idx="2">
            <a:schemeClr val="dk1"/>
          </a:lnRef>
          <a:fillRef idx="1">
            <a:schemeClr val="lt1"/>
          </a:fillRef>
          <a:effectRef idx="0">
            <a:schemeClr val="dk1"/>
          </a:effectRef>
          <a:fontRef idx="minor">
            <a:schemeClr val="dk1"/>
          </a:fontRef>
        </p:style>
        <p:txBody>
          <a:bodyPr wrap="none" rtlCol="0" anchor="ctr"/>
          <a:lstStyle/>
          <a:p>
            <a:r>
              <a:rPr kumimoji="1" lang="ja-JP" altLang="en-US" sz="2000" b="1" dirty="0"/>
              <a:t>サイロ化している業務を多く抱えている企業全般</a:t>
            </a:r>
            <a:endParaRPr kumimoji="1" lang="en-US" altLang="ja-JP" sz="2000" b="1" dirty="0"/>
          </a:p>
          <a:p>
            <a:r>
              <a:rPr lang="ja-JP" altLang="en-US" sz="1600" dirty="0"/>
              <a:t>・</a:t>
            </a:r>
            <a:r>
              <a:rPr lang="en-US" altLang="ja-JP" sz="1600" dirty="0"/>
              <a:t>15</a:t>
            </a:r>
            <a:r>
              <a:rPr lang="ja-JP" altLang="en-US" sz="1600" dirty="0"/>
              <a:t>年以上継続している成熟企業に多い傾向</a:t>
            </a:r>
            <a:endParaRPr lang="en-US" altLang="ja-JP" sz="1600" dirty="0"/>
          </a:p>
          <a:p>
            <a:r>
              <a:rPr lang="ja-JP" altLang="en-US" sz="1600" dirty="0"/>
              <a:t>・古くからの仕組みや慣習により、改善のハードルが高い</a:t>
            </a:r>
            <a:endParaRPr lang="en-US" altLang="ja-JP" sz="1600" dirty="0"/>
          </a:p>
        </p:txBody>
      </p:sp>
      <p:sp>
        <p:nvSpPr>
          <p:cNvPr id="5" name="吹き出し: 折線 (強調線付き) 4">
            <a:extLst>
              <a:ext uri="{FF2B5EF4-FFF2-40B4-BE49-F238E27FC236}">
                <a16:creationId xmlns:a16="http://schemas.microsoft.com/office/drawing/2014/main" id="{B4C429A4-3E7B-B6AA-2C46-E0700C44D51C}"/>
              </a:ext>
            </a:extLst>
          </p:cNvPr>
          <p:cNvSpPr/>
          <p:nvPr/>
        </p:nvSpPr>
        <p:spPr>
          <a:xfrm>
            <a:off x="5680499" y="2318392"/>
            <a:ext cx="5396657" cy="973946"/>
          </a:xfrm>
          <a:prstGeom prst="accentCallout2">
            <a:avLst>
              <a:gd name="adj1" fmla="val 18719"/>
              <a:gd name="adj2" fmla="val -675"/>
              <a:gd name="adj3" fmla="val 18750"/>
              <a:gd name="adj4" fmla="val -16667"/>
              <a:gd name="adj5" fmla="val 49591"/>
              <a:gd name="adj6" fmla="val -52353"/>
            </a:avLst>
          </a:prstGeom>
          <a:ln w="19050"/>
        </p:spPr>
        <p:style>
          <a:lnRef idx="2">
            <a:schemeClr val="dk1"/>
          </a:lnRef>
          <a:fillRef idx="1">
            <a:schemeClr val="lt1"/>
          </a:fillRef>
          <a:effectRef idx="0">
            <a:schemeClr val="dk1"/>
          </a:effectRef>
          <a:fontRef idx="minor">
            <a:schemeClr val="dk1"/>
          </a:fontRef>
        </p:style>
        <p:txBody>
          <a:bodyPr rtlCol="0" anchor="ctr"/>
          <a:lstStyle/>
          <a:p>
            <a:r>
              <a:rPr lang="ja-JP" altLang="en-US" sz="2000" b="1" dirty="0"/>
              <a:t>プロジェクトマネージャ</a:t>
            </a:r>
            <a:r>
              <a:rPr kumimoji="1" lang="ja-JP" altLang="en-US" sz="2000" b="1" dirty="0"/>
              <a:t>（</a:t>
            </a:r>
            <a:r>
              <a:rPr kumimoji="1" lang="en-US" altLang="ja-JP" sz="2000" b="1" dirty="0"/>
              <a:t>30</a:t>
            </a:r>
            <a:r>
              <a:rPr kumimoji="1" lang="ja-JP" altLang="en-US" sz="2000" b="1" dirty="0"/>
              <a:t>代～</a:t>
            </a:r>
            <a:r>
              <a:rPr kumimoji="1" lang="en-US" altLang="ja-JP" sz="2000" b="1" dirty="0"/>
              <a:t>40</a:t>
            </a:r>
            <a:r>
              <a:rPr kumimoji="1" lang="ja-JP" altLang="en-US" sz="2000" b="1" dirty="0"/>
              <a:t>代）</a:t>
            </a:r>
            <a:endParaRPr kumimoji="1" lang="en-US" altLang="ja-JP" sz="2000" b="1" dirty="0"/>
          </a:p>
          <a:p>
            <a:r>
              <a:rPr lang="ja-JP" altLang="en-US" sz="1600" dirty="0"/>
              <a:t>・原価低減やプロセス標準化のプレッシャーで疲弊</a:t>
            </a:r>
            <a:endParaRPr lang="en-US" altLang="ja-JP" sz="1600" dirty="0"/>
          </a:p>
          <a:p>
            <a:r>
              <a:rPr lang="ja-JP" altLang="en-US" sz="1600" dirty="0"/>
              <a:t>・業務は委託にお任せで実態を把握できていない</a:t>
            </a:r>
            <a:endParaRPr lang="en-US" altLang="ja-JP" sz="1600" dirty="0"/>
          </a:p>
        </p:txBody>
      </p:sp>
      <p:sp>
        <p:nvSpPr>
          <p:cNvPr id="7" name="吹き出し: 折線 (強調線付き) 6">
            <a:extLst>
              <a:ext uri="{FF2B5EF4-FFF2-40B4-BE49-F238E27FC236}">
                <a16:creationId xmlns:a16="http://schemas.microsoft.com/office/drawing/2014/main" id="{7F4323C8-ABAC-80D7-399A-F9B5B54B5431}"/>
              </a:ext>
            </a:extLst>
          </p:cNvPr>
          <p:cNvSpPr/>
          <p:nvPr/>
        </p:nvSpPr>
        <p:spPr>
          <a:xfrm>
            <a:off x="5747205" y="3724277"/>
            <a:ext cx="5742209" cy="973946"/>
          </a:xfrm>
          <a:prstGeom prst="accentCallout2">
            <a:avLst>
              <a:gd name="adj1" fmla="val 19899"/>
              <a:gd name="adj2" fmla="val -1654"/>
              <a:gd name="adj3" fmla="val 18750"/>
              <a:gd name="adj4" fmla="val -16667"/>
              <a:gd name="adj5" fmla="val 51639"/>
              <a:gd name="adj6" fmla="val -45670"/>
            </a:avLst>
          </a:prstGeom>
          <a:ln w="19050"/>
        </p:spPr>
        <p:style>
          <a:lnRef idx="2">
            <a:schemeClr val="dk1"/>
          </a:lnRef>
          <a:fillRef idx="1">
            <a:schemeClr val="lt1"/>
          </a:fillRef>
          <a:effectRef idx="0">
            <a:schemeClr val="dk1"/>
          </a:effectRef>
          <a:fontRef idx="minor">
            <a:schemeClr val="dk1"/>
          </a:fontRef>
        </p:style>
        <p:txBody>
          <a:bodyPr rtlCol="0" anchor="ctr"/>
          <a:lstStyle/>
          <a:p>
            <a:r>
              <a:rPr kumimoji="1" lang="ja-JP" altLang="en-US" sz="2000" b="1" dirty="0"/>
              <a:t>現場担当者（</a:t>
            </a:r>
            <a:r>
              <a:rPr lang="en-US" altLang="ja-JP" sz="2000" b="1" dirty="0"/>
              <a:t>2</a:t>
            </a:r>
            <a:r>
              <a:rPr kumimoji="1" lang="en-US" altLang="ja-JP" sz="2000" b="1" dirty="0"/>
              <a:t>0</a:t>
            </a:r>
            <a:r>
              <a:rPr kumimoji="1" lang="ja-JP" altLang="en-US" sz="2000" b="1" dirty="0"/>
              <a:t>代～</a:t>
            </a:r>
            <a:r>
              <a:rPr lang="en-US" altLang="ja-JP" sz="2000" b="1" dirty="0"/>
              <a:t>3</a:t>
            </a:r>
            <a:r>
              <a:rPr kumimoji="1" lang="en-US" altLang="ja-JP" sz="2000" b="1" dirty="0"/>
              <a:t>0</a:t>
            </a:r>
            <a:r>
              <a:rPr kumimoji="1" lang="ja-JP" altLang="en-US" sz="2000" b="1" dirty="0"/>
              <a:t>代）</a:t>
            </a:r>
            <a:endParaRPr kumimoji="1" lang="en-US" altLang="ja-JP" sz="2000" b="1" dirty="0"/>
          </a:p>
          <a:p>
            <a:r>
              <a:rPr lang="ja-JP" altLang="en-US" sz="1600" dirty="0"/>
              <a:t>・課題を感じていながらも目の前の業務で手一杯で改善の余力無し</a:t>
            </a:r>
            <a:endParaRPr lang="en-US" altLang="ja-JP" sz="1600" dirty="0"/>
          </a:p>
          <a:p>
            <a:r>
              <a:rPr lang="ja-JP" altLang="en-US" sz="1600" dirty="0"/>
              <a:t>・階層構造により現場の声がトップに届きにくい</a:t>
            </a:r>
            <a:endParaRPr lang="en-US" altLang="ja-JP" sz="1600" dirty="0"/>
          </a:p>
        </p:txBody>
      </p:sp>
      <p:pic>
        <p:nvPicPr>
          <p:cNvPr id="2056" name="Picture 8" descr="Businessman Generic Flat icon">
            <a:extLst>
              <a:ext uri="{FF2B5EF4-FFF2-40B4-BE49-F238E27FC236}">
                <a16:creationId xmlns:a16="http://schemas.microsoft.com/office/drawing/2014/main" id="{305055C0-FC9A-58F1-B49D-49A28194AD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7118" y="4982074"/>
            <a:ext cx="1143000" cy="1143000"/>
          </a:xfrm>
          <a:prstGeom prst="rect">
            <a:avLst/>
          </a:prstGeom>
          <a:noFill/>
          <a:extLst>
            <a:ext uri="{909E8E84-426E-40DD-AFC4-6F175D3DCCD1}">
              <a14:hiddenFill xmlns:a14="http://schemas.microsoft.com/office/drawing/2010/main">
                <a:solidFill>
                  <a:srgbClr val="FFFFFF"/>
                </a:solidFill>
              </a14:hiddenFill>
            </a:ext>
          </a:extLst>
        </p:spPr>
      </p:pic>
      <p:sp>
        <p:nvSpPr>
          <p:cNvPr id="9" name="吹き出し: 折線 (強調線付き) 8">
            <a:extLst>
              <a:ext uri="{FF2B5EF4-FFF2-40B4-BE49-F238E27FC236}">
                <a16:creationId xmlns:a16="http://schemas.microsoft.com/office/drawing/2014/main" id="{FC15CF46-22E6-45AE-C8E9-A62E53455F94}"/>
              </a:ext>
            </a:extLst>
          </p:cNvPr>
          <p:cNvSpPr/>
          <p:nvPr/>
        </p:nvSpPr>
        <p:spPr>
          <a:xfrm>
            <a:off x="5747205" y="5048750"/>
            <a:ext cx="5585179" cy="973946"/>
          </a:xfrm>
          <a:prstGeom prst="accentCallout2">
            <a:avLst>
              <a:gd name="adj1" fmla="val 19899"/>
              <a:gd name="adj2" fmla="val -1654"/>
              <a:gd name="adj3" fmla="val 18750"/>
              <a:gd name="adj4" fmla="val -16667"/>
              <a:gd name="adj5" fmla="val 43925"/>
              <a:gd name="adj6" fmla="val -33374"/>
            </a:avLst>
          </a:prstGeom>
          <a:ln w="19050"/>
        </p:spPr>
        <p:style>
          <a:lnRef idx="2">
            <a:schemeClr val="dk1"/>
          </a:lnRef>
          <a:fillRef idx="1">
            <a:schemeClr val="lt1"/>
          </a:fillRef>
          <a:effectRef idx="0">
            <a:schemeClr val="dk1"/>
          </a:effectRef>
          <a:fontRef idx="minor">
            <a:schemeClr val="dk1"/>
          </a:fontRef>
        </p:style>
        <p:txBody>
          <a:bodyPr rtlCol="0" anchor="ctr"/>
          <a:lstStyle/>
          <a:p>
            <a:r>
              <a:rPr lang="ja-JP" altLang="en-US" sz="2000" b="1" dirty="0"/>
              <a:t>改善</a:t>
            </a:r>
            <a:r>
              <a:rPr kumimoji="1" lang="ja-JP" altLang="en-US" sz="2000" b="1" dirty="0"/>
              <a:t>担当者・</a:t>
            </a:r>
            <a:r>
              <a:rPr kumimoji="1" lang="en-US" altLang="ja-JP" sz="2000" b="1" dirty="0"/>
              <a:t>TPS</a:t>
            </a:r>
            <a:r>
              <a:rPr kumimoji="1" lang="ja-JP" altLang="en-US" sz="2000" b="1" dirty="0"/>
              <a:t>カウンターパート（</a:t>
            </a:r>
            <a:r>
              <a:rPr lang="en-US" altLang="ja-JP" sz="2000" b="1" dirty="0"/>
              <a:t>2</a:t>
            </a:r>
            <a:r>
              <a:rPr kumimoji="1" lang="en-US" altLang="ja-JP" sz="2000" b="1" dirty="0"/>
              <a:t>0</a:t>
            </a:r>
            <a:r>
              <a:rPr kumimoji="1" lang="ja-JP" altLang="en-US" sz="2000" b="1" dirty="0"/>
              <a:t>代～</a:t>
            </a:r>
            <a:r>
              <a:rPr kumimoji="1" lang="en-US" altLang="ja-JP" sz="2000" b="1" dirty="0"/>
              <a:t>40</a:t>
            </a:r>
            <a:r>
              <a:rPr kumimoji="1" lang="ja-JP" altLang="en-US" sz="2000" b="1" dirty="0"/>
              <a:t>代）</a:t>
            </a:r>
            <a:endParaRPr kumimoji="1" lang="en-US" altLang="ja-JP" sz="1600" dirty="0"/>
          </a:p>
          <a:p>
            <a:r>
              <a:rPr lang="ja-JP" altLang="en-US" sz="1600" dirty="0"/>
              <a:t>・情報が五月雨式に出てきて現状把握が終わらない</a:t>
            </a:r>
            <a:endParaRPr lang="en-US" altLang="ja-JP" sz="1600" dirty="0"/>
          </a:p>
          <a:p>
            <a:r>
              <a:rPr lang="ja-JP" altLang="en-US" sz="1600" dirty="0"/>
              <a:t>・改善が定着せず手離れできない</a:t>
            </a:r>
            <a:endParaRPr lang="en-US" altLang="ja-JP" sz="1600" dirty="0"/>
          </a:p>
        </p:txBody>
      </p:sp>
    </p:spTree>
    <p:extLst>
      <p:ext uri="{BB962C8B-B14F-4D97-AF65-F5344CB8AC3E}">
        <p14:creationId xmlns:p14="http://schemas.microsoft.com/office/powerpoint/2010/main" val="3573892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2D41945-F3EC-40EE-D237-6452950B4BB7}"/>
              </a:ext>
            </a:extLst>
          </p:cNvPr>
          <p:cNvSpPr>
            <a:spLocks noGrp="1"/>
          </p:cNvSpPr>
          <p:nvPr>
            <p:ph type="body" sz="quarter" idx="14"/>
          </p:nvPr>
        </p:nvSpPr>
        <p:spPr/>
        <p:txBody>
          <a:bodyPr/>
          <a:lstStyle/>
          <a:p>
            <a:r>
              <a:rPr kumimoji="1" lang="ja-JP" altLang="en-US" dirty="0"/>
              <a:t>ビジネスモデル</a:t>
            </a:r>
          </a:p>
        </p:txBody>
      </p:sp>
      <p:pic>
        <p:nvPicPr>
          <p:cNvPr id="4" name="Google Shape;121;g377fe038680_0_12" title="202105_toyota_s_a1_2.png">
            <a:extLst>
              <a:ext uri="{FF2B5EF4-FFF2-40B4-BE49-F238E27FC236}">
                <a16:creationId xmlns:a16="http://schemas.microsoft.com/office/drawing/2014/main" id="{55D9EF40-D52E-CE65-B6A1-5562F4B0E178}"/>
              </a:ext>
            </a:extLst>
          </p:cNvPr>
          <p:cNvPicPr preferRelativeResize="0"/>
          <p:nvPr/>
        </p:nvPicPr>
        <p:blipFill>
          <a:blip r:embed="rId2">
            <a:alphaModFix/>
          </a:blip>
          <a:stretch>
            <a:fillRect/>
          </a:stretch>
        </p:blipFill>
        <p:spPr>
          <a:xfrm>
            <a:off x="2496379" y="1416459"/>
            <a:ext cx="1867667" cy="2392258"/>
          </a:xfrm>
          <a:prstGeom prst="rect">
            <a:avLst/>
          </a:prstGeom>
          <a:noFill/>
          <a:ln>
            <a:noFill/>
          </a:ln>
        </p:spPr>
      </p:pic>
      <p:pic>
        <p:nvPicPr>
          <p:cNvPr id="4098" name="Picture 2">
            <a:extLst>
              <a:ext uri="{FF2B5EF4-FFF2-40B4-BE49-F238E27FC236}">
                <a16:creationId xmlns:a16="http://schemas.microsoft.com/office/drawing/2014/main" id="{B56213A3-4033-5A17-6288-92C064F42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6281" y="1463114"/>
            <a:ext cx="2304778" cy="2304778"/>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CFEFB8F0-F2AD-2DF5-4EEF-E9EA30C02F68}"/>
              </a:ext>
            </a:extLst>
          </p:cNvPr>
          <p:cNvCxnSpPr>
            <a:cxnSpLocks/>
          </p:cNvCxnSpPr>
          <p:nvPr/>
        </p:nvCxnSpPr>
        <p:spPr>
          <a:xfrm>
            <a:off x="4453679" y="2553938"/>
            <a:ext cx="367940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 name="テキスト ボックス 8">
            <a:extLst>
              <a:ext uri="{FF2B5EF4-FFF2-40B4-BE49-F238E27FC236}">
                <a16:creationId xmlns:a16="http://schemas.microsoft.com/office/drawing/2014/main" id="{ED10F1C5-9CEE-1F6E-05AB-937072ACAD79}"/>
              </a:ext>
            </a:extLst>
          </p:cNvPr>
          <p:cNvSpPr txBox="1"/>
          <p:nvPr/>
        </p:nvSpPr>
        <p:spPr>
          <a:xfrm>
            <a:off x="529329" y="775958"/>
            <a:ext cx="9313768" cy="646331"/>
          </a:xfrm>
          <a:prstGeom prst="rect">
            <a:avLst/>
          </a:prstGeom>
          <a:noFill/>
        </p:spPr>
        <p:txBody>
          <a:bodyPr wrap="none" rtlCol="0">
            <a:spAutoFit/>
          </a:bodyPr>
          <a:lstStyle/>
          <a:p>
            <a:r>
              <a:rPr lang="ja-JP" altLang="en-US" dirty="0"/>
              <a:t>ツール</a:t>
            </a:r>
            <a:r>
              <a:rPr kumimoji="1" lang="ja-JP" altLang="en-US" dirty="0"/>
              <a:t>提供、導入支援（初期導入＋伴走型コンサルティング）、</a:t>
            </a:r>
            <a:r>
              <a:rPr kumimoji="1" lang="en-US" altLang="ja-JP" dirty="0"/>
              <a:t>TPS</a:t>
            </a:r>
            <a:r>
              <a:rPr lang="ja-JP" altLang="en-US" dirty="0"/>
              <a:t>の</a:t>
            </a:r>
            <a:r>
              <a:rPr kumimoji="1" lang="ja-JP" altLang="en-US" dirty="0"/>
              <a:t>教育支援（研修）により、</a:t>
            </a:r>
            <a:endParaRPr kumimoji="1" lang="en-US" altLang="ja-JP" dirty="0"/>
          </a:p>
          <a:p>
            <a:r>
              <a:rPr lang="ja-JP" altLang="en-US" dirty="0"/>
              <a:t>長期的な顧客ロイヤリティの獲得を目指すビジネスモデルを構築する。</a:t>
            </a:r>
            <a:endParaRPr kumimoji="1" lang="ja-JP" altLang="en-US" dirty="0"/>
          </a:p>
        </p:txBody>
      </p:sp>
      <p:cxnSp>
        <p:nvCxnSpPr>
          <p:cNvPr id="10" name="直線矢印コネクタ 9">
            <a:extLst>
              <a:ext uri="{FF2B5EF4-FFF2-40B4-BE49-F238E27FC236}">
                <a16:creationId xmlns:a16="http://schemas.microsoft.com/office/drawing/2014/main" id="{F0CCB115-5DE4-6BEB-5B13-8168089925EA}"/>
              </a:ext>
            </a:extLst>
          </p:cNvPr>
          <p:cNvCxnSpPr>
            <a:cxnSpLocks/>
          </p:cNvCxnSpPr>
          <p:nvPr/>
        </p:nvCxnSpPr>
        <p:spPr>
          <a:xfrm>
            <a:off x="4453679" y="2824589"/>
            <a:ext cx="3679401" cy="0"/>
          </a:xfrm>
          <a:prstGeom prst="straightConnector1">
            <a:avLst/>
          </a:prstGeom>
          <a:ln w="28575">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11" name="テキスト ボックス 10">
            <a:extLst>
              <a:ext uri="{FF2B5EF4-FFF2-40B4-BE49-F238E27FC236}">
                <a16:creationId xmlns:a16="http://schemas.microsoft.com/office/drawing/2014/main" id="{5196B5B8-01B6-97B5-8032-1DE9AE93C17D}"/>
              </a:ext>
            </a:extLst>
          </p:cNvPr>
          <p:cNvSpPr txBox="1"/>
          <p:nvPr/>
        </p:nvSpPr>
        <p:spPr>
          <a:xfrm>
            <a:off x="4830127" y="2160373"/>
            <a:ext cx="2759089" cy="369332"/>
          </a:xfrm>
          <a:prstGeom prst="rect">
            <a:avLst/>
          </a:prstGeom>
          <a:noFill/>
        </p:spPr>
        <p:txBody>
          <a:bodyPr wrap="none" rtlCol="0">
            <a:spAutoFit/>
          </a:bodyPr>
          <a:lstStyle/>
          <a:p>
            <a:r>
              <a:rPr kumimoji="1" lang="ja-JP" altLang="en-US" dirty="0"/>
              <a:t>ツール提供</a:t>
            </a:r>
            <a:r>
              <a:rPr kumimoji="1" lang="en-US" altLang="ja-JP" dirty="0"/>
              <a:t>/</a:t>
            </a:r>
            <a:r>
              <a:rPr kumimoji="1" lang="ja-JP" altLang="en-US" dirty="0"/>
              <a:t>導入支援</a:t>
            </a:r>
            <a:r>
              <a:rPr kumimoji="1" lang="en-US" altLang="ja-JP" dirty="0"/>
              <a:t>/</a:t>
            </a:r>
            <a:r>
              <a:rPr lang="ja-JP" altLang="en-US" dirty="0"/>
              <a:t>研修</a:t>
            </a:r>
            <a:endParaRPr kumimoji="1" lang="ja-JP" altLang="en-US" dirty="0"/>
          </a:p>
        </p:txBody>
      </p:sp>
      <p:pic>
        <p:nvPicPr>
          <p:cNvPr id="4100" name="Picture 4" descr="엔 - 무료 비즈니스 및 금융개 아이콘">
            <a:extLst>
              <a:ext uri="{FF2B5EF4-FFF2-40B4-BE49-F238E27FC236}">
                <a16:creationId xmlns:a16="http://schemas.microsoft.com/office/drawing/2014/main" id="{3B8CD65D-10AD-D512-6846-0C9D33D69F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780" y="2621389"/>
            <a:ext cx="406400" cy="406400"/>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28B470B9-206C-763C-652B-84D0BC4D59CA}"/>
              </a:ext>
            </a:extLst>
          </p:cNvPr>
          <p:cNvSpPr txBox="1"/>
          <p:nvPr/>
        </p:nvSpPr>
        <p:spPr>
          <a:xfrm>
            <a:off x="5188767" y="2942504"/>
            <a:ext cx="2063385" cy="646331"/>
          </a:xfrm>
          <a:prstGeom prst="rect">
            <a:avLst/>
          </a:prstGeom>
          <a:noFill/>
        </p:spPr>
        <p:txBody>
          <a:bodyPr wrap="none" rtlCol="0">
            <a:spAutoFit/>
          </a:bodyPr>
          <a:lstStyle/>
          <a:p>
            <a:r>
              <a:rPr kumimoji="1" lang="ja-JP" altLang="en-US" dirty="0"/>
              <a:t>年額ツール利用料</a:t>
            </a:r>
            <a:endParaRPr kumimoji="1" lang="en-US" altLang="ja-JP" dirty="0"/>
          </a:p>
          <a:p>
            <a:r>
              <a:rPr lang="ja-JP" altLang="en-US" dirty="0"/>
              <a:t>コンサルティング費用</a:t>
            </a:r>
            <a:endParaRPr lang="en-US" altLang="ja-JP" dirty="0"/>
          </a:p>
        </p:txBody>
      </p:sp>
      <p:sp>
        <p:nvSpPr>
          <p:cNvPr id="13" name="テキスト ボックス 12">
            <a:extLst>
              <a:ext uri="{FF2B5EF4-FFF2-40B4-BE49-F238E27FC236}">
                <a16:creationId xmlns:a16="http://schemas.microsoft.com/office/drawing/2014/main" id="{1975747E-EE27-3E1A-6A23-F69749974B02}"/>
              </a:ext>
            </a:extLst>
          </p:cNvPr>
          <p:cNvSpPr txBox="1"/>
          <p:nvPr/>
        </p:nvSpPr>
        <p:spPr>
          <a:xfrm>
            <a:off x="8402322" y="3598575"/>
            <a:ext cx="1399742" cy="369332"/>
          </a:xfrm>
          <a:prstGeom prst="rect">
            <a:avLst/>
          </a:prstGeom>
          <a:noFill/>
        </p:spPr>
        <p:txBody>
          <a:bodyPr wrap="none" rtlCol="0">
            <a:spAutoFit/>
          </a:bodyPr>
          <a:lstStyle/>
          <a:p>
            <a:r>
              <a:rPr kumimoji="1" lang="ja-JP" altLang="en-US" dirty="0"/>
              <a:t>社外ユーザー</a:t>
            </a:r>
          </a:p>
        </p:txBody>
      </p:sp>
      <p:pic>
        <p:nvPicPr>
          <p:cNvPr id="4102" name="Picture 6" descr="Toyota Logo PNG Transparent Images | PNG All">
            <a:extLst>
              <a:ext uri="{FF2B5EF4-FFF2-40B4-BE49-F238E27FC236}">
                <a16:creationId xmlns:a16="http://schemas.microsoft.com/office/drawing/2014/main" id="{E76AF669-A400-DE6C-DEAB-4489263727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7758" y="4673435"/>
            <a:ext cx="1917676" cy="1361440"/>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直線矢印コネクタ 18">
            <a:extLst>
              <a:ext uri="{FF2B5EF4-FFF2-40B4-BE49-F238E27FC236}">
                <a16:creationId xmlns:a16="http://schemas.microsoft.com/office/drawing/2014/main" id="{5D256A0D-0BF7-C4E5-6A97-A97BDD515DEF}"/>
              </a:ext>
            </a:extLst>
          </p:cNvPr>
          <p:cNvCxnSpPr>
            <a:cxnSpLocks/>
          </p:cNvCxnSpPr>
          <p:nvPr/>
        </p:nvCxnSpPr>
        <p:spPr>
          <a:xfrm flipV="1">
            <a:off x="3251200" y="3626095"/>
            <a:ext cx="0" cy="991882"/>
          </a:xfrm>
          <a:prstGeom prst="straightConnector1">
            <a:avLst/>
          </a:prstGeom>
          <a:ln w="28575">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2" name="直線矢印コネクタ 21">
            <a:extLst>
              <a:ext uri="{FF2B5EF4-FFF2-40B4-BE49-F238E27FC236}">
                <a16:creationId xmlns:a16="http://schemas.microsoft.com/office/drawing/2014/main" id="{F583A150-BF19-7503-C0C3-1F933E4E4473}"/>
              </a:ext>
            </a:extLst>
          </p:cNvPr>
          <p:cNvCxnSpPr>
            <a:cxnSpLocks/>
          </p:cNvCxnSpPr>
          <p:nvPr/>
        </p:nvCxnSpPr>
        <p:spPr>
          <a:xfrm flipV="1">
            <a:off x="3586480" y="3626095"/>
            <a:ext cx="0" cy="991882"/>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pic>
        <p:nvPicPr>
          <p:cNvPr id="23" name="Picture 4" descr="엔 - 무료 비즈니스 및 금융개 아이콘">
            <a:extLst>
              <a:ext uri="{FF2B5EF4-FFF2-40B4-BE49-F238E27FC236}">
                <a16:creationId xmlns:a16="http://schemas.microsoft.com/office/drawing/2014/main" id="{EFBCC314-79E4-0C16-19F3-DFEC26BFD5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3280" y="3918836"/>
            <a:ext cx="406400" cy="406400"/>
          </a:xfrm>
          <a:prstGeom prst="rect">
            <a:avLst/>
          </a:prstGeom>
          <a:noFill/>
          <a:extLst>
            <a:ext uri="{909E8E84-426E-40DD-AFC4-6F175D3DCCD1}">
              <a14:hiddenFill xmlns:a14="http://schemas.microsoft.com/office/drawing/2010/main">
                <a:solidFill>
                  <a:srgbClr val="FFFFFF"/>
                </a:solidFill>
              </a14:hiddenFill>
            </a:ext>
          </a:extLst>
        </p:spPr>
      </p:pic>
      <p:sp>
        <p:nvSpPr>
          <p:cNvPr id="24" name="テキスト ボックス 23">
            <a:extLst>
              <a:ext uri="{FF2B5EF4-FFF2-40B4-BE49-F238E27FC236}">
                <a16:creationId xmlns:a16="http://schemas.microsoft.com/office/drawing/2014/main" id="{8429E44D-027C-FB98-23D0-D0AF97365802}"/>
              </a:ext>
            </a:extLst>
          </p:cNvPr>
          <p:cNvSpPr txBox="1"/>
          <p:nvPr/>
        </p:nvSpPr>
        <p:spPr>
          <a:xfrm>
            <a:off x="3711493" y="3950815"/>
            <a:ext cx="2031325" cy="369332"/>
          </a:xfrm>
          <a:prstGeom prst="rect">
            <a:avLst/>
          </a:prstGeom>
          <a:noFill/>
        </p:spPr>
        <p:txBody>
          <a:bodyPr wrap="none" rtlCol="0">
            <a:spAutoFit/>
          </a:bodyPr>
          <a:lstStyle/>
          <a:p>
            <a:r>
              <a:rPr kumimoji="1" lang="ja-JP" altLang="en-US" dirty="0"/>
              <a:t>開発費用一部負担</a:t>
            </a:r>
            <a:endParaRPr lang="en-US" altLang="ja-JP" dirty="0"/>
          </a:p>
        </p:txBody>
      </p:sp>
      <p:sp>
        <p:nvSpPr>
          <p:cNvPr id="25" name="テキスト ボックス 24">
            <a:extLst>
              <a:ext uri="{FF2B5EF4-FFF2-40B4-BE49-F238E27FC236}">
                <a16:creationId xmlns:a16="http://schemas.microsoft.com/office/drawing/2014/main" id="{750CD5DB-94DC-AD8F-485E-807411C5AF1C}"/>
              </a:ext>
            </a:extLst>
          </p:cNvPr>
          <p:cNvSpPr txBox="1"/>
          <p:nvPr/>
        </p:nvSpPr>
        <p:spPr>
          <a:xfrm>
            <a:off x="1050612" y="3950815"/>
            <a:ext cx="2207656" cy="369332"/>
          </a:xfrm>
          <a:prstGeom prst="rect">
            <a:avLst/>
          </a:prstGeom>
          <a:noFill/>
        </p:spPr>
        <p:txBody>
          <a:bodyPr wrap="none" rtlCol="0">
            <a:spAutoFit/>
          </a:bodyPr>
          <a:lstStyle/>
          <a:p>
            <a:r>
              <a:rPr lang="ja-JP" altLang="en-US" dirty="0"/>
              <a:t>ツール提供</a:t>
            </a:r>
            <a:r>
              <a:rPr lang="en-US" altLang="ja-JP" dirty="0"/>
              <a:t>/</a:t>
            </a:r>
            <a:r>
              <a:rPr lang="ja-JP" altLang="en-US" dirty="0"/>
              <a:t>導入支援</a:t>
            </a:r>
            <a:endParaRPr lang="en-US" altLang="ja-JP" dirty="0"/>
          </a:p>
        </p:txBody>
      </p:sp>
      <p:sp>
        <p:nvSpPr>
          <p:cNvPr id="3" name="正方形/長方形 2">
            <a:extLst>
              <a:ext uri="{FF2B5EF4-FFF2-40B4-BE49-F238E27FC236}">
                <a16:creationId xmlns:a16="http://schemas.microsoft.com/office/drawing/2014/main" id="{73B68556-BB9F-A0A8-BD04-9BA19BFDF6DF}"/>
              </a:ext>
            </a:extLst>
          </p:cNvPr>
          <p:cNvSpPr/>
          <p:nvPr/>
        </p:nvSpPr>
        <p:spPr>
          <a:xfrm>
            <a:off x="4192884" y="4742624"/>
            <a:ext cx="2214036" cy="679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TMC</a:t>
            </a:r>
            <a:r>
              <a:rPr kumimoji="1" lang="ja-JP" altLang="en-US" dirty="0"/>
              <a:t>の巻き込み方は</a:t>
            </a:r>
            <a:endParaRPr kumimoji="1" lang="en-US" altLang="ja-JP" dirty="0"/>
          </a:p>
          <a:p>
            <a:pPr algn="ctr"/>
            <a:r>
              <a:rPr kumimoji="1" lang="ja-JP" altLang="en-US" dirty="0"/>
              <a:t>要検討</a:t>
            </a:r>
          </a:p>
        </p:txBody>
      </p:sp>
    </p:spTree>
    <p:extLst>
      <p:ext uri="{BB962C8B-B14F-4D97-AF65-F5344CB8AC3E}">
        <p14:creationId xmlns:p14="http://schemas.microsoft.com/office/powerpoint/2010/main" val="1153682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2D41945-F3EC-40EE-D237-6452950B4BB7}"/>
              </a:ext>
            </a:extLst>
          </p:cNvPr>
          <p:cNvSpPr>
            <a:spLocks noGrp="1"/>
          </p:cNvSpPr>
          <p:nvPr>
            <p:ph type="body" sz="quarter" idx="14"/>
          </p:nvPr>
        </p:nvSpPr>
        <p:spPr/>
        <p:txBody>
          <a:bodyPr/>
          <a:lstStyle/>
          <a:p>
            <a:r>
              <a:rPr kumimoji="1" lang="ja-JP" altLang="en-US" dirty="0"/>
              <a:t>収益性</a:t>
            </a:r>
          </a:p>
        </p:txBody>
      </p:sp>
      <p:graphicFrame>
        <p:nvGraphicFramePr>
          <p:cNvPr id="6" name="グラフ 5">
            <a:extLst>
              <a:ext uri="{FF2B5EF4-FFF2-40B4-BE49-F238E27FC236}">
                <a16:creationId xmlns:a16="http://schemas.microsoft.com/office/drawing/2014/main" id="{14B5B3BD-8968-81C6-B98A-9FB1A230C43A}"/>
              </a:ext>
            </a:extLst>
          </p:cNvPr>
          <p:cNvGraphicFramePr/>
          <p:nvPr>
            <p:extLst>
              <p:ext uri="{D42A27DB-BD31-4B8C-83A1-F6EECF244321}">
                <p14:modId xmlns:p14="http://schemas.microsoft.com/office/powerpoint/2010/main" val="2750188471"/>
              </p:ext>
            </p:extLst>
          </p:nvPr>
        </p:nvGraphicFramePr>
        <p:xfrm>
          <a:off x="370378" y="2152640"/>
          <a:ext cx="10967468" cy="430224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表 6">
            <a:extLst>
              <a:ext uri="{FF2B5EF4-FFF2-40B4-BE49-F238E27FC236}">
                <a16:creationId xmlns:a16="http://schemas.microsoft.com/office/drawing/2014/main" id="{9FB200F4-0947-BDB0-5D89-819F90422E6E}"/>
              </a:ext>
            </a:extLst>
          </p:cNvPr>
          <p:cNvGraphicFramePr>
            <a:graphicFrameLocks noGrp="1"/>
          </p:cNvGraphicFramePr>
          <p:nvPr>
            <p:extLst>
              <p:ext uri="{D42A27DB-BD31-4B8C-83A1-F6EECF244321}">
                <p14:modId xmlns:p14="http://schemas.microsoft.com/office/powerpoint/2010/main" val="1385395287"/>
              </p:ext>
            </p:extLst>
          </p:nvPr>
        </p:nvGraphicFramePr>
        <p:xfrm>
          <a:off x="6181275" y="726172"/>
          <a:ext cx="5784216" cy="1761685"/>
        </p:xfrm>
        <a:graphic>
          <a:graphicData uri="http://schemas.openxmlformats.org/drawingml/2006/table">
            <a:tbl>
              <a:tblPr firstRow="1" bandRow="1">
                <a:tableStyleId>{93296810-A885-4BE3-A3E7-6D5BEEA58F35}</a:tableStyleId>
              </a:tblPr>
              <a:tblGrid>
                <a:gridCol w="1816418">
                  <a:extLst>
                    <a:ext uri="{9D8B030D-6E8A-4147-A177-3AD203B41FA5}">
                      <a16:colId xmlns:a16="http://schemas.microsoft.com/office/drawing/2014/main" val="233196176"/>
                    </a:ext>
                  </a:extLst>
                </a:gridCol>
                <a:gridCol w="1483043">
                  <a:extLst>
                    <a:ext uri="{9D8B030D-6E8A-4147-A177-3AD203B41FA5}">
                      <a16:colId xmlns:a16="http://schemas.microsoft.com/office/drawing/2014/main" val="394494164"/>
                    </a:ext>
                  </a:extLst>
                </a:gridCol>
                <a:gridCol w="2484755">
                  <a:extLst>
                    <a:ext uri="{9D8B030D-6E8A-4147-A177-3AD203B41FA5}">
                      <a16:colId xmlns:a16="http://schemas.microsoft.com/office/drawing/2014/main" val="1916664863"/>
                    </a:ext>
                  </a:extLst>
                </a:gridCol>
              </a:tblGrid>
              <a:tr h="352337">
                <a:tc>
                  <a:txBody>
                    <a:bodyPr/>
                    <a:lstStyle/>
                    <a:p>
                      <a:r>
                        <a:rPr kumimoji="1" lang="ja-JP" altLang="en-US" sz="1400" dirty="0"/>
                        <a:t>提供サービス</a:t>
                      </a:r>
                    </a:p>
                  </a:txBody>
                  <a:tcPr/>
                </a:tc>
                <a:tc>
                  <a:txBody>
                    <a:bodyPr/>
                    <a:lstStyle/>
                    <a:p>
                      <a:r>
                        <a:rPr kumimoji="1" lang="ja-JP" altLang="en-US" sz="1400" dirty="0"/>
                        <a:t>売上見込</a:t>
                      </a:r>
                    </a:p>
                  </a:txBody>
                  <a:tcPr/>
                </a:tc>
                <a:tc>
                  <a:txBody>
                    <a:bodyPr/>
                    <a:lstStyle/>
                    <a:p>
                      <a:r>
                        <a:rPr kumimoji="1" lang="ja-JP" altLang="en-US" sz="1400" dirty="0"/>
                        <a:t>考え方</a:t>
                      </a:r>
                    </a:p>
                  </a:txBody>
                  <a:tcPr/>
                </a:tc>
                <a:extLst>
                  <a:ext uri="{0D108BD9-81ED-4DB2-BD59-A6C34878D82A}">
                    <a16:rowId xmlns:a16="http://schemas.microsoft.com/office/drawing/2014/main" val="716819856"/>
                  </a:ext>
                </a:extLst>
              </a:tr>
              <a:tr h="352337">
                <a:tc>
                  <a:txBody>
                    <a:bodyPr/>
                    <a:lstStyle/>
                    <a:p>
                      <a:r>
                        <a:rPr kumimoji="1" lang="ja-JP" altLang="en-US" sz="1400" dirty="0"/>
                        <a:t>ツール利用ライセンス</a:t>
                      </a:r>
                    </a:p>
                  </a:txBody>
                  <a:tcPr/>
                </a:tc>
                <a:tc>
                  <a:txBody>
                    <a:bodyPr/>
                    <a:lstStyle/>
                    <a:p>
                      <a:r>
                        <a:rPr kumimoji="1" lang="en-US" altLang="ja-JP" sz="1400" dirty="0"/>
                        <a:t>1</a:t>
                      </a:r>
                      <a:r>
                        <a:rPr kumimoji="1" lang="ja-JP" altLang="en-US" sz="1400" dirty="0"/>
                        <a:t>万円</a:t>
                      </a:r>
                      <a:r>
                        <a:rPr kumimoji="1" lang="en-US" altLang="ja-JP" sz="1400" dirty="0"/>
                        <a:t>/</a:t>
                      </a:r>
                      <a:r>
                        <a:rPr kumimoji="1" lang="ja-JP" altLang="en-US" sz="1400" dirty="0"/>
                        <a:t>年・人</a:t>
                      </a:r>
                    </a:p>
                  </a:txBody>
                  <a:tcPr/>
                </a:tc>
                <a:tc>
                  <a:txBody>
                    <a:bodyPr/>
                    <a:lstStyle/>
                    <a:p>
                      <a:r>
                        <a:rPr kumimoji="1" lang="en-US" altLang="ja-JP" sz="1400" dirty="0"/>
                        <a:t>1</a:t>
                      </a:r>
                      <a:r>
                        <a:rPr kumimoji="1" lang="ja-JP" altLang="en-US" sz="1400" dirty="0"/>
                        <a:t>社につき</a:t>
                      </a:r>
                      <a:r>
                        <a:rPr kumimoji="1" lang="en-US" altLang="ja-JP" sz="1400" dirty="0"/>
                        <a:t>100</a:t>
                      </a:r>
                      <a:r>
                        <a:rPr kumimoji="1" lang="ja-JP" altLang="en-US" sz="1400" dirty="0"/>
                        <a:t>名</a:t>
                      </a:r>
                      <a:r>
                        <a:rPr kumimoji="1" lang="en-US" altLang="ja-JP" sz="1400" dirty="0"/>
                        <a:t>/</a:t>
                      </a:r>
                      <a:r>
                        <a:rPr kumimoji="1" lang="ja-JP" altLang="en-US" sz="1400" dirty="0"/>
                        <a:t>年が毎年継続</a:t>
                      </a:r>
                    </a:p>
                  </a:txBody>
                  <a:tcPr/>
                </a:tc>
                <a:extLst>
                  <a:ext uri="{0D108BD9-81ED-4DB2-BD59-A6C34878D82A}">
                    <a16:rowId xmlns:a16="http://schemas.microsoft.com/office/drawing/2014/main" val="3287582562"/>
                  </a:ext>
                </a:extLst>
              </a:tr>
              <a:tr h="352337">
                <a:tc>
                  <a:txBody>
                    <a:bodyPr/>
                    <a:lstStyle/>
                    <a:p>
                      <a:r>
                        <a:rPr kumimoji="1" lang="ja-JP" altLang="en-US" sz="1400" dirty="0"/>
                        <a:t>初期導入</a:t>
                      </a:r>
                    </a:p>
                  </a:txBody>
                  <a:tcPr/>
                </a:tc>
                <a:tc>
                  <a:txBody>
                    <a:bodyPr/>
                    <a:lstStyle/>
                    <a:p>
                      <a:r>
                        <a:rPr kumimoji="1" lang="en-US" altLang="ja-JP" sz="1400" dirty="0"/>
                        <a:t>100</a:t>
                      </a:r>
                      <a:r>
                        <a:rPr kumimoji="1" lang="ja-JP" altLang="en-US" sz="1400" dirty="0"/>
                        <a:t>万円</a:t>
                      </a:r>
                      <a:r>
                        <a:rPr kumimoji="1" lang="en-US" altLang="ja-JP" sz="1400" dirty="0"/>
                        <a:t>/</a:t>
                      </a:r>
                      <a:r>
                        <a:rPr kumimoji="1" lang="ja-JP" altLang="en-US" sz="1400" dirty="0"/>
                        <a:t>社</a:t>
                      </a:r>
                    </a:p>
                  </a:txBody>
                  <a:tcPr/>
                </a:tc>
                <a:tc>
                  <a:txBody>
                    <a:bodyPr/>
                    <a:lstStyle/>
                    <a:p>
                      <a:r>
                        <a:rPr kumimoji="1" lang="en-US" altLang="ja-JP" sz="1400" dirty="0"/>
                        <a:t>1</a:t>
                      </a:r>
                      <a:r>
                        <a:rPr kumimoji="1" lang="ja-JP" altLang="en-US" sz="1400" dirty="0"/>
                        <a:t>社につき</a:t>
                      </a:r>
                      <a:r>
                        <a:rPr kumimoji="1" lang="en-US" altLang="ja-JP" sz="1400" dirty="0"/>
                        <a:t>1</a:t>
                      </a:r>
                      <a:r>
                        <a:rPr kumimoji="1" lang="ja-JP" altLang="en-US" sz="1400" dirty="0"/>
                        <a:t>度きり</a:t>
                      </a:r>
                    </a:p>
                  </a:txBody>
                  <a:tcPr/>
                </a:tc>
                <a:extLst>
                  <a:ext uri="{0D108BD9-81ED-4DB2-BD59-A6C34878D82A}">
                    <a16:rowId xmlns:a16="http://schemas.microsoft.com/office/drawing/2014/main" val="2656431962"/>
                  </a:ext>
                </a:extLst>
              </a:tr>
              <a:tr h="352337">
                <a:tc>
                  <a:txBody>
                    <a:bodyPr/>
                    <a:lstStyle/>
                    <a:p>
                      <a:r>
                        <a:rPr kumimoji="1" lang="ja-JP" altLang="en-US" sz="1400" dirty="0"/>
                        <a:t>伴奏型コンサルティング</a:t>
                      </a:r>
                    </a:p>
                  </a:txBody>
                  <a:tcPr/>
                </a:tc>
                <a:tc>
                  <a:txBody>
                    <a:bodyPr/>
                    <a:lstStyle/>
                    <a:p>
                      <a:r>
                        <a:rPr kumimoji="1" lang="en-US" altLang="ja-JP" sz="1400" dirty="0"/>
                        <a:t>1600</a:t>
                      </a:r>
                      <a:r>
                        <a:rPr kumimoji="1" lang="ja-JP" altLang="en-US" sz="1400" dirty="0"/>
                        <a:t>万円</a:t>
                      </a:r>
                      <a:r>
                        <a:rPr kumimoji="1" lang="en-US" altLang="ja-JP" sz="1400" dirty="0"/>
                        <a:t>/</a:t>
                      </a:r>
                      <a:r>
                        <a:rPr kumimoji="1" lang="ja-JP" altLang="en-US" sz="1400" dirty="0"/>
                        <a:t>年・社</a:t>
                      </a:r>
                    </a:p>
                  </a:txBody>
                  <a:tcPr/>
                </a:tc>
                <a:tc>
                  <a:txBody>
                    <a:bodyPr/>
                    <a:lstStyle/>
                    <a:p>
                      <a:r>
                        <a:rPr kumimoji="1" lang="en-US" altLang="ja-JP" sz="1400" dirty="0"/>
                        <a:t>10</a:t>
                      </a:r>
                      <a:r>
                        <a:rPr kumimoji="1" lang="ja-JP" altLang="en-US" sz="1400" dirty="0"/>
                        <a:t>社につき</a:t>
                      </a:r>
                      <a:r>
                        <a:rPr kumimoji="1" lang="en-US" altLang="ja-JP" sz="1400" dirty="0"/>
                        <a:t>1</a:t>
                      </a:r>
                      <a:r>
                        <a:rPr kumimoji="1" lang="ja-JP" altLang="en-US" sz="1400" dirty="0"/>
                        <a:t>社が毎年継続</a:t>
                      </a:r>
                    </a:p>
                  </a:txBody>
                  <a:tcPr/>
                </a:tc>
                <a:extLst>
                  <a:ext uri="{0D108BD9-81ED-4DB2-BD59-A6C34878D82A}">
                    <a16:rowId xmlns:a16="http://schemas.microsoft.com/office/drawing/2014/main" val="1341844192"/>
                  </a:ext>
                </a:extLst>
              </a:tr>
              <a:tr h="352337">
                <a:tc>
                  <a:txBody>
                    <a:bodyPr/>
                    <a:lstStyle/>
                    <a:p>
                      <a:r>
                        <a:rPr kumimoji="1" lang="ja-JP" altLang="en-US" sz="1400" dirty="0"/>
                        <a:t>研修</a:t>
                      </a:r>
                    </a:p>
                  </a:txBody>
                  <a:tcPr/>
                </a:tc>
                <a:tc>
                  <a:txBody>
                    <a:bodyPr/>
                    <a:lstStyle/>
                    <a:p>
                      <a:r>
                        <a:rPr kumimoji="1" lang="en-US" altLang="ja-JP" sz="1400" dirty="0"/>
                        <a:t>5</a:t>
                      </a:r>
                      <a:r>
                        <a:rPr kumimoji="1" lang="ja-JP" altLang="en-US" sz="1400" dirty="0"/>
                        <a:t>万円</a:t>
                      </a:r>
                      <a:r>
                        <a:rPr kumimoji="1" lang="en-US" altLang="ja-JP" sz="1400" dirty="0"/>
                        <a:t>/</a:t>
                      </a:r>
                      <a:r>
                        <a:rPr kumimoji="1" lang="ja-JP" altLang="en-US" sz="1400" dirty="0"/>
                        <a:t>人</a:t>
                      </a:r>
                    </a:p>
                  </a:txBody>
                  <a:tcPr/>
                </a:tc>
                <a:tc>
                  <a:txBody>
                    <a:bodyPr/>
                    <a:lstStyle/>
                    <a:p>
                      <a:r>
                        <a:rPr kumimoji="1" lang="en-US" altLang="ja-JP" sz="1400" dirty="0"/>
                        <a:t>1</a:t>
                      </a:r>
                      <a:r>
                        <a:rPr kumimoji="1" lang="ja-JP" altLang="en-US" sz="1400" dirty="0"/>
                        <a:t>社につき</a:t>
                      </a:r>
                      <a:r>
                        <a:rPr kumimoji="1" lang="en-US" altLang="ja-JP" sz="1400" dirty="0"/>
                        <a:t>20</a:t>
                      </a:r>
                      <a:r>
                        <a:rPr kumimoji="1" lang="ja-JP" altLang="en-US" sz="1400" dirty="0"/>
                        <a:t>名で</a:t>
                      </a:r>
                      <a:r>
                        <a:rPr kumimoji="1" lang="en-US" altLang="ja-JP" sz="1400" dirty="0"/>
                        <a:t>1</a:t>
                      </a:r>
                      <a:r>
                        <a:rPr kumimoji="1" lang="ja-JP" altLang="en-US" sz="1400" dirty="0"/>
                        <a:t>度きり</a:t>
                      </a:r>
                    </a:p>
                  </a:txBody>
                  <a:tcPr/>
                </a:tc>
                <a:extLst>
                  <a:ext uri="{0D108BD9-81ED-4DB2-BD59-A6C34878D82A}">
                    <a16:rowId xmlns:a16="http://schemas.microsoft.com/office/drawing/2014/main" val="2926274294"/>
                  </a:ext>
                </a:extLst>
              </a:tr>
            </a:tbl>
          </a:graphicData>
        </a:graphic>
      </p:graphicFrame>
      <p:sp>
        <p:nvSpPr>
          <p:cNvPr id="8" name="テキスト ボックス 7">
            <a:extLst>
              <a:ext uri="{FF2B5EF4-FFF2-40B4-BE49-F238E27FC236}">
                <a16:creationId xmlns:a16="http://schemas.microsoft.com/office/drawing/2014/main" id="{A2E9221E-1D52-9E58-7714-72512ED19F9D}"/>
              </a:ext>
            </a:extLst>
          </p:cNvPr>
          <p:cNvSpPr txBox="1"/>
          <p:nvPr/>
        </p:nvSpPr>
        <p:spPr>
          <a:xfrm>
            <a:off x="3385768" y="5474118"/>
            <a:ext cx="1127232" cy="369332"/>
          </a:xfrm>
          <a:prstGeom prst="rect">
            <a:avLst/>
          </a:prstGeom>
          <a:noFill/>
        </p:spPr>
        <p:txBody>
          <a:bodyPr wrap="none" rtlCol="0">
            <a:spAutoFit/>
          </a:bodyPr>
          <a:lstStyle/>
          <a:p>
            <a:r>
              <a:rPr kumimoji="1" lang="en-US" altLang="ja-JP" dirty="0"/>
              <a:t>10</a:t>
            </a:r>
            <a:r>
              <a:rPr kumimoji="1" lang="ja-JP" altLang="en-US" dirty="0"/>
              <a:t>社導入</a:t>
            </a:r>
          </a:p>
        </p:txBody>
      </p:sp>
      <p:sp>
        <p:nvSpPr>
          <p:cNvPr id="9" name="テキスト ボックス 8">
            <a:extLst>
              <a:ext uri="{FF2B5EF4-FFF2-40B4-BE49-F238E27FC236}">
                <a16:creationId xmlns:a16="http://schemas.microsoft.com/office/drawing/2014/main" id="{4E88C14B-13D0-CDA6-9003-AD6AEFF5E9DE}"/>
              </a:ext>
            </a:extLst>
          </p:cNvPr>
          <p:cNvSpPr txBox="1"/>
          <p:nvPr/>
        </p:nvSpPr>
        <p:spPr>
          <a:xfrm>
            <a:off x="5038226" y="5024315"/>
            <a:ext cx="1285929" cy="369332"/>
          </a:xfrm>
          <a:prstGeom prst="rect">
            <a:avLst/>
          </a:prstGeom>
          <a:noFill/>
        </p:spPr>
        <p:txBody>
          <a:bodyPr wrap="none" rtlCol="0">
            <a:spAutoFit/>
          </a:bodyPr>
          <a:lstStyle/>
          <a:p>
            <a:r>
              <a:rPr kumimoji="1" lang="en-US" altLang="ja-JP" dirty="0"/>
              <a:t>+20</a:t>
            </a:r>
            <a:r>
              <a:rPr kumimoji="1" lang="ja-JP" altLang="en-US" dirty="0"/>
              <a:t>社導入</a:t>
            </a:r>
          </a:p>
        </p:txBody>
      </p:sp>
      <p:sp>
        <p:nvSpPr>
          <p:cNvPr id="10" name="テキスト ボックス 9">
            <a:extLst>
              <a:ext uri="{FF2B5EF4-FFF2-40B4-BE49-F238E27FC236}">
                <a16:creationId xmlns:a16="http://schemas.microsoft.com/office/drawing/2014/main" id="{6902D88B-495D-D51E-41E7-2AC03E6A9B82}"/>
              </a:ext>
            </a:extLst>
          </p:cNvPr>
          <p:cNvSpPr txBox="1"/>
          <p:nvPr/>
        </p:nvSpPr>
        <p:spPr>
          <a:xfrm>
            <a:off x="6795566" y="4368258"/>
            <a:ext cx="1285929" cy="369332"/>
          </a:xfrm>
          <a:prstGeom prst="rect">
            <a:avLst/>
          </a:prstGeom>
          <a:noFill/>
        </p:spPr>
        <p:txBody>
          <a:bodyPr wrap="none" rtlCol="0">
            <a:spAutoFit/>
          </a:bodyPr>
          <a:lstStyle/>
          <a:p>
            <a:r>
              <a:rPr kumimoji="1" lang="en-US" altLang="ja-JP" dirty="0"/>
              <a:t>+30</a:t>
            </a:r>
            <a:r>
              <a:rPr kumimoji="1" lang="ja-JP" altLang="en-US" dirty="0"/>
              <a:t>社導入</a:t>
            </a:r>
          </a:p>
        </p:txBody>
      </p:sp>
      <p:sp>
        <p:nvSpPr>
          <p:cNvPr id="11" name="テキスト ボックス 10">
            <a:extLst>
              <a:ext uri="{FF2B5EF4-FFF2-40B4-BE49-F238E27FC236}">
                <a16:creationId xmlns:a16="http://schemas.microsoft.com/office/drawing/2014/main" id="{D9D9F565-852D-C1F6-A78B-F5AA7E4B54BA}"/>
              </a:ext>
            </a:extLst>
          </p:cNvPr>
          <p:cNvSpPr txBox="1"/>
          <p:nvPr/>
        </p:nvSpPr>
        <p:spPr>
          <a:xfrm>
            <a:off x="10112163" y="2823075"/>
            <a:ext cx="1713931" cy="646331"/>
          </a:xfrm>
          <a:prstGeom prst="rect">
            <a:avLst/>
          </a:prstGeom>
          <a:noFill/>
        </p:spPr>
        <p:txBody>
          <a:bodyPr wrap="none" rtlCol="0">
            <a:spAutoFit/>
          </a:bodyPr>
          <a:lstStyle/>
          <a:p>
            <a:r>
              <a:rPr kumimoji="1" lang="en-US" altLang="ja-JP" dirty="0"/>
              <a:t>+50</a:t>
            </a:r>
            <a:r>
              <a:rPr kumimoji="1" lang="ja-JP" altLang="en-US" dirty="0"/>
              <a:t>社導入</a:t>
            </a:r>
            <a:endParaRPr kumimoji="1" lang="en-US" altLang="ja-JP" dirty="0"/>
          </a:p>
          <a:p>
            <a:r>
              <a:rPr lang="ja-JP" altLang="en-US" dirty="0"/>
              <a:t>（合計</a:t>
            </a:r>
            <a:r>
              <a:rPr lang="en-US" altLang="ja-JP" dirty="0"/>
              <a:t>100</a:t>
            </a:r>
            <a:r>
              <a:rPr lang="ja-JP" altLang="en-US" dirty="0"/>
              <a:t>社）</a:t>
            </a:r>
            <a:endParaRPr kumimoji="1" lang="ja-JP" altLang="en-US" dirty="0"/>
          </a:p>
        </p:txBody>
      </p:sp>
      <p:sp>
        <p:nvSpPr>
          <p:cNvPr id="14" name="テキスト ボックス 13">
            <a:extLst>
              <a:ext uri="{FF2B5EF4-FFF2-40B4-BE49-F238E27FC236}">
                <a16:creationId xmlns:a16="http://schemas.microsoft.com/office/drawing/2014/main" id="{5EAA7E48-3167-6C64-0279-CE8463BE0A5A}"/>
              </a:ext>
            </a:extLst>
          </p:cNvPr>
          <p:cNvSpPr txBox="1"/>
          <p:nvPr/>
        </p:nvSpPr>
        <p:spPr>
          <a:xfrm>
            <a:off x="8549722" y="3625091"/>
            <a:ext cx="1285929" cy="369332"/>
          </a:xfrm>
          <a:prstGeom prst="rect">
            <a:avLst/>
          </a:prstGeom>
          <a:noFill/>
        </p:spPr>
        <p:txBody>
          <a:bodyPr wrap="none" rtlCol="0">
            <a:spAutoFit/>
          </a:bodyPr>
          <a:lstStyle/>
          <a:p>
            <a:r>
              <a:rPr kumimoji="1" lang="en-US" altLang="ja-JP" dirty="0"/>
              <a:t>+40</a:t>
            </a:r>
            <a:r>
              <a:rPr kumimoji="1" lang="ja-JP" altLang="en-US" dirty="0"/>
              <a:t>社導入</a:t>
            </a:r>
          </a:p>
        </p:txBody>
      </p:sp>
      <p:sp>
        <p:nvSpPr>
          <p:cNvPr id="15" name="テキスト ボックス 14">
            <a:extLst>
              <a:ext uri="{FF2B5EF4-FFF2-40B4-BE49-F238E27FC236}">
                <a16:creationId xmlns:a16="http://schemas.microsoft.com/office/drawing/2014/main" id="{9343CC75-3B80-334B-4568-E3889A274D10}"/>
              </a:ext>
            </a:extLst>
          </p:cNvPr>
          <p:cNvSpPr txBox="1"/>
          <p:nvPr/>
        </p:nvSpPr>
        <p:spPr>
          <a:xfrm>
            <a:off x="529329" y="775958"/>
            <a:ext cx="5296643" cy="1200329"/>
          </a:xfrm>
          <a:prstGeom prst="rect">
            <a:avLst/>
          </a:prstGeom>
          <a:noFill/>
        </p:spPr>
        <p:txBody>
          <a:bodyPr wrap="none" rtlCol="0">
            <a:spAutoFit/>
          </a:bodyPr>
          <a:lstStyle/>
          <a:p>
            <a:r>
              <a:rPr lang="ja-JP" altLang="en-US" dirty="0"/>
              <a:t>初年度</a:t>
            </a:r>
            <a:r>
              <a:rPr lang="en-US" altLang="ja-JP" dirty="0"/>
              <a:t>10</a:t>
            </a:r>
            <a:r>
              <a:rPr lang="ja-JP" altLang="en-US" dirty="0"/>
              <a:t>社導入で</a:t>
            </a:r>
            <a:r>
              <a:rPr lang="en-US" altLang="ja-JP" dirty="0"/>
              <a:t>4,600</a:t>
            </a:r>
            <a:r>
              <a:rPr lang="ja-JP" altLang="en-US" dirty="0"/>
              <a:t>万円</a:t>
            </a:r>
            <a:endParaRPr lang="en-US" altLang="ja-JP" dirty="0"/>
          </a:p>
          <a:p>
            <a:r>
              <a:rPr kumimoji="1" lang="en-US" altLang="ja-JP" dirty="0"/>
              <a:t>5</a:t>
            </a:r>
            <a:r>
              <a:rPr kumimoji="1" lang="ja-JP" altLang="en-US" dirty="0"/>
              <a:t>年目には</a:t>
            </a:r>
            <a:r>
              <a:rPr kumimoji="1" lang="en-US" altLang="ja-JP" dirty="0"/>
              <a:t>100</a:t>
            </a:r>
            <a:r>
              <a:rPr kumimoji="1" lang="ja-JP" altLang="en-US" dirty="0"/>
              <a:t>社導入で</a:t>
            </a:r>
            <a:r>
              <a:rPr kumimoji="1" lang="en-US" altLang="ja-JP" dirty="0"/>
              <a:t>5</a:t>
            </a:r>
            <a:r>
              <a:rPr kumimoji="1" lang="ja-JP" altLang="en-US" dirty="0"/>
              <a:t>億円を設定。</a:t>
            </a:r>
            <a:endParaRPr kumimoji="1" lang="en-US" altLang="ja-JP" dirty="0"/>
          </a:p>
          <a:p>
            <a:r>
              <a:rPr lang="ja-JP" altLang="en-US" dirty="0"/>
              <a:t>伴奏型コンサルティングからシステム開発に波及することで</a:t>
            </a:r>
            <a:endParaRPr lang="en-US" altLang="ja-JP" dirty="0"/>
          </a:p>
          <a:p>
            <a:r>
              <a:rPr kumimoji="1" lang="ja-JP" altLang="en-US" dirty="0"/>
              <a:t>さらなる案件受託も期待できる。</a:t>
            </a:r>
          </a:p>
        </p:txBody>
      </p:sp>
    </p:spTree>
    <p:extLst>
      <p:ext uri="{BB962C8B-B14F-4D97-AF65-F5344CB8AC3E}">
        <p14:creationId xmlns:p14="http://schemas.microsoft.com/office/powerpoint/2010/main" val="1422326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625B122-C475-D5C4-F575-825903E16383}"/>
              </a:ext>
            </a:extLst>
          </p:cNvPr>
          <p:cNvSpPr>
            <a:spLocks noGrp="1"/>
          </p:cNvSpPr>
          <p:nvPr>
            <p:ph type="body" sz="quarter" idx="14"/>
          </p:nvPr>
        </p:nvSpPr>
        <p:spPr/>
        <p:txBody>
          <a:bodyPr/>
          <a:lstStyle/>
          <a:p>
            <a:r>
              <a:rPr kumimoji="1" lang="ja-JP" altLang="en-US" dirty="0"/>
              <a:t>市場規模</a:t>
            </a:r>
          </a:p>
        </p:txBody>
      </p:sp>
      <p:grpSp>
        <p:nvGrpSpPr>
          <p:cNvPr id="20" name="グループ化 19">
            <a:extLst>
              <a:ext uri="{FF2B5EF4-FFF2-40B4-BE49-F238E27FC236}">
                <a16:creationId xmlns:a16="http://schemas.microsoft.com/office/drawing/2014/main" id="{CC75D79C-5BFA-F843-3808-4FBD859051AB}"/>
              </a:ext>
            </a:extLst>
          </p:cNvPr>
          <p:cNvGrpSpPr/>
          <p:nvPr/>
        </p:nvGrpSpPr>
        <p:grpSpPr>
          <a:xfrm>
            <a:off x="300566" y="846666"/>
            <a:ext cx="5418667" cy="5418667"/>
            <a:chOff x="300566" y="846666"/>
            <a:chExt cx="5418667" cy="5418667"/>
          </a:xfrm>
        </p:grpSpPr>
        <p:sp>
          <p:nvSpPr>
            <p:cNvPr id="21" name="フリーフォーム: 図形 20">
              <a:extLst>
                <a:ext uri="{FF2B5EF4-FFF2-40B4-BE49-F238E27FC236}">
                  <a16:creationId xmlns:a16="http://schemas.microsoft.com/office/drawing/2014/main" id="{1F3F2238-D6F1-40F5-CD3C-1A35E929F85C}"/>
                </a:ext>
              </a:extLst>
            </p:cNvPr>
            <p:cNvSpPr/>
            <p:nvPr/>
          </p:nvSpPr>
          <p:spPr>
            <a:xfrm>
              <a:off x="300566" y="846666"/>
              <a:ext cx="5418667" cy="5418667"/>
            </a:xfrm>
            <a:custGeom>
              <a:avLst/>
              <a:gdLst>
                <a:gd name="connsiteX0" fmla="*/ 0 w 5418667"/>
                <a:gd name="connsiteY0" fmla="*/ 2709334 h 5418667"/>
                <a:gd name="connsiteX1" fmla="*/ 2709334 w 5418667"/>
                <a:gd name="connsiteY1" fmla="*/ 0 h 5418667"/>
                <a:gd name="connsiteX2" fmla="*/ 5418668 w 5418667"/>
                <a:gd name="connsiteY2" fmla="*/ 2709334 h 5418667"/>
                <a:gd name="connsiteX3" fmla="*/ 2709334 w 5418667"/>
                <a:gd name="connsiteY3" fmla="*/ 5418668 h 5418667"/>
                <a:gd name="connsiteX4" fmla="*/ 0 w 5418667"/>
                <a:gd name="connsiteY4" fmla="*/ 2709334 h 5418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8667" h="5418667">
                  <a:moveTo>
                    <a:pt x="0" y="2709334"/>
                  </a:moveTo>
                  <a:cubicBezTo>
                    <a:pt x="0" y="1213010"/>
                    <a:pt x="1213010" y="0"/>
                    <a:pt x="2709334" y="0"/>
                  </a:cubicBezTo>
                  <a:cubicBezTo>
                    <a:pt x="4205658" y="0"/>
                    <a:pt x="5418668" y="1213010"/>
                    <a:pt x="5418668" y="2709334"/>
                  </a:cubicBezTo>
                  <a:cubicBezTo>
                    <a:pt x="5418668" y="4205658"/>
                    <a:pt x="4205658" y="5418668"/>
                    <a:pt x="2709334" y="5418668"/>
                  </a:cubicBezTo>
                  <a:cubicBezTo>
                    <a:pt x="1213010" y="5418668"/>
                    <a:pt x="0" y="4205658"/>
                    <a:pt x="0" y="2709334"/>
                  </a:cubicBezTo>
                  <a:close/>
                </a:path>
              </a:pathLst>
            </a:custGeom>
          </p:spPr>
          <p:style>
            <a:lnRef idx="3">
              <a:schemeClr val="lt1">
                <a:hueOff val="0"/>
                <a:satOff val="0"/>
                <a:lumOff val="0"/>
                <a:alphaOff val="0"/>
              </a:schemeClr>
            </a:lnRef>
            <a:fillRef idx="1">
              <a:schemeClr val="accent1">
                <a:shade val="80000"/>
                <a:hueOff val="0"/>
                <a:satOff val="0"/>
                <a:lumOff val="0"/>
                <a:alphaOff val="0"/>
              </a:schemeClr>
            </a:fillRef>
            <a:effectRef idx="1">
              <a:schemeClr val="accent1">
                <a:shade val="80000"/>
                <a:hueOff val="0"/>
                <a:satOff val="0"/>
                <a:lumOff val="0"/>
                <a:alphaOff val="0"/>
              </a:schemeClr>
            </a:effectRef>
            <a:fontRef idx="minor">
              <a:schemeClr val="lt1"/>
            </a:fontRef>
          </p:style>
          <p:txBody>
            <a:bodyPr spcFirstLastPara="0" vert="horz" wrap="square" lIns="1940221" tIns="448733" rIns="1940222" bIns="4512734" numCol="1" spcCol="1270" anchor="ctr" anchorCtr="0">
              <a:noAutofit/>
            </a:bodyPr>
            <a:lstStyle/>
            <a:p>
              <a:pPr marL="0" lvl="0" indent="0" algn="ctr" defTabSz="1111250">
                <a:lnSpc>
                  <a:spcPct val="90000"/>
                </a:lnSpc>
                <a:spcBef>
                  <a:spcPct val="0"/>
                </a:spcBef>
                <a:spcAft>
                  <a:spcPct val="35000"/>
                </a:spcAft>
                <a:buNone/>
              </a:pPr>
              <a:r>
                <a:rPr kumimoji="1" lang="en-US" altLang="ja-JP" sz="2500" kern="1200" dirty="0"/>
                <a:t>TAM</a:t>
              </a:r>
            </a:p>
          </p:txBody>
        </p:sp>
        <p:sp>
          <p:nvSpPr>
            <p:cNvPr id="22" name="フリーフォーム: 図形 21">
              <a:extLst>
                <a:ext uri="{FF2B5EF4-FFF2-40B4-BE49-F238E27FC236}">
                  <a16:creationId xmlns:a16="http://schemas.microsoft.com/office/drawing/2014/main" id="{206C0B2B-D778-E39A-EC3C-87E6C8A3A41D}"/>
                </a:ext>
              </a:extLst>
            </p:cNvPr>
            <p:cNvSpPr/>
            <p:nvPr/>
          </p:nvSpPr>
          <p:spPr>
            <a:xfrm>
              <a:off x="977899" y="2201332"/>
              <a:ext cx="4064000" cy="4064000"/>
            </a:xfrm>
            <a:custGeom>
              <a:avLst/>
              <a:gdLst>
                <a:gd name="connsiteX0" fmla="*/ 0 w 4064000"/>
                <a:gd name="connsiteY0" fmla="*/ 2032000 h 4064000"/>
                <a:gd name="connsiteX1" fmla="*/ 2032000 w 4064000"/>
                <a:gd name="connsiteY1" fmla="*/ 0 h 4064000"/>
                <a:gd name="connsiteX2" fmla="*/ 4064000 w 4064000"/>
                <a:gd name="connsiteY2" fmla="*/ 2032000 h 4064000"/>
                <a:gd name="connsiteX3" fmla="*/ 2032000 w 4064000"/>
                <a:gd name="connsiteY3" fmla="*/ 4064000 h 4064000"/>
                <a:gd name="connsiteX4" fmla="*/ 0 w 4064000"/>
                <a:gd name="connsiteY4" fmla="*/ 2032000 h 406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4064000">
                  <a:moveTo>
                    <a:pt x="0" y="2032000"/>
                  </a:moveTo>
                  <a:cubicBezTo>
                    <a:pt x="0" y="909757"/>
                    <a:pt x="909757" y="0"/>
                    <a:pt x="2032000" y="0"/>
                  </a:cubicBezTo>
                  <a:cubicBezTo>
                    <a:pt x="3154243" y="0"/>
                    <a:pt x="4064000" y="909757"/>
                    <a:pt x="4064000" y="2032000"/>
                  </a:cubicBezTo>
                  <a:cubicBezTo>
                    <a:pt x="4064000" y="3154243"/>
                    <a:pt x="3154243" y="4064000"/>
                    <a:pt x="2032000" y="4064000"/>
                  </a:cubicBezTo>
                  <a:cubicBezTo>
                    <a:pt x="909757" y="4064000"/>
                    <a:pt x="0" y="3154243"/>
                    <a:pt x="0" y="2032000"/>
                  </a:cubicBezTo>
                  <a:close/>
                </a:path>
              </a:pathLst>
            </a:custGeom>
            <a:solidFill>
              <a:srgbClr val="00B050"/>
            </a:solidFill>
          </p:spPr>
          <p:style>
            <a:lnRef idx="3">
              <a:schemeClr val="lt1">
                <a:hueOff val="0"/>
                <a:satOff val="0"/>
                <a:lumOff val="0"/>
                <a:alphaOff val="0"/>
              </a:schemeClr>
            </a:lnRef>
            <a:fillRef idx="1">
              <a:scrgbClr r="0" g="0" b="0"/>
            </a:fillRef>
            <a:effectRef idx="1">
              <a:schemeClr val="accent1">
                <a:shade val="80000"/>
                <a:hueOff val="391072"/>
                <a:satOff val="-29268"/>
                <a:lumOff val="18618"/>
                <a:alphaOff val="0"/>
              </a:schemeClr>
            </a:effectRef>
            <a:fontRef idx="minor">
              <a:schemeClr val="lt1"/>
            </a:fontRef>
          </p:style>
          <p:txBody>
            <a:bodyPr spcFirstLastPara="0" vert="horz" wrap="square" lIns="1262888" tIns="431800" rIns="1262888" bIns="3225800" numCol="1" spcCol="1270" anchor="ctr" anchorCtr="0">
              <a:noAutofit/>
            </a:bodyPr>
            <a:lstStyle/>
            <a:p>
              <a:pPr marL="0" lvl="0" indent="0" algn="ctr" defTabSz="1111250">
                <a:lnSpc>
                  <a:spcPct val="90000"/>
                </a:lnSpc>
                <a:spcBef>
                  <a:spcPct val="0"/>
                </a:spcBef>
                <a:spcAft>
                  <a:spcPct val="35000"/>
                </a:spcAft>
                <a:buNone/>
              </a:pPr>
              <a:r>
                <a:rPr kumimoji="1" lang="en-US" altLang="ja-JP" sz="2500" kern="1200" dirty="0"/>
                <a:t>SAM</a:t>
              </a:r>
              <a:endParaRPr kumimoji="1" lang="ja-JP" altLang="en-US" sz="2500" kern="1200" dirty="0"/>
            </a:p>
          </p:txBody>
        </p:sp>
        <p:sp>
          <p:nvSpPr>
            <p:cNvPr id="23" name="フリーフォーム: 図形 22">
              <a:extLst>
                <a:ext uri="{FF2B5EF4-FFF2-40B4-BE49-F238E27FC236}">
                  <a16:creationId xmlns:a16="http://schemas.microsoft.com/office/drawing/2014/main" id="{1F14E798-9F57-9420-22A1-B026050134B0}"/>
                </a:ext>
              </a:extLst>
            </p:cNvPr>
            <p:cNvSpPr/>
            <p:nvPr/>
          </p:nvSpPr>
          <p:spPr>
            <a:xfrm>
              <a:off x="1655233" y="3555999"/>
              <a:ext cx="2709333" cy="2709333"/>
            </a:xfrm>
            <a:custGeom>
              <a:avLst/>
              <a:gdLst>
                <a:gd name="connsiteX0" fmla="*/ 0 w 2709333"/>
                <a:gd name="connsiteY0" fmla="*/ 1354667 h 2709333"/>
                <a:gd name="connsiteX1" fmla="*/ 1354667 w 2709333"/>
                <a:gd name="connsiteY1" fmla="*/ 0 h 2709333"/>
                <a:gd name="connsiteX2" fmla="*/ 2709334 w 2709333"/>
                <a:gd name="connsiteY2" fmla="*/ 1354667 h 2709333"/>
                <a:gd name="connsiteX3" fmla="*/ 1354667 w 2709333"/>
                <a:gd name="connsiteY3" fmla="*/ 2709334 h 2709333"/>
                <a:gd name="connsiteX4" fmla="*/ 0 w 2709333"/>
                <a:gd name="connsiteY4" fmla="*/ 1354667 h 2709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333" h="2709333">
                  <a:moveTo>
                    <a:pt x="0" y="1354667"/>
                  </a:moveTo>
                  <a:cubicBezTo>
                    <a:pt x="0" y="606505"/>
                    <a:pt x="606505" y="0"/>
                    <a:pt x="1354667" y="0"/>
                  </a:cubicBezTo>
                  <a:cubicBezTo>
                    <a:pt x="2102829" y="0"/>
                    <a:pt x="2709334" y="606505"/>
                    <a:pt x="2709334" y="1354667"/>
                  </a:cubicBezTo>
                  <a:cubicBezTo>
                    <a:pt x="2709334" y="2102829"/>
                    <a:pt x="2102829" y="2709334"/>
                    <a:pt x="1354667" y="2709334"/>
                  </a:cubicBezTo>
                  <a:cubicBezTo>
                    <a:pt x="606505" y="2709334"/>
                    <a:pt x="0" y="2102829"/>
                    <a:pt x="0" y="1354667"/>
                  </a:cubicBezTo>
                  <a:close/>
                </a:path>
              </a:pathLst>
            </a:custGeom>
            <a:solidFill>
              <a:schemeClr val="accent1">
                <a:lumMod val="60000"/>
                <a:lumOff val="40000"/>
              </a:schemeClr>
            </a:solidFill>
          </p:spPr>
          <p:style>
            <a:lnRef idx="3">
              <a:schemeClr val="lt1">
                <a:hueOff val="0"/>
                <a:satOff val="0"/>
                <a:lumOff val="0"/>
                <a:alphaOff val="0"/>
              </a:schemeClr>
            </a:lnRef>
            <a:fillRef idx="1">
              <a:scrgbClr r="0" g="0" b="0"/>
            </a:fillRef>
            <a:effectRef idx="1">
              <a:schemeClr val="accent1">
                <a:shade val="80000"/>
                <a:hueOff val="782144"/>
                <a:satOff val="-58535"/>
                <a:lumOff val="37235"/>
                <a:alphaOff val="0"/>
              </a:schemeClr>
            </a:effectRef>
            <a:fontRef idx="minor">
              <a:schemeClr val="lt1"/>
            </a:fontRef>
          </p:style>
          <p:txBody>
            <a:bodyPr spcFirstLastPara="0" vert="horz" wrap="square" lIns="574572" tIns="855133" rIns="574573" bIns="855134" numCol="1" spcCol="1270" anchor="ctr" anchorCtr="0">
              <a:noAutofit/>
            </a:bodyPr>
            <a:lstStyle/>
            <a:p>
              <a:pPr marL="0" lvl="0" indent="0" algn="ctr" defTabSz="1111250">
                <a:lnSpc>
                  <a:spcPct val="90000"/>
                </a:lnSpc>
                <a:spcBef>
                  <a:spcPct val="0"/>
                </a:spcBef>
                <a:spcAft>
                  <a:spcPct val="35000"/>
                </a:spcAft>
                <a:buNone/>
              </a:pPr>
              <a:r>
                <a:rPr kumimoji="1" lang="en-US" altLang="ja-JP" sz="2500" kern="1200" dirty="0"/>
                <a:t>SOM</a:t>
              </a:r>
              <a:endParaRPr kumimoji="1" lang="ja-JP" altLang="en-US" sz="2500" kern="1200" dirty="0"/>
            </a:p>
          </p:txBody>
        </p:sp>
      </p:grpSp>
      <p:cxnSp>
        <p:nvCxnSpPr>
          <p:cNvPr id="5" name="直線コネクタ 4">
            <a:extLst>
              <a:ext uri="{FF2B5EF4-FFF2-40B4-BE49-F238E27FC236}">
                <a16:creationId xmlns:a16="http://schemas.microsoft.com/office/drawing/2014/main" id="{24784EF4-BE6C-C8D0-5952-3D78E3782094}"/>
              </a:ext>
            </a:extLst>
          </p:cNvPr>
          <p:cNvCxnSpPr>
            <a:cxnSpLocks/>
          </p:cNvCxnSpPr>
          <p:nvPr/>
        </p:nvCxnSpPr>
        <p:spPr>
          <a:xfrm>
            <a:off x="4851400" y="1617372"/>
            <a:ext cx="1329875" cy="0"/>
          </a:xfrm>
          <a:prstGeom prst="line">
            <a:avLst/>
          </a:prstGeom>
          <a:ln w="38100">
            <a:solidFill>
              <a:srgbClr val="0066AA"/>
            </a:solidFill>
            <a:tailEnd type="ova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E5E940EA-DFD0-0085-7095-14F1F2C97C0B}"/>
              </a:ext>
            </a:extLst>
          </p:cNvPr>
          <p:cNvCxnSpPr>
            <a:cxnSpLocks/>
          </p:cNvCxnSpPr>
          <p:nvPr/>
        </p:nvCxnSpPr>
        <p:spPr>
          <a:xfrm>
            <a:off x="4851400" y="3429938"/>
            <a:ext cx="1329875" cy="0"/>
          </a:xfrm>
          <a:prstGeom prst="line">
            <a:avLst/>
          </a:prstGeom>
          <a:ln w="38100">
            <a:solidFill>
              <a:srgbClr val="00B050"/>
            </a:solidFill>
            <a:tailEnd type="ova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551F1F10-C18D-DA36-482B-C02BCC4F7C29}"/>
              </a:ext>
            </a:extLst>
          </p:cNvPr>
          <p:cNvCxnSpPr>
            <a:cxnSpLocks/>
          </p:cNvCxnSpPr>
          <p:nvPr/>
        </p:nvCxnSpPr>
        <p:spPr>
          <a:xfrm>
            <a:off x="4343400" y="4816573"/>
            <a:ext cx="1837875" cy="0"/>
          </a:xfrm>
          <a:prstGeom prst="line">
            <a:avLst/>
          </a:prstGeom>
          <a:ln w="38100">
            <a:solidFill>
              <a:srgbClr val="3EB2FF"/>
            </a:solidFil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BB7942F7-2DF2-932D-33A0-41D7FB189D88}"/>
              </a:ext>
            </a:extLst>
          </p:cNvPr>
          <p:cNvSpPr txBox="1"/>
          <p:nvPr/>
        </p:nvSpPr>
        <p:spPr>
          <a:xfrm>
            <a:off x="6243734" y="993847"/>
            <a:ext cx="5759910" cy="1415772"/>
          </a:xfrm>
          <a:prstGeom prst="rect">
            <a:avLst/>
          </a:prstGeom>
          <a:noFill/>
        </p:spPr>
        <p:txBody>
          <a:bodyPr wrap="none" rtlCol="0">
            <a:spAutoFit/>
          </a:bodyPr>
          <a:lstStyle/>
          <a:p>
            <a:r>
              <a:rPr lang="ja-JP" altLang="en-US" sz="3200" dirty="0">
                <a:solidFill>
                  <a:srgbClr val="0066AA"/>
                </a:solidFill>
              </a:rPr>
              <a:t>年間</a:t>
            </a:r>
            <a:r>
              <a:rPr lang="en-US" altLang="ja-JP" sz="3200" dirty="0">
                <a:solidFill>
                  <a:srgbClr val="0066AA"/>
                </a:solidFill>
              </a:rPr>
              <a:t>1</a:t>
            </a:r>
            <a:r>
              <a:rPr lang="ja-JP" altLang="en-US" sz="3200" dirty="0">
                <a:solidFill>
                  <a:srgbClr val="0066AA"/>
                </a:solidFill>
              </a:rPr>
              <a:t>兆</a:t>
            </a:r>
            <a:r>
              <a:rPr lang="en-US" altLang="ja-JP" sz="3200" dirty="0">
                <a:solidFill>
                  <a:srgbClr val="0066AA"/>
                </a:solidFill>
              </a:rPr>
              <a:t>3</a:t>
            </a:r>
            <a:r>
              <a:rPr kumimoji="1" lang="en-US" altLang="ja-JP" sz="3200" dirty="0">
                <a:solidFill>
                  <a:srgbClr val="0066AA"/>
                </a:solidFill>
              </a:rPr>
              <a:t>,500</a:t>
            </a:r>
            <a:r>
              <a:rPr kumimoji="1" lang="ja-JP" altLang="en-US" sz="3200" dirty="0">
                <a:solidFill>
                  <a:srgbClr val="0066AA"/>
                </a:solidFill>
              </a:rPr>
              <a:t>億円</a:t>
            </a:r>
            <a:endParaRPr kumimoji="1" lang="en-US" altLang="ja-JP" sz="3200" dirty="0">
              <a:solidFill>
                <a:srgbClr val="0066AA"/>
              </a:solidFill>
            </a:endParaRPr>
          </a:p>
          <a:p>
            <a:r>
              <a:rPr kumimoji="1" lang="ja-JP" altLang="en-US" dirty="0">
                <a:solidFill>
                  <a:srgbClr val="0066AA"/>
                </a:solidFill>
              </a:rPr>
              <a:t>　国内・技術者、事務従事者、生産工程従事者 </a:t>
            </a:r>
            <a:r>
              <a:rPr kumimoji="1" lang="en-US" altLang="ja-JP" dirty="0">
                <a:solidFill>
                  <a:srgbClr val="0066AA"/>
                </a:solidFill>
              </a:rPr>
              <a:t>2,700</a:t>
            </a:r>
            <a:r>
              <a:rPr kumimoji="1" lang="ja-JP" altLang="en-US" dirty="0">
                <a:solidFill>
                  <a:srgbClr val="0066AA"/>
                </a:solidFill>
              </a:rPr>
              <a:t>万人</a:t>
            </a:r>
            <a:endParaRPr kumimoji="1" lang="en-US" altLang="ja-JP" dirty="0">
              <a:solidFill>
                <a:srgbClr val="0066AA"/>
              </a:solidFill>
            </a:endParaRPr>
          </a:p>
          <a:p>
            <a:r>
              <a:rPr lang="ja-JP" altLang="en-US" dirty="0">
                <a:solidFill>
                  <a:srgbClr val="0066AA"/>
                </a:solidFill>
              </a:rPr>
              <a:t>　（全体で年間</a:t>
            </a:r>
            <a:r>
              <a:rPr lang="en-US" altLang="ja-JP" dirty="0">
                <a:solidFill>
                  <a:srgbClr val="0066AA"/>
                </a:solidFill>
              </a:rPr>
              <a:t>1%</a:t>
            </a:r>
            <a:r>
              <a:rPr lang="ja-JP" altLang="en-US" dirty="0">
                <a:solidFill>
                  <a:srgbClr val="0066AA"/>
                </a:solidFill>
              </a:rPr>
              <a:t>程度の増加傾向あり）</a:t>
            </a:r>
            <a:endParaRPr lang="en-US" altLang="ja-JP" dirty="0">
              <a:solidFill>
                <a:srgbClr val="0066AA"/>
              </a:solidFill>
            </a:endParaRPr>
          </a:p>
          <a:p>
            <a:r>
              <a:rPr kumimoji="1" lang="ja-JP" altLang="en-US" dirty="0">
                <a:solidFill>
                  <a:srgbClr val="0066AA"/>
                </a:solidFill>
              </a:rPr>
              <a:t>　年額</a:t>
            </a:r>
            <a:r>
              <a:rPr lang="en-US" altLang="ja-JP" dirty="0">
                <a:solidFill>
                  <a:srgbClr val="0066AA"/>
                </a:solidFill>
              </a:rPr>
              <a:t>5</a:t>
            </a:r>
            <a:r>
              <a:rPr kumimoji="1" lang="en-US" altLang="ja-JP" dirty="0">
                <a:solidFill>
                  <a:srgbClr val="0066AA"/>
                </a:solidFill>
              </a:rPr>
              <a:t>0,000</a:t>
            </a:r>
            <a:r>
              <a:rPr kumimoji="1" lang="ja-JP" altLang="en-US" dirty="0">
                <a:solidFill>
                  <a:srgbClr val="0066AA"/>
                </a:solidFill>
              </a:rPr>
              <a:t>円</a:t>
            </a:r>
            <a:r>
              <a:rPr kumimoji="1" lang="en-US" altLang="ja-JP" dirty="0">
                <a:solidFill>
                  <a:srgbClr val="0066AA"/>
                </a:solidFill>
              </a:rPr>
              <a:t>/</a:t>
            </a:r>
            <a:r>
              <a:rPr kumimoji="1" lang="ja-JP" altLang="en-US" dirty="0">
                <a:solidFill>
                  <a:srgbClr val="0066AA"/>
                </a:solidFill>
              </a:rPr>
              <a:t>人で算出</a:t>
            </a:r>
          </a:p>
        </p:txBody>
      </p:sp>
      <p:sp>
        <p:nvSpPr>
          <p:cNvPr id="17" name="テキスト ボックス 16">
            <a:extLst>
              <a:ext uri="{FF2B5EF4-FFF2-40B4-BE49-F238E27FC236}">
                <a16:creationId xmlns:a16="http://schemas.microsoft.com/office/drawing/2014/main" id="{37CF18DC-CBCD-7C9C-DBEF-8492782FED4B}"/>
              </a:ext>
            </a:extLst>
          </p:cNvPr>
          <p:cNvSpPr txBox="1"/>
          <p:nvPr/>
        </p:nvSpPr>
        <p:spPr>
          <a:xfrm>
            <a:off x="5368686" y="5954281"/>
            <a:ext cx="6634958" cy="584775"/>
          </a:xfrm>
          <a:prstGeom prst="rect">
            <a:avLst/>
          </a:prstGeom>
          <a:noFill/>
        </p:spPr>
        <p:txBody>
          <a:bodyPr wrap="none" rtlCol="0">
            <a:spAutoFit/>
          </a:bodyPr>
          <a:lstStyle/>
          <a:p>
            <a:r>
              <a:rPr kumimoji="1" lang="en-US" altLang="ja-JP" sz="1600" dirty="0"/>
              <a:t>※</a:t>
            </a:r>
            <a:r>
              <a:rPr kumimoji="1" lang="ja-JP" altLang="en-US" sz="1600" dirty="0"/>
              <a:t>データは</a:t>
            </a:r>
            <a:r>
              <a:rPr kumimoji="1" lang="en-US" altLang="ja-JP" sz="1600" dirty="0"/>
              <a:t>e-Stat</a:t>
            </a:r>
            <a:r>
              <a:rPr kumimoji="1" lang="ja-JP" altLang="en-US" sz="1600" dirty="0"/>
              <a:t>（日本政府統計に関する情報を提供しているサイト）に基づく</a:t>
            </a:r>
            <a:endParaRPr kumimoji="1" lang="en-US" altLang="ja-JP" sz="1600" dirty="0"/>
          </a:p>
          <a:p>
            <a:r>
              <a:rPr lang="ja-JP" altLang="en-US" sz="1600" dirty="0">
                <a:hlinkClick r:id="rId2"/>
              </a:rPr>
              <a:t>　政府統計の総合窓口</a:t>
            </a:r>
            <a:endParaRPr kumimoji="1" lang="en-US" altLang="ja-JP" sz="1600" dirty="0"/>
          </a:p>
        </p:txBody>
      </p:sp>
      <p:sp>
        <p:nvSpPr>
          <p:cNvPr id="18" name="テキスト ボックス 17">
            <a:extLst>
              <a:ext uri="{FF2B5EF4-FFF2-40B4-BE49-F238E27FC236}">
                <a16:creationId xmlns:a16="http://schemas.microsoft.com/office/drawing/2014/main" id="{9E942AEF-4401-27E0-6D66-9D7C4010CCA0}"/>
              </a:ext>
            </a:extLst>
          </p:cNvPr>
          <p:cNvSpPr txBox="1"/>
          <p:nvPr/>
        </p:nvSpPr>
        <p:spPr>
          <a:xfrm>
            <a:off x="6243734" y="2891329"/>
            <a:ext cx="5691238" cy="861774"/>
          </a:xfrm>
          <a:prstGeom prst="rect">
            <a:avLst/>
          </a:prstGeom>
          <a:noFill/>
        </p:spPr>
        <p:txBody>
          <a:bodyPr wrap="none" rtlCol="0">
            <a:spAutoFit/>
          </a:bodyPr>
          <a:lstStyle/>
          <a:p>
            <a:r>
              <a:rPr lang="ja-JP" altLang="en-US" sz="3200" dirty="0">
                <a:solidFill>
                  <a:srgbClr val="00B050"/>
                </a:solidFill>
              </a:rPr>
              <a:t>年間</a:t>
            </a:r>
            <a:r>
              <a:rPr lang="en-US" altLang="ja-JP" sz="3200" dirty="0">
                <a:solidFill>
                  <a:srgbClr val="00B050"/>
                </a:solidFill>
              </a:rPr>
              <a:t>675</a:t>
            </a:r>
            <a:r>
              <a:rPr kumimoji="1" lang="ja-JP" altLang="en-US" sz="3200" dirty="0">
                <a:solidFill>
                  <a:srgbClr val="00B050"/>
                </a:solidFill>
              </a:rPr>
              <a:t>億円</a:t>
            </a:r>
            <a:endParaRPr kumimoji="1" lang="en-US" altLang="ja-JP" dirty="0">
              <a:solidFill>
                <a:srgbClr val="00B050"/>
              </a:solidFill>
            </a:endParaRPr>
          </a:p>
          <a:p>
            <a:r>
              <a:rPr kumimoji="1" lang="ja-JP" altLang="en-US" dirty="0">
                <a:solidFill>
                  <a:srgbClr val="00B050"/>
                </a:solidFill>
              </a:rPr>
              <a:t>　</a:t>
            </a:r>
            <a:r>
              <a:rPr kumimoji="1" lang="en-US" altLang="ja-JP" dirty="0">
                <a:solidFill>
                  <a:srgbClr val="00B050"/>
                </a:solidFill>
              </a:rPr>
              <a:t>TAM</a:t>
            </a:r>
            <a:r>
              <a:rPr kumimoji="1" lang="ja-JP" altLang="en-US" dirty="0">
                <a:solidFill>
                  <a:srgbClr val="00B050"/>
                </a:solidFill>
              </a:rPr>
              <a:t>のうち導入意向・業務適合性のある</a:t>
            </a:r>
            <a:r>
              <a:rPr lang="en-US" altLang="ja-JP" dirty="0">
                <a:solidFill>
                  <a:srgbClr val="00B050"/>
                </a:solidFill>
              </a:rPr>
              <a:t>5</a:t>
            </a:r>
            <a:r>
              <a:rPr kumimoji="1" lang="en-US" altLang="ja-JP" dirty="0">
                <a:solidFill>
                  <a:srgbClr val="00B050"/>
                </a:solidFill>
              </a:rPr>
              <a:t>%</a:t>
            </a:r>
            <a:r>
              <a:rPr kumimoji="1" lang="ja-JP" altLang="en-US" dirty="0">
                <a:solidFill>
                  <a:srgbClr val="00B050"/>
                </a:solidFill>
              </a:rPr>
              <a:t>の層</a:t>
            </a:r>
            <a:r>
              <a:rPr lang="ja-JP" altLang="en-US" dirty="0">
                <a:solidFill>
                  <a:srgbClr val="00B050"/>
                </a:solidFill>
              </a:rPr>
              <a:t> </a:t>
            </a:r>
            <a:r>
              <a:rPr kumimoji="1" lang="en-US" altLang="ja-JP" dirty="0">
                <a:solidFill>
                  <a:srgbClr val="00B050"/>
                </a:solidFill>
              </a:rPr>
              <a:t>135</a:t>
            </a:r>
            <a:r>
              <a:rPr kumimoji="1" lang="ja-JP" altLang="en-US" dirty="0">
                <a:solidFill>
                  <a:srgbClr val="00B050"/>
                </a:solidFill>
              </a:rPr>
              <a:t>万人</a:t>
            </a:r>
            <a:endParaRPr kumimoji="1" lang="en-US" altLang="ja-JP" dirty="0">
              <a:solidFill>
                <a:srgbClr val="00B050"/>
              </a:solidFill>
            </a:endParaRPr>
          </a:p>
        </p:txBody>
      </p:sp>
      <p:sp>
        <p:nvSpPr>
          <p:cNvPr id="19" name="テキスト ボックス 18">
            <a:extLst>
              <a:ext uri="{FF2B5EF4-FFF2-40B4-BE49-F238E27FC236}">
                <a16:creationId xmlns:a16="http://schemas.microsoft.com/office/drawing/2014/main" id="{8776AA17-1A21-E12E-26C2-038346E64B12}"/>
              </a:ext>
            </a:extLst>
          </p:cNvPr>
          <p:cNvSpPr txBox="1"/>
          <p:nvPr/>
        </p:nvSpPr>
        <p:spPr>
          <a:xfrm>
            <a:off x="6243734" y="4044424"/>
            <a:ext cx="4828566" cy="1692771"/>
          </a:xfrm>
          <a:prstGeom prst="rect">
            <a:avLst/>
          </a:prstGeom>
          <a:noFill/>
        </p:spPr>
        <p:txBody>
          <a:bodyPr wrap="none" rtlCol="0">
            <a:spAutoFit/>
          </a:bodyPr>
          <a:lstStyle/>
          <a:p>
            <a:r>
              <a:rPr lang="ja-JP" altLang="en-US" sz="3200" dirty="0">
                <a:solidFill>
                  <a:srgbClr val="3EB2FF"/>
                </a:solidFill>
              </a:rPr>
              <a:t>年間</a:t>
            </a:r>
            <a:r>
              <a:rPr lang="en-US" altLang="ja-JP" sz="3200" dirty="0">
                <a:solidFill>
                  <a:srgbClr val="3EB2FF"/>
                </a:solidFill>
              </a:rPr>
              <a:t>5</a:t>
            </a:r>
            <a:r>
              <a:rPr kumimoji="1" lang="ja-JP" altLang="en-US" sz="3200" dirty="0">
                <a:solidFill>
                  <a:srgbClr val="3EB2FF"/>
                </a:solidFill>
              </a:rPr>
              <a:t>億円</a:t>
            </a:r>
            <a:endParaRPr kumimoji="1" lang="en-US" altLang="ja-JP" sz="3200" dirty="0">
              <a:solidFill>
                <a:srgbClr val="3EB2FF"/>
              </a:solidFill>
            </a:endParaRPr>
          </a:p>
          <a:p>
            <a:r>
              <a:rPr kumimoji="1" lang="ja-JP" altLang="en-US" dirty="0">
                <a:solidFill>
                  <a:srgbClr val="3EB2FF"/>
                </a:solidFill>
              </a:rPr>
              <a:t>　</a:t>
            </a:r>
            <a:r>
              <a:rPr kumimoji="1" lang="en-US" altLang="ja-JP" dirty="0">
                <a:solidFill>
                  <a:srgbClr val="3EB2FF"/>
                </a:solidFill>
              </a:rPr>
              <a:t>SAM</a:t>
            </a:r>
            <a:r>
              <a:rPr kumimoji="1" lang="ja-JP" altLang="en-US" dirty="0">
                <a:solidFill>
                  <a:srgbClr val="3EB2FF"/>
                </a:solidFill>
              </a:rPr>
              <a:t>のうち</a:t>
            </a:r>
            <a:r>
              <a:rPr kumimoji="1" lang="en-US" altLang="ja-JP" dirty="0">
                <a:solidFill>
                  <a:srgbClr val="3EB2FF"/>
                </a:solidFill>
              </a:rPr>
              <a:t>3</a:t>
            </a:r>
            <a:r>
              <a:rPr kumimoji="1" lang="ja-JP" altLang="en-US" dirty="0">
                <a:solidFill>
                  <a:srgbClr val="3EB2FF"/>
                </a:solidFill>
              </a:rPr>
              <a:t>～</a:t>
            </a:r>
            <a:r>
              <a:rPr kumimoji="1" lang="en-US" altLang="ja-JP" dirty="0">
                <a:solidFill>
                  <a:srgbClr val="3EB2FF"/>
                </a:solidFill>
              </a:rPr>
              <a:t>4</a:t>
            </a:r>
            <a:r>
              <a:rPr lang="ja-JP" altLang="en-US" dirty="0">
                <a:solidFill>
                  <a:srgbClr val="3EB2FF"/>
                </a:solidFill>
              </a:rPr>
              <a:t>％の層 </a:t>
            </a:r>
            <a:r>
              <a:rPr lang="en-US" altLang="ja-JP" dirty="0">
                <a:solidFill>
                  <a:srgbClr val="3EB2FF"/>
                </a:solidFill>
              </a:rPr>
              <a:t>5</a:t>
            </a:r>
            <a:r>
              <a:rPr lang="ja-JP" altLang="en-US" dirty="0">
                <a:solidFill>
                  <a:srgbClr val="3EB2FF"/>
                </a:solidFill>
              </a:rPr>
              <a:t>万人 内訳は以下の通り</a:t>
            </a:r>
            <a:endParaRPr lang="en-US" altLang="ja-JP" dirty="0">
              <a:solidFill>
                <a:srgbClr val="3EB2FF"/>
              </a:solidFill>
            </a:endParaRPr>
          </a:p>
          <a:p>
            <a:r>
              <a:rPr kumimoji="1" lang="ja-JP" altLang="en-US" dirty="0">
                <a:solidFill>
                  <a:srgbClr val="3EB2FF"/>
                </a:solidFill>
              </a:rPr>
              <a:t>　　</a:t>
            </a:r>
            <a:r>
              <a:rPr kumimoji="1" lang="en-US" altLang="ja-JP" dirty="0">
                <a:solidFill>
                  <a:srgbClr val="3EB2FF"/>
                </a:solidFill>
              </a:rPr>
              <a:t>TMC</a:t>
            </a:r>
            <a:r>
              <a:rPr kumimoji="1" lang="ja-JP" altLang="en-US" dirty="0">
                <a:solidFill>
                  <a:srgbClr val="3EB2FF"/>
                </a:solidFill>
              </a:rPr>
              <a:t>ホワイトカラー</a:t>
            </a:r>
            <a:r>
              <a:rPr lang="ja-JP" altLang="en-US" dirty="0">
                <a:solidFill>
                  <a:srgbClr val="3EB2FF"/>
                </a:solidFill>
              </a:rPr>
              <a:t>人口</a:t>
            </a:r>
            <a:r>
              <a:rPr kumimoji="1" lang="ja-JP" altLang="en-US" dirty="0">
                <a:solidFill>
                  <a:srgbClr val="3EB2FF"/>
                </a:solidFill>
              </a:rPr>
              <a:t>のうち</a:t>
            </a:r>
            <a:r>
              <a:rPr lang="en-US" altLang="ja-JP" dirty="0">
                <a:solidFill>
                  <a:srgbClr val="3EB2FF"/>
                </a:solidFill>
              </a:rPr>
              <a:t>5</a:t>
            </a:r>
            <a:r>
              <a:rPr kumimoji="1" lang="en-US" altLang="ja-JP" dirty="0">
                <a:solidFill>
                  <a:srgbClr val="3EB2FF"/>
                </a:solidFill>
              </a:rPr>
              <a:t>%</a:t>
            </a:r>
            <a:r>
              <a:rPr kumimoji="1" lang="ja-JP" altLang="en-US" dirty="0">
                <a:solidFill>
                  <a:srgbClr val="3EB2FF"/>
                </a:solidFill>
              </a:rPr>
              <a:t>の層 </a:t>
            </a:r>
            <a:r>
              <a:rPr lang="en-US" altLang="ja-JP" dirty="0">
                <a:solidFill>
                  <a:srgbClr val="3EB2FF"/>
                </a:solidFill>
              </a:rPr>
              <a:t>0</a:t>
            </a:r>
            <a:r>
              <a:rPr kumimoji="1" lang="en-US" altLang="ja-JP" dirty="0">
                <a:solidFill>
                  <a:srgbClr val="3EB2FF"/>
                </a:solidFill>
              </a:rPr>
              <a:t>.7</a:t>
            </a:r>
            <a:r>
              <a:rPr kumimoji="1" lang="ja-JP" altLang="en-US" dirty="0">
                <a:solidFill>
                  <a:srgbClr val="3EB2FF"/>
                </a:solidFill>
              </a:rPr>
              <a:t>万人</a:t>
            </a:r>
            <a:endParaRPr kumimoji="1" lang="en-US" altLang="ja-JP" dirty="0">
              <a:solidFill>
                <a:srgbClr val="3EB2FF"/>
              </a:solidFill>
            </a:endParaRPr>
          </a:p>
          <a:p>
            <a:r>
              <a:rPr lang="ja-JP" altLang="en-US" dirty="0">
                <a:solidFill>
                  <a:srgbClr val="3EB2FF"/>
                </a:solidFill>
              </a:rPr>
              <a:t>　　外販ユーザー </a:t>
            </a:r>
            <a:r>
              <a:rPr lang="en-US" altLang="ja-JP" dirty="0">
                <a:solidFill>
                  <a:srgbClr val="3EB2FF"/>
                </a:solidFill>
              </a:rPr>
              <a:t>4.3</a:t>
            </a:r>
            <a:r>
              <a:rPr lang="ja-JP" altLang="en-US" dirty="0">
                <a:solidFill>
                  <a:srgbClr val="3EB2FF"/>
                </a:solidFill>
              </a:rPr>
              <a:t>万人</a:t>
            </a:r>
            <a:endParaRPr lang="en-US" altLang="ja-JP" dirty="0">
              <a:solidFill>
                <a:srgbClr val="3EB2FF"/>
              </a:solidFill>
            </a:endParaRPr>
          </a:p>
          <a:p>
            <a:r>
              <a:rPr kumimoji="1" lang="ja-JP" altLang="en-US" dirty="0">
                <a:solidFill>
                  <a:srgbClr val="3EB2FF"/>
                </a:solidFill>
              </a:rPr>
              <a:t>　（競合の導入実績から実現性あり）</a:t>
            </a:r>
            <a:endParaRPr kumimoji="1" lang="en-US" altLang="ja-JP" dirty="0">
              <a:solidFill>
                <a:srgbClr val="3EB2FF"/>
              </a:solidFill>
            </a:endParaRPr>
          </a:p>
        </p:txBody>
      </p:sp>
    </p:spTree>
    <p:extLst>
      <p:ext uri="{BB962C8B-B14F-4D97-AF65-F5344CB8AC3E}">
        <p14:creationId xmlns:p14="http://schemas.microsoft.com/office/powerpoint/2010/main" val="2869833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2D41945-F3EC-40EE-D237-6452950B4BB7}"/>
              </a:ext>
            </a:extLst>
          </p:cNvPr>
          <p:cNvSpPr>
            <a:spLocks noGrp="1"/>
          </p:cNvSpPr>
          <p:nvPr>
            <p:ph type="body" sz="quarter" idx="14"/>
          </p:nvPr>
        </p:nvSpPr>
        <p:spPr/>
        <p:txBody>
          <a:bodyPr/>
          <a:lstStyle/>
          <a:p>
            <a:r>
              <a:rPr kumimoji="1" lang="ja-JP" altLang="en-US" dirty="0"/>
              <a:t>競合比較</a:t>
            </a:r>
          </a:p>
        </p:txBody>
      </p:sp>
      <p:graphicFrame>
        <p:nvGraphicFramePr>
          <p:cNvPr id="5" name="Google Shape;31;p1">
            <a:extLst>
              <a:ext uri="{FF2B5EF4-FFF2-40B4-BE49-F238E27FC236}">
                <a16:creationId xmlns:a16="http://schemas.microsoft.com/office/drawing/2014/main" id="{AA814ED9-4413-EDD8-1817-7E8CD6D71251}"/>
              </a:ext>
            </a:extLst>
          </p:cNvPr>
          <p:cNvGraphicFramePr/>
          <p:nvPr>
            <p:extLst>
              <p:ext uri="{D42A27DB-BD31-4B8C-83A1-F6EECF244321}">
                <p14:modId xmlns:p14="http://schemas.microsoft.com/office/powerpoint/2010/main" val="2412002247"/>
              </p:ext>
            </p:extLst>
          </p:nvPr>
        </p:nvGraphicFramePr>
        <p:xfrm>
          <a:off x="334962" y="741721"/>
          <a:ext cx="11655725" cy="5547565"/>
        </p:xfrm>
        <a:graphic>
          <a:graphicData uri="http://schemas.openxmlformats.org/drawingml/2006/table">
            <a:tbl>
              <a:tblPr firstRow="1" bandRow="1">
                <a:tableStyleId>{93296810-A885-4BE3-A3E7-6D5BEEA58F35}</a:tableStyleId>
              </a:tblPr>
              <a:tblGrid>
                <a:gridCol w="1152714">
                  <a:extLst>
                    <a:ext uri="{9D8B030D-6E8A-4147-A177-3AD203B41FA5}">
                      <a16:colId xmlns:a16="http://schemas.microsoft.com/office/drawing/2014/main" val="20000"/>
                    </a:ext>
                  </a:extLst>
                </a:gridCol>
                <a:gridCol w="3513532">
                  <a:extLst>
                    <a:ext uri="{9D8B030D-6E8A-4147-A177-3AD203B41FA5}">
                      <a16:colId xmlns:a16="http://schemas.microsoft.com/office/drawing/2014/main" val="20001"/>
                    </a:ext>
                  </a:extLst>
                </a:gridCol>
                <a:gridCol w="655476">
                  <a:extLst>
                    <a:ext uri="{9D8B030D-6E8A-4147-A177-3AD203B41FA5}">
                      <a16:colId xmlns:a16="http://schemas.microsoft.com/office/drawing/2014/main" val="20002"/>
                    </a:ext>
                  </a:extLst>
                </a:gridCol>
                <a:gridCol w="655476">
                  <a:extLst>
                    <a:ext uri="{9D8B030D-6E8A-4147-A177-3AD203B41FA5}">
                      <a16:colId xmlns:a16="http://schemas.microsoft.com/office/drawing/2014/main" val="1510589021"/>
                    </a:ext>
                  </a:extLst>
                </a:gridCol>
                <a:gridCol w="655476">
                  <a:extLst>
                    <a:ext uri="{9D8B030D-6E8A-4147-A177-3AD203B41FA5}">
                      <a16:colId xmlns:a16="http://schemas.microsoft.com/office/drawing/2014/main" val="857224546"/>
                    </a:ext>
                  </a:extLst>
                </a:gridCol>
                <a:gridCol w="655476">
                  <a:extLst>
                    <a:ext uri="{9D8B030D-6E8A-4147-A177-3AD203B41FA5}">
                      <a16:colId xmlns:a16="http://schemas.microsoft.com/office/drawing/2014/main" val="3058861601"/>
                    </a:ext>
                  </a:extLst>
                </a:gridCol>
                <a:gridCol w="3106656">
                  <a:extLst>
                    <a:ext uri="{9D8B030D-6E8A-4147-A177-3AD203B41FA5}">
                      <a16:colId xmlns:a16="http://schemas.microsoft.com/office/drawing/2014/main" val="20003"/>
                    </a:ext>
                  </a:extLst>
                </a:gridCol>
                <a:gridCol w="1260919">
                  <a:extLst>
                    <a:ext uri="{9D8B030D-6E8A-4147-A177-3AD203B41FA5}">
                      <a16:colId xmlns:a16="http://schemas.microsoft.com/office/drawing/2014/main" val="20004"/>
                    </a:ext>
                  </a:extLst>
                </a:gridCol>
              </a:tblGrid>
              <a:tr h="304181">
                <a:tc rowSpan="2">
                  <a:txBody>
                    <a:bodyPr/>
                    <a:lstStyle/>
                    <a:p>
                      <a:pPr marL="0" marR="0" lvl="0" indent="0" algn="ctr" rtl="0">
                        <a:spcBef>
                          <a:spcPts val="0"/>
                        </a:spcBef>
                        <a:spcAft>
                          <a:spcPts val="0"/>
                        </a:spcAft>
                        <a:buNone/>
                      </a:pPr>
                      <a:r>
                        <a:rPr lang="ja-JP" sz="1200" u="none" strike="noStrike" cap="none" dirty="0"/>
                        <a:t>サービス名</a:t>
                      </a:r>
                      <a:endParaRPr sz="1200" dirty="0"/>
                    </a:p>
                  </a:txBody>
                  <a:tcPr marL="91450" marR="91450" marT="45725" marB="45725" anchor="ctr">
                    <a:lnB w="38100" cap="flat" cmpd="sng" algn="ctr">
                      <a:solidFill>
                        <a:schemeClr val="bg1"/>
                      </a:solidFill>
                      <a:prstDash val="solid"/>
                      <a:round/>
                      <a:headEnd type="none" w="med" len="med"/>
                      <a:tailEnd type="none" w="med" len="med"/>
                    </a:lnB>
                    <a:solidFill>
                      <a:schemeClr val="accent6"/>
                    </a:solidFill>
                  </a:tcPr>
                </a:tc>
                <a:tc rowSpan="2">
                  <a:txBody>
                    <a:bodyPr/>
                    <a:lstStyle/>
                    <a:p>
                      <a:pPr marL="0" marR="0" lvl="0" indent="0" algn="ctr" rtl="0">
                        <a:spcBef>
                          <a:spcPts val="0"/>
                        </a:spcBef>
                        <a:spcAft>
                          <a:spcPts val="0"/>
                        </a:spcAft>
                        <a:buNone/>
                      </a:pPr>
                      <a:r>
                        <a:rPr lang="ja-JP" sz="1200" u="none" strike="noStrike" cap="none" dirty="0"/>
                        <a:t>提供価値</a:t>
                      </a:r>
                      <a:endParaRPr sz="1200" u="none" strike="noStrike" cap="none" dirty="0"/>
                    </a:p>
                  </a:txBody>
                  <a:tcPr marL="91450" marR="91450" marT="45725" marB="45725" anchor="ctr">
                    <a:lnB w="38100" cap="flat" cmpd="sng" algn="ctr">
                      <a:solidFill>
                        <a:schemeClr val="bg1"/>
                      </a:solidFill>
                      <a:prstDash val="solid"/>
                      <a:round/>
                      <a:headEnd type="none" w="med" len="med"/>
                      <a:tailEnd type="none" w="med" len="med"/>
                    </a:lnB>
                    <a:solidFill>
                      <a:schemeClr val="accent6"/>
                    </a:solidFill>
                  </a:tcPr>
                </a:tc>
                <a:tc gridSpan="4">
                  <a:txBody>
                    <a:bodyPr/>
                    <a:lstStyle/>
                    <a:p>
                      <a:pPr marL="0" marR="0" lvl="0" indent="0" algn="ctr" rtl="0">
                        <a:spcBef>
                          <a:spcPts val="0"/>
                        </a:spcBef>
                        <a:spcAft>
                          <a:spcPts val="0"/>
                        </a:spcAft>
                        <a:buNone/>
                      </a:pPr>
                      <a:r>
                        <a:rPr lang="ja-JP" sz="1200" u="none" strike="noStrike" cap="none" dirty="0"/>
                        <a:t>TPS原則への貢献度</a:t>
                      </a:r>
                      <a:endParaRPr sz="1200" u="none" strike="noStrike" cap="none" dirty="0"/>
                    </a:p>
                  </a:txBody>
                  <a:tcPr marL="91450" marR="91450" marT="45725" marB="45725"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rowSpan="2">
                  <a:txBody>
                    <a:bodyPr/>
                    <a:lstStyle/>
                    <a:p>
                      <a:pPr marL="0" marR="0" lvl="0" indent="0" algn="ctr" rtl="0">
                        <a:spcBef>
                          <a:spcPts val="0"/>
                        </a:spcBef>
                        <a:spcAft>
                          <a:spcPts val="0"/>
                        </a:spcAft>
                        <a:buNone/>
                      </a:pPr>
                      <a:r>
                        <a:rPr lang="ja-JP" sz="1200" u="none" strike="noStrike" cap="none" dirty="0"/>
                        <a:t>ターゲットユーザー</a:t>
                      </a:r>
                      <a:endParaRPr sz="1200" u="none" strike="noStrike" cap="none" dirty="0"/>
                    </a:p>
                  </a:txBody>
                  <a:tcPr marL="91450" marR="91450" marT="45725" marB="45725" anchor="ctr">
                    <a:lnL w="127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6"/>
                    </a:solidFill>
                  </a:tcPr>
                </a:tc>
                <a:tc rowSpan="2">
                  <a:txBody>
                    <a:bodyPr/>
                    <a:lstStyle/>
                    <a:p>
                      <a:pPr marL="0" marR="0" lvl="0" indent="0" algn="ctr" rtl="0">
                        <a:spcBef>
                          <a:spcPts val="0"/>
                        </a:spcBef>
                        <a:spcAft>
                          <a:spcPts val="0"/>
                        </a:spcAft>
                        <a:buNone/>
                      </a:pPr>
                      <a:r>
                        <a:rPr lang="ja-JP" sz="1200" u="none" strike="noStrike" cap="none" dirty="0"/>
                        <a:t>価格</a:t>
                      </a:r>
                      <a:endParaRPr sz="1200" u="none" strike="noStrike" cap="none" dirty="0"/>
                    </a:p>
                  </a:txBody>
                  <a:tcPr marL="91450" marR="91450" marT="45725" marB="45725" anchor="ctr">
                    <a:lnB w="3810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16488">
                <a:tc vMerge="1">
                  <a:txBody>
                    <a:bodyPr/>
                    <a:lstStyle/>
                    <a:p>
                      <a:pPr marL="0" marR="0" lvl="0" indent="0" algn="ctr" rtl="0">
                        <a:spcBef>
                          <a:spcPts val="0"/>
                        </a:spcBef>
                        <a:spcAft>
                          <a:spcPts val="0"/>
                        </a:spcAft>
                        <a:buNone/>
                      </a:pPr>
                      <a:endParaRPr sz="1050" dirty="0"/>
                    </a:p>
                  </a:txBody>
                  <a:tcPr marL="91450" marR="91450" marT="45725" marB="45725" anchor="ctr">
                    <a:solidFill>
                      <a:schemeClr val="accent6"/>
                    </a:solidFill>
                  </a:tcPr>
                </a:tc>
                <a:tc vMerge="1">
                  <a:txBody>
                    <a:bodyPr/>
                    <a:lstStyle/>
                    <a:p>
                      <a:pPr marL="0" marR="0" lvl="0" indent="0" algn="ctr" rtl="0">
                        <a:spcBef>
                          <a:spcPts val="0"/>
                        </a:spcBef>
                        <a:spcAft>
                          <a:spcPts val="0"/>
                        </a:spcAft>
                        <a:buNone/>
                      </a:pPr>
                      <a:endParaRPr sz="1050" u="none" strike="noStrike" cap="none" dirty="0"/>
                    </a:p>
                  </a:txBody>
                  <a:tcPr marL="91450" marR="91450" marT="45725" marB="45725" anchor="ctr">
                    <a:solidFill>
                      <a:schemeClr val="accent6"/>
                    </a:solidFill>
                  </a:tcPr>
                </a:tc>
                <a:tc>
                  <a:txBody>
                    <a:bodyPr/>
                    <a:lstStyle/>
                    <a:p>
                      <a:pPr marL="0" marR="0" lvl="0" indent="0" algn="ctr" rtl="0">
                        <a:spcBef>
                          <a:spcPts val="0"/>
                        </a:spcBef>
                        <a:spcAft>
                          <a:spcPts val="0"/>
                        </a:spcAft>
                        <a:buNone/>
                      </a:pPr>
                      <a:r>
                        <a:rPr lang="ja-JP" altLang="en-US" sz="1100" b="1" u="none" strike="noStrike" cap="none" dirty="0">
                          <a:solidFill>
                            <a:schemeClr val="bg1"/>
                          </a:solidFill>
                        </a:rPr>
                        <a:t>現状</a:t>
                      </a:r>
                      <a:endParaRPr lang="en-US" altLang="ja-JP" sz="1100" b="1" u="none" strike="noStrike" cap="none" dirty="0">
                        <a:solidFill>
                          <a:schemeClr val="bg1"/>
                        </a:solidFill>
                      </a:endParaRPr>
                    </a:p>
                    <a:p>
                      <a:pPr marL="0" marR="0" lvl="0" indent="0" algn="ctr" rtl="0">
                        <a:spcBef>
                          <a:spcPts val="0"/>
                        </a:spcBef>
                        <a:spcAft>
                          <a:spcPts val="0"/>
                        </a:spcAft>
                        <a:buNone/>
                      </a:pPr>
                      <a:r>
                        <a:rPr lang="ja-JP" altLang="en-US" sz="1100" b="1" u="none" strike="noStrike" cap="none" dirty="0">
                          <a:solidFill>
                            <a:schemeClr val="bg1"/>
                          </a:solidFill>
                        </a:rPr>
                        <a:t>把握</a:t>
                      </a:r>
                      <a:endParaRPr sz="1100" b="1" u="none" strike="noStrike" cap="none" dirty="0">
                        <a:solidFill>
                          <a:schemeClr val="bg1"/>
                        </a:solidFill>
                      </a:endParaRPr>
                    </a:p>
                  </a:txBody>
                  <a:tcPr marL="91450" marR="91450" marT="45725" marB="45725"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a:txBody>
                    <a:bodyPr/>
                    <a:lstStyle/>
                    <a:p>
                      <a:pPr marL="0" marR="0" lvl="0" indent="0" algn="ctr" rtl="0">
                        <a:spcBef>
                          <a:spcPts val="0"/>
                        </a:spcBef>
                        <a:spcAft>
                          <a:spcPts val="0"/>
                        </a:spcAft>
                        <a:buNone/>
                      </a:pPr>
                      <a:r>
                        <a:rPr lang="ja-JP" altLang="en-US" sz="1100" b="1" u="none" strike="noStrike" cap="none" dirty="0">
                          <a:solidFill>
                            <a:schemeClr val="bg1"/>
                          </a:solidFill>
                        </a:rPr>
                        <a:t>課題</a:t>
                      </a:r>
                      <a:endParaRPr lang="en-US" altLang="ja-JP" sz="1100" b="1" u="none" strike="noStrike" cap="none" dirty="0">
                        <a:solidFill>
                          <a:schemeClr val="bg1"/>
                        </a:solidFill>
                      </a:endParaRPr>
                    </a:p>
                    <a:p>
                      <a:pPr marL="0" marR="0" lvl="0" indent="0" algn="ctr" rtl="0">
                        <a:spcBef>
                          <a:spcPts val="0"/>
                        </a:spcBef>
                        <a:spcAft>
                          <a:spcPts val="0"/>
                        </a:spcAft>
                        <a:buNone/>
                      </a:pPr>
                      <a:r>
                        <a:rPr lang="ja-JP" altLang="en-US" sz="1100" b="1" u="none" strike="noStrike" cap="none" dirty="0">
                          <a:solidFill>
                            <a:schemeClr val="bg1"/>
                          </a:solidFill>
                        </a:rPr>
                        <a:t>顕在化</a:t>
                      </a:r>
                      <a:endParaRPr sz="1100" b="1" u="none" strike="noStrike" cap="none" dirty="0">
                        <a:solidFill>
                          <a:schemeClr val="bg1"/>
                        </a:solidFill>
                      </a:endParaRPr>
                    </a:p>
                  </a:txBody>
                  <a:tcPr marL="91450" marR="91450" marT="45725" marB="45725"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a:txBody>
                    <a:bodyPr/>
                    <a:lstStyle/>
                    <a:p>
                      <a:pPr marL="0" marR="0" lvl="0" indent="0" algn="ctr" rtl="0">
                        <a:spcBef>
                          <a:spcPts val="0"/>
                        </a:spcBef>
                        <a:spcAft>
                          <a:spcPts val="0"/>
                        </a:spcAft>
                        <a:buNone/>
                      </a:pPr>
                      <a:r>
                        <a:rPr lang="ja-JP" altLang="en-US" sz="1100" b="1" u="none" strike="noStrike" cap="none" dirty="0">
                          <a:solidFill>
                            <a:schemeClr val="bg1"/>
                          </a:solidFill>
                        </a:rPr>
                        <a:t>標準化</a:t>
                      </a:r>
                      <a:endParaRPr sz="1100" b="1" u="none" strike="noStrike" cap="none" dirty="0">
                        <a:solidFill>
                          <a:schemeClr val="bg1"/>
                        </a:solidFill>
                      </a:endParaRPr>
                    </a:p>
                  </a:txBody>
                  <a:tcPr marL="91450" marR="91450" marT="45725" marB="45725"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a:txBody>
                    <a:bodyPr/>
                    <a:lstStyle/>
                    <a:p>
                      <a:pPr marL="0" marR="0" lvl="0" indent="0" algn="ctr" rtl="0">
                        <a:spcBef>
                          <a:spcPts val="0"/>
                        </a:spcBef>
                        <a:spcAft>
                          <a:spcPts val="0"/>
                        </a:spcAft>
                        <a:buNone/>
                      </a:pPr>
                      <a:r>
                        <a:rPr lang="ja-JP" altLang="en-US" sz="1100" b="1" u="none" strike="noStrike" cap="none" dirty="0">
                          <a:solidFill>
                            <a:schemeClr val="bg1"/>
                          </a:solidFill>
                        </a:rPr>
                        <a:t>継続的</a:t>
                      </a:r>
                      <a:endParaRPr lang="en-US" altLang="ja-JP" sz="1100" b="1" u="none" strike="noStrike" cap="none" dirty="0">
                        <a:solidFill>
                          <a:schemeClr val="bg1"/>
                        </a:solidFill>
                      </a:endParaRPr>
                    </a:p>
                    <a:p>
                      <a:pPr marL="0" marR="0" lvl="0" indent="0" algn="ctr" rtl="0">
                        <a:spcBef>
                          <a:spcPts val="0"/>
                        </a:spcBef>
                        <a:spcAft>
                          <a:spcPts val="0"/>
                        </a:spcAft>
                        <a:buNone/>
                      </a:pPr>
                      <a:r>
                        <a:rPr lang="ja-JP" altLang="en-US" sz="1100" b="1" u="none" strike="noStrike" cap="none" dirty="0">
                          <a:solidFill>
                            <a:schemeClr val="bg1"/>
                          </a:solidFill>
                        </a:rPr>
                        <a:t>改善</a:t>
                      </a:r>
                      <a:endParaRPr sz="1100" b="1" u="none" strike="noStrike" cap="none" dirty="0">
                        <a:solidFill>
                          <a:schemeClr val="bg1"/>
                        </a:solidFill>
                      </a:endParaRPr>
                    </a:p>
                  </a:txBody>
                  <a:tcPr marL="91450" marR="91450" marT="45725" marB="45725"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vMerge="1">
                  <a:txBody>
                    <a:bodyPr/>
                    <a:lstStyle/>
                    <a:p>
                      <a:pPr marL="0" marR="0" lvl="0" indent="0" algn="ctr" rtl="0">
                        <a:spcBef>
                          <a:spcPts val="0"/>
                        </a:spcBef>
                        <a:spcAft>
                          <a:spcPts val="0"/>
                        </a:spcAft>
                        <a:buNone/>
                      </a:pPr>
                      <a:endParaRPr sz="1050" u="none" strike="noStrike" cap="none" dirty="0"/>
                    </a:p>
                  </a:txBody>
                  <a:tcPr marL="91450" marR="91450" marT="45725" marB="45725" anchor="ctr">
                    <a:solidFill>
                      <a:schemeClr val="accent6"/>
                    </a:solidFill>
                  </a:tcPr>
                </a:tc>
                <a:tc vMerge="1">
                  <a:txBody>
                    <a:bodyPr/>
                    <a:lstStyle/>
                    <a:p>
                      <a:pPr marL="0" marR="0" lvl="0" indent="0" algn="ctr" rtl="0">
                        <a:spcBef>
                          <a:spcPts val="0"/>
                        </a:spcBef>
                        <a:spcAft>
                          <a:spcPts val="0"/>
                        </a:spcAft>
                        <a:buNone/>
                      </a:pPr>
                      <a:endParaRPr sz="1050" u="none" strike="noStrike" cap="none" dirty="0"/>
                    </a:p>
                  </a:txBody>
                  <a:tcPr marL="91450" marR="91450" marT="45725" marB="45725" anchor="ctr">
                    <a:solidFill>
                      <a:schemeClr val="accent6"/>
                    </a:solidFill>
                  </a:tcPr>
                </a:tc>
                <a:extLst>
                  <a:ext uri="{0D108BD9-81ED-4DB2-BD59-A6C34878D82A}">
                    <a16:rowId xmlns:a16="http://schemas.microsoft.com/office/drawing/2014/main" val="2395553904"/>
                  </a:ext>
                </a:extLst>
              </a:tr>
              <a:tr h="511543">
                <a:tc>
                  <a:txBody>
                    <a:bodyPr/>
                    <a:lstStyle/>
                    <a:p>
                      <a:pPr marL="0" marR="0" lvl="0" indent="0" algn="ctr" rtl="0">
                        <a:spcBef>
                          <a:spcPts val="0"/>
                        </a:spcBef>
                        <a:spcAft>
                          <a:spcPts val="0"/>
                        </a:spcAft>
                        <a:buNone/>
                      </a:pPr>
                      <a:r>
                        <a:rPr lang="ja-JP" sz="1050" b="1" u="none" strike="noStrike" cap="none" dirty="0">
                          <a:solidFill>
                            <a:schemeClr val="tx1"/>
                          </a:solidFill>
                        </a:rPr>
                        <a:t>TPSプラットフォーム（仮）</a:t>
                      </a:r>
                      <a:endParaRPr sz="1050" b="1"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sz="1050" u="none" strike="noStrike" cap="none" dirty="0">
                          <a:solidFill>
                            <a:schemeClr val="tx1"/>
                          </a:solidFill>
                        </a:rPr>
                        <a:t>TPSの原則に基づいた業務改善とDXの統合支援。</a:t>
                      </a:r>
                      <a:r>
                        <a:rPr lang="ja-JP" altLang="en-US" sz="1050" u="none" strike="noStrike" cap="none" dirty="0">
                          <a:solidFill>
                            <a:schemeClr val="tx1"/>
                          </a:solidFill>
                        </a:rPr>
                        <a:t>業務標準化から</a:t>
                      </a:r>
                      <a:r>
                        <a:rPr lang="ja-JP" sz="1050" u="none" strike="noStrike" cap="none" dirty="0">
                          <a:solidFill>
                            <a:schemeClr val="tx1"/>
                          </a:solidFill>
                        </a:rPr>
                        <a:t>継続的改善文化の定着までを包括的にサポート。</a:t>
                      </a:r>
                      <a:endParaRPr sz="1050"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altLang="en-US" sz="1800" u="none" strike="noStrike" cap="none" dirty="0">
                          <a:solidFill>
                            <a:schemeClr val="tx1"/>
                          </a:solidFill>
                        </a:rPr>
                        <a:t>○</a:t>
                      </a:r>
                      <a:endParaRPr sz="1800"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altLang="en-US" sz="1800" u="none" strike="noStrike" cap="none" dirty="0">
                          <a:solidFill>
                            <a:schemeClr val="tx1"/>
                          </a:solidFill>
                        </a:rPr>
                        <a:t>○</a:t>
                      </a:r>
                      <a:endParaRPr sz="1800"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altLang="en-US" sz="2400" u="none" strike="noStrike" cap="none" dirty="0">
                          <a:solidFill>
                            <a:schemeClr val="tx1"/>
                          </a:solidFill>
                        </a:rPr>
                        <a:t>◎</a:t>
                      </a:r>
                      <a:endParaRPr sz="2400"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altLang="en-US" sz="2400" u="none" strike="noStrike" cap="none" dirty="0">
                          <a:solidFill>
                            <a:schemeClr val="tx1"/>
                          </a:solidFill>
                        </a:rPr>
                        <a:t>◎</a:t>
                      </a:r>
                      <a:endParaRPr sz="2400"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sz="1050" u="none" strike="noStrike" cap="none" dirty="0">
                          <a:solidFill>
                            <a:schemeClr val="tx1"/>
                          </a:solidFill>
                        </a:rPr>
                        <a:t>TPSを導入したい、またはDXを通じて本質的な改善文化を構築したい製造業・サービス業全般。</a:t>
                      </a:r>
                      <a:endParaRPr sz="1050" u="none" strike="noStrike" cap="none"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tc>
                  <a:txBody>
                    <a:bodyPr/>
                    <a:lstStyle/>
                    <a:p>
                      <a:pPr marL="0" marR="0" lvl="0" indent="0" algn="ctr" rtl="0">
                        <a:spcBef>
                          <a:spcPts val="0"/>
                        </a:spcBef>
                        <a:spcAft>
                          <a:spcPts val="0"/>
                        </a:spcAft>
                        <a:buNone/>
                      </a:pPr>
                      <a:r>
                        <a:rPr lang="ja-JP" sz="1200" u="none" strike="noStrike" cap="none" dirty="0">
                          <a:solidFill>
                            <a:schemeClr val="tx1"/>
                          </a:solidFill>
                        </a:rPr>
                        <a:t>10,000円/年</a:t>
                      </a:r>
                      <a:endParaRPr sz="1200" dirty="0">
                        <a:solidFill>
                          <a:schemeClr val="tx1"/>
                        </a:solidFill>
                      </a:endParaRPr>
                    </a:p>
                  </a:txBody>
                  <a:tcPr marL="91450" marR="91450" marT="45725" marB="45725" anchor="ctr">
                    <a:lnT w="38100" cap="flat" cmpd="sng" algn="ctr">
                      <a:solidFill>
                        <a:schemeClr val="bg1"/>
                      </a:solidFill>
                      <a:prstDash val="solid"/>
                      <a:round/>
                      <a:headEnd type="none" w="med" len="med"/>
                      <a:tailEnd type="none" w="med" len="med"/>
                    </a:lnT>
                    <a:solidFill>
                      <a:srgbClr val="FFC000"/>
                    </a:solidFill>
                  </a:tcPr>
                </a:tc>
                <a:extLst>
                  <a:ext uri="{0D108BD9-81ED-4DB2-BD59-A6C34878D82A}">
                    <a16:rowId xmlns:a16="http://schemas.microsoft.com/office/drawing/2014/main" val="10001"/>
                  </a:ext>
                </a:extLst>
              </a:tr>
              <a:tr h="511543">
                <a:tc>
                  <a:txBody>
                    <a:bodyPr/>
                    <a:lstStyle/>
                    <a:p>
                      <a:pPr marL="0" marR="0" lvl="0" indent="0" algn="ctr" rtl="0">
                        <a:spcBef>
                          <a:spcPts val="0"/>
                        </a:spcBef>
                        <a:spcAft>
                          <a:spcPts val="0"/>
                        </a:spcAft>
                        <a:buNone/>
                      </a:pPr>
                      <a:r>
                        <a:rPr lang="ja-JP" sz="1050" b="1" u="none" strike="noStrike" cap="none" dirty="0"/>
                        <a:t>miro</a:t>
                      </a:r>
                      <a:endParaRPr sz="1050" b="1"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自由度の高い作図と共同編集。</a:t>
                      </a:r>
                      <a:endParaRPr sz="1050" u="none" strike="noStrike" cap="none" dirty="0"/>
                    </a:p>
                    <a:p>
                      <a:pPr marL="0" marR="0" lvl="0" indent="0" algn="ctr" rtl="0">
                        <a:spcBef>
                          <a:spcPts val="0"/>
                        </a:spcBef>
                        <a:spcAft>
                          <a:spcPts val="0"/>
                        </a:spcAft>
                        <a:buNone/>
                      </a:pPr>
                      <a:r>
                        <a:rPr lang="ja-JP" sz="1050" u="none" strike="noStrike" cap="none" dirty="0"/>
                        <a:t>チーム内でのアイデア共有や業務フローの可視化。</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2400" u="none" strike="noStrike" cap="none" dirty="0"/>
                        <a:t>◎</a:t>
                      </a:r>
                      <a:endParaRPr sz="2400" dirty="0"/>
                    </a:p>
                  </a:txBody>
                  <a:tcPr marL="91450" marR="91450" marT="45725" marB="45725" anchor="ctr"/>
                </a:tc>
                <a:tc>
                  <a:txBody>
                    <a:bodyPr/>
                    <a:lstStyle/>
                    <a:p>
                      <a:pPr marL="0" marR="0" lvl="0" indent="0" algn="ctr" rtl="0">
                        <a:spcBef>
                          <a:spcPts val="0"/>
                        </a:spcBef>
                        <a:spcAft>
                          <a:spcPts val="0"/>
                        </a:spcAft>
                        <a:buNone/>
                      </a:pPr>
                      <a:r>
                        <a:rPr lang="ja-JP" altLang="en-US" sz="1800" dirty="0"/>
                        <a:t>△</a:t>
                      </a:r>
                      <a:endParaRPr sz="1800"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DXをスモールスタートしたい中小企業、または大規模なコンサルティングプロジェクトを抱える大企業。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27,840円~/年</a:t>
                      </a:r>
                      <a:endParaRPr sz="1200" dirty="0"/>
                    </a:p>
                  </a:txBody>
                  <a:tcPr marL="91450" marR="91450" marT="45725" marB="45725" anchor="ctr"/>
                </a:tc>
                <a:extLst>
                  <a:ext uri="{0D108BD9-81ED-4DB2-BD59-A6C34878D82A}">
                    <a16:rowId xmlns:a16="http://schemas.microsoft.com/office/drawing/2014/main" val="10002"/>
                  </a:ext>
                </a:extLst>
              </a:tr>
              <a:tr h="511543">
                <a:tc>
                  <a:txBody>
                    <a:bodyPr/>
                    <a:lstStyle/>
                    <a:p>
                      <a:pPr marL="0" marR="0" lvl="0" indent="0" algn="ctr" rtl="0">
                        <a:spcBef>
                          <a:spcPts val="0"/>
                        </a:spcBef>
                        <a:spcAft>
                          <a:spcPts val="0"/>
                        </a:spcAft>
                        <a:buNone/>
                      </a:pPr>
                      <a:r>
                        <a:rPr lang="ja-JP" sz="1050" b="1" u="none" strike="noStrike" cap="none" dirty="0"/>
                        <a:t>lucidchart</a:t>
                      </a:r>
                      <a:endParaRPr sz="1050" b="1"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自由度の高い作図と共同編集。</a:t>
                      </a:r>
                      <a:endParaRPr sz="1050" u="none" strike="noStrike" cap="none" dirty="0"/>
                    </a:p>
                    <a:p>
                      <a:pPr marL="0" marR="0" lvl="0" indent="0" algn="ctr" rtl="0">
                        <a:spcBef>
                          <a:spcPts val="0"/>
                        </a:spcBef>
                        <a:spcAft>
                          <a:spcPts val="0"/>
                        </a:spcAft>
                        <a:buNone/>
                      </a:pPr>
                      <a:r>
                        <a:rPr lang="ja-JP" sz="1050" u="none" strike="noStrike" cap="none" dirty="0"/>
                        <a:t>チーム内でのアイデア共有や業務フローの可視化。</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2400" u="none" strike="noStrike" cap="none" dirty="0"/>
                        <a:t>◎</a:t>
                      </a:r>
                      <a:endParaRPr sz="2400" dirty="0"/>
                    </a:p>
                  </a:txBody>
                  <a:tcPr marL="91450" marR="91450" marT="45725" marB="45725" anchor="ctr"/>
                </a:tc>
                <a:tc>
                  <a:txBody>
                    <a:bodyPr/>
                    <a:lstStyle/>
                    <a:p>
                      <a:pPr marL="0" marR="0" lvl="0" indent="0" algn="ctr" rtl="0">
                        <a:spcBef>
                          <a:spcPts val="0"/>
                        </a:spcBef>
                        <a:spcAft>
                          <a:spcPts val="0"/>
                        </a:spcAft>
                        <a:buNone/>
                      </a:pPr>
                      <a:r>
                        <a:rPr lang="ja-JP" altLang="en-US" sz="1800" dirty="0"/>
                        <a:t>△</a:t>
                      </a:r>
                      <a:endParaRPr sz="1800"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Quattrocento Sans"/>
                        <a:buNone/>
                      </a:pPr>
                      <a:r>
                        <a:rPr lang="ja-JP" sz="1050" u="none" strike="noStrike" cap="none" dirty="0"/>
                        <a:t>DXをスモールスタートしたい中小企業、または大規模なコンサルティングプロジェクトを抱える大企業。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18,000円～/年</a:t>
                      </a:r>
                      <a:endParaRPr sz="1200" dirty="0"/>
                    </a:p>
                  </a:txBody>
                  <a:tcPr marL="91450" marR="91450" marT="45725" marB="45725" anchor="ctr"/>
                </a:tc>
                <a:extLst>
                  <a:ext uri="{0D108BD9-81ED-4DB2-BD59-A6C34878D82A}">
                    <a16:rowId xmlns:a16="http://schemas.microsoft.com/office/drawing/2014/main" val="10003"/>
                  </a:ext>
                </a:extLst>
              </a:tr>
              <a:tr h="416488">
                <a:tc>
                  <a:txBody>
                    <a:bodyPr/>
                    <a:lstStyle/>
                    <a:p>
                      <a:pPr marL="0" marR="0" lvl="0" indent="0" algn="ctr" rtl="0">
                        <a:spcBef>
                          <a:spcPts val="0"/>
                        </a:spcBef>
                        <a:spcAft>
                          <a:spcPts val="0"/>
                        </a:spcAft>
                        <a:buNone/>
                      </a:pPr>
                      <a:r>
                        <a:rPr lang="ja-JP" sz="1050" b="1" u="none" strike="noStrike" cap="none" dirty="0"/>
                        <a:t>Figma</a:t>
                      </a:r>
                      <a:endParaRPr sz="1050"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UI/UXデザインが主目的。付随的にプロセスマッピングやプロジェクト管理に応用。</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2400" u="none" strike="noStrike" cap="none" dirty="0"/>
                        <a:t>◎</a:t>
                      </a:r>
                      <a:endParaRPr sz="24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Quattrocento Sans"/>
                        <a:buNone/>
                      </a:pPr>
                      <a:r>
                        <a:rPr lang="ja-JP" sz="1050" u="none" strike="noStrike" cap="none" dirty="0"/>
                        <a:t>デザインプロセスを重視するIT企業、スタートアップ。</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9,000円～/年</a:t>
                      </a:r>
                      <a:endParaRPr sz="1200" dirty="0"/>
                    </a:p>
                  </a:txBody>
                  <a:tcPr marL="91450" marR="91450" marT="45725" marB="45725" anchor="ctr"/>
                </a:tc>
                <a:extLst>
                  <a:ext uri="{0D108BD9-81ED-4DB2-BD59-A6C34878D82A}">
                    <a16:rowId xmlns:a16="http://schemas.microsoft.com/office/drawing/2014/main" val="10004"/>
                  </a:ext>
                </a:extLst>
              </a:tr>
              <a:tr h="416488">
                <a:tc>
                  <a:txBody>
                    <a:bodyPr/>
                    <a:lstStyle/>
                    <a:p>
                      <a:pPr marL="0" marR="0" lvl="0" indent="0" algn="ctr" rtl="0">
                        <a:spcBef>
                          <a:spcPts val="0"/>
                        </a:spcBef>
                        <a:spcAft>
                          <a:spcPts val="0"/>
                        </a:spcAft>
                        <a:buNone/>
                      </a:pPr>
                      <a:r>
                        <a:rPr lang="ja-JP" sz="1050" b="1" u="none" strike="noStrike" cap="none" dirty="0"/>
                        <a:t>Excel</a:t>
                      </a:r>
                      <a:endParaRPr sz="1050"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手軽なデータ集計・分析。</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Quattrocento Sans"/>
                        <a:buNone/>
                      </a:pPr>
                      <a:r>
                        <a:rPr lang="ja-JP" sz="1050" u="none" strike="noStrike" cap="none" dirty="0"/>
                        <a:t>ツール導入に予算が割けない、または小規模な改善活動を手動で行いたい企業。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21,300円～/年</a:t>
                      </a:r>
                      <a:endParaRPr sz="1200" dirty="0"/>
                    </a:p>
                  </a:txBody>
                  <a:tcPr marL="91450" marR="91450" marT="45725" marB="45725" anchor="ctr"/>
                </a:tc>
                <a:extLst>
                  <a:ext uri="{0D108BD9-81ED-4DB2-BD59-A6C34878D82A}">
                    <a16:rowId xmlns:a16="http://schemas.microsoft.com/office/drawing/2014/main" val="10005"/>
                  </a:ext>
                </a:extLst>
              </a:tr>
              <a:tr h="416488">
                <a:tc>
                  <a:txBody>
                    <a:bodyPr/>
                    <a:lstStyle/>
                    <a:p>
                      <a:pPr marL="0" marR="0" lvl="0" indent="0" algn="ctr" rtl="0">
                        <a:spcBef>
                          <a:spcPts val="0"/>
                        </a:spcBef>
                        <a:spcAft>
                          <a:spcPts val="0"/>
                        </a:spcAft>
                        <a:buNone/>
                      </a:pPr>
                      <a:r>
                        <a:rPr lang="en-US" altLang="ja-JP" sz="1050" b="1" u="none" strike="noStrike" cap="none" dirty="0"/>
                        <a:t>o</a:t>
                      </a:r>
                      <a:r>
                        <a:rPr lang="ja-JP" sz="1050" b="1" u="none" strike="noStrike" cap="none" dirty="0"/>
                        <a:t>ctpath</a:t>
                      </a:r>
                      <a:endParaRPr sz="1050" b="1"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定型業務のタスク標準化と実行管理。</a:t>
                      </a:r>
                      <a:endParaRPr sz="1050" u="none" strike="noStrike" cap="none" dirty="0"/>
                    </a:p>
                    <a:p>
                      <a:pPr marL="0" marR="0" lvl="0" indent="0" algn="ctr" rtl="0">
                        <a:spcBef>
                          <a:spcPts val="0"/>
                        </a:spcBef>
                        <a:spcAft>
                          <a:spcPts val="0"/>
                        </a:spcAft>
                        <a:buNone/>
                      </a:pPr>
                      <a:r>
                        <a:rPr lang="ja-JP" sz="1050" u="none" strike="noStrike" cap="none" dirty="0"/>
                        <a:t>ミスの防止、属人化の排除による生産性向上。</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2400" u="none" strike="noStrike" cap="none" dirty="0"/>
                        <a:t>◎</a:t>
                      </a:r>
                      <a:endParaRPr sz="2400" u="none" strike="noStrike" cap="none"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特定の定型業務プロセスを標準化し、ミスや属人化を排除したい企業。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45,000円～/年</a:t>
                      </a:r>
                      <a:endParaRPr sz="1200" dirty="0"/>
                    </a:p>
                  </a:txBody>
                  <a:tcPr marL="91450" marR="91450" marT="45725" marB="45725" anchor="ctr"/>
                </a:tc>
                <a:extLst>
                  <a:ext uri="{0D108BD9-81ED-4DB2-BD59-A6C34878D82A}">
                    <a16:rowId xmlns:a16="http://schemas.microsoft.com/office/drawing/2014/main" val="10006"/>
                  </a:ext>
                </a:extLst>
              </a:tr>
              <a:tr h="511543">
                <a:tc>
                  <a:txBody>
                    <a:bodyPr/>
                    <a:lstStyle/>
                    <a:p>
                      <a:pPr marL="0" marR="0" lvl="0" indent="0" algn="ctr" rtl="0">
                        <a:spcBef>
                          <a:spcPts val="0"/>
                        </a:spcBef>
                        <a:spcAft>
                          <a:spcPts val="0"/>
                        </a:spcAft>
                        <a:buNone/>
                      </a:pPr>
                      <a:r>
                        <a:rPr lang="ja-JP" sz="1050" b="1" u="none" strike="noStrike" cap="none" dirty="0"/>
                        <a:t>T</a:t>
                      </a:r>
                      <a:r>
                        <a:rPr lang="en-US" altLang="ja-JP" sz="1050" b="1" u="none" strike="noStrike" cap="none" dirty="0"/>
                        <a:t>IME TRACKER</a:t>
                      </a:r>
                      <a:endParaRPr sz="1050" b="1"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プロジェクトごとの工数管理と進捗可視化。時間のムダを排除し、生産性を向上。</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2400" dirty="0"/>
                        <a:t>◎</a:t>
                      </a:r>
                      <a:endParaRPr sz="2400" dirty="0"/>
                    </a:p>
                  </a:txBody>
                  <a:tcPr marL="91450" marR="91450" marT="45725" marB="45725" anchor="ctr"/>
                </a:tc>
                <a:tc>
                  <a:txBody>
                    <a:bodyPr/>
                    <a:lstStyle/>
                    <a:p>
                      <a:pPr marL="0" marR="0" lvl="0" indent="0" algn="ctr" rtl="0">
                        <a:spcBef>
                          <a:spcPts val="0"/>
                        </a:spcBef>
                        <a:spcAft>
                          <a:spcPts val="0"/>
                        </a:spcAft>
                        <a:buNone/>
                      </a:pPr>
                      <a:r>
                        <a:rPr lang="ja-JP" altLang="en-US" sz="1800" dirty="0"/>
                        <a:t>△</a:t>
                      </a:r>
                      <a:endParaRPr sz="1800"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プロジェクトごとの工数管理と生産性向上を重視するIT・システム開発・コンサルティング企業。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18,876円～/年</a:t>
                      </a:r>
                      <a:endParaRPr sz="1200" dirty="0"/>
                    </a:p>
                  </a:txBody>
                  <a:tcPr marL="91450" marR="91450" marT="45725" marB="45725" anchor="ctr"/>
                </a:tc>
                <a:extLst>
                  <a:ext uri="{0D108BD9-81ED-4DB2-BD59-A6C34878D82A}">
                    <a16:rowId xmlns:a16="http://schemas.microsoft.com/office/drawing/2014/main" val="10007"/>
                  </a:ext>
                </a:extLst>
              </a:tr>
              <a:tr h="416488">
                <a:tc>
                  <a:txBody>
                    <a:bodyPr/>
                    <a:lstStyle/>
                    <a:p>
                      <a:pPr marL="0" marR="0" lvl="0" indent="0" algn="ctr" rtl="0">
                        <a:spcBef>
                          <a:spcPts val="0"/>
                        </a:spcBef>
                        <a:spcAft>
                          <a:spcPts val="0"/>
                        </a:spcAft>
                        <a:buNone/>
                      </a:pPr>
                      <a:r>
                        <a:rPr lang="ja-JP" sz="1050" b="1" u="none" strike="noStrike" cap="none" dirty="0"/>
                        <a:t>IM-BPM</a:t>
                      </a:r>
                      <a:endParaRPr sz="1050"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BPMNに準拠した厳密なプロセス管理と、</a:t>
                      </a:r>
                      <a:endParaRPr sz="1050" u="none" strike="noStrike" cap="none" dirty="0"/>
                    </a:p>
                    <a:p>
                      <a:pPr marL="0" marR="0" lvl="0" indent="0" algn="ctr" rtl="0">
                        <a:spcBef>
                          <a:spcPts val="0"/>
                        </a:spcBef>
                        <a:spcAft>
                          <a:spcPts val="0"/>
                        </a:spcAft>
                        <a:buNone/>
                      </a:pPr>
                      <a:r>
                        <a:rPr lang="ja-JP" sz="1050" u="none" strike="noStrike" cap="none" dirty="0"/>
                        <a:t>自動化・デジタル化の統合。</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全社的な業務改革（BPR）を推進し、複雑なプロセスを統合・自動化したい大企業。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dirty="0"/>
                        <a:t>不明</a:t>
                      </a:r>
                      <a:endParaRPr sz="1200" dirty="0"/>
                    </a:p>
                  </a:txBody>
                  <a:tcPr marL="91450" marR="91450" marT="45725" marB="45725" anchor="ctr"/>
                </a:tc>
                <a:extLst>
                  <a:ext uri="{0D108BD9-81ED-4DB2-BD59-A6C34878D82A}">
                    <a16:rowId xmlns:a16="http://schemas.microsoft.com/office/drawing/2014/main" val="10008"/>
                  </a:ext>
                </a:extLst>
              </a:tr>
              <a:tr h="511543">
                <a:tc>
                  <a:txBody>
                    <a:bodyPr/>
                    <a:lstStyle/>
                    <a:p>
                      <a:pPr marL="0" marR="0" lvl="0" indent="0" algn="ctr" rtl="0">
                        <a:spcBef>
                          <a:spcPts val="0"/>
                        </a:spcBef>
                        <a:spcAft>
                          <a:spcPts val="0"/>
                        </a:spcAft>
                        <a:buNone/>
                      </a:pPr>
                      <a:r>
                        <a:rPr lang="ja-JP" sz="1050" b="1" u="none" strike="noStrike" cap="none" dirty="0"/>
                        <a:t>BPR+</a:t>
                      </a:r>
                      <a:endParaRPr sz="1050"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業務プロセス再構築とRPAによる短期間での改善。</a:t>
                      </a:r>
                      <a:endParaRPr sz="1050" u="none" strike="noStrike" cap="none" dirty="0"/>
                    </a:p>
                    <a:p>
                      <a:pPr marL="0" marR="0" lvl="0" indent="0" algn="ctr" rtl="0">
                        <a:spcBef>
                          <a:spcPts val="0"/>
                        </a:spcBef>
                        <a:spcAft>
                          <a:spcPts val="0"/>
                        </a:spcAft>
                        <a:buNone/>
                      </a:pPr>
                      <a:r>
                        <a:rPr lang="ja-JP" sz="1050" u="none" strike="noStrike" cap="none" dirty="0"/>
                        <a:t>コンサルティングとITソリューションをワンストップで提供。</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n-US" altLang="ja-JP"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業務プロセス</a:t>
                      </a:r>
                      <a:r>
                        <a:rPr lang="ja-JP" sz="1050" dirty="0"/>
                        <a:t>可視化、課題管理を行いたい</a:t>
                      </a:r>
                      <a:r>
                        <a:rPr lang="ja-JP" sz="1050" u="none" strike="noStrike" cap="none" dirty="0"/>
                        <a:t>大企業。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dirty="0"/>
                        <a:t>不明</a:t>
                      </a:r>
                      <a:endParaRPr sz="1200" dirty="0"/>
                    </a:p>
                  </a:txBody>
                  <a:tcPr marL="91450" marR="91450" marT="45725" marB="45725" anchor="ctr"/>
                </a:tc>
                <a:extLst>
                  <a:ext uri="{0D108BD9-81ED-4DB2-BD59-A6C34878D82A}">
                    <a16:rowId xmlns:a16="http://schemas.microsoft.com/office/drawing/2014/main" val="10009"/>
                  </a:ext>
                </a:extLst>
              </a:tr>
              <a:tr h="511543">
                <a:tc>
                  <a:txBody>
                    <a:bodyPr/>
                    <a:lstStyle/>
                    <a:p>
                      <a:pPr marL="0" marR="0" lvl="0" indent="0" algn="ctr" rtl="0">
                        <a:spcBef>
                          <a:spcPts val="0"/>
                        </a:spcBef>
                        <a:spcAft>
                          <a:spcPts val="0"/>
                        </a:spcAft>
                        <a:buNone/>
                      </a:pPr>
                      <a:r>
                        <a:rPr lang="ja-JP" sz="1050" b="1" u="none" strike="noStrike" cap="none" dirty="0"/>
                        <a:t>Ranabase</a:t>
                      </a:r>
                      <a:endParaRPr sz="1050" b="1"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業務フロー作成を通じた現場主導の「カイゼン」文化醸成。初心者に優しいガイド機能で自律的な改善を支援。</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2400" u="none" strike="noStrike" cap="none" dirty="0"/>
                        <a:t>◎</a:t>
                      </a:r>
                      <a:endParaRPr sz="24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altLang="en-US" sz="1800" u="none" strike="noStrike" cap="none" dirty="0"/>
                        <a:t>○</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ja-JP" sz="1050" u="none" strike="noStrike" cap="none" dirty="0"/>
                        <a:t>組織に業務改善のノウハウがなく、現場主導の文化を醸成したい中小・中堅企業。</a:t>
                      </a:r>
                      <a:endParaRPr sz="1050" u="none" strike="noStrike" cap="none" dirty="0"/>
                    </a:p>
                  </a:txBody>
                  <a:tcPr marL="91450" marR="91450" marT="45725" marB="45725" anchor="ctr"/>
                </a:tc>
                <a:tc>
                  <a:txBody>
                    <a:bodyPr/>
                    <a:lstStyle/>
                    <a:p>
                      <a:pPr marL="0" marR="0" lvl="0" indent="0" algn="ctr" rtl="0">
                        <a:spcBef>
                          <a:spcPts val="0"/>
                        </a:spcBef>
                        <a:spcAft>
                          <a:spcPts val="0"/>
                        </a:spcAft>
                        <a:buNone/>
                      </a:pPr>
                      <a:r>
                        <a:rPr lang="ja-JP" sz="1200" u="none" strike="noStrike" cap="none" dirty="0"/>
                        <a:t>72,000円～/年</a:t>
                      </a:r>
                      <a:endParaRPr sz="1200" u="none" strike="noStrike" cap="none" dirty="0"/>
                    </a:p>
                  </a:txBody>
                  <a:tcPr marL="91450" marR="91450" marT="45725" marB="45725" anchor="ctr"/>
                </a:tc>
                <a:extLst>
                  <a:ext uri="{0D108BD9-81ED-4DB2-BD59-A6C34878D82A}">
                    <a16:rowId xmlns:a16="http://schemas.microsoft.com/office/drawing/2014/main" val="10010"/>
                  </a:ext>
                </a:extLst>
              </a:tr>
            </a:tbl>
          </a:graphicData>
        </a:graphic>
      </p:graphicFrame>
      <p:sp>
        <p:nvSpPr>
          <p:cNvPr id="6" name="テキスト ボックス 5">
            <a:extLst>
              <a:ext uri="{FF2B5EF4-FFF2-40B4-BE49-F238E27FC236}">
                <a16:creationId xmlns:a16="http://schemas.microsoft.com/office/drawing/2014/main" id="{959965A8-4350-AD21-A9BE-147D1E2289CD}"/>
              </a:ext>
            </a:extLst>
          </p:cNvPr>
          <p:cNvSpPr txBox="1"/>
          <p:nvPr/>
        </p:nvSpPr>
        <p:spPr>
          <a:xfrm>
            <a:off x="7001906" y="6273225"/>
            <a:ext cx="4544834" cy="338554"/>
          </a:xfrm>
          <a:prstGeom prst="rect">
            <a:avLst/>
          </a:prstGeom>
          <a:noFill/>
        </p:spPr>
        <p:txBody>
          <a:bodyPr wrap="none" rtlCol="0">
            <a:spAutoFit/>
          </a:bodyPr>
          <a:lstStyle/>
          <a:p>
            <a:r>
              <a:rPr kumimoji="1" lang="en-US" altLang="ja-JP" sz="1600" dirty="0"/>
              <a:t>※</a:t>
            </a:r>
            <a:r>
              <a:rPr kumimoji="1" lang="ja-JP" altLang="en-US" sz="1600" dirty="0"/>
              <a:t>詳細は「</a:t>
            </a:r>
            <a:r>
              <a:rPr kumimoji="1" lang="zh-TW" altLang="en-US" sz="1600" dirty="0"/>
              <a:t>事業計画書</a:t>
            </a:r>
            <a:r>
              <a:rPr kumimoji="1" lang="en-US" altLang="zh-TW" sz="1600" dirty="0"/>
              <a:t>_</a:t>
            </a:r>
            <a:r>
              <a:rPr kumimoji="1" lang="zh-TW" altLang="en-US" sz="1600" dirty="0"/>
              <a:t>別紙</a:t>
            </a:r>
            <a:r>
              <a:rPr kumimoji="1" lang="en-US" altLang="zh-TW" sz="1600" dirty="0"/>
              <a:t>_</a:t>
            </a:r>
            <a:r>
              <a:rPr kumimoji="1" lang="zh-TW" altLang="en-US" sz="1600" dirty="0"/>
              <a:t>競合比較</a:t>
            </a:r>
            <a:r>
              <a:rPr kumimoji="1" lang="en-US" altLang="zh-TW" sz="1600" dirty="0"/>
              <a:t>.xlsx</a:t>
            </a:r>
            <a:r>
              <a:rPr kumimoji="1" lang="ja-JP" altLang="en-US" sz="1600" dirty="0"/>
              <a:t>」を参照</a:t>
            </a:r>
            <a:endParaRPr kumimoji="1" lang="en-US" altLang="ja-JP" sz="1600" dirty="0"/>
          </a:p>
        </p:txBody>
      </p:sp>
      <p:sp>
        <p:nvSpPr>
          <p:cNvPr id="3" name="テキスト ボックス 2">
            <a:extLst>
              <a:ext uri="{FF2B5EF4-FFF2-40B4-BE49-F238E27FC236}">
                <a16:creationId xmlns:a16="http://schemas.microsoft.com/office/drawing/2014/main" id="{B65270D7-3549-F52D-AE49-0CC2F2373A9D}"/>
              </a:ext>
            </a:extLst>
          </p:cNvPr>
          <p:cNvSpPr txBox="1"/>
          <p:nvPr/>
        </p:nvSpPr>
        <p:spPr>
          <a:xfrm>
            <a:off x="5064196" y="247364"/>
            <a:ext cx="1273105" cy="461665"/>
          </a:xfrm>
          <a:prstGeom prst="rect">
            <a:avLst/>
          </a:prstGeom>
          <a:noFill/>
        </p:spPr>
        <p:txBody>
          <a:bodyPr wrap="none" rtlCol="0">
            <a:spAutoFit/>
          </a:bodyPr>
          <a:lstStyle/>
          <a:p>
            <a:r>
              <a:rPr kumimoji="1" lang="ja-JP" altLang="en-US" sz="1200" dirty="0"/>
              <a:t>◎：特化している</a:t>
            </a:r>
            <a:endParaRPr kumimoji="1" lang="en-US" altLang="ja-JP" sz="1200" dirty="0"/>
          </a:p>
          <a:p>
            <a:r>
              <a:rPr lang="ja-JP" altLang="en-US" sz="1200" dirty="0"/>
              <a:t>○：できる</a:t>
            </a:r>
            <a:endParaRPr lang="en-US" altLang="ja-JP" sz="1200" dirty="0"/>
          </a:p>
        </p:txBody>
      </p:sp>
      <p:sp>
        <p:nvSpPr>
          <p:cNvPr id="4" name="テキスト ボックス 3">
            <a:extLst>
              <a:ext uri="{FF2B5EF4-FFF2-40B4-BE49-F238E27FC236}">
                <a16:creationId xmlns:a16="http://schemas.microsoft.com/office/drawing/2014/main" id="{A30B8E54-BC45-EAFF-A4B9-7CB3FA55E5C6}"/>
              </a:ext>
            </a:extLst>
          </p:cNvPr>
          <p:cNvSpPr txBox="1"/>
          <p:nvPr/>
        </p:nvSpPr>
        <p:spPr>
          <a:xfrm>
            <a:off x="6337301" y="247364"/>
            <a:ext cx="1329210" cy="461665"/>
          </a:xfrm>
          <a:prstGeom prst="rect">
            <a:avLst/>
          </a:prstGeom>
          <a:noFill/>
        </p:spPr>
        <p:txBody>
          <a:bodyPr wrap="none" rtlCol="0">
            <a:spAutoFit/>
          </a:bodyPr>
          <a:lstStyle/>
          <a:p>
            <a:r>
              <a:rPr kumimoji="1" lang="ja-JP" altLang="en-US" sz="1200" dirty="0"/>
              <a:t>△：できなくはない</a:t>
            </a:r>
            <a:endParaRPr kumimoji="1" lang="en-US" altLang="ja-JP" sz="1200" dirty="0"/>
          </a:p>
          <a:p>
            <a:r>
              <a:rPr lang="en-US" altLang="ja-JP" sz="1200" dirty="0"/>
              <a:t>×</a:t>
            </a:r>
            <a:r>
              <a:rPr lang="ja-JP" altLang="en-US" sz="1200" dirty="0"/>
              <a:t>：できない</a:t>
            </a:r>
            <a:endParaRPr kumimoji="1" lang="ja-JP" altLang="en-US" sz="1200" dirty="0"/>
          </a:p>
        </p:txBody>
      </p:sp>
    </p:spTree>
    <p:extLst>
      <p:ext uri="{BB962C8B-B14F-4D97-AF65-F5344CB8AC3E}">
        <p14:creationId xmlns:p14="http://schemas.microsoft.com/office/powerpoint/2010/main" val="2953932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4;g377fe038680_0_12">
            <a:extLst>
              <a:ext uri="{FF2B5EF4-FFF2-40B4-BE49-F238E27FC236}">
                <a16:creationId xmlns:a16="http://schemas.microsoft.com/office/drawing/2014/main" id="{E3A99D7F-8477-64E2-BDA4-E2CBE5DBA13E}"/>
              </a:ext>
            </a:extLst>
          </p:cNvPr>
          <p:cNvSpPr/>
          <p:nvPr/>
        </p:nvSpPr>
        <p:spPr>
          <a:xfrm>
            <a:off x="1524000" y="1862250"/>
            <a:ext cx="9341225" cy="4579190"/>
          </a:xfrm>
          <a:prstGeom prst="rect">
            <a:avLst/>
          </a:prstGeom>
          <a:solidFill>
            <a:srgbClr val="FDEEE8"/>
          </a:solidFill>
          <a:ln>
            <a:noFill/>
          </a:ln>
        </p:spPr>
        <p:txBody>
          <a:bodyPr spcFirstLastPara="1" wrap="square" lIns="76700" tIns="76700" rIns="76700" bIns="76700" anchor="ctr" anchorCtr="0">
            <a:noAutofit/>
          </a:bodyPr>
          <a:lstStyle/>
          <a:p>
            <a:pPr marL="0" lvl="0" indent="0" algn="ctr" rtl="0">
              <a:spcBef>
                <a:spcPts val="0"/>
              </a:spcBef>
              <a:spcAft>
                <a:spcPts val="0"/>
              </a:spcAft>
              <a:buNone/>
            </a:pPr>
            <a:endParaRPr sz="1174">
              <a:highlight>
                <a:schemeClr val="dk1"/>
              </a:highlight>
            </a:endParaRPr>
          </a:p>
        </p:txBody>
      </p:sp>
      <p:sp>
        <p:nvSpPr>
          <p:cNvPr id="28" name="正方形/長方形 27">
            <a:extLst>
              <a:ext uri="{FF2B5EF4-FFF2-40B4-BE49-F238E27FC236}">
                <a16:creationId xmlns:a16="http://schemas.microsoft.com/office/drawing/2014/main" id="{D12C59DD-0C7F-C23A-B6F9-E1A87307F699}"/>
              </a:ext>
            </a:extLst>
          </p:cNvPr>
          <p:cNvSpPr/>
          <p:nvPr/>
        </p:nvSpPr>
        <p:spPr>
          <a:xfrm>
            <a:off x="6268720" y="2153069"/>
            <a:ext cx="2241539" cy="646648"/>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プレースホルダー 1">
            <a:extLst>
              <a:ext uri="{FF2B5EF4-FFF2-40B4-BE49-F238E27FC236}">
                <a16:creationId xmlns:a16="http://schemas.microsoft.com/office/drawing/2014/main" id="{C2D41945-F3EC-40EE-D237-6452950B4BB7}"/>
              </a:ext>
            </a:extLst>
          </p:cNvPr>
          <p:cNvSpPr>
            <a:spLocks noGrp="1"/>
          </p:cNvSpPr>
          <p:nvPr>
            <p:ph type="body" sz="quarter" idx="14"/>
          </p:nvPr>
        </p:nvSpPr>
        <p:spPr>
          <a:xfrm>
            <a:off x="226724" y="117514"/>
            <a:ext cx="6985839" cy="482091"/>
          </a:xfrm>
        </p:spPr>
        <p:txBody>
          <a:bodyPr/>
          <a:lstStyle/>
          <a:p>
            <a:r>
              <a:rPr kumimoji="1" lang="ja-JP" altLang="en-US" dirty="0"/>
              <a:t>競合比較　ポジショニングマップ</a:t>
            </a:r>
          </a:p>
        </p:txBody>
      </p:sp>
      <p:cxnSp>
        <p:nvCxnSpPr>
          <p:cNvPr id="4" name="Google Shape;106;g377fe038680_0_12">
            <a:extLst>
              <a:ext uri="{FF2B5EF4-FFF2-40B4-BE49-F238E27FC236}">
                <a16:creationId xmlns:a16="http://schemas.microsoft.com/office/drawing/2014/main" id="{7E1951C8-7C7F-D922-FAF3-D6C85946FC2A}"/>
              </a:ext>
            </a:extLst>
          </p:cNvPr>
          <p:cNvCxnSpPr/>
          <p:nvPr/>
        </p:nvCxnSpPr>
        <p:spPr>
          <a:xfrm>
            <a:off x="2728823" y="4362725"/>
            <a:ext cx="6427800" cy="2100"/>
          </a:xfrm>
          <a:prstGeom prst="straightConnector1">
            <a:avLst/>
          </a:prstGeom>
          <a:noFill/>
          <a:ln w="19050" cap="flat" cmpd="sng">
            <a:solidFill>
              <a:schemeClr val="dk1"/>
            </a:solidFill>
            <a:prstDash val="solid"/>
            <a:round/>
            <a:headEnd type="none" w="med" len="med"/>
            <a:tailEnd type="triangle" w="med" len="med"/>
          </a:ln>
        </p:spPr>
      </p:cxnSp>
      <p:cxnSp>
        <p:nvCxnSpPr>
          <p:cNvPr id="6" name="Google Shape;107;g377fe038680_0_12">
            <a:extLst>
              <a:ext uri="{FF2B5EF4-FFF2-40B4-BE49-F238E27FC236}">
                <a16:creationId xmlns:a16="http://schemas.microsoft.com/office/drawing/2014/main" id="{B8598A10-7376-E1A8-FAFC-71C41AF9D248}"/>
              </a:ext>
            </a:extLst>
          </p:cNvPr>
          <p:cNvCxnSpPr>
            <a:cxnSpLocks/>
          </p:cNvCxnSpPr>
          <p:nvPr/>
        </p:nvCxnSpPr>
        <p:spPr>
          <a:xfrm flipV="1">
            <a:off x="6079422" y="2402001"/>
            <a:ext cx="0" cy="3917280"/>
          </a:xfrm>
          <a:prstGeom prst="straightConnector1">
            <a:avLst/>
          </a:prstGeom>
          <a:noFill/>
          <a:ln w="19050" cap="flat" cmpd="sng">
            <a:solidFill>
              <a:schemeClr val="dk1"/>
            </a:solidFill>
            <a:prstDash val="solid"/>
            <a:round/>
            <a:headEnd type="none" w="med" len="med"/>
            <a:tailEnd type="triangle" w="med" len="med"/>
          </a:ln>
        </p:spPr>
      </p:cxnSp>
      <p:sp>
        <p:nvSpPr>
          <p:cNvPr id="10" name="Google Shape;111;g377fe038680_0_12">
            <a:extLst>
              <a:ext uri="{FF2B5EF4-FFF2-40B4-BE49-F238E27FC236}">
                <a16:creationId xmlns:a16="http://schemas.microsoft.com/office/drawing/2014/main" id="{81994F22-D245-59E3-F998-A73CB17860D4}"/>
              </a:ext>
            </a:extLst>
          </p:cNvPr>
          <p:cNvSpPr txBox="1"/>
          <p:nvPr/>
        </p:nvSpPr>
        <p:spPr>
          <a:xfrm>
            <a:off x="4103882" y="3653303"/>
            <a:ext cx="908799" cy="354448"/>
          </a:xfrm>
          <a:prstGeom prst="rect">
            <a:avLst/>
          </a:prstGeom>
          <a:noFill/>
          <a:ln>
            <a:noFill/>
          </a:ln>
        </p:spPr>
        <p:txBody>
          <a:bodyPr spcFirstLastPara="1" wrap="square" lIns="76700" tIns="38350" rIns="76700" bIns="38350" anchor="t" anchorCtr="0">
            <a:spAutoFit/>
          </a:bodyPr>
          <a:lstStyle/>
          <a:p>
            <a:pPr marL="0" marR="0" lvl="0" indent="0" algn="l" rtl="0">
              <a:spcBef>
                <a:spcPts val="0"/>
              </a:spcBef>
              <a:spcAft>
                <a:spcPts val="0"/>
              </a:spcAft>
              <a:buNone/>
            </a:pPr>
            <a:r>
              <a:rPr lang="ja-JP" b="1">
                <a:solidFill>
                  <a:schemeClr val="dk1"/>
                </a:solidFill>
                <a:latin typeface="Quattrocento Sans"/>
                <a:ea typeface="Quattrocento Sans"/>
                <a:cs typeface="Quattrocento Sans"/>
                <a:sym typeface="Quattrocento Sans"/>
              </a:rPr>
              <a:t>Excel</a:t>
            </a:r>
            <a:endParaRPr/>
          </a:p>
        </p:txBody>
      </p:sp>
      <p:sp>
        <p:nvSpPr>
          <p:cNvPr id="11" name="Google Shape;112;g377fe038680_0_12">
            <a:extLst>
              <a:ext uri="{FF2B5EF4-FFF2-40B4-BE49-F238E27FC236}">
                <a16:creationId xmlns:a16="http://schemas.microsoft.com/office/drawing/2014/main" id="{50DB970D-3451-F7C2-A41C-E1A80C60B562}"/>
              </a:ext>
            </a:extLst>
          </p:cNvPr>
          <p:cNvSpPr txBox="1"/>
          <p:nvPr/>
        </p:nvSpPr>
        <p:spPr>
          <a:xfrm>
            <a:off x="6761519" y="2339416"/>
            <a:ext cx="1748740" cy="292893"/>
          </a:xfrm>
          <a:prstGeom prst="rect">
            <a:avLst/>
          </a:prstGeom>
          <a:noFill/>
          <a:ln>
            <a:noFill/>
          </a:ln>
        </p:spPr>
        <p:txBody>
          <a:bodyPr spcFirstLastPara="1" wrap="square" lIns="76700" tIns="38350" rIns="76700" bIns="38350" anchor="t" anchorCtr="0">
            <a:spAutoFit/>
          </a:bodyPr>
          <a:lstStyle/>
          <a:p>
            <a:pPr marL="0" marR="0" lvl="0" indent="0" algn="l" rtl="0">
              <a:spcBef>
                <a:spcPts val="0"/>
              </a:spcBef>
              <a:spcAft>
                <a:spcPts val="0"/>
              </a:spcAft>
              <a:buNone/>
            </a:pPr>
            <a:r>
              <a:rPr lang="ja-JP" sz="1400" b="1" dirty="0">
                <a:solidFill>
                  <a:schemeClr val="dk1"/>
                </a:solidFill>
                <a:latin typeface="+mn-ea"/>
                <a:cs typeface="Quattrocento Sans"/>
                <a:sym typeface="Quattrocento Sans"/>
              </a:rPr>
              <a:t>TPSプラットフォーム</a:t>
            </a:r>
            <a:endParaRPr sz="1400" b="1" dirty="0">
              <a:solidFill>
                <a:schemeClr val="dk1"/>
              </a:solidFill>
              <a:latin typeface="+mn-ea"/>
              <a:cs typeface="Quattrocento Sans"/>
              <a:sym typeface="Quattrocento Sans"/>
            </a:endParaRPr>
          </a:p>
        </p:txBody>
      </p:sp>
      <p:sp>
        <p:nvSpPr>
          <p:cNvPr id="12" name="Google Shape;115;g377fe038680_0_12">
            <a:extLst>
              <a:ext uri="{FF2B5EF4-FFF2-40B4-BE49-F238E27FC236}">
                <a16:creationId xmlns:a16="http://schemas.microsoft.com/office/drawing/2014/main" id="{D46D2EAC-6BEC-DC1A-35AF-D5FCD21B52F0}"/>
              </a:ext>
            </a:extLst>
          </p:cNvPr>
          <p:cNvSpPr txBox="1"/>
          <p:nvPr/>
        </p:nvSpPr>
        <p:spPr>
          <a:xfrm>
            <a:off x="8039175" y="5494625"/>
            <a:ext cx="1283100" cy="258300"/>
          </a:xfrm>
          <a:prstGeom prst="rect">
            <a:avLst/>
          </a:prstGeom>
          <a:noFill/>
          <a:ln>
            <a:noFill/>
          </a:ln>
        </p:spPr>
        <p:txBody>
          <a:bodyPr spcFirstLastPara="1" wrap="square" lIns="76700" tIns="38350" rIns="76700" bIns="38350" anchor="t" anchorCtr="0">
            <a:spAutoFit/>
          </a:bodyPr>
          <a:lstStyle/>
          <a:p>
            <a:pPr marL="0" marR="0" lvl="0" indent="0" algn="l" rtl="0">
              <a:spcBef>
                <a:spcPts val="0"/>
              </a:spcBef>
              <a:spcAft>
                <a:spcPts val="0"/>
              </a:spcAft>
              <a:buNone/>
            </a:pPr>
            <a:endParaRPr sz="1174">
              <a:solidFill>
                <a:schemeClr val="dk1"/>
              </a:solidFill>
              <a:latin typeface="Quattrocento Sans"/>
              <a:ea typeface="Quattrocento Sans"/>
              <a:cs typeface="Quattrocento Sans"/>
              <a:sym typeface="Quattrocento Sans"/>
            </a:endParaRPr>
          </a:p>
        </p:txBody>
      </p:sp>
      <p:sp>
        <p:nvSpPr>
          <p:cNvPr id="13" name="Google Shape;116;g377fe038680_0_12">
            <a:extLst>
              <a:ext uri="{FF2B5EF4-FFF2-40B4-BE49-F238E27FC236}">
                <a16:creationId xmlns:a16="http://schemas.microsoft.com/office/drawing/2014/main" id="{98650B3C-3B9E-2558-A572-4A772E37469D}"/>
              </a:ext>
            </a:extLst>
          </p:cNvPr>
          <p:cNvSpPr txBox="1"/>
          <p:nvPr/>
        </p:nvSpPr>
        <p:spPr>
          <a:xfrm>
            <a:off x="6912074" y="3048377"/>
            <a:ext cx="820438" cy="354448"/>
          </a:xfrm>
          <a:prstGeom prst="rect">
            <a:avLst/>
          </a:prstGeom>
          <a:noFill/>
          <a:ln>
            <a:noFill/>
          </a:ln>
        </p:spPr>
        <p:txBody>
          <a:bodyPr spcFirstLastPara="1" wrap="square" lIns="76700" tIns="38350" rIns="76700" bIns="38350" anchor="t" anchorCtr="0">
            <a:spAutoFit/>
          </a:bodyPr>
          <a:lstStyle/>
          <a:p>
            <a:pPr marL="0" marR="0" lvl="0" indent="0" algn="l" rtl="0">
              <a:spcBef>
                <a:spcPts val="0"/>
              </a:spcBef>
              <a:spcAft>
                <a:spcPts val="0"/>
              </a:spcAft>
              <a:buNone/>
            </a:pPr>
            <a:r>
              <a:rPr lang="ja-JP" b="1" dirty="0">
                <a:solidFill>
                  <a:schemeClr val="dk1"/>
                </a:solidFill>
                <a:latin typeface="Quattrocento Sans"/>
                <a:ea typeface="Quattrocento Sans"/>
                <a:cs typeface="Quattrocento Sans"/>
                <a:sym typeface="Quattrocento Sans"/>
              </a:rPr>
              <a:t>BPR+/</a:t>
            </a:r>
            <a:endParaRPr b="1" dirty="0">
              <a:solidFill>
                <a:schemeClr val="dk1"/>
              </a:solidFill>
              <a:latin typeface="Quattrocento Sans"/>
              <a:ea typeface="Quattrocento Sans"/>
              <a:cs typeface="Quattrocento Sans"/>
              <a:sym typeface="Quattrocento Sans"/>
            </a:endParaRPr>
          </a:p>
        </p:txBody>
      </p:sp>
      <p:pic>
        <p:nvPicPr>
          <p:cNvPr id="14" name="Google Shape;119;g377fe038680_0_12" title="cmn-pct-logo02.png">
            <a:extLst>
              <a:ext uri="{FF2B5EF4-FFF2-40B4-BE49-F238E27FC236}">
                <a16:creationId xmlns:a16="http://schemas.microsoft.com/office/drawing/2014/main" id="{9DB76B08-DC68-AF2D-1EBC-1A6FCBBA3E29}"/>
              </a:ext>
            </a:extLst>
          </p:cNvPr>
          <p:cNvPicPr preferRelativeResize="0"/>
          <p:nvPr/>
        </p:nvPicPr>
        <p:blipFill>
          <a:blip r:embed="rId2">
            <a:alphaModFix/>
          </a:blip>
          <a:stretch>
            <a:fillRect/>
          </a:stretch>
        </p:blipFill>
        <p:spPr>
          <a:xfrm>
            <a:off x="3237956" y="2894319"/>
            <a:ext cx="2171862" cy="365019"/>
          </a:xfrm>
          <a:prstGeom prst="rect">
            <a:avLst/>
          </a:prstGeom>
          <a:noFill/>
          <a:ln>
            <a:noFill/>
          </a:ln>
        </p:spPr>
      </p:pic>
      <p:pic>
        <p:nvPicPr>
          <p:cNvPr id="15" name="Google Shape;120;g377fe038680_0_12" title="Microsoft_Office_Excel_(2019–present).svg.png">
            <a:extLst>
              <a:ext uri="{FF2B5EF4-FFF2-40B4-BE49-F238E27FC236}">
                <a16:creationId xmlns:a16="http://schemas.microsoft.com/office/drawing/2014/main" id="{AA224F26-E66B-637F-D2C3-E7B2C3632373}"/>
              </a:ext>
            </a:extLst>
          </p:cNvPr>
          <p:cNvPicPr preferRelativeResize="0"/>
          <p:nvPr/>
        </p:nvPicPr>
        <p:blipFill>
          <a:blip r:embed="rId3">
            <a:alphaModFix/>
          </a:blip>
          <a:stretch>
            <a:fillRect/>
          </a:stretch>
        </p:blipFill>
        <p:spPr>
          <a:xfrm>
            <a:off x="3644068" y="3596929"/>
            <a:ext cx="507417" cy="472907"/>
          </a:xfrm>
          <a:prstGeom prst="rect">
            <a:avLst/>
          </a:prstGeom>
          <a:noFill/>
          <a:ln>
            <a:noFill/>
          </a:ln>
        </p:spPr>
      </p:pic>
      <p:pic>
        <p:nvPicPr>
          <p:cNvPr id="16" name="Google Shape;121;g377fe038680_0_12" title="202105_toyota_s_a1_2.png">
            <a:extLst>
              <a:ext uri="{FF2B5EF4-FFF2-40B4-BE49-F238E27FC236}">
                <a16:creationId xmlns:a16="http://schemas.microsoft.com/office/drawing/2014/main" id="{D96FFA8D-7994-E9BF-04DF-648C28E3285F}"/>
              </a:ext>
            </a:extLst>
          </p:cNvPr>
          <p:cNvPicPr preferRelativeResize="0"/>
          <p:nvPr/>
        </p:nvPicPr>
        <p:blipFill>
          <a:blip r:embed="rId4">
            <a:alphaModFix/>
          </a:blip>
          <a:stretch>
            <a:fillRect/>
          </a:stretch>
        </p:blipFill>
        <p:spPr>
          <a:xfrm>
            <a:off x="6358694" y="2153069"/>
            <a:ext cx="494520" cy="633421"/>
          </a:xfrm>
          <a:prstGeom prst="rect">
            <a:avLst/>
          </a:prstGeom>
          <a:noFill/>
          <a:ln>
            <a:noFill/>
          </a:ln>
        </p:spPr>
      </p:pic>
      <p:pic>
        <p:nvPicPr>
          <p:cNvPr id="17" name="Google Shape;122;g377fe038680_0_12" title="ogimage.png">
            <a:extLst>
              <a:ext uri="{FF2B5EF4-FFF2-40B4-BE49-F238E27FC236}">
                <a16:creationId xmlns:a16="http://schemas.microsoft.com/office/drawing/2014/main" id="{4104FD4A-9FD8-EAA0-43A2-7CDF84EB3422}"/>
              </a:ext>
            </a:extLst>
          </p:cNvPr>
          <p:cNvPicPr preferRelativeResize="0"/>
          <p:nvPr/>
        </p:nvPicPr>
        <p:blipFill rotWithShape="1">
          <a:blip r:embed="rId5">
            <a:alphaModFix/>
          </a:blip>
          <a:srcRect l="23392" t="18998" r="24532" b="15397"/>
          <a:stretch/>
        </p:blipFill>
        <p:spPr>
          <a:xfrm>
            <a:off x="6384242" y="3051177"/>
            <a:ext cx="551293" cy="364645"/>
          </a:xfrm>
          <a:prstGeom prst="rect">
            <a:avLst/>
          </a:prstGeom>
          <a:noFill/>
          <a:ln>
            <a:noFill/>
          </a:ln>
        </p:spPr>
      </p:pic>
      <p:pic>
        <p:nvPicPr>
          <p:cNvPr id="18" name="Google Shape;123;g377fe038680_0_12" title="Figma Lockup.png">
            <a:extLst>
              <a:ext uri="{FF2B5EF4-FFF2-40B4-BE49-F238E27FC236}">
                <a16:creationId xmlns:a16="http://schemas.microsoft.com/office/drawing/2014/main" id="{3774D200-B1C9-9DDE-BD5D-B41C85547994}"/>
              </a:ext>
            </a:extLst>
          </p:cNvPr>
          <p:cNvPicPr preferRelativeResize="0"/>
          <p:nvPr/>
        </p:nvPicPr>
        <p:blipFill>
          <a:blip r:embed="rId6">
            <a:alphaModFix/>
          </a:blip>
          <a:stretch>
            <a:fillRect/>
          </a:stretch>
        </p:blipFill>
        <p:spPr>
          <a:xfrm>
            <a:off x="5640948" y="5369186"/>
            <a:ext cx="1254614" cy="350826"/>
          </a:xfrm>
          <a:prstGeom prst="rect">
            <a:avLst/>
          </a:prstGeom>
          <a:solidFill>
            <a:srgbClr val="FDEEE8"/>
          </a:solidFill>
          <a:ln>
            <a:noFill/>
          </a:ln>
        </p:spPr>
      </p:pic>
      <p:pic>
        <p:nvPicPr>
          <p:cNvPr id="19" name="Google Shape;124;g377fe038680_0_12" title="logo_new.png">
            <a:extLst>
              <a:ext uri="{FF2B5EF4-FFF2-40B4-BE49-F238E27FC236}">
                <a16:creationId xmlns:a16="http://schemas.microsoft.com/office/drawing/2014/main" id="{3560FD82-F2A4-C0DB-38D6-22398395A116}"/>
              </a:ext>
            </a:extLst>
          </p:cNvPr>
          <p:cNvPicPr preferRelativeResize="0"/>
          <p:nvPr/>
        </p:nvPicPr>
        <p:blipFill>
          <a:blip r:embed="rId7">
            <a:alphaModFix/>
          </a:blip>
          <a:stretch>
            <a:fillRect/>
          </a:stretch>
        </p:blipFill>
        <p:spPr>
          <a:xfrm>
            <a:off x="7829035" y="3902475"/>
            <a:ext cx="1696038" cy="292238"/>
          </a:xfrm>
          <a:prstGeom prst="rect">
            <a:avLst/>
          </a:prstGeom>
          <a:noFill/>
          <a:ln>
            <a:noFill/>
          </a:ln>
        </p:spPr>
      </p:pic>
      <p:pic>
        <p:nvPicPr>
          <p:cNvPr id="20" name="Google Shape;125;g377fe038680_0_12" title="logo.png">
            <a:extLst>
              <a:ext uri="{FF2B5EF4-FFF2-40B4-BE49-F238E27FC236}">
                <a16:creationId xmlns:a16="http://schemas.microsoft.com/office/drawing/2014/main" id="{19FD9EC1-6EBD-957C-6F1A-B14DAAF7728B}"/>
              </a:ext>
            </a:extLst>
          </p:cNvPr>
          <p:cNvPicPr preferRelativeResize="0"/>
          <p:nvPr/>
        </p:nvPicPr>
        <p:blipFill>
          <a:blip r:embed="rId8">
            <a:alphaModFix/>
          </a:blip>
          <a:stretch>
            <a:fillRect/>
          </a:stretch>
        </p:blipFill>
        <p:spPr>
          <a:xfrm>
            <a:off x="6343309" y="3881803"/>
            <a:ext cx="1485726" cy="297122"/>
          </a:xfrm>
          <a:prstGeom prst="rect">
            <a:avLst/>
          </a:prstGeom>
          <a:noFill/>
          <a:ln>
            <a:noFill/>
          </a:ln>
        </p:spPr>
      </p:pic>
      <p:pic>
        <p:nvPicPr>
          <p:cNvPr id="21" name="Google Shape;126;g377fe038680_0_12" title="Miro-Logo.png">
            <a:extLst>
              <a:ext uri="{FF2B5EF4-FFF2-40B4-BE49-F238E27FC236}">
                <a16:creationId xmlns:a16="http://schemas.microsoft.com/office/drawing/2014/main" id="{A3549D67-27F6-4ED3-BAB1-456A8887F316}"/>
              </a:ext>
            </a:extLst>
          </p:cNvPr>
          <p:cNvPicPr preferRelativeResize="0"/>
          <p:nvPr/>
        </p:nvPicPr>
        <p:blipFill>
          <a:blip r:embed="rId9">
            <a:alphaModFix/>
          </a:blip>
          <a:stretch>
            <a:fillRect/>
          </a:stretch>
        </p:blipFill>
        <p:spPr>
          <a:xfrm>
            <a:off x="8378774" y="4989131"/>
            <a:ext cx="1012497" cy="569530"/>
          </a:xfrm>
          <a:prstGeom prst="rect">
            <a:avLst/>
          </a:prstGeom>
          <a:solidFill>
            <a:srgbClr val="FDEEE8"/>
          </a:solidFill>
          <a:ln>
            <a:noFill/>
          </a:ln>
        </p:spPr>
      </p:pic>
      <p:pic>
        <p:nvPicPr>
          <p:cNvPr id="22" name="Google Shape;127;g377fe038680_0_12" title="lucidchart.png">
            <a:extLst>
              <a:ext uri="{FF2B5EF4-FFF2-40B4-BE49-F238E27FC236}">
                <a16:creationId xmlns:a16="http://schemas.microsoft.com/office/drawing/2014/main" id="{AABE506B-2B5F-3670-02B1-A3C9E8A253B7}"/>
              </a:ext>
            </a:extLst>
          </p:cNvPr>
          <p:cNvPicPr preferRelativeResize="0"/>
          <p:nvPr/>
        </p:nvPicPr>
        <p:blipFill>
          <a:blip r:embed="rId10">
            <a:alphaModFix/>
          </a:blip>
          <a:stretch>
            <a:fillRect/>
          </a:stretch>
        </p:blipFill>
        <p:spPr>
          <a:xfrm>
            <a:off x="7469850" y="5584000"/>
            <a:ext cx="1813512" cy="272025"/>
          </a:xfrm>
          <a:prstGeom prst="rect">
            <a:avLst/>
          </a:prstGeom>
          <a:noFill/>
          <a:ln>
            <a:noFill/>
          </a:ln>
        </p:spPr>
      </p:pic>
      <p:pic>
        <p:nvPicPr>
          <p:cNvPr id="23" name="Google Shape;128;g377fe038680_0_12">
            <a:extLst>
              <a:ext uri="{FF2B5EF4-FFF2-40B4-BE49-F238E27FC236}">
                <a16:creationId xmlns:a16="http://schemas.microsoft.com/office/drawing/2014/main" id="{303EB6DB-2FB5-2C42-C614-E8370035999B}"/>
              </a:ext>
            </a:extLst>
          </p:cNvPr>
          <p:cNvPicPr preferRelativeResize="0"/>
          <p:nvPr/>
        </p:nvPicPr>
        <p:blipFill>
          <a:blip r:embed="rId11">
            <a:alphaModFix/>
          </a:blip>
          <a:stretch>
            <a:fillRect/>
          </a:stretch>
        </p:blipFill>
        <p:spPr>
          <a:xfrm>
            <a:off x="7635889" y="3069049"/>
            <a:ext cx="1407511" cy="315267"/>
          </a:xfrm>
          <a:prstGeom prst="rect">
            <a:avLst/>
          </a:prstGeom>
          <a:noFill/>
          <a:ln>
            <a:noFill/>
          </a:ln>
        </p:spPr>
      </p:pic>
      <p:sp>
        <p:nvSpPr>
          <p:cNvPr id="25" name="テキスト ボックス 24">
            <a:extLst>
              <a:ext uri="{FF2B5EF4-FFF2-40B4-BE49-F238E27FC236}">
                <a16:creationId xmlns:a16="http://schemas.microsoft.com/office/drawing/2014/main" id="{28A99E07-76FE-10DB-3DBC-C603D8A8F718}"/>
              </a:ext>
            </a:extLst>
          </p:cNvPr>
          <p:cNvSpPr txBox="1"/>
          <p:nvPr/>
        </p:nvSpPr>
        <p:spPr>
          <a:xfrm>
            <a:off x="317241" y="775958"/>
            <a:ext cx="11716669" cy="923330"/>
          </a:xfrm>
          <a:prstGeom prst="rect">
            <a:avLst/>
          </a:prstGeom>
          <a:noFill/>
        </p:spPr>
        <p:txBody>
          <a:bodyPr wrap="none" rtlCol="0">
            <a:spAutoFit/>
          </a:bodyPr>
          <a:lstStyle/>
          <a:p>
            <a:r>
              <a:rPr kumimoji="1" lang="ja-JP" altLang="en-US" dirty="0"/>
              <a:t>業務フローの可視化という点で優位性をもつサービスが多い。</a:t>
            </a:r>
            <a:endParaRPr kumimoji="1" lang="en-US" altLang="ja-JP" dirty="0"/>
          </a:p>
          <a:p>
            <a:r>
              <a:rPr kumimoji="1" lang="ja-JP" altLang="en-US" dirty="0"/>
              <a:t>そのうえで課題管理などで業務改善を推進する機能を持ったサービスも複数あるが、業務のあるべき姿を定義し、</a:t>
            </a:r>
            <a:endParaRPr kumimoji="1" lang="en-US" altLang="ja-JP" dirty="0"/>
          </a:p>
          <a:p>
            <a:r>
              <a:rPr kumimoji="1" lang="ja-JP" altLang="en-US" dirty="0"/>
              <a:t>継続的な改善を支援するサービスはないことがわかった。本サービスでは、継続的業務改善を主軸に価値提供することを目指す。</a:t>
            </a:r>
          </a:p>
        </p:txBody>
      </p:sp>
      <p:sp>
        <p:nvSpPr>
          <p:cNvPr id="8" name="Google Shape;109;g377fe038680_0_12">
            <a:extLst>
              <a:ext uri="{FF2B5EF4-FFF2-40B4-BE49-F238E27FC236}">
                <a16:creationId xmlns:a16="http://schemas.microsoft.com/office/drawing/2014/main" id="{94AA280D-5F8A-757C-2F3E-06E9883AF41C}"/>
              </a:ext>
            </a:extLst>
          </p:cNvPr>
          <p:cNvSpPr txBox="1"/>
          <p:nvPr/>
        </p:nvSpPr>
        <p:spPr>
          <a:xfrm>
            <a:off x="5221630" y="1810836"/>
            <a:ext cx="1748740" cy="585785"/>
          </a:xfrm>
          <a:prstGeom prst="rect">
            <a:avLst/>
          </a:prstGeom>
          <a:noFill/>
          <a:ln>
            <a:noFill/>
          </a:ln>
        </p:spPr>
        <p:txBody>
          <a:bodyPr spcFirstLastPara="1" wrap="square" lIns="76700" tIns="76700" rIns="76700" bIns="76700" anchor="t" anchorCtr="0">
            <a:spAutoFit/>
          </a:bodyPr>
          <a:lstStyle/>
          <a:p>
            <a:pPr marL="0" lvl="0" indent="0" algn="ctr" rtl="0">
              <a:spcBef>
                <a:spcPts val="0"/>
              </a:spcBef>
              <a:spcAft>
                <a:spcPts val="0"/>
              </a:spcAft>
              <a:buNone/>
            </a:pPr>
            <a:r>
              <a:rPr lang="ja-JP" altLang="en-US" sz="1400" b="1" dirty="0">
                <a:solidFill>
                  <a:schemeClr val="dk1"/>
                </a:solidFill>
                <a:latin typeface="Meiryo UI" panose="020B0604030504040204" pitchFamily="50" charset="-128"/>
                <a:ea typeface="Meiryo UI" panose="020B0604030504040204" pitchFamily="50" charset="-128"/>
                <a:cs typeface="Segoe UI"/>
                <a:sym typeface="Segoe UI"/>
              </a:rPr>
              <a:t>標準化・継続的</a:t>
            </a:r>
            <a:r>
              <a:rPr lang="ja-JP" sz="1400" b="1" dirty="0">
                <a:solidFill>
                  <a:schemeClr val="dk1"/>
                </a:solidFill>
                <a:latin typeface="Meiryo UI" panose="020B0604030504040204" pitchFamily="50" charset="-128"/>
                <a:ea typeface="Meiryo UI" panose="020B0604030504040204" pitchFamily="50" charset="-128"/>
                <a:cs typeface="Segoe UI"/>
                <a:sym typeface="Segoe UI"/>
              </a:rPr>
              <a:t>改善</a:t>
            </a:r>
            <a:endParaRPr sz="1400" b="1" dirty="0">
              <a:solidFill>
                <a:schemeClr val="dk1"/>
              </a:solidFill>
              <a:latin typeface="Meiryo UI" panose="020B0604030504040204" pitchFamily="50" charset="-128"/>
              <a:ea typeface="Meiryo UI" panose="020B0604030504040204" pitchFamily="50" charset="-128"/>
              <a:cs typeface="Segoe UI"/>
              <a:sym typeface="Segoe UI"/>
            </a:endParaRPr>
          </a:p>
          <a:p>
            <a:pPr marL="0" lvl="0" indent="0" algn="ctr" rtl="0">
              <a:spcBef>
                <a:spcPts val="0"/>
              </a:spcBef>
              <a:spcAft>
                <a:spcPts val="0"/>
              </a:spcAft>
              <a:buNone/>
            </a:pPr>
            <a:r>
              <a:rPr lang="ja-JP" altLang="en-US" sz="1400" b="1" dirty="0">
                <a:solidFill>
                  <a:schemeClr val="dk1"/>
                </a:solidFill>
                <a:latin typeface="Meiryo UI" panose="020B0604030504040204" pitchFamily="50" charset="-128"/>
                <a:ea typeface="Meiryo UI" panose="020B0604030504040204" pitchFamily="50" charset="-128"/>
                <a:cs typeface="Segoe UI"/>
                <a:sym typeface="Segoe UI"/>
              </a:rPr>
              <a:t>に対する</a:t>
            </a:r>
            <a:r>
              <a:rPr lang="ja-JP" sz="1400" b="1" dirty="0">
                <a:solidFill>
                  <a:schemeClr val="dk1"/>
                </a:solidFill>
                <a:latin typeface="Meiryo UI" panose="020B0604030504040204" pitchFamily="50" charset="-128"/>
                <a:ea typeface="Meiryo UI" panose="020B0604030504040204" pitchFamily="50" charset="-128"/>
                <a:cs typeface="Segoe UI"/>
                <a:sym typeface="Segoe UI"/>
              </a:rPr>
              <a:t>機能</a:t>
            </a:r>
            <a:r>
              <a:rPr lang="ja-JP" altLang="en-US" sz="1400" b="1" dirty="0">
                <a:solidFill>
                  <a:schemeClr val="dk1"/>
                </a:solidFill>
                <a:latin typeface="Meiryo UI" panose="020B0604030504040204" pitchFamily="50" charset="-128"/>
                <a:ea typeface="Meiryo UI" panose="020B0604030504040204" pitchFamily="50" charset="-128"/>
                <a:cs typeface="Segoe UI"/>
                <a:sym typeface="Segoe UI"/>
              </a:rPr>
              <a:t>性</a:t>
            </a:r>
            <a:endParaRPr sz="1400" b="1" dirty="0">
              <a:solidFill>
                <a:schemeClr val="dk1"/>
              </a:solidFill>
              <a:latin typeface="Meiryo UI" panose="020B0604030504040204" pitchFamily="50" charset="-128"/>
              <a:ea typeface="Meiryo UI" panose="020B0604030504040204" pitchFamily="50" charset="-128"/>
              <a:cs typeface="Segoe UI"/>
              <a:sym typeface="Segoe UI"/>
            </a:endParaRPr>
          </a:p>
        </p:txBody>
      </p:sp>
      <p:sp>
        <p:nvSpPr>
          <p:cNvPr id="26" name="Google Shape;109;g377fe038680_0_12">
            <a:extLst>
              <a:ext uri="{FF2B5EF4-FFF2-40B4-BE49-F238E27FC236}">
                <a16:creationId xmlns:a16="http://schemas.microsoft.com/office/drawing/2014/main" id="{1CB5B4BB-7D8D-3AE0-5EB7-07B8A8881E0F}"/>
              </a:ext>
            </a:extLst>
          </p:cNvPr>
          <p:cNvSpPr txBox="1"/>
          <p:nvPr/>
        </p:nvSpPr>
        <p:spPr>
          <a:xfrm>
            <a:off x="9133652" y="4048372"/>
            <a:ext cx="1651724" cy="585785"/>
          </a:xfrm>
          <a:prstGeom prst="rect">
            <a:avLst/>
          </a:prstGeom>
          <a:noFill/>
          <a:ln>
            <a:noFill/>
          </a:ln>
        </p:spPr>
        <p:txBody>
          <a:bodyPr spcFirstLastPara="1" wrap="square" lIns="76700" tIns="76700" rIns="76700" bIns="76700" anchor="t" anchorCtr="0">
            <a:spAutoFit/>
          </a:bodyPr>
          <a:lstStyle/>
          <a:p>
            <a:pPr marL="0" lvl="0" indent="0" algn="ctr" rtl="0">
              <a:spcBef>
                <a:spcPts val="0"/>
              </a:spcBef>
              <a:spcAft>
                <a:spcPts val="0"/>
              </a:spcAft>
              <a:buNone/>
            </a:pPr>
            <a:r>
              <a:rPr lang="ja-JP" altLang="en-US" sz="1400" b="1" dirty="0">
                <a:solidFill>
                  <a:schemeClr val="dk1"/>
                </a:solidFill>
                <a:latin typeface="Meiryo UI" panose="020B0604030504040204" pitchFamily="50" charset="-128"/>
                <a:ea typeface="Meiryo UI" panose="020B0604030504040204" pitchFamily="50" charset="-128"/>
                <a:cs typeface="Segoe UI"/>
                <a:sym typeface="Segoe UI"/>
              </a:rPr>
              <a:t>業務の可視化</a:t>
            </a:r>
            <a:endParaRPr lang="en-US" altLang="ja-JP" sz="1400" b="1" dirty="0">
              <a:solidFill>
                <a:schemeClr val="dk1"/>
              </a:solidFill>
              <a:latin typeface="Meiryo UI" panose="020B0604030504040204" pitchFamily="50" charset="-128"/>
              <a:ea typeface="Meiryo UI" panose="020B0604030504040204" pitchFamily="50" charset="-128"/>
              <a:cs typeface="Segoe UI"/>
              <a:sym typeface="Segoe UI"/>
            </a:endParaRPr>
          </a:p>
          <a:p>
            <a:pPr marL="0" lvl="0" indent="0" algn="ctr" rtl="0">
              <a:spcBef>
                <a:spcPts val="0"/>
              </a:spcBef>
              <a:spcAft>
                <a:spcPts val="0"/>
              </a:spcAft>
              <a:buNone/>
            </a:pPr>
            <a:r>
              <a:rPr lang="ja-JP" altLang="en-US" sz="1400" b="1" dirty="0">
                <a:solidFill>
                  <a:schemeClr val="dk1"/>
                </a:solidFill>
                <a:latin typeface="Meiryo UI" panose="020B0604030504040204" pitchFamily="50" charset="-128"/>
                <a:ea typeface="Meiryo UI" panose="020B0604030504040204" pitchFamily="50" charset="-128"/>
                <a:cs typeface="Segoe UI"/>
                <a:sym typeface="Segoe UI"/>
              </a:rPr>
              <a:t>に対する操作性</a:t>
            </a:r>
            <a:endParaRPr sz="1400" b="1" dirty="0">
              <a:solidFill>
                <a:schemeClr val="dk1"/>
              </a:solidFill>
              <a:latin typeface="Meiryo UI" panose="020B0604030504040204" pitchFamily="50" charset="-128"/>
              <a:ea typeface="Meiryo UI" panose="020B0604030504040204" pitchFamily="50" charset="-128"/>
              <a:cs typeface="Segoe UI"/>
              <a:sym typeface="Segoe UI"/>
            </a:endParaRPr>
          </a:p>
        </p:txBody>
      </p:sp>
    </p:spTree>
    <p:extLst>
      <p:ext uri="{BB962C8B-B14F-4D97-AF65-F5344CB8AC3E}">
        <p14:creationId xmlns:p14="http://schemas.microsoft.com/office/powerpoint/2010/main" val="643847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8C1C726-819C-6970-6A13-2ED7265B8930}"/>
              </a:ext>
            </a:extLst>
          </p:cNvPr>
          <p:cNvSpPr txBox="1"/>
          <p:nvPr/>
        </p:nvSpPr>
        <p:spPr>
          <a:xfrm>
            <a:off x="5234225" y="2921168"/>
            <a:ext cx="1723549" cy="1015663"/>
          </a:xfrm>
          <a:prstGeom prst="rect">
            <a:avLst/>
          </a:prstGeom>
          <a:noFill/>
        </p:spPr>
        <p:txBody>
          <a:bodyPr wrap="none" rtlCol="0">
            <a:spAutoFit/>
          </a:bodyPr>
          <a:lstStyle/>
          <a:p>
            <a:r>
              <a:rPr kumimoji="1" lang="ja-JP" altLang="en-US" sz="6000" dirty="0"/>
              <a:t>以上</a:t>
            </a:r>
          </a:p>
        </p:txBody>
      </p:sp>
    </p:spTree>
    <p:extLst>
      <p:ext uri="{BB962C8B-B14F-4D97-AF65-F5344CB8AC3E}">
        <p14:creationId xmlns:p14="http://schemas.microsoft.com/office/powerpoint/2010/main" val="3914705379"/>
      </p:ext>
    </p:extLst>
  </p:cSld>
  <p:clrMapOvr>
    <a:masterClrMapping/>
  </p:clrMapOvr>
</p:sld>
</file>

<file path=ppt/theme/theme1.xml><?xml version="1.0" encoding="utf-8"?>
<a:theme xmlns:a="http://schemas.openxmlformats.org/drawingml/2006/main" name="Office テーマ">
  <a:themeElements>
    <a:clrScheme name="ユーザー定義 2">
      <a:dk1>
        <a:srgbClr val="333333"/>
      </a:dk1>
      <a:lt1>
        <a:srgbClr val="FFFFFF"/>
      </a:lt1>
      <a:dk2>
        <a:srgbClr val="EAEAEA"/>
      </a:dk2>
      <a:lt2>
        <a:srgbClr val="CCECFF"/>
      </a:lt2>
      <a:accent1>
        <a:srgbClr val="0071BC"/>
      </a:accent1>
      <a:accent2>
        <a:srgbClr val="E03253"/>
      </a:accent2>
      <a:accent3>
        <a:srgbClr val="00BC48"/>
      </a:accent3>
      <a:accent4>
        <a:srgbClr val="7400BC"/>
      </a:accent4>
      <a:accent5>
        <a:srgbClr val="00BCBC"/>
      </a:accent5>
      <a:accent6>
        <a:srgbClr val="F79646"/>
      </a:accent6>
      <a:hlink>
        <a:srgbClr val="9BBB59"/>
      </a:hlink>
      <a:folHlink>
        <a:srgbClr val="9BBB59"/>
      </a:folHlink>
    </a:clrScheme>
    <a:fontScheme name="ユーザー定義 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3" id="{FE9974F5-46F6-0345-9C6B-5E0BF1EB7C35}" vid="{1FEC9524-102A-494C-B2A3-C27FE3647BD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92e7d18-4867-4b99-8692-27845fd3fde2">
      <Terms xmlns="http://schemas.microsoft.com/office/infopath/2007/PartnerControls"/>
    </lcf76f155ced4ddcb4097134ff3c332f>
    <TaxCatchAll xmlns="a1ebcb03-1241-4a17-8970-a21c81be15b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8ED8A1214FEF642906783F3A789F102" ma:contentTypeVersion="19" ma:contentTypeDescription="新しいドキュメントを作成します。" ma:contentTypeScope="" ma:versionID="270937fe641bd23b0ccf1bda02c5c31e">
  <xsd:schema xmlns:xsd="http://www.w3.org/2001/XMLSchema" xmlns:xs="http://www.w3.org/2001/XMLSchema" xmlns:p="http://schemas.microsoft.com/office/2006/metadata/properties" xmlns:ns2="e92e7d18-4867-4b99-8692-27845fd3fde2" xmlns:ns3="a1ebcb03-1241-4a17-8970-a21c81be15bd" targetNamespace="http://schemas.microsoft.com/office/2006/metadata/properties" ma:root="true" ma:fieldsID="7856b960796efb444ee960c094939c52" ns2:_="" ns3:_="">
    <xsd:import namespace="e92e7d18-4867-4b99-8692-27845fd3fde2"/>
    <xsd:import namespace="a1ebcb03-1241-4a17-8970-a21c81be15b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2e7d18-4867-4b99-8692-27845fd3f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12ff8844-7f78-48cf-b5c5-6eb2e72d678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ebcb03-1241-4a17-8970-a21c81be15b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8b825b40-9d67-42b8-bce7-df8eff999c39}" ma:internalName="TaxCatchAll" ma:showField="CatchAllData" ma:web="a1ebcb03-1241-4a17-8970-a21c81be15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EAA191-F741-4BB0-A9A1-CF8254C55E30}">
  <ds:schemaRefs>
    <ds:schemaRef ds:uri="http://schemas.microsoft.com/sharepoint/v3/contenttype/forms"/>
  </ds:schemaRefs>
</ds:datastoreItem>
</file>

<file path=customXml/itemProps2.xml><?xml version="1.0" encoding="utf-8"?>
<ds:datastoreItem xmlns:ds="http://schemas.openxmlformats.org/officeDocument/2006/customXml" ds:itemID="{CB6C31B3-7A75-42F5-A2B4-EDD31A11BF3B}">
  <ds:schemaRefs>
    <ds:schemaRef ds:uri="http://schemas.microsoft.com/office/2006/metadata/properties"/>
    <ds:schemaRef ds:uri="http://schemas.microsoft.com/office/2006/documentManagement/types"/>
    <ds:schemaRef ds:uri="cd244d0f-01d4-432c-9c47-05f2a020a8c7"/>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s>
</ds:datastoreItem>
</file>

<file path=customXml/itemProps3.xml><?xml version="1.0" encoding="utf-8"?>
<ds:datastoreItem xmlns:ds="http://schemas.openxmlformats.org/officeDocument/2006/customXml" ds:itemID="{367CB6F3-03C4-45AA-985D-7E868F8D22BE}"/>
</file>

<file path=docMetadata/LabelInfo.xml><?xml version="1.0" encoding="utf-8"?>
<clbl:labelList xmlns:clbl="http://schemas.microsoft.com/office/2020/mipLabelMetadata">
  <clbl:label id="{d4c93307-c3b3-4337-9766-0ef0b5644b19}" enabled="1" method="Standard" siteId="{02b02150-dbc8-4a3b-be71-e3eba060a817}" removed="0"/>
</clbl:labelList>
</file>

<file path=docProps/app.xml><?xml version="1.0" encoding="utf-8"?>
<Properties xmlns="http://schemas.openxmlformats.org/officeDocument/2006/extended-properties" xmlns:vt="http://schemas.openxmlformats.org/officeDocument/2006/docPropsVTypes">
  <Template/>
  <TotalTime>6579</TotalTime>
  <Words>3131</Words>
  <Application>Microsoft Office PowerPoint</Application>
  <PresentationFormat>ワイド画面</PresentationFormat>
  <Paragraphs>428</Paragraphs>
  <Slides>23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Meiryo UI</vt:lpstr>
      <vt:lpstr>Arial</vt:lpstr>
      <vt:lpstr>Calibri</vt:lpstr>
      <vt:lpstr>Quattrocento Sans</vt:lpstr>
      <vt:lpstr>Segoe UI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2018 Presentation Title</dc:title>
  <dc:creator>read02</dc:creator>
  <cp:lastModifiedBy>Kataoka, Toshiki/片岡 俊樹</cp:lastModifiedBy>
  <cp:revision>556</cp:revision>
  <dcterms:created xsi:type="dcterms:W3CDTF">2018-07-31T02:34:16Z</dcterms:created>
  <dcterms:modified xsi:type="dcterms:W3CDTF">2025-09-25T09:54:31Z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0x010100B8ED8A1214FEF642906783F3A789F102</vt:lpwstr>
  </property>
</Properties>
</file>